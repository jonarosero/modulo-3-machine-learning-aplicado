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
  </p:notesMasterIdLst>
  <p:handoutMasterIdLst>
    <p:handoutMasterId r:id="rId6"/>
  </p:handoutMasterIdLst>
  <p:sldIdLst>
    <p:sldId id="256" r:id="rId2"/>
    <p:sldId id="257" r:id="rId8"/>
    <p:sldId id="258" r:id="rId7"/>
    <p:sldId id="259" r:id="rId4"/>
    <p:sldId id="260" r:id="rId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j3cbRC9Ql1GxZ1vbtqfmyQYJzC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746" y="9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slide" Target="slides/slide3.xml"/><Relationship Id="rId8" Type="http://schemas.openxmlformats.org/officeDocument/2006/relationships/slide" Target="slides/slide2.xml"/><Relationship Id="rId9" Type="http://customschemas.google.com/relationships/presentationmetadata" Target="meta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324507C-30A5-4F04-9BA9-BE73D73F19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12170012-4F66-4FAC-9ADB-574DFAC324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B90910-41EB-476D-8DC1-6DEA0FD5ECF8}" type="datetimeFigureOut">
              <a:rPr lang="es-419" smtClean="0"/>
              <a:t>20/6/2025</a:t>
            </a:fld>
            <a:endParaRPr lang="es-419"/>
          </a:p>
        </p:txBody>
      </p:sp>
      <p:sp>
        <p:nvSpPr>
          <p:cNvPr id="4" name="Marcador de pie de página 3">
            <a:extLst>
              <a:ext uri="{FF2B5EF4-FFF2-40B4-BE49-F238E27FC236}">
                <a16:creationId xmlns:a16="http://schemas.microsoft.com/office/drawing/2014/main" id="{6102F0BF-DE86-4431-9CB3-63269E04BD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3B70F7B2-1CA3-4D60-817B-D850DB8F89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AEBE30-BF0C-4669-8247-869FC8EEE18D}" type="slidenum">
              <a:rPr lang="es-419" smtClean="0"/>
              <a:t>‹Nº›</a:t>
            </a:fld>
            <a:endParaRPr lang="es-419"/>
          </a:p>
        </p:txBody>
      </p:sp>
    </p:spTree>
    <p:extLst>
      <p:ext uri="{BB962C8B-B14F-4D97-AF65-F5344CB8AC3E}">
        <p14:creationId xmlns:p14="http://schemas.microsoft.com/office/powerpoint/2010/main" val="3393946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Primero separamos las dos grandes familias del Machine Learning: supervisado, lo que hicimos los Días 1 a 3, y no supervisado, lo que empieza hoy. Luego vemos qué es el clustering, preparamos 8 950 clientes de tarjeta, entendemos K-Means a mano, elegimos el número de grupos sin dejarnos engañar por una métrica, describimos los grupos, los comparamos con una línea base y cerramos con el clustering jerárquico y su dendrograma.</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Supervisado es como estudiar con un profesor que entrega los ejercicios ya resueltos: vemos muchas preguntas con su respuesta correcta y aprendemos a responder preguntas nuevas. No supervisado es como recibir una caja con miles de fotos sin etiquetas y ordenarlas en grupos por parecido: nadie dice cuál es el grupo correcto; lo descubrimos. En los Días 1 a 3 trabajamos siempre con respuesta. Hoy, por primera vez, no la hay.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aprendizaje supervisado cada fila de entrenamiento trae las características X y la respuesta y. El modelo aprende de Train, lo comparamos en Validation contra las respuestas reales y lo examinamos una vez en Test. Como existe la respuesta, podemos medir exactamente cuánto se equivoca: MAE si y es un número, F1 si y es una clase. Es lo que hicimos con BankChurners, PaySim y Credit Risk.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aprendizaje no supervisado las filas solo traen características; no hay columna y. El algoritmo busca estructura por sí solo. La tarea más común es el clustering: agrupar filas parecidas. Otras tareas no supervisadas son reducir muchas variables a pocas (PCA, Día 5) y detectar casos raros. Como no hay respuesta correcta, no se puede calcular un error exacto: se evalúa si la estructura encontrada es coherente, estable y útil para decidir.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diferencia de fondo es la columna y. Con y, el modelo aprende a predecirla y lo evaluamos con Train, Validation y Test comparando con la respuesta real; su riesgo típico es memorizar. Sin y, el algoritmo propone una estructura y la evaluamos con medidas internas como el Silhouette, con estabilidad y con interpretación; su riesgo típico es encontrar grupos que no significan nada, porque siempre entrega grupos.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Seis casos para decidir en clase. Estimar el monto de crédito que pedirá un cliente con historial: supervisado, regresión. Detectar fraude con transacciones ya marcadas como fraude o normal: supervisado, clasificación. Agrupar provincias por indicadores económicos: no supervisado, clustering. Segmentar clientes sin ninguna etiqueta: no supervisado. Predecir si un cliente abandonará la tarjeta con datos de quienes ya se fueron: supervisado, clasificación. Encontrar transacciones raras cuando nadie sabe cuáles son fraude: no supervisado, casos raros.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los días anteriores siempre teníamos la respuesta: cuánto transaccionó un cliente o si una transacción fue fraude. El modelo aprendía a reproducirla; por eso se llama aprendizaje supervisado. Hoy nadie nos dice a qué grupo pertenece cada cliente. El algoritmo debe proponer grupos de clientes parecidos según las variables que nosotros elegimos. Eso es aprendizaje no supervisado.</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tres tipos de problema del módulo. Lo que define el tipo es la respuesta que buscamos: un número, una clase o ninguna respuesta. En clustering no hay MAE ni F1, porque no hay respuestas correctas con las que comparar; usamos medidas geométricas como el Silhouette y, sobre todo, la interpretación de los grupos.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Segmentar clientes para diseñar productos y campañas; agrupar préstamos o clientes por perfil de riesgo; agrupar países, provincias o sectores con condiciones económicas parecidas; y encontrar casos raros que no se parecen a ningún grupo. En todos los casos el grupo es un punto de partida para decidir, no una conclusión final.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Cluster: grupo propuesto por el algoritmo. Centroide: el punto promedio de un grupo; no tiene por qué ser un cliente real. Distancia: qué tan diferentes son dos clientes en las variables elegidas. Inercia: suma de las distancias al cuadrado de cada cliente a su centroide; mide qué tan compactos son los grupos. Silhouette: si cada cliente está más cerca de su grupo que del grupo vecino.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Hoy veremos los dos métodos más usados. K-Means agrupa alrededor de centros: decidimos de antemano cuántos grupos queremos, k, y el algoritmo ubica k centros y asigna cada fila al más cercano. El clustering jerárquico construye un árbol de uniones: empieza con cada fila sola y va juntando las más parecidas; el número de grupos se elige al final, cortando el árbol. Los dos usan distancias, así que los dos necesitan datos escalados.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Credit Card Dataset for Clustering, de Kaggle. Cada fila es un cliente activo de tarjeta de crédito con su comportamiento de los últimos 6 meses: cuánto debe, cuánto compra y cómo (de un solo pago o en cuotas), si saca avances en efectivo, qué tan seguido usa la tarjeta, su límite, cuánto paga y qué tan seguido paga el total. No trae ninguna etiqueta de grupo: es justo el tipo de problema del clustering. No describe a clientes del Ecuador.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Cuatro decisiones. CUST_ID fuera: es un nombre, no un comportamiento. CREDIT_LIMIT tiene un faltante: eliminamos ese cliente. MINIMUM_PAYMENTS tiene 313 faltantes: eliminar sería perder 3,5 % de los clientes, así que imputamos la mediana y lo declaramos. Y elegimos 9 variables, evitando las que repiten casi lo mismo, como número de compras y frecuencia de compras. K-Means no puede medir distancias con faltantes: hay que decidir antes.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PURCHASES el promedio es 1 003 USD, casi el triple de la mediana de 361, y el máximo llega a 49 040. El 22,8 % de los clientes no compró nada y el 51,7 % nunca hizo un avance en efectivo. Con montos así, unos pocos clientes enormes dominan las distancias. La transformación log(1 + x) comprime los valores grandes y conserva el orden; usamos 1 + x porque log de 0 no existe. No se aplica a variables que ya están entre 0 y 1.</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Igual que en KNN: K-Means mide distancias. Dos clientes compran casi lo mismo (1 000 y 1 100), pero uno tiene límite de 3 000 y compra todos los meses (frecuencia 0,9) y el otro tiene límite de 9 000 y casi nunca compra (0,1). Sin escalar, la diferencia de 6 000 en el límite aplasta a la de 0,8 en frecuencia. En desviaciones estándar, la frecuencia pesa 1,99 y el límite 1,65: el comportamiento vuelve a contar.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K-Means es un algoritmo que divide los datos en k grupos. Cada grupo se representa con su centroide, que es el promedio de sus filas, y cada fila pertenece al grupo cuyo centroide está más cerca. El nombre lo dice: K es el número de grupos y Means significa medias, porque los centros son promedios. Analogía: un banco quiere abrir k agencias en una ciudad para que cada cliente quede cerca de una. Ubica agencias, asigna a cada cliente la más cercana, mueve cada agencia al centro de sus clientes y repite hasta que ya no conviene moverlas. Busca grupos compactos: la menor inercia posible.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Antes de usar 9 variables, una sola: el gasto mensual de 12 clientes. El eje vertical es el gasto; el eje horizontal solo numera a los clientes para que los puntos no se amontonen: el modelo no lo usa. Panel 1: a simple vista hay tres franjas de clientes. Panel 2: K-Means con k = 3 encuentra esas tres franjas. Cada centro es el promedio de su grupo: (20 + 35 + 40 + 55) / 4 = 37,5; los del medio dan 337,5 y los de arriba 987,5. Las líneas punteadas son las fronteras, el punto medio entre dos centros: 187,5 y 662,5. Un cliente nuevo que gasta 500 está más cerca de 337,5 que de 987,5: va al grupo del medio. Panel 3: los cuartiles hacen 4 grupos de 3 clientes sin mirar los huecos y parten las franjas.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Calculamos el Silhouette del cliente que gasta 55. Con K-Means está con 20, 35 y 40: a = (35 + 20 + 15) / 3 = 23,3; su grupo vecino es el de 300 a 380: b = (245 + 265 + 295 + 325) / 4 = 282,5; s = (282,5 − 23,3) / 282,5 = 0,92. Bien ubicado. Con cuartiles quedó junto a 300 y 320: a = (245 + 265) / 2 = 255; el grupo vecino es el de 20, 35 y 40: b = 23,3; s = (23,3 − 255) / 255 = −0,91. Negativo: está en el grupo equivocado. Cuatro de los doce clientes quedan con Silhouette negativo con los cuartiles; ninguno con K-Means.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K-Means con una sola variable real: las compras de 6 meses en escala logarítmica, k = 3. Igual que antes, el eje horizontal solo reparte los puntos al azar; el modelo usa únicamente las compras. Grupo 1: 2 079 clientes que no compran o compran menos de unos 13 USD. Grupo 2: 3 346 clientes con compras de 13 a 574 USD, centro cerca de 200. Grupo 3: 3 525 clientes con más de 574 USD, centro cerca de 1 650. Con una variable es fácil ver los grupos y las fronteras, pero solo sabemos cuánto compran. Para distinguir a quien paga el total de quien usa avances necesitamos las 9 variables: eso hace el modelo completo.</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K-Means busca k centros, llamados centroides. Repite dos pasos. Asignar: cada punto va al centroide más cercano. Actualizar: cada centroide se mueve al promedio de sus puntos. Se detiene cuando las asignaciones ya no cambian. En cada vuelta la inercia, la suma de las distancias al cuadrado de cada punto a su centro, baja o se mantiene.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Seis puntos: A, B y C abajo a la izquierda; D, E y F arriba a la derecha. Empezamos a propósito con dos centros mal ubicados, sobre A y B. Vuelta 1: el centro de B está un poco más cerca de D, E y F, y se los lleva. Al promediar B, D, E y F, ese centro se mueve a (4,5; 4,25). Vuelta 2: B vuelve con A y C. Vuelta 3: los centros quedan en (1,5; 1,33) y (5,5; 5) y nada cambia. El algoritmo se corrigió solo, pero el punto de partida pudo llevarlo a un resultado peor.</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se calcula la vuelta 1. Centro azul en A (1; 1) y centro rojo en B (1,5; 2). Para cada punto calculamos la distancia euclidiana a los dos centros y lo asignamos al menor. C (2; 1) está a 1,00 del azul y a 1,12 del rojo: va al azul. D (5; 4) está a 5,00 del azul y a 4,03 del rojo: va al rojo. Luego cada centro se mueve al promedio de sus puntos: azul = promedio de A y C = (1,5; 1); rojo = promedio de B, D, E y F = (4,5; 4,25).</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más importante es k, el número de grupos: no lo aprende el algoritmo, lo decidimos nosotros con evidencia. n_init es cuántas veces se repite el algoritmo desde puntos de partida distintos; se queda con la solución de menor inercia. random_state fija el sorteo para que otros puedan repetir el resultado. Y la preparación de los datos (qué variables, logaritmo, escalado) cambia los grupos tanto como cualquier hiperparámetro.</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Repetimos K-Means con k = 4 y seis semillas. Con un solo inicio (n_init = 1), cuatro de las seis semillas terminan en una solución peor: inercia 41 825 frente a 41 171, y grupos bastante distintos (ARI ≈ 0,5; el ARI vale 1 cuando dos particiones coinciden). Con n_init = 20 las seis semillas llegan a la misma solución. Usar siempre varios inicios y fijar random_state.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K-Means es rápido, simple y funciona con millones de filas, y sus centros se leen fácilmente como perfiles promedio. Pero tiene supuestos. Hay que elegir k. Es sensible a la escala y al punto de partida. Supone grupos más o menos redondos y de tamaño parecido: con grupos curvos, como las dos lunas, los corta por la mitad, mientras que un jerárquico con single los sigue. Y como usa promedios, los valores extremos arrastran los centros: por eso aplicamos logaritmo. Solo trabaja con variables numéricas.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cada punto: a es la distancia promedio a los puntos de su grupo; b es la distancia promedio a los del grupo vecino más cercano. s = (b − a) / máx(a, b). Ejemplo en una recta: grupo A = {1, 2, 3}, grupo B = {8, 9}. Para el punto 3: a = (2 + 1) / 2 = 1,5 y b = (5 + 6) / 2 = 5,5, así que s = 4 / 5,5 = 0,73. Cerca de 1: bien separado. Cerca de 0: en la frontera. Negativo: probablemente en el grupo equivocado. El Silhouette del modelo es el promedio de todos los puntos.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Probamos k de 2 a 8. La inercia siempre baja al agregar grupos: con un grupo por cliente sería 0. Buscamos el codo, donde agregar grupos empieza a mejorar poco: alrededor de k = 4. Con logaritmo, el Silhouette queda entre 0,26 y 0,28 para casi todos los k: no hay una separación nítida, los clientes forman un continuo. Es normal en datos de comportamiento. Sin logaritmo, k = 2 tiene el Silhouette más alto. Eso parece una buena noticia, pero es una trampa.</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 logaritmo, k = 2 obtiene Silhouette 0,47, el más alto de todos. Pero los grupos son 7 699 clientes contra 1 250. El grupo pequeño son los clientes grandes: saldo mediano 4 227 frente a 661, límite 9 450 frente a 3 000, pagos 3 923 frente a 692. Separar a los grandes del resto es obvio y no ayuda a diseñar ninguna acción. Un Silhouette alto con un grupo gigante suele indicar que los valores extremos dominan la distancia.</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Elegimos k = 4 por cuatro razones. Es donde el codo empieza a aplanarse. Su Silhouette, 0,27, es similar al de los otros k: ningún valor separa claramente mejor. Los grupos tienen tamaños útiles, entre 1 297 y 2 770 clientes. Y, lo más importante, cada grupo tiene un perfil que se puede describir y usar. Es una decisión justificada, no un resultado automático; otra persona podría defender k = 5 con buenos argumentos.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fila es un segmento y cada columna una variable. El color indica cuántas desviaciones está el promedio del segmento por encima (rojo) o por debajo (azul) del promedio general. Segmento 0: saldo, compras y límite altos. Segmento 1: saldo muy bajo y paga el total muchísimo más que el resto (+2,2). Segmento 2: casi no compra (−1,4) y usa avances en efectivo (+1,0). Segmento 3: por debajo del promedio en casi todo. Los números 0 a 3 son etiquetas arbitrarias, no un ranking.</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Volvemos a unidades originales con las medianas. Compradores que financian: 2 770 clientes, saldo de 1 865, compran mucho y seguido, límite de 5 950 y casi nunca pagan el total. Totaleros: 1 297, saldo de 84, compran casi todos los meses y pagan el total el 83 % de los meses. Usuarios de avances en efectivo: 2 438, el 82 % no compra nada y el 99 % usa avances, con una mediana de 1 272. Poco activos: 2 444, saldo y pagos bajos y límite de 1 800.</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gráfico muestra compras contra avances en efectivo, ambos en logaritmo, para 3 000 clientes. La columna de puntos en compras = 0 son los usuarios de avances. La franja inferior, con avances = 0, reúne a totaleros y poco activos, que se distinguen por otras variables: saldo, pago total y límite. Los colores se mezclan un poco porque el gráfico solo ve 2 de las 9 dimensiones que usó K-Means.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valor del clustering está en lo que permite hacer. Compradores que financian: ofertas de cuotas y vigilancia del endeudamiento. Totaleros: programas de recompensas; son de bajo riesgo. Usuarios de avances: posible necesidad de liquidez; revisar su riesgo y ofrecer productos más baratos que el avance. Poco activos: campañas de activación. Pero los grupos no prueban causas: describen 6 meses de comportamiento según nuestras variables.</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 respuestas correctas, comparamos todas las opciones con el mismo criterio. Línea base: dividir a los clientes en 4 grupos según los cuartiles de compras; Silhouette 0,14. K-Means con logaritmo lo duplica con cualquier k entre 3 y 6. La opción sin logaritmo con k = 2 tiene el número más alto, pero ya sabemos que solo separa a los clientes grandes. Elegimos k = 4 con logaritmo: supera a la línea base, tiene tamaños útiles, es estable y se puede explicar.</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clustering jerárquico construye una jerarquía de grupos dentro de grupos, como un organigrama o como provincias dentro de regiones dentro de un país. La versión más usada es la aglomerativa: empieza con cada fila como su propio grupo y en cada paso une los dos grupos más cercanos, hasta que todo queda en un solo grupo. La versión divisiva hace lo contrario: empieza con todo junto y va partiendo. No hay que decidir k al inicio: el resultado es un árbol, el dendrograma, y el número de grupos se elige al cortarlo.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Cinco puntos en una recta: A = 1, B = 2, C = 6, D = 7 y E = 15. Paso 1: calculamos todas las distancias entre pares; la menor es 1, entre A y B, y se unen. Paso 2: el nuevo grupo {A, B} se representa por su centro, 1,5, y recalculamos sus distancias: a C 4,5, a D 5,5, a E 13,5. La menor distancia de toda la tabla ahora es C-D = 1: se unen. Paso 3: {A, B} con centro 1,5 y {C, D} con centro 6,5 están a 5; {C, D} a E, 8,5. Se unen {A, B} y {C, D}. Paso 4: el centro de los cuatro es 4 y E queda a 11.</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dendrograma dibuja las uniones del paso anterior. Abajo están los puntos; cada unión es un tramo horizontal a la altura de su distancia. A-B y C-D se unen a altura 1; los dos pares se unen a 5; E se une al final, a 11. Para obtener grupos se traza una línea horizontal: los puntos conectados por debajo de la línea forman un grupo. Cortar a altura 3 da 3 grupos: {A, B}, {C, D} y {E}. Cortar a altura 8 da 2 grupos: {A, B, C, D} y {E}. Un buen corte suele estar donde hay un salto grande de altura.</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unir dos grupos hay que medir la distancia entre grupos, no entre puntos. Ward une los grupos cuya fusión aumenta menos la variación interna; produce grupos compactos, como K-Means. Complete usa los dos puntos más lejanos. Average usa el promedio de todas las distancias. Single usa los dos puntos más cercanos; tiende a formar cadenas y a dejar casi todo en un grupo.</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jerárquico compara todos los pares de puntos, así que es lento con miles de filas: usamos una muestra de 2 000 clientes y mostramos solo las últimas 30 uniones. Los números entre paréntesis son cuántos clientes agrupa cada rama. Las uniones más altas ocurren entre grupos muy distintos. Un corte justo debajo de las tres últimas uniones deja 4 grupos.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la misma muestra y 4 grupos. Average tiene el Silhouette más alto, 0,25, pero deja 1 942 de 2 000 clientes en un grupo y aísla 3 grupos de 51, 6 y 1 cliente. Single es peor: 1 997 y tres grupos de un cliente. Ward da grupos equilibrados y coincide moderadamente con K-Means (ARI 0,53): ambos encuentran una estructura parecida, no idéntica. Otra vez: la métrica sola engaña, hay que mirar los tamaños.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K-Means: se elige k antes, es rápido incluso con millones de filas, depende del punto de partida y supone grupos redondos. Entrega grupos y centros. Jerárquico: k se elige al cortar el árbol, es determinista, pero lento con muchos datos porque compara todos los pares; con la regla adecuada puede seguir formas no redondas. Entrega un dendrograma. En la práctica, con miles de clientes se usa K-Means, y el jerárquico sirve para explorar una muestra o para pocos casos, como países o provincias.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Siete pasos. Una pregunta clara: para qué quiero los grupos. La preparación declarada: variables, faltantes, logaritmo y escala. Elegir k con varias evidencias. Comparar con una línea base y otras configuraciones. Comprobar estabilidad con varios inicios y semillas. Describir perfiles en unidades originales con nombres de comportamiento. Y reconocer las limitaciones: los grupos dependen de las decisiones y no prueban causas.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 eligen Country Data, Wholesale Customers u Online Retail, no hay variable objetivo. Deben construir la tabla de casos (en Online Retail, una fila por cliente), limpiar y transformar, escalar, comparar al menos tres configuraciones (varios k, con y sin logaritmo, otro linkage) contra una línea base sencilla, elegir una con argumentos, describir los perfiles y reconocer sus límites.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Resumen para cerrar la jornada.</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lo que hicimos a mano tiene su celda en el notebook 04. Al ejecutarlo deben obtener los mismos números. Si algo no coincide, pregunten por qué antes de seguir.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bg>
      <p:bgPr>
        <a:blipFill dpi="0" rotWithShape="1">
          <a:blip r:embed="rId2">
            <a:lum/>
          </a:blip>
          <a:srcRect/>
          <a:stretch>
            <a:fillRect/>
          </a:stretch>
        </a:blipFill>
        <a:effectLst/>
      </p:bgPr>
    </p:bg>
    <p:spTree>
      <p:nvGrpSpPr>
        <p:cNvPr id="1" name="Shape 8"/>
        <p:cNvGrpSpPr/>
        <p:nvPr/>
      </p:nvGrpSpPr>
      <p:grpSpPr>
        <a:xfrm>
          <a:off x="0" y="0"/>
          <a:ext cx="0" cy="0"/>
          <a:chOff x="0" y="0"/>
          <a:chExt cx="0" cy="0"/>
        </a:xfrm>
      </p:grpSpPr>
      <p:sp>
        <p:nvSpPr>
          <p:cNvPr id="9" name="Google Shape;9;p5"/>
          <p:cNvSpPr txBox="1">
            <a:spLocks noGrp="1"/>
          </p:cNvSpPr>
          <p:nvPr>
            <p:ph type="ctrTitle"/>
          </p:nvPr>
        </p:nvSpPr>
        <p:spPr>
          <a:xfrm>
            <a:off x="1187624" y="5013176"/>
            <a:ext cx="6768752" cy="864095"/>
          </a:xfrm>
          <a:prstGeom prst="rect">
            <a:avLst/>
          </a:prstGeom>
          <a:solidFill>
            <a:srgbClr val="1B1E3E">
              <a:alpha val="49019"/>
            </a:srgbClr>
          </a:solid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2400"/>
              <a:buFont typeface="Verdana"/>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5"/>
          <p:cNvSpPr txBox="1">
            <a:spLocks noGrp="1"/>
          </p:cNvSpPr>
          <p:nvPr>
            <p:ph type="subTitle" idx="1"/>
          </p:nvPr>
        </p:nvSpPr>
        <p:spPr>
          <a:xfrm>
            <a:off x="0" y="5949280"/>
            <a:ext cx="3707904" cy="360040"/>
          </a:xfrm>
          <a:prstGeom prst="rect">
            <a:avLst/>
          </a:prstGeom>
          <a:noFill/>
          <a:ln>
            <a:noFill/>
          </a:ln>
        </p:spPr>
        <p:txBody>
          <a:bodyPr spcFirstLastPara="1" wrap="square" lIns="91425" tIns="45700" rIns="91425" bIns="45700" anchor="t" anchorCtr="0">
            <a:noAutofit/>
          </a:bodyPr>
          <a:lstStyle>
            <a:lvl1pPr lvl="0" algn="l">
              <a:spcBef>
                <a:spcPts val="240"/>
              </a:spcBef>
              <a:spcAft>
                <a:spcPts val="0"/>
              </a:spcAft>
              <a:buClr>
                <a:srgbClr val="D8D8D8"/>
              </a:buClr>
              <a:buSzPts val="1200"/>
              <a:buNone/>
              <a:defRPr sz="1200">
                <a:solidFill>
                  <a:srgbClr val="D8D8D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blipFill dpi="0" rotWithShape="1">
          <a:blip r:embed="rId2">
            <a:lum/>
          </a:blip>
          <a:srcRect/>
          <a:stretch>
            <a:fillRect/>
          </a:stretch>
        </a:blipFill>
        <a:effectLst/>
      </p:bgPr>
    </p:bg>
    <p:spTree>
      <p:nvGrpSpPr>
        <p:cNvPr id="1" name="Shape 11"/>
        <p:cNvGrpSpPr/>
        <p:nvPr/>
      </p:nvGrpSpPr>
      <p:grpSpPr>
        <a:xfrm>
          <a:off x="0" y="0"/>
          <a:ext cx="0" cy="0"/>
          <a:chOff x="0" y="0"/>
          <a:chExt cx="0" cy="0"/>
        </a:xfrm>
      </p:grpSpPr>
      <p:sp>
        <p:nvSpPr>
          <p:cNvPr id="12" name="Google Shape;12;p6"/>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bg>
      <p:bgPr>
        <a:blipFill dpi="0" rotWithShape="1">
          <a:blip r:embed="rId2">
            <a:lum/>
          </a:blip>
          <a:srcRect/>
          <a:stretch>
            <a:fillRect/>
          </a:stretch>
        </a:blipFill>
        <a:effectLst/>
      </p:bgPr>
    </p:bg>
    <p:spTree>
      <p:nvGrpSpPr>
        <p:cNvPr id="1" name="Shape 14"/>
        <p:cNvGrpSpPr/>
        <p:nvPr/>
      </p:nvGrpSpPr>
      <p:grpSpPr>
        <a:xfrm>
          <a:off x="0" y="0"/>
          <a:ext cx="0" cy="0"/>
          <a:chOff x="0" y="0"/>
          <a:chExt cx="0" cy="0"/>
        </a:xfrm>
      </p:grpSpPr>
      <p:sp>
        <p:nvSpPr>
          <p:cNvPr id="15" name="Google Shape;15;p7"/>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7"/>
          <p:cNvSpPr txBox="1">
            <a:spLocks noGrp="1"/>
          </p:cNvSpPr>
          <p:nvPr>
            <p:ph type="body" idx="1"/>
          </p:nvPr>
        </p:nvSpPr>
        <p:spPr>
          <a:xfrm>
            <a:off x="457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7" name="Google Shape;17;p7"/>
          <p:cNvSpPr txBox="1">
            <a:spLocks noGrp="1"/>
          </p:cNvSpPr>
          <p:nvPr>
            <p:ph type="body" idx="2"/>
          </p:nvPr>
        </p:nvSpPr>
        <p:spPr>
          <a:xfrm>
            <a:off x="4648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bg>
      <p:bgPr>
        <a:blipFill dpi="0" rotWithShape="1">
          <a:blip r:embed="rId2">
            <a:lum/>
          </a:blip>
          <a:srcRect/>
          <a:stretch>
            <a:fillRect/>
          </a:stretch>
        </a:blipFill>
        <a:effectLst/>
      </p:bgPr>
    </p:bg>
    <p:spTree>
      <p:nvGrpSpPr>
        <p:cNvPr id="1" name="Shape 18"/>
        <p:cNvGrpSpPr/>
        <p:nvPr/>
      </p:nvGrpSpPr>
      <p:grpSpPr>
        <a:xfrm>
          <a:off x="0" y="0"/>
          <a:ext cx="0" cy="0"/>
          <a:chOff x="0" y="0"/>
          <a:chExt cx="0" cy="0"/>
        </a:xfrm>
      </p:grpSpPr>
      <p:sp>
        <p:nvSpPr>
          <p:cNvPr id="19" name="Google Shape;19;p8"/>
          <p:cNvSpPr txBox="1">
            <a:spLocks noGrp="1"/>
          </p:cNvSpPr>
          <p:nvPr>
            <p:ph type="title"/>
          </p:nvPr>
        </p:nvSpPr>
        <p:spPr>
          <a:xfrm>
            <a:off x="722313" y="4443189"/>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3200"/>
              <a:buFont typeface="Verdana"/>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bg>
      <p:bgPr>
        <a:blipFill dpi="0" rotWithShape="1">
          <a:blip r:embed="rId2">
            <a:lum/>
          </a:blip>
          <a:srcRect/>
          <a:stretch>
            <a:fillRect/>
          </a:stretch>
        </a:blipFill>
        <a:effectLst/>
      </p:bgPr>
    </p:bg>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2060848"/>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4" name="Google Shape;24;p9"/>
          <p:cNvSpPr txBox="1">
            <a:spLocks noGrp="1"/>
          </p:cNvSpPr>
          <p:nvPr>
            <p:ph type="body" idx="2"/>
          </p:nvPr>
        </p:nvSpPr>
        <p:spPr>
          <a:xfrm>
            <a:off x="457200" y="2708919"/>
            <a:ext cx="4040188"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5" name="Google Shape;25;p9"/>
          <p:cNvSpPr txBox="1">
            <a:spLocks noGrp="1"/>
          </p:cNvSpPr>
          <p:nvPr>
            <p:ph type="body" idx="3"/>
          </p:nvPr>
        </p:nvSpPr>
        <p:spPr>
          <a:xfrm>
            <a:off x="4645025" y="2060848"/>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 name="Google Shape;26;p9"/>
          <p:cNvSpPr txBox="1">
            <a:spLocks noGrp="1"/>
          </p:cNvSpPr>
          <p:nvPr>
            <p:ph type="body" idx="4"/>
          </p:nvPr>
        </p:nvSpPr>
        <p:spPr>
          <a:xfrm>
            <a:off x="4645025" y="2708919"/>
            <a:ext cx="4041775"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bg>
      <p:bgPr>
        <a:blipFill dpi="0" rotWithShape="1">
          <a:blip r:embed="rId2">
            <a:lum/>
          </a:blip>
          <a:srcRect/>
          <a:stretch>
            <a:fillRect/>
          </a:stretch>
        </a:blipFill>
        <a:effectLst/>
      </p:bgPr>
    </p:bg>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bg>
      <p:bgPr>
        <a:blipFill dpi="0" rotWithShape="1">
          <a:blip r:embed="rId2">
            <a:lum/>
          </a:blip>
          <a:srcRect/>
          <a:stretch>
            <a:fillRect/>
          </a:stretch>
        </a:blipFill>
        <a:effectLst/>
      </p:bgPr>
    </p:bg>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bg>
      <p:bgPr>
        <a:blipFill dpi="0" rotWithShape="1">
          <a:blip r:embed="rId2">
            <a:lum/>
          </a:blip>
          <a:srcRect/>
          <a:stretch>
            <a:fillRect/>
          </a:stretch>
        </a:blipFill>
        <a:effectLst/>
      </p:bgPr>
    </p:bg>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457200" y="980728"/>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Verdana"/>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txBox="1">
            <a:spLocks noGrp="1"/>
          </p:cNvSpPr>
          <p:nvPr>
            <p:ph type="body" idx="1"/>
          </p:nvPr>
        </p:nvSpPr>
        <p:spPr>
          <a:xfrm>
            <a:off x="3575050" y="980728"/>
            <a:ext cx="5111750" cy="51454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3" name="Google Shape;33;p12"/>
          <p:cNvSpPr txBox="1">
            <a:spLocks noGrp="1"/>
          </p:cNvSpPr>
          <p:nvPr>
            <p:ph type="body" idx="2"/>
          </p:nvPr>
        </p:nvSpPr>
        <p:spPr>
          <a:xfrm>
            <a:off x="457200" y="2132856"/>
            <a:ext cx="3008313" cy="399330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bg>
      <p:bgPr>
        <a:blipFill dpi="0" rotWithShape="1">
          <a:blip r:embed="rId2">
            <a:lum/>
          </a:blip>
          <a:srcRect/>
          <a:stretch>
            <a:fillRect/>
          </a:stretch>
        </a:blipFill>
        <a:effectLst/>
      </p:bgPr>
    </p:bg>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1792288" y="486916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1800"/>
              <a:buFont typeface="Verdana"/>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a:spLocks noGrp="1"/>
          </p:cNvSpPr>
          <p:nvPr>
            <p:ph type="pic" idx="2"/>
          </p:nvPr>
        </p:nvSpPr>
        <p:spPr>
          <a:xfrm>
            <a:off x="1792288" y="908720"/>
            <a:ext cx="5486400" cy="3888432"/>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Verdana"/>
                <a:ea typeface="Verdana"/>
                <a:cs typeface="Verdana"/>
                <a:sym typeface="Verdana"/>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Verdana"/>
                <a:ea typeface="Verdana"/>
                <a:cs typeface="Verdana"/>
                <a:sym typeface="Verdana"/>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Verdana"/>
                <a:ea typeface="Verdana"/>
                <a:cs typeface="Verdana"/>
                <a:sym typeface="Verdana"/>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9pPr>
          </a:lstStyle>
          <a:p>
            <a:endParaRPr/>
          </a:p>
        </p:txBody>
      </p:sp>
      <p:sp>
        <p:nvSpPr>
          <p:cNvPr id="37" name="Google Shape;37;p13"/>
          <p:cNvSpPr txBox="1">
            <a:spLocks noGrp="1"/>
          </p:cNvSpPr>
          <p:nvPr>
            <p:ph type="body" idx="1"/>
          </p:nvPr>
        </p:nvSpPr>
        <p:spPr>
          <a:xfrm>
            <a:off x="1792288" y="5432450"/>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bg>
      <p:bgPr>
        <a:blipFill dpi="0" rotWithShape="1">
          <a:blip r:embed="rId2">
            <a:lum/>
          </a:blip>
          <a:srcRect/>
          <a:stretch>
            <a:fillRect/>
          </a:stretch>
        </a:blipFill>
        <a:effectLst/>
      </p:bgPr>
    </p:bg>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4"/>
          <p:cNvSpPr txBox="1">
            <a:spLocks noGrp="1"/>
          </p:cNvSpPr>
          <p:nvPr>
            <p:ph type="body" idx="1"/>
          </p:nvPr>
        </p:nvSpPr>
        <p:spPr>
          <a:xfrm rot="5400000">
            <a:off x="2575346" y="14710"/>
            <a:ext cx="3993307"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bg>
      <p:bgPr>
        <a:blipFill dpi="0" rotWithShape="1">
          <a:blip r:embed="rId2">
            <a:lum/>
          </a:blip>
          <a:srcRect/>
          <a:stretch>
            <a:fillRect/>
          </a:stretch>
        </a:blipFill>
        <a:effectLst/>
      </p:bgPr>
    </p:bg>
    <p:spTree>
      <p:nvGrpSpPr>
        <p:cNvPr id="1" name="Shape 42"/>
        <p:cNvGrpSpPr/>
        <p:nvPr/>
      </p:nvGrpSpPr>
      <p:grpSpPr>
        <a:xfrm>
          <a:off x="0" y="0"/>
          <a:ext cx="0" cy="0"/>
          <a:chOff x="0" y="0"/>
          <a:chExt cx="0" cy="0"/>
        </a:xfrm>
      </p:grpSpPr>
      <p:sp>
        <p:nvSpPr>
          <p:cNvPr id="43" name="Google Shape;43;p15"/>
          <p:cNvSpPr txBox="1">
            <a:spLocks noGrp="1"/>
          </p:cNvSpPr>
          <p:nvPr>
            <p:ph type="title"/>
          </p:nvPr>
        </p:nvSpPr>
        <p:spPr>
          <a:xfrm rot="5400000">
            <a:off x="5085382" y="2524745"/>
            <a:ext cx="514543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5"/>
          <p:cNvSpPr txBox="1">
            <a:spLocks noGrp="1"/>
          </p:cNvSpPr>
          <p:nvPr>
            <p:ph type="body" idx="1"/>
          </p:nvPr>
        </p:nvSpPr>
        <p:spPr>
          <a:xfrm rot="5400000">
            <a:off x="894383" y="543546"/>
            <a:ext cx="514543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3600"/>
              <a:buFont typeface="Verdana"/>
              <a:buNone/>
              <a:defRPr sz="3600" b="1"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Verdana"/>
                <a:ea typeface="Verdana"/>
                <a:cs typeface="Verdana"/>
                <a:sym typeface="Verdan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Verdana"/>
                <a:ea typeface="Verdana"/>
                <a:cs typeface="Verdana"/>
                <a:sym typeface="Verdana"/>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8"/>
        <p:cNvGrpSpPr/>
        <p:nvPr/>
      </p:nvGrpSpPr>
      <p:grpSpPr>
        <a:xfrm>
          <a:off x="0" y="0"/>
          <a:ext cx="0" cy="0"/>
          <a:chOff x="0" y="0"/>
          <a:chExt cx="0" cy="0"/>
        </a:xfrm>
      </p:grpSpPr>
      <p:sp>
        <p:nvSpPr>
          <p:cNvPr id="49" name="Google Shape;49;p1"/>
          <p:cNvSpPr txBox="1">
            <a:spLocks noGrp="1"/>
          </p:cNvSpPr>
          <p:nvPr>
            <p:ph type="ctrTitle"/>
          </p:nvPr>
        </p:nvSpPr>
        <p:spPr>
          <a:xfrm>
            <a:off x="368850" y="1972369"/>
            <a:ext cx="2957730" cy="223799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lt1"/>
              </a:buClr>
              <a:buSzPts val="2400"/>
              <a:buFont typeface="Verdana"/>
              <a:buNone/>
            </a:pPr>
            <a:r>
              <a:rPr lang="es-EC" sz="2000" dirty="0">
                <a:solidFill>
                  <a:srgbClr val="092240"/>
                </a:solidFill>
              </a:rPr>
              <a:t>Día 4 — Clustering: segmentar clientes de tarjeta</a:t>
            </a:r>
            <a:endParaRPr sz="3600" dirty="0">
              <a:solidFill>
                <a:srgbClr val="092240"/>
              </a:solidFill>
            </a:endParaRPr>
          </a:p>
        </p:txBody>
      </p:sp>
      <p:sp>
        <p:nvSpPr>
          <p:cNvPr id="50" name="Google Shape;50;p1"/>
          <p:cNvSpPr txBox="1">
            <a:spLocks noGrp="1"/>
          </p:cNvSpPr>
          <p:nvPr>
            <p:ph type="subTitle" idx="1"/>
          </p:nvPr>
        </p:nvSpPr>
        <p:spPr>
          <a:xfrm>
            <a:off x="1472580" y="5451377"/>
            <a:ext cx="5000000" cy="85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8D8D8"/>
              </a:buClr>
              <a:buSzPts val="1200"/>
              <a:buNone/>
            </a:pPr>
            <a:r>
              <a:rPr lang="es-EC" sz="2000" dirty="0">
                <a:solidFill>
                  <a:srgbClr val="595959"/>
                </a:solidFill>
              </a:rPr>
              <a:t>Módulo 3: Machine Learning Aplicado</a:t>
            </a:r>
          </a:p>
          <a:p>
            <a:r>
              <a:rPr sz="1800">
                <a:solidFill>
                  <a:srgbClr val="595959"/>
                </a:solidFill>
              </a:rPr>
              <a:t>Jonathan Rosero Soto</a:t>
            </a:r>
          </a:p>
        </p:txBody>
      </p:sp>
      <p:sp>
        <p:nvSpPr>
          <p:cNvPr id="2" name="Google Shape;49;p1">
            <a:extLst>
              <a:ext uri="{FF2B5EF4-FFF2-40B4-BE49-F238E27FC236}">
                <a16:creationId xmlns:a16="http://schemas.microsoft.com/office/drawing/2014/main" id="{A44FCFBF-4A46-52F2-39D4-3FA0ED93B6E0}"/>
              </a:ext>
            </a:extLst>
          </p:cNvPr>
          <p:cNvSpPr txBox="1">
            <a:spLocks/>
          </p:cNvSpPr>
          <p:nvPr/>
        </p:nvSpPr>
        <p:spPr>
          <a:xfrm>
            <a:off x="1402651" y="6219245"/>
            <a:ext cx="7192708" cy="47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400"/>
              <a:buFont typeface="Verdana"/>
              <a:buNone/>
              <a:defRPr sz="24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ES" sz="1300" b="0" dirty="0">
                <a:solidFill>
                  <a:schemeClr val="bg1">
                    <a:lumMod val="50000"/>
                  </a:schemeClr>
                </a:solidFill>
              </a:rPr>
              <a:t>Edificio Aulas y Relación con el Medio Externo, Av. Toledo N23-55 y Madrid </a:t>
            </a:r>
          </a:p>
          <a:p>
            <a:r>
              <a:rPr lang="es-ES" sz="1300" b="0" dirty="0">
                <a:solidFill>
                  <a:schemeClr val="bg1">
                    <a:lumMod val="50000"/>
                  </a:schemeClr>
                </a:solidFill>
              </a:rPr>
              <a:t>Telf.: +593 2 2525766 - </a:t>
            </a:r>
            <a:r>
              <a:rPr lang="en-US" sz="1300" b="0" dirty="0">
                <a:solidFill>
                  <a:schemeClr val="bg1">
                    <a:lumMod val="50000"/>
                  </a:schemeClr>
                </a:solidFill>
              </a:rPr>
              <a:t>Ext: 102 / 125 / 143 / 120 / 127 -</a:t>
            </a:r>
            <a:r>
              <a:rPr lang="es-ES" sz="1300" b="0" dirty="0">
                <a:solidFill>
                  <a:schemeClr val="bg1">
                    <a:lumMod val="50000"/>
                  </a:schemeClr>
                </a:solidFill>
              </a:rPr>
              <a:t> www.cec-epn.edu.ec</a:t>
            </a:r>
            <a:endParaRPr lang="es-EC" sz="1300" b="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Ruta de la jornada</a:t>
            </a:r>
          </a:p>
        </p:txBody>
      </p:sp>
      <p:sp>
        <p:nvSpPr>
          <p:cNvPr id="3" name="Rounded Rectangle 2"/>
          <p:cNvSpPr/>
          <p:nvPr/>
        </p:nvSpPr>
        <p:spPr>
          <a:xfrm>
            <a:off x="731520" y="1920240"/>
            <a:ext cx="7772400" cy="493776"/>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1993392"/>
            <a:ext cx="347472" cy="347472"/>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1</a:t>
            </a:r>
          </a:p>
        </p:txBody>
      </p:sp>
      <p:sp>
        <p:nvSpPr>
          <p:cNvPr id="5" name="TextBox 4"/>
          <p:cNvSpPr txBox="1"/>
          <p:nvPr/>
        </p:nvSpPr>
        <p:spPr>
          <a:xfrm>
            <a:off x="1371600" y="1938528"/>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Supervisado y no supervisado</a:t>
            </a:r>
          </a:p>
        </p:txBody>
      </p:sp>
      <p:sp>
        <p:nvSpPr>
          <p:cNvPr id="6" name="TextBox 5"/>
          <p:cNvSpPr txBox="1"/>
          <p:nvPr/>
        </p:nvSpPr>
        <p:spPr>
          <a:xfrm>
            <a:off x="4754880" y="1938528"/>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Aprender con la respuesta o descubrir sin ella</a:t>
            </a:r>
          </a:p>
        </p:txBody>
      </p:sp>
      <p:sp>
        <p:nvSpPr>
          <p:cNvPr id="7" name="Rounded Rectangle 6"/>
          <p:cNvSpPr/>
          <p:nvPr/>
        </p:nvSpPr>
        <p:spPr>
          <a:xfrm>
            <a:off x="731520" y="2487168"/>
            <a:ext cx="7772400" cy="493776"/>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Oval 7"/>
          <p:cNvSpPr/>
          <p:nvPr/>
        </p:nvSpPr>
        <p:spPr>
          <a:xfrm>
            <a:off x="868680" y="2560320"/>
            <a:ext cx="347472" cy="34747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2</a:t>
            </a:r>
          </a:p>
        </p:txBody>
      </p:sp>
      <p:sp>
        <p:nvSpPr>
          <p:cNvPr id="9" name="TextBox 8"/>
          <p:cNvSpPr txBox="1"/>
          <p:nvPr/>
        </p:nvSpPr>
        <p:spPr>
          <a:xfrm>
            <a:off x="1371600" y="2505456"/>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¿Qué es clustering?</a:t>
            </a:r>
          </a:p>
        </p:txBody>
      </p:sp>
      <p:sp>
        <p:nvSpPr>
          <p:cNvPr id="10" name="TextBox 9"/>
          <p:cNvSpPr txBox="1"/>
          <p:nvPr/>
        </p:nvSpPr>
        <p:spPr>
          <a:xfrm>
            <a:off x="4754880" y="2505456"/>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Grupos de filas parecidas; K-Means y jerárquico</a:t>
            </a:r>
          </a:p>
        </p:txBody>
      </p:sp>
      <p:sp>
        <p:nvSpPr>
          <p:cNvPr id="11" name="Rounded Rectangle 10"/>
          <p:cNvSpPr/>
          <p:nvPr/>
        </p:nvSpPr>
        <p:spPr>
          <a:xfrm>
            <a:off x="731520" y="3054096"/>
            <a:ext cx="7772400" cy="493776"/>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868680" y="3127248"/>
            <a:ext cx="347472" cy="347472"/>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3</a:t>
            </a:r>
          </a:p>
        </p:txBody>
      </p:sp>
      <p:sp>
        <p:nvSpPr>
          <p:cNvPr id="13" name="TextBox 12"/>
          <p:cNvSpPr txBox="1"/>
          <p:nvPr/>
        </p:nvSpPr>
        <p:spPr>
          <a:xfrm>
            <a:off x="1371600" y="3072384"/>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Conocer y preparar los datos</a:t>
            </a:r>
          </a:p>
        </p:txBody>
      </p:sp>
      <p:sp>
        <p:nvSpPr>
          <p:cNvPr id="14" name="TextBox 13"/>
          <p:cNvSpPr txBox="1"/>
          <p:nvPr/>
        </p:nvSpPr>
        <p:spPr>
          <a:xfrm>
            <a:off x="4754880" y="3072384"/>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8 950 clientes de tarjeta: limpieza, logaritmo y escala</a:t>
            </a:r>
          </a:p>
        </p:txBody>
      </p:sp>
      <p:sp>
        <p:nvSpPr>
          <p:cNvPr id="15" name="Rounded Rectangle 14"/>
          <p:cNvSpPr/>
          <p:nvPr/>
        </p:nvSpPr>
        <p:spPr>
          <a:xfrm>
            <a:off x="731520" y="3621024"/>
            <a:ext cx="7772400" cy="493776"/>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68680" y="3694176"/>
            <a:ext cx="347472" cy="34747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4</a:t>
            </a:r>
          </a:p>
        </p:txBody>
      </p:sp>
      <p:sp>
        <p:nvSpPr>
          <p:cNvPr id="17" name="TextBox 16"/>
          <p:cNvSpPr txBox="1"/>
          <p:nvPr/>
        </p:nvSpPr>
        <p:spPr>
          <a:xfrm>
            <a:off x="1371600" y="3639312"/>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K-Means</a:t>
            </a:r>
          </a:p>
        </p:txBody>
      </p:sp>
      <p:sp>
        <p:nvSpPr>
          <p:cNvPr id="18" name="TextBox 17"/>
          <p:cNvSpPr txBox="1"/>
          <p:nvPr/>
        </p:nvSpPr>
        <p:spPr>
          <a:xfrm>
            <a:off x="4754880" y="3639312"/>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Qué es, paso a paso, hiperparámetros y límites</a:t>
            </a:r>
          </a:p>
        </p:txBody>
      </p:sp>
      <p:sp>
        <p:nvSpPr>
          <p:cNvPr id="19" name="Rounded Rectangle 18"/>
          <p:cNvSpPr/>
          <p:nvPr/>
        </p:nvSpPr>
        <p:spPr>
          <a:xfrm>
            <a:off x="731520" y="4187952"/>
            <a:ext cx="7772400" cy="493776"/>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Oval 19"/>
          <p:cNvSpPr/>
          <p:nvPr/>
        </p:nvSpPr>
        <p:spPr>
          <a:xfrm>
            <a:off x="868680" y="4261104"/>
            <a:ext cx="347472" cy="347472"/>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5</a:t>
            </a:r>
          </a:p>
        </p:txBody>
      </p:sp>
      <p:sp>
        <p:nvSpPr>
          <p:cNvPr id="21" name="TextBox 20"/>
          <p:cNvSpPr txBox="1"/>
          <p:nvPr/>
        </p:nvSpPr>
        <p:spPr>
          <a:xfrm>
            <a:off x="1371600" y="4206240"/>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Elegir k y describir grupos</a:t>
            </a:r>
          </a:p>
        </p:txBody>
      </p:sp>
      <p:sp>
        <p:nvSpPr>
          <p:cNvPr id="22" name="TextBox 21"/>
          <p:cNvSpPr txBox="1"/>
          <p:nvPr/>
        </p:nvSpPr>
        <p:spPr>
          <a:xfrm>
            <a:off x="4754880" y="4206240"/>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Codo, Silhouette, tamaños y perfiles</a:t>
            </a:r>
          </a:p>
        </p:txBody>
      </p:sp>
      <p:sp>
        <p:nvSpPr>
          <p:cNvPr id="23" name="Rounded Rectangle 22"/>
          <p:cNvSpPr/>
          <p:nvPr/>
        </p:nvSpPr>
        <p:spPr>
          <a:xfrm>
            <a:off x="731520" y="4754880"/>
            <a:ext cx="7772400" cy="493776"/>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Oval 23"/>
          <p:cNvSpPr/>
          <p:nvPr/>
        </p:nvSpPr>
        <p:spPr>
          <a:xfrm>
            <a:off x="868680" y="4828032"/>
            <a:ext cx="347472" cy="34747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6</a:t>
            </a:r>
          </a:p>
        </p:txBody>
      </p:sp>
      <p:sp>
        <p:nvSpPr>
          <p:cNvPr id="25" name="TextBox 24"/>
          <p:cNvSpPr txBox="1"/>
          <p:nvPr/>
        </p:nvSpPr>
        <p:spPr>
          <a:xfrm>
            <a:off x="1371600" y="4773168"/>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Validar y clustering jerárquico</a:t>
            </a:r>
          </a:p>
        </p:txBody>
      </p:sp>
      <p:sp>
        <p:nvSpPr>
          <p:cNvPr id="26" name="TextBox 25"/>
          <p:cNvSpPr txBox="1"/>
          <p:nvPr/>
        </p:nvSpPr>
        <p:spPr>
          <a:xfrm>
            <a:off x="4754880" y="4773168"/>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Línea base, dendrograma y linkage</a:t>
            </a:r>
          </a:p>
        </p:txBody>
      </p:sp>
      <p:sp>
        <p:nvSpPr>
          <p:cNvPr id="27" name="Rounded Rectangle 26"/>
          <p:cNvSpPr/>
          <p:nvPr/>
        </p:nvSpPr>
        <p:spPr>
          <a:xfrm>
            <a:off x="731520" y="5321808"/>
            <a:ext cx="7772400" cy="493776"/>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Oval 27"/>
          <p:cNvSpPr/>
          <p:nvPr/>
        </p:nvSpPr>
        <p:spPr>
          <a:xfrm>
            <a:off x="868680" y="5394960"/>
            <a:ext cx="347472" cy="347472"/>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7</a:t>
            </a:r>
          </a:p>
        </p:txBody>
      </p:sp>
      <p:sp>
        <p:nvSpPr>
          <p:cNvPr id="29" name="TextBox 28"/>
          <p:cNvSpPr txBox="1"/>
          <p:nvPr/>
        </p:nvSpPr>
        <p:spPr>
          <a:xfrm>
            <a:off x="1371600" y="5340096"/>
            <a:ext cx="3383280" cy="45720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Cierre</a:t>
            </a:r>
          </a:p>
        </p:txBody>
      </p:sp>
      <p:sp>
        <p:nvSpPr>
          <p:cNvPr id="30" name="TextBox 29"/>
          <p:cNvSpPr txBox="1"/>
          <p:nvPr/>
        </p:nvSpPr>
        <p:spPr>
          <a:xfrm>
            <a:off x="4754880" y="5340096"/>
            <a:ext cx="3703320" cy="457200"/>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Cómo defender un clustering en el proyecto final</a:t>
            </a:r>
          </a:p>
        </p:txBody>
      </p:sp>
      <p:sp>
        <p:nvSpPr>
          <p:cNvPr id="31" name="Rounded Rectangle 30"/>
          <p:cNvSpPr/>
          <p:nvPr/>
        </p:nvSpPr>
        <p:spPr>
          <a:xfrm>
            <a:off x="731520" y="6016752"/>
            <a:ext cx="7772400" cy="36576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Regla del día: </a:t>
            </a:r>
            <a:r>
              <a:rPr sz="1200" b="0" i="1">
                <a:solidFill>
                  <a:srgbClr val="5F6368"/>
                </a:solidFill>
                <a:latin typeface="Arial"/>
              </a:rPr>
              <a:t>un algoritmo siempre entrega grupos; nuestro trabajo es demostrar que sirven.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Dos formas</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Supervisado</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No supervisado</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Practiquemos</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1</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Supervisado y no supervisado</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Las dos grandes familias del Machine Learning: aprender con la respuesta o descubrir sin ella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Dos formas de aprender de los datos</a:t>
            </a:r>
          </a:p>
        </p:txBody>
      </p:sp>
      <p:sp>
        <p:nvSpPr>
          <p:cNvPr id="3" name="Rounded Rectangle 2"/>
          <p:cNvSpPr/>
          <p:nvPr/>
        </p:nvSpPr>
        <p:spPr>
          <a:xfrm>
            <a:off x="731520" y="1965960"/>
            <a:ext cx="3794760" cy="2514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57400"/>
            <a:ext cx="3520440" cy="411480"/>
          </a:xfrm>
          <a:prstGeom prst="rect">
            <a:avLst/>
          </a:prstGeom>
          <a:noFill/>
        </p:spPr>
        <p:txBody>
          <a:bodyPr wrap="square" anchor="t" lIns="36576" rIns="36576" tIns="36576" bIns="36576">
            <a:spAutoFit/>
          </a:bodyPr>
          <a:lstStyle/>
          <a:p>
            <a:pPr algn="l">
              <a:spcAft>
                <a:spcPts val="400"/>
              </a:spcAft>
            </a:pPr>
            <a:r>
              <a:rPr sz="1700" b="1" i="0">
                <a:solidFill>
                  <a:srgbClr val="242852"/>
                </a:solidFill>
                <a:latin typeface="Arial"/>
              </a:rPr>
              <a:t>Supervisado</a:t>
            </a:r>
          </a:p>
        </p:txBody>
      </p:sp>
      <p:sp>
        <p:nvSpPr>
          <p:cNvPr id="5" name="TextBox 4"/>
          <p:cNvSpPr txBox="1"/>
          <p:nvPr/>
        </p:nvSpPr>
        <p:spPr>
          <a:xfrm>
            <a:off x="868680" y="2514600"/>
            <a:ext cx="3520440" cy="365760"/>
          </a:xfrm>
          <a:prstGeom prst="rect">
            <a:avLst/>
          </a:prstGeom>
          <a:noFill/>
        </p:spPr>
        <p:txBody>
          <a:bodyPr wrap="square" anchor="t" lIns="36576" rIns="36576" tIns="36576" bIns="36576">
            <a:spAutoFit/>
          </a:bodyPr>
          <a:lstStyle/>
          <a:p>
            <a:pPr algn="l">
              <a:spcAft>
                <a:spcPts val="400"/>
              </a:spcAft>
            </a:pPr>
            <a:r>
              <a:rPr sz="1250" b="0" i="1">
                <a:solidFill>
                  <a:srgbClr val="5F6368"/>
                </a:solidFill>
                <a:latin typeface="Arial"/>
              </a:rPr>
              <a:t>estudiar con ejercicios resueltos</a:t>
            </a:r>
          </a:p>
        </p:txBody>
      </p:sp>
      <p:sp>
        <p:nvSpPr>
          <p:cNvPr id="6" name="TextBox 5"/>
          <p:cNvSpPr txBox="1"/>
          <p:nvPr/>
        </p:nvSpPr>
        <p:spPr>
          <a:xfrm>
            <a:off x="868680" y="2926080"/>
            <a:ext cx="3520440" cy="1463040"/>
          </a:xfrm>
          <a:prstGeom prst="rect">
            <a:avLst/>
          </a:prstGeom>
          <a:noFill/>
        </p:spPr>
        <p:txBody>
          <a:bodyPr wrap="square" anchor="t" lIns="36576" rIns="36576" tIns="36576" bIns="36576">
            <a:spAutoFit/>
          </a:bodyPr>
          <a:lstStyle/>
          <a:p>
            <a:pPr algn="l">
              <a:spcAft>
                <a:spcPts val="600"/>
              </a:spcAft>
            </a:pPr>
            <a:r>
              <a:rPr sz="1250" b="0" i="0">
                <a:solidFill>
                  <a:srgbClr val="2B2B2B"/>
                </a:solidFill>
                <a:latin typeface="Arial"/>
              </a:rPr>
              <a:t>Cada fila trae la respuesta (y).</a:t>
            </a:r>
          </a:p>
          <a:p>
            <a:pPr algn="l">
              <a:spcAft>
                <a:spcPts val="600"/>
              </a:spcAft>
            </a:pPr>
            <a:r>
              <a:rPr sz="1250" b="0" i="0">
                <a:solidFill>
                  <a:srgbClr val="2B2B2B"/>
                </a:solidFill>
                <a:latin typeface="Arial"/>
              </a:rPr>
              <a:t>El modelo aprende la relación entre X e y.</a:t>
            </a:r>
          </a:p>
          <a:p>
            <a:pPr algn="l">
              <a:spcAft>
                <a:spcPts val="600"/>
              </a:spcAft>
            </a:pPr>
            <a:r>
              <a:rPr sz="1250" b="0" i="0">
                <a:solidFill>
                  <a:srgbClr val="2B2B2B"/>
                </a:solidFill>
                <a:latin typeface="Arial"/>
              </a:rPr>
              <a:t>Luego predice y para filas nuevas.</a:t>
            </a:r>
          </a:p>
        </p:txBody>
      </p:sp>
      <p:sp>
        <p:nvSpPr>
          <p:cNvPr id="7" name="Rounded Rectangle 6"/>
          <p:cNvSpPr/>
          <p:nvPr/>
        </p:nvSpPr>
        <p:spPr>
          <a:xfrm>
            <a:off x="4709160" y="1965960"/>
            <a:ext cx="3794760" cy="25146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2057400"/>
            <a:ext cx="3520440" cy="411480"/>
          </a:xfrm>
          <a:prstGeom prst="rect">
            <a:avLst/>
          </a:prstGeom>
          <a:noFill/>
        </p:spPr>
        <p:txBody>
          <a:bodyPr wrap="square" anchor="t" lIns="36576" rIns="36576" tIns="36576" bIns="36576">
            <a:spAutoFit/>
          </a:bodyPr>
          <a:lstStyle/>
          <a:p>
            <a:pPr algn="l">
              <a:spcAft>
                <a:spcPts val="400"/>
              </a:spcAft>
            </a:pPr>
            <a:r>
              <a:rPr sz="1700" b="1" i="0">
                <a:solidFill>
                  <a:srgbClr val="2A9D8F"/>
                </a:solidFill>
                <a:latin typeface="Arial"/>
              </a:rPr>
              <a:t>No supervisado</a:t>
            </a:r>
          </a:p>
        </p:txBody>
      </p:sp>
      <p:sp>
        <p:nvSpPr>
          <p:cNvPr id="9" name="TextBox 8"/>
          <p:cNvSpPr txBox="1"/>
          <p:nvPr/>
        </p:nvSpPr>
        <p:spPr>
          <a:xfrm>
            <a:off x="4846320" y="2514600"/>
            <a:ext cx="3520440" cy="365760"/>
          </a:xfrm>
          <a:prstGeom prst="rect">
            <a:avLst/>
          </a:prstGeom>
          <a:noFill/>
        </p:spPr>
        <p:txBody>
          <a:bodyPr wrap="square" anchor="t" lIns="36576" rIns="36576" tIns="36576" bIns="36576">
            <a:spAutoFit/>
          </a:bodyPr>
          <a:lstStyle/>
          <a:p>
            <a:pPr algn="l">
              <a:spcAft>
                <a:spcPts val="400"/>
              </a:spcAft>
            </a:pPr>
            <a:r>
              <a:rPr sz="1250" b="0" i="1">
                <a:solidFill>
                  <a:srgbClr val="5F6368"/>
                </a:solidFill>
                <a:latin typeface="Arial"/>
              </a:rPr>
              <a:t>ordenar fotos sin etiquetas</a:t>
            </a:r>
          </a:p>
        </p:txBody>
      </p:sp>
      <p:sp>
        <p:nvSpPr>
          <p:cNvPr id="10" name="TextBox 9"/>
          <p:cNvSpPr txBox="1"/>
          <p:nvPr/>
        </p:nvSpPr>
        <p:spPr>
          <a:xfrm>
            <a:off x="4846320" y="2926080"/>
            <a:ext cx="3520440" cy="1463040"/>
          </a:xfrm>
          <a:prstGeom prst="rect">
            <a:avLst/>
          </a:prstGeom>
          <a:noFill/>
        </p:spPr>
        <p:txBody>
          <a:bodyPr wrap="square" anchor="t" lIns="36576" rIns="36576" tIns="36576" bIns="36576">
            <a:spAutoFit/>
          </a:bodyPr>
          <a:lstStyle/>
          <a:p>
            <a:pPr algn="l">
              <a:spcAft>
                <a:spcPts val="600"/>
              </a:spcAft>
            </a:pPr>
            <a:r>
              <a:rPr sz="1250" b="0" i="0">
                <a:solidFill>
                  <a:srgbClr val="2B2B2B"/>
                </a:solidFill>
                <a:latin typeface="Arial"/>
              </a:rPr>
              <a:t>Las filas no traen respuesta.</a:t>
            </a:r>
          </a:p>
          <a:p>
            <a:pPr algn="l">
              <a:spcAft>
                <a:spcPts val="600"/>
              </a:spcAft>
            </a:pPr>
            <a:r>
              <a:rPr sz="1250" b="0" i="0">
                <a:solidFill>
                  <a:srgbClr val="2B2B2B"/>
                </a:solidFill>
                <a:latin typeface="Arial"/>
              </a:rPr>
              <a:t>El algoritmo busca estructura: grupos, patrones.</a:t>
            </a:r>
          </a:p>
          <a:p>
            <a:pPr algn="l">
              <a:spcAft>
                <a:spcPts val="600"/>
              </a:spcAft>
            </a:pPr>
            <a:r>
              <a:rPr sz="1250" b="0" i="0">
                <a:solidFill>
                  <a:srgbClr val="2B2B2B"/>
                </a:solidFill>
                <a:latin typeface="Arial"/>
              </a:rPr>
              <a:t>Nosotros interpretamos lo que encontró.</a:t>
            </a:r>
          </a:p>
        </p:txBody>
      </p:sp>
      <p:sp>
        <p:nvSpPr>
          <p:cNvPr id="11" name="Rounded Rectangle 10"/>
          <p:cNvSpPr/>
          <p:nvPr/>
        </p:nvSpPr>
        <p:spPr>
          <a:xfrm>
            <a:off x="731520" y="4709160"/>
            <a:ext cx="3794760" cy="7772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Días 1 a 3</a:t>
            </a:r>
          </a:p>
          <a:p>
            <a:pPr algn="ctr">
              <a:spcAft>
                <a:spcPts val="300"/>
              </a:spcAft>
            </a:pPr>
            <a:r>
              <a:rPr sz="1200" b="0" i="0">
                <a:solidFill>
                  <a:srgbClr val="C9D2E8"/>
                </a:solidFill>
                <a:latin typeface="Arial"/>
              </a:rPr>
              <a:t>regresión y clasificación</a:t>
            </a:r>
          </a:p>
        </p:txBody>
      </p:sp>
      <p:sp>
        <p:nvSpPr>
          <p:cNvPr id="12" name="Rounded Rectangle 11"/>
          <p:cNvSpPr/>
          <p:nvPr/>
        </p:nvSpPr>
        <p:spPr>
          <a:xfrm>
            <a:off x="4709160" y="4709160"/>
            <a:ext cx="3794760" cy="77724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Hoy (Día 4)</a:t>
            </a:r>
          </a:p>
          <a:p>
            <a:pPr algn="ctr">
              <a:spcAft>
                <a:spcPts val="300"/>
              </a:spcAft>
            </a:pPr>
            <a:r>
              <a:rPr sz="1200" b="0" i="0">
                <a:solidFill>
                  <a:srgbClr val="FFFFFF"/>
                </a:solidFill>
                <a:latin typeface="Arial"/>
              </a:rPr>
              <a:t>clustering</a:t>
            </a:r>
          </a:p>
        </p:txBody>
      </p:sp>
      <p:sp>
        <p:nvSpPr>
          <p:cNvPr id="13" name="Rounded Rectangle 12"/>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La pregunta clave: </a:t>
            </a:r>
            <a:r>
              <a:rPr sz="1200" b="0" i="0">
                <a:solidFill>
                  <a:srgbClr val="2B2B2B"/>
                </a:solidFill>
                <a:latin typeface="Arial"/>
              </a:rPr>
              <a:t>¿mis datos traen la respuesta que quiero obtener? Si sí, es supervisado; si no, no supervisado.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Supervisado: aprender con la respuesta</a:t>
            </a:r>
          </a:p>
        </p:txBody>
      </p:sp>
      <p:graphicFrame>
        <p:nvGraphicFramePr>
          <p:cNvPr id="3" name="Table 2"/>
          <p:cNvGraphicFramePr>
            <a:graphicFrameLocks noGrp="1"/>
          </p:cNvGraphicFramePr>
          <p:nvPr/>
        </p:nvGraphicFramePr>
        <p:xfrm>
          <a:off x="731520" y="2011680"/>
          <a:ext cx="3566160" cy="1920240"/>
        </p:xfrm>
        <a:graphic>
          <a:graphicData uri="http://schemas.openxmlformats.org/drawingml/2006/table">
            <a:tbl>
              <a:tblPr firstRow="1" bandRow="1">
                <a:tableStyleId>{5C22544A-7EE6-4342-B048-85BDC9FD1C3A}</a:tableStyleId>
              </a:tblPr>
              <a:tblGrid>
                <a:gridCol w="822960"/>
                <a:gridCol w="1097280"/>
                <a:gridCol w="640080"/>
                <a:gridCol w="1005840"/>
              </a:tblGrid>
              <a:tr h="384048">
                <a:tc>
                  <a:txBody>
                    <a:bodyPr wrap="square"/>
                    <a:lstStyle/>
                    <a:p>
                      <a:pPr algn="l"/>
                      <a:r>
                        <a:rPr sz="1200" b="1" i="0">
                          <a:solidFill>
                            <a:srgbClr val="FFFFFF"/>
                          </a:solidFill>
                          <a:latin typeface="Arial"/>
                        </a:rPr>
                        <a:t>Monto</a:t>
                      </a:r>
                    </a:p>
                  </a:txBody>
                  <a:tcPr marL="64008" marR="64008" marT="27432" marB="27432" anchor="ctr">
                    <a:solidFill>
                      <a:srgbClr val="242852"/>
                    </a:solidFill>
                  </a:tcPr>
                </a:tc>
                <a:tc>
                  <a:txBody>
                    <a:bodyPr wrap="square"/>
                    <a:lstStyle/>
                    <a:p>
                      <a:pPr algn="ctr"/>
                      <a:r>
                        <a:rPr sz="1200" b="1" i="0">
                          <a:solidFill>
                            <a:srgbClr val="FFFFFF"/>
                          </a:solidFill>
                          <a:latin typeface="Arial"/>
                        </a:rPr>
                        <a:t>Tipo</a:t>
                      </a:r>
                    </a:p>
                  </a:txBody>
                  <a:tcPr marL="64008" marR="64008" marT="27432" marB="27432" anchor="ctr">
                    <a:solidFill>
                      <a:srgbClr val="242852"/>
                    </a:solidFill>
                  </a:tcPr>
                </a:tc>
                <a:tc>
                  <a:txBody>
                    <a:bodyPr wrap="square"/>
                    <a:lstStyle/>
                    <a:p>
                      <a:pPr algn="ctr"/>
                      <a:r>
                        <a:rPr sz="1200" b="1" i="0">
                          <a:solidFill>
                            <a:srgbClr val="FFFFFF"/>
                          </a:solidFill>
                          <a:latin typeface="Arial"/>
                        </a:rPr>
                        <a:t>Hora</a:t>
                      </a:r>
                    </a:p>
                  </a:txBody>
                  <a:tcPr marL="64008" marR="64008" marT="27432" marB="27432" anchor="ctr">
                    <a:solidFill>
                      <a:srgbClr val="242852"/>
                    </a:solidFill>
                  </a:tcPr>
                </a:tc>
                <a:tc>
                  <a:txBody>
                    <a:bodyPr wrap="square"/>
                    <a:lstStyle/>
                    <a:p>
                      <a:pPr algn="ctr"/>
                      <a:r>
                        <a:rPr sz="1200" b="1" i="0">
                          <a:solidFill>
                            <a:srgbClr val="FFFFFF"/>
                          </a:solidFill>
                          <a:latin typeface="Arial"/>
                        </a:rPr>
                        <a:t>¿Fraude? (y)</a:t>
                      </a:r>
                    </a:p>
                  </a:txBody>
                  <a:tcPr marL="64008" marR="64008" marT="27432" marB="27432" anchor="ctr">
                    <a:solidFill>
                      <a:srgbClr val="242852"/>
                    </a:solidFill>
                  </a:tcPr>
                </a:tc>
              </a:tr>
              <a:tr h="384048">
                <a:tc>
                  <a:txBody>
                    <a:bodyPr wrap="square"/>
                    <a:lstStyle/>
                    <a:p>
                      <a:pPr algn="l"/>
                      <a:r>
                        <a:rPr sz="1200" b="0" i="0">
                          <a:solidFill>
                            <a:srgbClr val="2B2B2B"/>
                          </a:solidFill>
                          <a:latin typeface="Arial"/>
                        </a:rPr>
                        <a:t>8 000</a:t>
                      </a:r>
                    </a:p>
                  </a:txBody>
                  <a:tcPr marL="64008" marR="64008" marT="27432" marB="27432" anchor="ctr">
                    <a:solidFill>
                      <a:srgbClr val="FFFFFF"/>
                    </a:solidFill>
                  </a:tcPr>
                </a:tc>
                <a:tc>
                  <a:txBody>
                    <a:bodyPr wrap="square"/>
                    <a:lstStyle/>
                    <a:p>
                      <a:pPr algn="ctr"/>
                      <a:r>
                        <a:rPr sz="1200" b="0" i="0">
                          <a:solidFill>
                            <a:srgbClr val="2B2B2B"/>
                          </a:solidFill>
                          <a:latin typeface="Arial"/>
                        </a:rPr>
                        <a:t>TRANSFER</a:t>
                      </a:r>
                    </a:p>
                  </a:txBody>
                  <a:tcPr marL="64008" marR="64008" marT="27432" marB="27432" anchor="ctr">
                    <a:solidFill>
                      <a:srgbClr val="FFFFFF"/>
                    </a:solidFill>
                  </a:tcPr>
                </a:tc>
                <a:tc>
                  <a:txBody>
                    <a:bodyPr wrap="square"/>
                    <a:lstStyle/>
                    <a:p>
                      <a:pPr algn="ctr"/>
                      <a:r>
                        <a:rPr sz="1200" b="0" i="0">
                          <a:solidFill>
                            <a:srgbClr val="2B2B2B"/>
                          </a:solidFill>
                          <a:latin typeface="Arial"/>
                        </a:rPr>
                        <a:t>3</a:t>
                      </a:r>
                    </a:p>
                  </a:txBody>
                  <a:tcPr marL="64008" marR="64008" marT="27432" marB="27432" anchor="ctr">
                    <a:solidFill>
                      <a:srgbClr val="FFFFFF"/>
                    </a:solidFill>
                  </a:tcPr>
                </a:tc>
                <a:tc>
                  <a:txBody>
                    <a:bodyPr wrap="square"/>
                    <a:lstStyle/>
                    <a:p>
                      <a:pPr algn="ctr"/>
                      <a:r>
                        <a:rPr sz="1200" b="1" i="0">
                          <a:solidFill>
                            <a:srgbClr val="D7263D"/>
                          </a:solidFill>
                          <a:latin typeface="Arial"/>
                        </a:rPr>
                        <a:t>sí</a:t>
                      </a:r>
                    </a:p>
                  </a:txBody>
                  <a:tcPr marL="64008" marR="64008" marT="27432" marB="27432" anchor="ctr">
                    <a:solidFill>
                      <a:srgbClr val="FFFFFF"/>
                    </a:solidFill>
                  </a:tcPr>
                </a:tc>
              </a:tr>
              <a:tr h="384048">
                <a:tc>
                  <a:txBody>
                    <a:bodyPr wrap="square"/>
                    <a:lstStyle/>
                    <a:p>
                      <a:pPr algn="l"/>
                      <a:r>
                        <a:rPr sz="1200" b="0" i="0">
                          <a:solidFill>
                            <a:srgbClr val="2B2B2B"/>
                          </a:solidFill>
                          <a:latin typeface="Arial"/>
                        </a:rPr>
                        <a:t>50</a:t>
                      </a:r>
                    </a:p>
                  </a:txBody>
                  <a:tcPr marL="64008" marR="64008" marT="27432" marB="27432" anchor="ctr">
                    <a:solidFill>
                      <a:srgbClr val="F2F3F5"/>
                    </a:solidFill>
                  </a:tcPr>
                </a:tc>
                <a:tc>
                  <a:txBody>
                    <a:bodyPr wrap="square"/>
                    <a:lstStyle/>
                    <a:p>
                      <a:pPr algn="ctr"/>
                      <a:r>
                        <a:rPr sz="1200" b="0" i="0">
                          <a:solidFill>
                            <a:srgbClr val="2B2B2B"/>
                          </a:solidFill>
                          <a:latin typeface="Arial"/>
                        </a:rPr>
                        <a:t>PAYMENT</a:t>
                      </a:r>
                    </a:p>
                  </a:txBody>
                  <a:tcPr marL="64008" marR="64008" marT="27432" marB="27432" anchor="ctr">
                    <a:solidFill>
                      <a:srgbClr val="F2F3F5"/>
                    </a:solidFill>
                  </a:tcPr>
                </a:tc>
                <a:tc>
                  <a:txBody>
                    <a:bodyPr wrap="square"/>
                    <a:lstStyle/>
                    <a:p>
                      <a:pPr algn="ctr"/>
                      <a:r>
                        <a:rPr sz="1200" b="0" i="0">
                          <a:solidFill>
                            <a:srgbClr val="2B2B2B"/>
                          </a:solidFill>
                          <a:latin typeface="Arial"/>
                        </a:rPr>
                        <a:t>14</a:t>
                      </a:r>
                    </a:p>
                  </a:txBody>
                  <a:tcPr marL="64008" marR="64008" marT="27432" marB="27432" anchor="ctr">
                    <a:solidFill>
                      <a:srgbClr val="F2F3F5"/>
                    </a:solidFill>
                  </a:tcPr>
                </a:tc>
                <a:tc>
                  <a:txBody>
                    <a:bodyPr wrap="square"/>
                    <a:lstStyle/>
                    <a:p>
                      <a:pPr algn="ctr"/>
                      <a:r>
                        <a:rPr sz="1200" b="1" i="0">
                          <a:solidFill>
                            <a:srgbClr val="2A9D8F"/>
                          </a:solidFill>
                          <a:latin typeface="Arial"/>
                        </a:rPr>
                        <a:t>no</a:t>
                      </a:r>
                    </a:p>
                  </a:txBody>
                  <a:tcPr marL="64008" marR="64008" marT="27432" marB="27432" anchor="ctr">
                    <a:solidFill>
                      <a:srgbClr val="F2F3F5"/>
                    </a:solidFill>
                  </a:tcPr>
                </a:tc>
              </a:tr>
              <a:tr h="384048">
                <a:tc>
                  <a:txBody>
                    <a:bodyPr wrap="square"/>
                    <a:lstStyle/>
                    <a:p>
                      <a:pPr algn="l"/>
                      <a:r>
                        <a:rPr sz="1200" b="0" i="0">
                          <a:solidFill>
                            <a:srgbClr val="2B2B2B"/>
                          </a:solidFill>
                          <a:latin typeface="Arial"/>
                        </a:rPr>
                        <a:t>5 000</a:t>
                      </a:r>
                    </a:p>
                  </a:txBody>
                  <a:tcPr marL="64008" marR="64008" marT="27432" marB="27432" anchor="ctr">
                    <a:solidFill>
                      <a:srgbClr val="FFFFFF"/>
                    </a:solidFill>
                  </a:tcPr>
                </a:tc>
                <a:tc>
                  <a:txBody>
                    <a:bodyPr wrap="square"/>
                    <a:lstStyle/>
                    <a:p>
                      <a:pPr algn="ctr"/>
                      <a:r>
                        <a:rPr sz="1200" b="0" i="0">
                          <a:solidFill>
                            <a:srgbClr val="2B2B2B"/>
                          </a:solidFill>
                          <a:latin typeface="Arial"/>
                        </a:rPr>
                        <a:t>TRANSFER</a:t>
                      </a:r>
                    </a:p>
                  </a:txBody>
                  <a:tcPr marL="64008" marR="64008" marT="27432" marB="27432" anchor="ctr">
                    <a:solidFill>
                      <a:srgbClr val="FFFFFF"/>
                    </a:solidFill>
                  </a:tcPr>
                </a:tc>
                <a:tc>
                  <a:txBody>
                    <a:bodyPr wrap="square"/>
                    <a:lstStyle/>
                    <a:p>
                      <a:pPr algn="ctr"/>
                      <a:r>
                        <a:rPr sz="1200" b="0" i="0">
                          <a:solidFill>
                            <a:srgbClr val="2B2B2B"/>
                          </a:solidFill>
                          <a:latin typeface="Arial"/>
                        </a:rPr>
                        <a:t>2</a:t>
                      </a:r>
                    </a:p>
                  </a:txBody>
                  <a:tcPr marL="64008" marR="64008" marT="27432" marB="27432" anchor="ctr">
                    <a:solidFill>
                      <a:srgbClr val="FFFFFF"/>
                    </a:solidFill>
                  </a:tcPr>
                </a:tc>
                <a:tc>
                  <a:txBody>
                    <a:bodyPr wrap="square"/>
                    <a:lstStyle/>
                    <a:p>
                      <a:pPr algn="ctr"/>
                      <a:r>
                        <a:rPr sz="1200" b="1" i="0">
                          <a:solidFill>
                            <a:srgbClr val="D7263D"/>
                          </a:solidFill>
                          <a:latin typeface="Arial"/>
                        </a:rPr>
                        <a:t>sí</a:t>
                      </a:r>
                    </a:p>
                  </a:txBody>
                  <a:tcPr marL="64008" marR="64008" marT="27432" marB="27432" anchor="ctr">
                    <a:solidFill>
                      <a:srgbClr val="FFFFFF"/>
                    </a:solidFill>
                  </a:tcPr>
                </a:tc>
              </a:tr>
              <a:tr h="384048">
                <a:tc>
                  <a:txBody>
                    <a:bodyPr wrap="square"/>
                    <a:lstStyle/>
                    <a:p>
                      <a:pPr algn="l"/>
                      <a:r>
                        <a:rPr sz="1200" b="0" i="0">
                          <a:solidFill>
                            <a:srgbClr val="2B2B2B"/>
                          </a:solidFill>
                          <a:latin typeface="Arial"/>
                        </a:rPr>
                        <a:t>100</a:t>
                      </a:r>
                    </a:p>
                  </a:txBody>
                  <a:tcPr marL="64008" marR="64008" marT="27432" marB="27432" anchor="ctr">
                    <a:solidFill>
                      <a:srgbClr val="F2F3F5"/>
                    </a:solidFill>
                  </a:tcPr>
                </a:tc>
                <a:tc>
                  <a:txBody>
                    <a:bodyPr wrap="square"/>
                    <a:lstStyle/>
                    <a:p>
                      <a:pPr algn="ctr"/>
                      <a:r>
                        <a:rPr sz="1200" b="0" i="0">
                          <a:solidFill>
                            <a:srgbClr val="2B2B2B"/>
                          </a:solidFill>
                          <a:latin typeface="Arial"/>
                        </a:rPr>
                        <a:t>CASH_OUT</a:t>
                      </a:r>
                    </a:p>
                  </a:txBody>
                  <a:tcPr marL="64008" marR="64008" marT="27432" marB="27432" anchor="ctr">
                    <a:solidFill>
                      <a:srgbClr val="F2F3F5"/>
                    </a:solidFill>
                  </a:tcPr>
                </a:tc>
                <a:tc>
                  <a:txBody>
                    <a:bodyPr wrap="square"/>
                    <a:lstStyle/>
                    <a:p>
                      <a:pPr algn="ctr"/>
                      <a:r>
                        <a:rPr sz="1200" b="0" i="0">
                          <a:solidFill>
                            <a:srgbClr val="2B2B2B"/>
                          </a:solidFill>
                          <a:latin typeface="Arial"/>
                        </a:rPr>
                        <a:t>11</a:t>
                      </a:r>
                    </a:p>
                  </a:txBody>
                  <a:tcPr marL="64008" marR="64008" marT="27432" marB="27432" anchor="ctr">
                    <a:solidFill>
                      <a:srgbClr val="F2F3F5"/>
                    </a:solidFill>
                  </a:tcPr>
                </a:tc>
                <a:tc>
                  <a:txBody>
                    <a:bodyPr wrap="square"/>
                    <a:lstStyle/>
                    <a:p>
                      <a:pPr algn="ctr"/>
                      <a:r>
                        <a:rPr sz="1200" b="1" i="0">
                          <a:solidFill>
                            <a:srgbClr val="2A9D8F"/>
                          </a:solidFill>
                          <a:latin typeface="Arial"/>
                        </a:rPr>
                        <a:t>no</a:t>
                      </a:r>
                    </a:p>
                  </a:txBody>
                  <a:tcPr marL="64008" marR="64008" marT="27432" marB="27432" anchor="ctr">
                    <a:solidFill>
                      <a:srgbClr val="F2F3F5"/>
                    </a:solidFill>
                  </a:tcPr>
                </a:tc>
              </a:tr>
            </a:tbl>
          </a:graphicData>
        </a:graphic>
      </p:graphicFrame>
      <p:sp>
        <p:nvSpPr>
          <p:cNvPr id="4" name="Right Arrow 3"/>
          <p:cNvSpPr/>
          <p:nvPr/>
        </p:nvSpPr>
        <p:spPr>
          <a:xfrm>
            <a:off x="4434840" y="2788920"/>
            <a:ext cx="365760" cy="32004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4937760" y="2011680"/>
            <a:ext cx="1554480" cy="19202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Modelo</a:t>
            </a:r>
          </a:p>
          <a:p>
            <a:pPr algn="ctr">
              <a:spcAft>
                <a:spcPts val="300"/>
              </a:spcAft>
            </a:pPr>
            <a:r>
              <a:rPr sz="1100" b="0" i="0">
                <a:solidFill>
                  <a:srgbClr val="C9D2E8"/>
                </a:solidFill>
                <a:latin typeface="Arial"/>
              </a:rPr>
              <a:t>aprende la relación entre X e y</a:t>
            </a:r>
          </a:p>
        </p:txBody>
      </p:sp>
      <p:sp>
        <p:nvSpPr>
          <p:cNvPr id="6" name="Right Arrow 5"/>
          <p:cNvSpPr/>
          <p:nvPr/>
        </p:nvSpPr>
        <p:spPr>
          <a:xfrm>
            <a:off x="6583680" y="2788920"/>
            <a:ext cx="365760" cy="32004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7040880" y="2011680"/>
            <a:ext cx="1463040" cy="19202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Predice y</a:t>
            </a:r>
          </a:p>
          <a:p>
            <a:pPr algn="ctr">
              <a:spcAft>
                <a:spcPts val="300"/>
              </a:spcAft>
            </a:pPr>
            <a:r>
              <a:rPr sz="1100" b="0" i="0">
                <a:solidFill>
                  <a:srgbClr val="2B2B2B"/>
                </a:solidFill>
                <a:latin typeface="Arial"/>
              </a:rPr>
              <a:t>para transacciones nuevas</a:t>
            </a:r>
          </a:p>
        </p:txBody>
      </p:sp>
      <p:sp>
        <p:nvSpPr>
          <p:cNvPr id="8" name="Rounded Rectangle 7"/>
          <p:cNvSpPr/>
          <p:nvPr/>
        </p:nvSpPr>
        <p:spPr>
          <a:xfrm>
            <a:off x="731520" y="4206240"/>
            <a:ext cx="2487168"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868680" y="431596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Regresión</a:t>
            </a:r>
          </a:p>
        </p:txBody>
      </p:sp>
      <p:sp>
        <p:nvSpPr>
          <p:cNvPr id="10" name="TextBox 9"/>
          <p:cNvSpPr txBox="1"/>
          <p:nvPr/>
        </p:nvSpPr>
        <p:spPr>
          <a:xfrm>
            <a:off x="868680" y="4864607"/>
            <a:ext cx="2212848" cy="50292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y es un número: monto, crecimiento</a:t>
            </a:r>
          </a:p>
        </p:txBody>
      </p:sp>
      <p:sp>
        <p:nvSpPr>
          <p:cNvPr id="11" name="Rounded Rectangle 10"/>
          <p:cNvSpPr/>
          <p:nvPr/>
        </p:nvSpPr>
        <p:spPr>
          <a:xfrm>
            <a:off x="3355848" y="4206240"/>
            <a:ext cx="2487168"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3493008" y="431596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Clasificación</a:t>
            </a:r>
          </a:p>
        </p:txBody>
      </p:sp>
      <p:sp>
        <p:nvSpPr>
          <p:cNvPr id="13" name="TextBox 12"/>
          <p:cNvSpPr txBox="1"/>
          <p:nvPr/>
        </p:nvSpPr>
        <p:spPr>
          <a:xfrm>
            <a:off x="3493008" y="4864607"/>
            <a:ext cx="2212848" cy="50292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y es una clase: fraude, abandono, impago</a:t>
            </a:r>
          </a:p>
        </p:txBody>
      </p:sp>
      <p:sp>
        <p:nvSpPr>
          <p:cNvPr id="14" name="Rounded Rectangle 13"/>
          <p:cNvSpPr/>
          <p:nvPr/>
        </p:nvSpPr>
        <p:spPr>
          <a:xfrm>
            <a:off x="5980176" y="4206240"/>
            <a:ext cx="2487168" cy="12344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6117336" y="4315968"/>
            <a:ext cx="2258567"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Se evalúa</a:t>
            </a:r>
          </a:p>
        </p:txBody>
      </p:sp>
      <p:sp>
        <p:nvSpPr>
          <p:cNvPr id="16" name="TextBox 15"/>
          <p:cNvSpPr txBox="1"/>
          <p:nvPr/>
        </p:nvSpPr>
        <p:spPr>
          <a:xfrm>
            <a:off x="6117336" y="4864607"/>
            <a:ext cx="2212848" cy="50292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comparando con la respuesta real: MAE, F1</a:t>
            </a:r>
          </a:p>
        </p:txBody>
      </p:sp>
      <p:sp>
        <p:nvSpPr>
          <p:cNvPr id="17" name="Rounded Rectangle 16"/>
          <p:cNvSpPr/>
          <p:nvPr/>
        </p:nvSpPr>
        <p:spPr>
          <a:xfrm>
            <a:off x="731520" y="56692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 esencial: </a:t>
            </a:r>
            <a:r>
              <a:rPr sz="1200" b="0" i="0">
                <a:solidFill>
                  <a:srgbClr val="2B2B2B"/>
                </a:solidFill>
                <a:latin typeface="Arial"/>
              </a:rPr>
              <a:t>hay una respuesta correcta conocida, así que se puede medir el error sin discusión.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No supervisado: descubrir sin respuesta</a:t>
            </a:r>
          </a:p>
        </p:txBody>
      </p:sp>
      <p:graphicFrame>
        <p:nvGraphicFramePr>
          <p:cNvPr id="3" name="Table 2"/>
          <p:cNvGraphicFramePr>
            <a:graphicFrameLocks noGrp="1"/>
          </p:cNvGraphicFramePr>
          <p:nvPr/>
        </p:nvGraphicFramePr>
        <p:xfrm>
          <a:off x="731520" y="2011680"/>
          <a:ext cx="3566160" cy="1920240"/>
        </p:xfrm>
        <a:graphic>
          <a:graphicData uri="http://schemas.openxmlformats.org/drawingml/2006/table">
            <a:tbl>
              <a:tblPr firstRow="1" bandRow="1">
                <a:tableStyleId>{5C22544A-7EE6-4342-B048-85BDC9FD1C3A}</a:tableStyleId>
              </a:tblPr>
              <a:tblGrid>
                <a:gridCol w="868680"/>
                <a:gridCol w="914400"/>
                <a:gridCol w="868680"/>
                <a:gridCol w="914400"/>
              </a:tblGrid>
              <a:tr h="384048">
                <a:tc>
                  <a:txBody>
                    <a:bodyPr wrap="square"/>
                    <a:lstStyle/>
                    <a:p>
                      <a:pPr algn="l"/>
                      <a:r>
                        <a:rPr sz="1200" b="1" i="0">
                          <a:solidFill>
                            <a:srgbClr val="FFFFFF"/>
                          </a:solidFill>
                          <a:latin typeface="Arial"/>
                        </a:rPr>
                        <a:t>Saldo</a:t>
                      </a:r>
                    </a:p>
                  </a:txBody>
                  <a:tcPr marL="64008" marR="64008" marT="27432" marB="27432" anchor="ctr">
                    <a:solidFill>
                      <a:srgbClr val="242852"/>
                    </a:solidFill>
                  </a:tcPr>
                </a:tc>
                <a:tc>
                  <a:txBody>
                    <a:bodyPr wrap="square"/>
                    <a:lstStyle/>
                    <a:p>
                      <a:pPr algn="ctr"/>
                      <a:r>
                        <a:rPr sz="1200" b="1" i="0">
                          <a:solidFill>
                            <a:srgbClr val="FFFFFF"/>
                          </a:solidFill>
                          <a:latin typeface="Arial"/>
                        </a:rPr>
                        <a:t>Compras</a:t>
                      </a:r>
                    </a:p>
                  </a:txBody>
                  <a:tcPr marL="64008" marR="64008" marT="27432" marB="27432" anchor="ctr">
                    <a:solidFill>
                      <a:srgbClr val="242852"/>
                    </a:solidFill>
                  </a:tcPr>
                </a:tc>
                <a:tc>
                  <a:txBody>
                    <a:bodyPr wrap="square"/>
                    <a:lstStyle/>
                    <a:p>
                      <a:pPr algn="ctr"/>
                      <a:r>
                        <a:rPr sz="1200" b="1" i="0">
                          <a:solidFill>
                            <a:srgbClr val="FFFFFF"/>
                          </a:solidFill>
                          <a:latin typeface="Arial"/>
                        </a:rPr>
                        <a:t>Avances</a:t>
                      </a:r>
                    </a:p>
                  </a:txBody>
                  <a:tcPr marL="64008" marR="64008" marT="27432" marB="27432" anchor="ctr">
                    <a:solidFill>
                      <a:srgbClr val="242852"/>
                    </a:solidFill>
                  </a:tcPr>
                </a:tc>
                <a:tc>
                  <a:txBody>
                    <a:bodyPr wrap="square"/>
                    <a:lstStyle/>
                    <a:p>
                      <a:pPr algn="ctr"/>
                      <a:r>
                        <a:rPr sz="1200" b="1" i="0">
                          <a:solidFill>
                            <a:srgbClr val="FFFFFF"/>
                          </a:solidFill>
                          <a:latin typeface="Arial"/>
                        </a:rPr>
                        <a:t>Límite</a:t>
                      </a:r>
                    </a:p>
                  </a:txBody>
                  <a:tcPr marL="64008" marR="64008" marT="27432" marB="27432" anchor="ctr">
                    <a:solidFill>
                      <a:srgbClr val="242852"/>
                    </a:solidFill>
                  </a:tcPr>
                </a:tc>
              </a:tr>
              <a:tr h="384048">
                <a:tc>
                  <a:txBody>
                    <a:bodyPr wrap="square"/>
                    <a:lstStyle/>
                    <a:p>
                      <a:pPr algn="l"/>
                      <a:r>
                        <a:rPr sz="1200" b="0" i="0">
                          <a:solidFill>
                            <a:srgbClr val="2B2B2B"/>
                          </a:solidFill>
                          <a:latin typeface="Arial"/>
                        </a:rPr>
                        <a:t>1 865</a:t>
                      </a:r>
                    </a:p>
                  </a:txBody>
                  <a:tcPr marL="64008" marR="64008" marT="27432" marB="27432" anchor="ctr">
                    <a:solidFill>
                      <a:srgbClr val="FFFFFF"/>
                    </a:solidFill>
                  </a:tcPr>
                </a:tc>
                <a:tc>
                  <a:txBody>
                    <a:bodyPr wrap="square"/>
                    <a:lstStyle/>
                    <a:p>
                      <a:pPr algn="ctr"/>
                      <a:r>
                        <a:rPr sz="1200" b="0" i="0">
                          <a:solidFill>
                            <a:srgbClr val="2B2B2B"/>
                          </a:solidFill>
                          <a:latin typeface="Arial"/>
                        </a:rPr>
                        <a:t>1 271</a:t>
                      </a:r>
                    </a:p>
                  </a:txBody>
                  <a:tcPr marL="64008" marR="64008" marT="27432" marB="27432" anchor="ctr">
                    <a:solidFill>
                      <a:srgbClr val="FFFFFF"/>
                    </a:solidFill>
                  </a:tcPr>
                </a:tc>
                <a:tc>
                  <a:txBody>
                    <a:bodyPr wrap="square"/>
                    <a:lstStyle/>
                    <a:p>
                      <a:pPr algn="ctr"/>
                      <a:r>
                        <a:rPr sz="1200" b="0" i="0">
                          <a:solidFill>
                            <a:srgbClr val="2B2B2B"/>
                          </a:solidFill>
                          <a:latin typeface="Arial"/>
                        </a:rPr>
                        <a:t>159</a:t>
                      </a:r>
                    </a:p>
                  </a:txBody>
                  <a:tcPr marL="64008" marR="64008" marT="27432" marB="27432" anchor="ctr">
                    <a:solidFill>
                      <a:srgbClr val="FFFFFF"/>
                    </a:solidFill>
                  </a:tcPr>
                </a:tc>
                <a:tc>
                  <a:txBody>
                    <a:bodyPr wrap="square"/>
                    <a:lstStyle/>
                    <a:p>
                      <a:pPr algn="ctr"/>
                      <a:r>
                        <a:rPr sz="1200" b="0" i="0">
                          <a:solidFill>
                            <a:srgbClr val="2B2B2B"/>
                          </a:solidFill>
                          <a:latin typeface="Arial"/>
                        </a:rPr>
                        <a:t>5 950</a:t>
                      </a:r>
                    </a:p>
                  </a:txBody>
                  <a:tcPr marL="64008" marR="64008" marT="27432" marB="27432" anchor="ctr">
                    <a:solidFill>
                      <a:srgbClr val="FFFFFF"/>
                    </a:solidFill>
                  </a:tcPr>
                </a:tc>
              </a:tr>
              <a:tr h="384048">
                <a:tc>
                  <a:txBody>
                    <a:bodyPr wrap="square"/>
                    <a:lstStyle/>
                    <a:p>
                      <a:pPr algn="l"/>
                      <a:r>
                        <a:rPr sz="1200" b="0" i="0">
                          <a:solidFill>
                            <a:srgbClr val="2B2B2B"/>
                          </a:solidFill>
                          <a:latin typeface="Arial"/>
                        </a:rPr>
                        <a:t>84</a:t>
                      </a:r>
                    </a:p>
                  </a:txBody>
                  <a:tcPr marL="64008" marR="64008" marT="27432" marB="27432" anchor="ctr">
                    <a:solidFill>
                      <a:srgbClr val="F2F3F5"/>
                    </a:solidFill>
                  </a:tcPr>
                </a:tc>
                <a:tc>
                  <a:txBody>
                    <a:bodyPr wrap="square"/>
                    <a:lstStyle/>
                    <a:p>
                      <a:pPr algn="ctr"/>
                      <a:r>
                        <a:rPr sz="1200" b="0" i="0">
                          <a:solidFill>
                            <a:srgbClr val="2B2B2B"/>
                          </a:solidFill>
                          <a:latin typeface="Arial"/>
                        </a:rPr>
                        <a:t>908</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4 000</a:t>
                      </a:r>
                    </a:p>
                  </a:txBody>
                  <a:tcPr marL="64008" marR="64008" marT="27432" marB="27432" anchor="ctr">
                    <a:solidFill>
                      <a:srgbClr val="F2F3F5"/>
                    </a:solidFill>
                  </a:tcPr>
                </a:tc>
              </a:tr>
              <a:tr h="384048">
                <a:tc>
                  <a:txBody>
                    <a:bodyPr wrap="square"/>
                    <a:lstStyle/>
                    <a:p>
                      <a:pPr algn="l"/>
                      <a:r>
                        <a:rPr sz="1200" b="0" i="0">
                          <a:solidFill>
                            <a:srgbClr val="2B2B2B"/>
                          </a:solidFill>
                          <a:latin typeface="Arial"/>
                        </a:rPr>
                        <a:t>1 528</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c>
                  <a:txBody>
                    <a:bodyPr wrap="square"/>
                    <a:lstStyle/>
                    <a:p>
                      <a:pPr algn="ctr"/>
                      <a:r>
                        <a:rPr sz="1200" b="0" i="0">
                          <a:solidFill>
                            <a:srgbClr val="2B2B2B"/>
                          </a:solidFill>
                          <a:latin typeface="Arial"/>
                        </a:rPr>
                        <a:t>1 272</a:t>
                      </a:r>
                    </a:p>
                  </a:txBody>
                  <a:tcPr marL="64008" marR="64008" marT="27432" marB="27432" anchor="ctr">
                    <a:solidFill>
                      <a:srgbClr val="FFFFFF"/>
                    </a:solidFill>
                  </a:tcPr>
                </a:tc>
                <a:tc>
                  <a:txBody>
                    <a:bodyPr wrap="square"/>
                    <a:lstStyle/>
                    <a:p>
                      <a:pPr algn="ctr"/>
                      <a:r>
                        <a:rPr sz="1200" b="0" i="0">
                          <a:solidFill>
                            <a:srgbClr val="2B2B2B"/>
                          </a:solidFill>
                          <a:latin typeface="Arial"/>
                        </a:rPr>
                        <a:t>3 000</a:t>
                      </a:r>
                    </a:p>
                  </a:txBody>
                  <a:tcPr marL="64008" marR="64008" marT="27432" marB="27432" anchor="ctr">
                    <a:solidFill>
                      <a:srgbClr val="FFFFFF"/>
                    </a:solidFill>
                  </a:tcPr>
                </a:tc>
              </a:tr>
              <a:tr h="384048">
                <a:tc>
                  <a:txBody>
                    <a:bodyPr wrap="square"/>
                    <a:lstStyle/>
                    <a:p>
                      <a:pPr algn="l"/>
                      <a:r>
                        <a:rPr sz="1200" b="0" i="0">
                          <a:solidFill>
                            <a:srgbClr val="2B2B2B"/>
                          </a:solidFill>
                          <a:latin typeface="Arial"/>
                        </a:rPr>
                        <a:t>127</a:t>
                      </a:r>
                    </a:p>
                  </a:txBody>
                  <a:tcPr marL="64008" marR="64008" marT="27432" marB="27432" anchor="ctr">
                    <a:solidFill>
                      <a:srgbClr val="F2F3F5"/>
                    </a:solidFill>
                  </a:tcPr>
                </a:tc>
                <a:tc>
                  <a:txBody>
                    <a:bodyPr wrap="square"/>
                    <a:lstStyle/>
                    <a:p>
                      <a:pPr algn="ctr"/>
                      <a:r>
                        <a:rPr sz="1200" b="0" i="0">
                          <a:solidFill>
                            <a:srgbClr val="2B2B2B"/>
                          </a:solidFill>
                          <a:latin typeface="Arial"/>
                        </a:rPr>
                        <a:t>282</a:t>
                      </a:r>
                    </a:p>
                  </a:txBody>
                  <a:tcPr marL="64008" marR="64008" marT="27432" marB="27432" anchor="ctr">
                    <a:solidFill>
                      <a:srgbClr val="F2F3F5"/>
                    </a:solidFill>
                  </a:tcPr>
                </a:tc>
                <a:tc>
                  <a:txBody>
                    <a:bodyPr wrap="square"/>
                    <a:lstStyle/>
                    <a:p>
                      <a:pPr algn="ctr"/>
                      <a:r>
                        <a:rPr sz="1200" b="0" i="0">
                          <a:solidFill>
                            <a:srgbClr val="2B2B2B"/>
                          </a:solidFill>
                          <a:latin typeface="Arial"/>
                        </a:rPr>
                        <a:t>0</a:t>
                      </a:r>
                    </a:p>
                  </a:txBody>
                  <a:tcPr marL="64008" marR="64008" marT="27432" marB="27432" anchor="ctr">
                    <a:solidFill>
                      <a:srgbClr val="F2F3F5"/>
                    </a:solidFill>
                  </a:tcPr>
                </a:tc>
                <a:tc>
                  <a:txBody>
                    <a:bodyPr wrap="square"/>
                    <a:lstStyle/>
                    <a:p>
                      <a:pPr algn="ctr"/>
                      <a:r>
                        <a:rPr sz="1200" b="0" i="0">
                          <a:solidFill>
                            <a:srgbClr val="2B2B2B"/>
                          </a:solidFill>
                          <a:latin typeface="Arial"/>
                        </a:rPr>
                        <a:t>1 800</a:t>
                      </a:r>
                    </a:p>
                  </a:txBody>
                  <a:tcPr marL="64008" marR="64008" marT="27432" marB="27432" anchor="ctr">
                    <a:solidFill>
                      <a:srgbClr val="F2F3F5"/>
                    </a:solidFill>
                  </a:tcPr>
                </a:tc>
              </a:tr>
            </a:tbl>
          </a:graphicData>
        </a:graphic>
      </p:graphicFrame>
      <p:sp>
        <p:nvSpPr>
          <p:cNvPr id="4" name="TextBox 3"/>
          <p:cNvSpPr txBox="1"/>
          <p:nvPr/>
        </p:nvSpPr>
        <p:spPr>
          <a:xfrm>
            <a:off x="731520" y="3977639"/>
            <a:ext cx="3566160" cy="320040"/>
          </a:xfrm>
          <a:prstGeom prst="rect">
            <a:avLst/>
          </a:prstGeom>
          <a:noFill/>
        </p:spPr>
        <p:txBody>
          <a:bodyPr wrap="square" anchor="t" lIns="36576" rIns="36576" tIns="36576" bIns="36576">
            <a:spAutoFit/>
          </a:bodyPr>
          <a:lstStyle/>
          <a:p>
            <a:pPr algn="ctr">
              <a:spcAft>
                <a:spcPts val="400"/>
              </a:spcAft>
            </a:pPr>
            <a:r>
              <a:rPr sz="1050" b="0" i="1">
                <a:solidFill>
                  <a:srgbClr val="5F6368"/>
                </a:solidFill>
                <a:latin typeface="Arial"/>
              </a:rPr>
              <a:t>sin columna y: nadie dice a qué grupo pertenece cada cliente</a:t>
            </a:r>
          </a:p>
        </p:txBody>
      </p:sp>
      <p:sp>
        <p:nvSpPr>
          <p:cNvPr id="5" name="Right Arrow 4"/>
          <p:cNvSpPr/>
          <p:nvPr/>
        </p:nvSpPr>
        <p:spPr>
          <a:xfrm>
            <a:off x="4434840" y="2788920"/>
            <a:ext cx="365760" cy="32004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Rounded Rectangle 5"/>
          <p:cNvSpPr/>
          <p:nvPr/>
        </p:nvSpPr>
        <p:spPr>
          <a:xfrm>
            <a:off x="4937760" y="2011680"/>
            <a:ext cx="1554480" cy="192024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Algoritmo</a:t>
            </a:r>
          </a:p>
          <a:p>
            <a:pPr algn="ctr">
              <a:spcAft>
                <a:spcPts val="300"/>
              </a:spcAft>
            </a:pPr>
            <a:r>
              <a:rPr sz="1100" b="0" i="0">
                <a:solidFill>
                  <a:srgbClr val="FFFFFF"/>
                </a:solidFill>
                <a:latin typeface="Arial"/>
              </a:rPr>
              <a:t>busca filas parecidas</a:t>
            </a:r>
          </a:p>
        </p:txBody>
      </p:sp>
      <p:sp>
        <p:nvSpPr>
          <p:cNvPr id="7" name="Right Arrow 6"/>
          <p:cNvSpPr/>
          <p:nvPr/>
        </p:nvSpPr>
        <p:spPr>
          <a:xfrm>
            <a:off x="6583680" y="2788920"/>
            <a:ext cx="365760" cy="32004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ounded Rectangle 7"/>
          <p:cNvSpPr/>
          <p:nvPr/>
        </p:nvSpPr>
        <p:spPr>
          <a:xfrm>
            <a:off x="7040880" y="2011680"/>
            <a:ext cx="1463040" cy="19202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A9D8F"/>
                </a:solidFill>
                <a:latin typeface="Arial"/>
              </a:rPr>
              <a:t>Grupos</a:t>
            </a:r>
          </a:p>
          <a:p>
            <a:pPr algn="ctr">
              <a:spcAft>
                <a:spcPts val="300"/>
              </a:spcAft>
            </a:pPr>
            <a:r>
              <a:rPr sz="1100" b="0" i="0">
                <a:solidFill>
                  <a:srgbClr val="2B2B2B"/>
                </a:solidFill>
                <a:latin typeface="Arial"/>
              </a:rPr>
              <a:t>que nosotros interpretamos</a:t>
            </a:r>
          </a:p>
        </p:txBody>
      </p:sp>
      <p:sp>
        <p:nvSpPr>
          <p:cNvPr id="9" name="Rounded Rectangle 8"/>
          <p:cNvSpPr/>
          <p:nvPr/>
        </p:nvSpPr>
        <p:spPr>
          <a:xfrm>
            <a:off x="731520" y="4343400"/>
            <a:ext cx="2487168"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868680" y="445312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Clustering (hoy)</a:t>
            </a:r>
          </a:p>
        </p:txBody>
      </p:sp>
      <p:sp>
        <p:nvSpPr>
          <p:cNvPr id="11" name="TextBox 10"/>
          <p:cNvSpPr txBox="1"/>
          <p:nvPr/>
        </p:nvSpPr>
        <p:spPr>
          <a:xfrm>
            <a:off x="868680" y="5001768"/>
            <a:ext cx="2212848"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agrupar filas parecidas</a:t>
            </a:r>
          </a:p>
        </p:txBody>
      </p:sp>
      <p:sp>
        <p:nvSpPr>
          <p:cNvPr id="12" name="Rounded Rectangle 11"/>
          <p:cNvSpPr/>
          <p:nvPr/>
        </p:nvSpPr>
        <p:spPr>
          <a:xfrm>
            <a:off x="3355848" y="4343400"/>
            <a:ext cx="2487168"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3493008" y="445312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Reducir dimensiones</a:t>
            </a:r>
          </a:p>
        </p:txBody>
      </p:sp>
      <p:sp>
        <p:nvSpPr>
          <p:cNvPr id="14" name="TextBox 13"/>
          <p:cNvSpPr txBox="1"/>
          <p:nvPr/>
        </p:nvSpPr>
        <p:spPr>
          <a:xfrm>
            <a:off x="3493008" y="5001768"/>
            <a:ext cx="2212848"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resumir muchas variables en pocas (PCA, Día 5)</a:t>
            </a:r>
          </a:p>
        </p:txBody>
      </p:sp>
      <p:sp>
        <p:nvSpPr>
          <p:cNvPr id="15" name="Rounded Rectangle 14"/>
          <p:cNvSpPr/>
          <p:nvPr/>
        </p:nvSpPr>
        <p:spPr>
          <a:xfrm>
            <a:off x="5980176" y="4343400"/>
            <a:ext cx="2487168"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6117336" y="4453128"/>
            <a:ext cx="2258567"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Detectar casos raros</a:t>
            </a:r>
          </a:p>
        </p:txBody>
      </p:sp>
      <p:sp>
        <p:nvSpPr>
          <p:cNvPr id="17" name="TextBox 16"/>
          <p:cNvSpPr txBox="1"/>
          <p:nvPr/>
        </p:nvSpPr>
        <p:spPr>
          <a:xfrm>
            <a:off x="6117336" y="5001768"/>
            <a:ext cx="2212848"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filas que no se parecen a ninguna otra</a:t>
            </a:r>
          </a:p>
        </p:txBody>
      </p:sp>
      <p:sp>
        <p:nvSpPr>
          <p:cNvPr id="18" name="Rounded Rectangle 17"/>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Lo esencial: </a:t>
            </a:r>
            <a:r>
              <a:rPr sz="1200" b="0" i="0">
                <a:solidFill>
                  <a:srgbClr val="2B2B2B"/>
                </a:solidFill>
                <a:latin typeface="Arial"/>
              </a:rPr>
              <a:t>no hay respuesta correcta; se evalúa coherencia, estabilidad y utilidad.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Supervisado y no supervisado, lado a lado</a:t>
            </a:r>
          </a:p>
        </p:txBody>
      </p:sp>
      <p:graphicFrame>
        <p:nvGraphicFramePr>
          <p:cNvPr id="3" name="Table 2"/>
          <p:cNvGraphicFramePr>
            <a:graphicFrameLocks noGrp="1"/>
          </p:cNvGraphicFramePr>
          <p:nvPr/>
        </p:nvGraphicFramePr>
        <p:xfrm>
          <a:off x="731520" y="1965960"/>
          <a:ext cx="7772400" cy="3511296"/>
        </p:xfrm>
        <a:graphic>
          <a:graphicData uri="http://schemas.openxmlformats.org/drawingml/2006/table">
            <a:tbl>
              <a:tblPr firstRow="1" bandRow="1">
                <a:tableStyleId>{5C22544A-7EE6-4342-B048-85BDC9FD1C3A}</a:tableStyleId>
              </a:tblPr>
              <a:tblGrid>
                <a:gridCol w="2011680"/>
                <a:gridCol w="2743200"/>
                <a:gridCol w="3017520"/>
              </a:tblGrid>
              <a:tr h="438912">
                <a:tc>
                  <a:txBody>
                    <a:bodyPr wrap="square"/>
                    <a:lstStyle/>
                    <a:p>
                      <a:pPr algn="l"/>
                      <a:r>
                        <a:rPr sz="1150" b="1" i="0">
                          <a:solidFill>
                            <a:srgbClr val="FFFFFF"/>
                          </a:solidFill>
                          <a:latin typeface="Arial"/>
                        </a:rPr>
                        <a:t/>
                      </a:r>
                    </a:p>
                  </a:txBody>
                  <a:tcPr marL="64008" marR="64008" marT="27432" marB="27432" anchor="ctr">
                    <a:solidFill>
                      <a:srgbClr val="242852"/>
                    </a:solidFill>
                  </a:tcPr>
                </a:tc>
                <a:tc>
                  <a:txBody>
                    <a:bodyPr wrap="square"/>
                    <a:lstStyle/>
                    <a:p>
                      <a:pPr algn="ctr"/>
                      <a:r>
                        <a:rPr sz="1150" b="1" i="0">
                          <a:solidFill>
                            <a:srgbClr val="FFFFFF"/>
                          </a:solidFill>
                          <a:latin typeface="Arial"/>
                        </a:rPr>
                        <a:t>Supervisado</a:t>
                      </a:r>
                    </a:p>
                  </a:txBody>
                  <a:tcPr marL="64008" marR="64008" marT="27432" marB="27432" anchor="ctr">
                    <a:solidFill>
                      <a:srgbClr val="242852"/>
                    </a:solidFill>
                  </a:tcPr>
                </a:tc>
                <a:tc>
                  <a:txBody>
                    <a:bodyPr wrap="square"/>
                    <a:lstStyle/>
                    <a:p>
                      <a:pPr algn="ctr"/>
                      <a:r>
                        <a:rPr sz="1150" b="1" i="0">
                          <a:solidFill>
                            <a:srgbClr val="FFFFFF"/>
                          </a:solidFill>
                          <a:latin typeface="Arial"/>
                        </a:rPr>
                        <a:t>No supervisado</a:t>
                      </a:r>
                    </a:p>
                  </a:txBody>
                  <a:tcPr marL="64008" marR="64008" marT="27432" marB="27432" anchor="ctr">
                    <a:solidFill>
                      <a:srgbClr val="242852"/>
                    </a:solidFill>
                  </a:tcPr>
                </a:tc>
              </a:tr>
              <a:tr h="438912">
                <a:tc>
                  <a:txBody>
                    <a:bodyPr wrap="square"/>
                    <a:lstStyle/>
                    <a:p>
                      <a:pPr algn="l"/>
                      <a:r>
                        <a:rPr sz="1150" b="1" i="0">
                          <a:solidFill>
                            <a:srgbClr val="2B2B2B"/>
                          </a:solidFill>
                          <a:latin typeface="Arial"/>
                        </a:rPr>
                        <a:t>¿Los datos traen y?</a:t>
                      </a:r>
                    </a:p>
                  </a:txBody>
                  <a:tcPr marL="64008" marR="64008" marT="27432" marB="27432" anchor="ctr">
                    <a:solidFill>
                      <a:srgbClr val="FFFFFF"/>
                    </a:solidFill>
                  </a:tcPr>
                </a:tc>
                <a:tc>
                  <a:txBody>
                    <a:bodyPr wrap="square"/>
                    <a:lstStyle/>
                    <a:p>
                      <a:pPr algn="ctr"/>
                      <a:r>
                        <a:rPr sz="1150" b="0" i="0">
                          <a:solidFill>
                            <a:srgbClr val="2B2B2B"/>
                          </a:solidFill>
                          <a:latin typeface="Arial"/>
                        </a:rPr>
                        <a:t>Sí</a:t>
                      </a:r>
                    </a:p>
                  </a:txBody>
                  <a:tcPr marL="64008" marR="64008" marT="27432" marB="27432" anchor="ctr">
                    <a:solidFill>
                      <a:srgbClr val="FFFFFF"/>
                    </a:solidFill>
                  </a:tcPr>
                </a:tc>
                <a:tc>
                  <a:txBody>
                    <a:bodyPr wrap="square"/>
                    <a:lstStyle/>
                    <a:p>
                      <a:pPr algn="ctr"/>
                      <a:r>
                        <a:rPr sz="1150" b="1" i="0">
                          <a:solidFill>
                            <a:srgbClr val="2A9D8F"/>
                          </a:solidFill>
                          <a:latin typeface="Arial"/>
                        </a:rPr>
                        <a:t>No</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¿Qué aprende?</a:t>
                      </a:r>
                    </a:p>
                  </a:txBody>
                  <a:tcPr marL="64008" marR="64008" marT="27432" marB="27432" anchor="ctr">
                    <a:solidFill>
                      <a:srgbClr val="F2F3F5"/>
                    </a:solidFill>
                  </a:tcPr>
                </a:tc>
                <a:tc>
                  <a:txBody>
                    <a:bodyPr wrap="square"/>
                    <a:lstStyle/>
                    <a:p>
                      <a:pPr algn="ctr"/>
                      <a:r>
                        <a:rPr sz="1150" b="0" i="0">
                          <a:solidFill>
                            <a:srgbClr val="2B2B2B"/>
                          </a:solidFill>
                          <a:latin typeface="Arial"/>
                        </a:rPr>
                        <a:t>A predecir y a partir de X</a:t>
                      </a:r>
                    </a:p>
                  </a:txBody>
                  <a:tcPr marL="64008" marR="64008" marT="27432" marB="27432" anchor="ctr">
                    <a:solidFill>
                      <a:srgbClr val="F2F3F5"/>
                    </a:solidFill>
                  </a:tcPr>
                </a:tc>
                <a:tc>
                  <a:txBody>
                    <a:bodyPr wrap="square"/>
                    <a:lstStyle/>
                    <a:p>
                      <a:pPr algn="ctr"/>
                      <a:r>
                        <a:rPr sz="1150" b="0" i="0">
                          <a:solidFill>
                            <a:srgbClr val="2B2B2B"/>
                          </a:solidFill>
                          <a:latin typeface="Arial"/>
                        </a:rPr>
                        <a:t>Estructura: grupos o patrones</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Tareas</a:t>
                      </a:r>
                    </a:p>
                  </a:txBody>
                  <a:tcPr marL="64008" marR="64008" marT="27432" marB="27432" anchor="ctr">
                    <a:solidFill>
                      <a:srgbClr val="FFFFFF"/>
                    </a:solidFill>
                  </a:tcPr>
                </a:tc>
                <a:tc>
                  <a:txBody>
                    <a:bodyPr wrap="square"/>
                    <a:lstStyle/>
                    <a:p>
                      <a:pPr algn="ctr"/>
                      <a:r>
                        <a:rPr sz="1150" b="0" i="0">
                          <a:solidFill>
                            <a:srgbClr val="2B2B2B"/>
                          </a:solidFill>
                          <a:latin typeface="Arial"/>
                        </a:rPr>
                        <a:t>Regresión, clasificación</a:t>
                      </a:r>
                    </a:p>
                  </a:txBody>
                  <a:tcPr marL="64008" marR="64008" marT="27432" marB="27432" anchor="ctr">
                    <a:solidFill>
                      <a:srgbClr val="FFFFFF"/>
                    </a:solidFill>
                  </a:tcPr>
                </a:tc>
                <a:tc>
                  <a:txBody>
                    <a:bodyPr wrap="square"/>
                    <a:lstStyle/>
                    <a:p>
                      <a:pPr algn="ctr"/>
                      <a:r>
                        <a:rPr sz="1150" b="0" i="0">
                          <a:solidFill>
                            <a:srgbClr val="2B2B2B"/>
                          </a:solidFill>
                          <a:latin typeface="Arial"/>
                        </a:rPr>
                        <a:t>Clustering, reducción de dimensiones, casos raros</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Algoritmos del módulo</a:t>
                      </a:r>
                    </a:p>
                  </a:txBody>
                  <a:tcPr marL="64008" marR="64008" marT="27432" marB="27432" anchor="ctr">
                    <a:solidFill>
                      <a:srgbClr val="F2F3F5"/>
                    </a:solidFill>
                  </a:tcPr>
                </a:tc>
                <a:tc>
                  <a:txBody>
                    <a:bodyPr wrap="square"/>
                    <a:lstStyle/>
                    <a:p>
                      <a:pPr algn="ctr"/>
                      <a:r>
                        <a:rPr sz="1150" b="0" i="0">
                          <a:solidFill>
                            <a:srgbClr val="2B2B2B"/>
                          </a:solidFill>
                          <a:latin typeface="Arial"/>
                        </a:rPr>
                        <a:t>Lineal, árboles, bosque, KNN, SVM</a:t>
                      </a:r>
                    </a:p>
                  </a:txBody>
                  <a:tcPr marL="64008" marR="64008" marT="27432" marB="27432" anchor="ctr">
                    <a:solidFill>
                      <a:srgbClr val="F2F3F5"/>
                    </a:solidFill>
                  </a:tcPr>
                </a:tc>
                <a:tc>
                  <a:txBody>
                    <a:bodyPr wrap="square"/>
                    <a:lstStyle/>
                    <a:p>
                      <a:pPr algn="ctr"/>
                      <a:r>
                        <a:rPr sz="1150" b="0" i="0">
                          <a:solidFill>
                            <a:srgbClr val="2B2B2B"/>
                          </a:solidFill>
                          <a:latin typeface="Arial"/>
                        </a:rPr>
                        <a:t>K-Means, jerárquico, PCA</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Cómo se evalúa</a:t>
                      </a:r>
                    </a:p>
                  </a:txBody>
                  <a:tcPr marL="64008" marR="64008" marT="27432" marB="27432" anchor="ctr">
                    <a:solidFill>
                      <a:srgbClr val="FFFFFF"/>
                    </a:solidFill>
                  </a:tcPr>
                </a:tc>
                <a:tc>
                  <a:txBody>
                    <a:bodyPr wrap="square"/>
                    <a:lstStyle/>
                    <a:p>
                      <a:pPr algn="ctr"/>
                      <a:r>
                        <a:rPr sz="1150" b="0" i="0">
                          <a:solidFill>
                            <a:srgbClr val="2B2B2B"/>
                          </a:solidFill>
                          <a:latin typeface="Arial"/>
                        </a:rPr>
                        <a:t>Error frente a la respuesta real (MAE, F1)</a:t>
                      </a:r>
                    </a:p>
                  </a:txBody>
                  <a:tcPr marL="64008" marR="64008" marT="27432" marB="27432" anchor="ctr">
                    <a:solidFill>
                      <a:srgbClr val="FFFFFF"/>
                    </a:solidFill>
                  </a:tcPr>
                </a:tc>
                <a:tc>
                  <a:txBody>
                    <a:bodyPr wrap="square"/>
                    <a:lstStyle/>
                    <a:p>
                      <a:pPr algn="ctr"/>
                      <a:r>
                        <a:rPr sz="1150" b="0" i="0">
                          <a:solidFill>
                            <a:srgbClr val="2B2B2B"/>
                          </a:solidFill>
                          <a:latin typeface="Arial"/>
                        </a:rPr>
                        <a:t>Silhouette, estabilidad e interpretación</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Riesgo típico</a:t>
                      </a:r>
                    </a:p>
                  </a:txBody>
                  <a:tcPr marL="64008" marR="64008" marT="27432" marB="27432" anchor="ctr">
                    <a:solidFill>
                      <a:srgbClr val="F2F3F5"/>
                    </a:solidFill>
                  </a:tcPr>
                </a:tc>
                <a:tc>
                  <a:txBody>
                    <a:bodyPr wrap="square"/>
                    <a:lstStyle/>
                    <a:p>
                      <a:pPr algn="ctr"/>
                      <a:r>
                        <a:rPr sz="1150" b="0" i="0">
                          <a:solidFill>
                            <a:srgbClr val="2B2B2B"/>
                          </a:solidFill>
                          <a:latin typeface="Arial"/>
                        </a:rPr>
                        <a:t>Memorizar Train (sobreajuste)</a:t>
                      </a:r>
                    </a:p>
                  </a:txBody>
                  <a:tcPr marL="64008" marR="64008" marT="27432" marB="27432" anchor="ctr">
                    <a:solidFill>
                      <a:srgbClr val="F2F3F5"/>
                    </a:solidFill>
                  </a:tcPr>
                </a:tc>
                <a:tc>
                  <a:txBody>
                    <a:bodyPr wrap="square"/>
                    <a:lstStyle/>
                    <a:p>
                      <a:pPr algn="ctr"/>
                      <a:r>
                        <a:rPr sz="1150" b="0" i="0">
                          <a:solidFill>
                            <a:srgbClr val="2B2B2B"/>
                          </a:solidFill>
                          <a:latin typeface="Arial"/>
                        </a:rPr>
                        <a:t>Grupos sin significado: siempre entrega grupos</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Ejemplo bancario</a:t>
                      </a:r>
                    </a:p>
                  </a:txBody>
                  <a:tcPr marL="64008" marR="64008" marT="27432" marB="27432" anchor="ctr">
                    <a:solidFill>
                      <a:srgbClr val="FFFFFF"/>
                    </a:solidFill>
                  </a:tcPr>
                </a:tc>
                <a:tc>
                  <a:txBody>
                    <a:bodyPr wrap="square"/>
                    <a:lstStyle/>
                    <a:p>
                      <a:pPr algn="ctr"/>
                      <a:r>
                        <a:rPr sz="1150" b="0" i="0">
                          <a:solidFill>
                            <a:srgbClr val="2B2B2B"/>
                          </a:solidFill>
                          <a:latin typeface="Arial"/>
                        </a:rPr>
                        <a:t>¿Este cliente abandonará la tarjeta?</a:t>
                      </a:r>
                    </a:p>
                  </a:txBody>
                  <a:tcPr marL="64008" marR="64008" marT="27432" marB="27432" anchor="ctr">
                    <a:solidFill>
                      <a:srgbClr val="FFFFFF"/>
                    </a:solidFill>
                  </a:tcPr>
                </a:tc>
                <a:tc>
                  <a:txBody>
                    <a:bodyPr wrap="square"/>
                    <a:lstStyle/>
                    <a:p>
                      <a:pPr algn="ctr"/>
                      <a:r>
                        <a:rPr sz="1150" b="0" i="0">
                          <a:solidFill>
                            <a:srgbClr val="2B2B2B"/>
                          </a:solidFill>
                          <a:latin typeface="Arial"/>
                        </a:rPr>
                        <a:t>¿Qué tipos de clientes tenemos?</a:t>
                      </a:r>
                    </a:p>
                  </a:txBody>
                  <a:tcPr marL="64008" marR="64008" marT="27432" marB="27432" anchor="ctr">
                    <a:solidFill>
                      <a:srgbClr val="FFFFFF"/>
                    </a:solidFill>
                  </a:tcPr>
                </a:tc>
              </a:tr>
            </a:tbl>
          </a:graphicData>
        </a:graphic>
      </p:graphicFrame>
      <p:sp>
        <p:nvSpPr>
          <p:cNvPr id="4" name="Rounded Rectangle 3"/>
          <p:cNvSpPr/>
          <p:nvPr/>
        </p:nvSpPr>
        <p:spPr>
          <a:xfrm>
            <a:off x="731520" y="55778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Cuidado: </a:t>
            </a:r>
            <a:r>
              <a:rPr sz="1200" b="0" i="0">
                <a:solidFill>
                  <a:srgbClr val="2B2B2B"/>
                </a:solidFill>
                <a:latin typeface="Arial"/>
              </a:rPr>
              <a:t>KNN (supervisado, Día 3) y K-Means (no supervisado, hoy) se parecen en el nombre y en que usan distancias, pero resuelven problemas distintos.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¿Supervisado o no supervisado? Practiquemos</a:t>
            </a:r>
          </a:p>
        </p:txBody>
      </p:sp>
      <p:sp>
        <p:nvSpPr>
          <p:cNvPr id="3" name="Rounded Rectangle 2"/>
          <p:cNvSpPr/>
          <p:nvPr/>
        </p:nvSpPr>
        <p:spPr>
          <a:xfrm>
            <a:off x="731520" y="1965960"/>
            <a:ext cx="3794760" cy="107899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2082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Estimar el monto de crédito que pedirá un cliente, con historial de montos</a:t>
            </a:r>
          </a:p>
        </p:txBody>
      </p:sp>
      <p:sp>
        <p:nvSpPr>
          <p:cNvPr id="5" name="TextBox 4"/>
          <p:cNvSpPr txBox="1"/>
          <p:nvPr/>
        </p:nvSpPr>
        <p:spPr>
          <a:xfrm>
            <a:off x="868680" y="2642615"/>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42852"/>
                </a:solidFill>
                <a:latin typeface="Arial"/>
              </a:rPr>
              <a:t>→ Supervisado · regresión</a:t>
            </a:r>
          </a:p>
        </p:txBody>
      </p:sp>
      <p:sp>
        <p:nvSpPr>
          <p:cNvPr id="6" name="Rounded Rectangle 5"/>
          <p:cNvSpPr/>
          <p:nvPr/>
        </p:nvSpPr>
        <p:spPr>
          <a:xfrm>
            <a:off x="4663440" y="1965960"/>
            <a:ext cx="3794760" cy="107899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00600" y="202082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Detectar fraude con transacciones ya marcadas como fraude o normal</a:t>
            </a:r>
          </a:p>
        </p:txBody>
      </p:sp>
      <p:sp>
        <p:nvSpPr>
          <p:cNvPr id="8" name="TextBox 7"/>
          <p:cNvSpPr txBox="1"/>
          <p:nvPr/>
        </p:nvSpPr>
        <p:spPr>
          <a:xfrm>
            <a:off x="4800600" y="2642615"/>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42852"/>
                </a:solidFill>
                <a:latin typeface="Arial"/>
              </a:rPr>
              <a:t>→ Supervisado · clasificación</a:t>
            </a:r>
          </a:p>
        </p:txBody>
      </p:sp>
      <p:sp>
        <p:nvSpPr>
          <p:cNvPr id="9" name="Rounded Rectangle 8"/>
          <p:cNvSpPr/>
          <p:nvPr/>
        </p:nvSpPr>
        <p:spPr>
          <a:xfrm>
            <a:off x="731520" y="3154680"/>
            <a:ext cx="3794760" cy="1078992"/>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868680" y="320954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Agrupar provincias según sus indicadores económicos</a:t>
            </a:r>
          </a:p>
        </p:txBody>
      </p:sp>
      <p:sp>
        <p:nvSpPr>
          <p:cNvPr id="11" name="TextBox 10"/>
          <p:cNvSpPr txBox="1"/>
          <p:nvPr/>
        </p:nvSpPr>
        <p:spPr>
          <a:xfrm>
            <a:off x="868680" y="3831336"/>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A9D8F"/>
                </a:solidFill>
                <a:latin typeface="Arial"/>
              </a:rPr>
              <a:t>→ No supervisado · clustering</a:t>
            </a:r>
          </a:p>
        </p:txBody>
      </p:sp>
      <p:sp>
        <p:nvSpPr>
          <p:cNvPr id="12" name="Rounded Rectangle 11"/>
          <p:cNvSpPr/>
          <p:nvPr/>
        </p:nvSpPr>
        <p:spPr>
          <a:xfrm>
            <a:off x="4663440" y="3154680"/>
            <a:ext cx="3794760" cy="1078992"/>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4800600" y="320954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Segmentar clientes de tarjeta sin ninguna etiqueta</a:t>
            </a:r>
          </a:p>
        </p:txBody>
      </p:sp>
      <p:sp>
        <p:nvSpPr>
          <p:cNvPr id="14" name="TextBox 13"/>
          <p:cNvSpPr txBox="1"/>
          <p:nvPr/>
        </p:nvSpPr>
        <p:spPr>
          <a:xfrm>
            <a:off x="4800600" y="3831336"/>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A9D8F"/>
                </a:solidFill>
                <a:latin typeface="Arial"/>
              </a:rPr>
              <a:t>→ No supervisado · clustering</a:t>
            </a:r>
          </a:p>
        </p:txBody>
      </p:sp>
      <p:sp>
        <p:nvSpPr>
          <p:cNvPr id="15" name="Rounded Rectangle 14"/>
          <p:cNvSpPr/>
          <p:nvPr/>
        </p:nvSpPr>
        <p:spPr>
          <a:xfrm>
            <a:off x="731520" y="4343400"/>
            <a:ext cx="3794760" cy="107899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868680" y="439826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Predecir si un cliente abandonará, con datos de quienes ya se fueron</a:t>
            </a:r>
          </a:p>
        </p:txBody>
      </p:sp>
      <p:sp>
        <p:nvSpPr>
          <p:cNvPr id="17" name="TextBox 16"/>
          <p:cNvSpPr txBox="1"/>
          <p:nvPr/>
        </p:nvSpPr>
        <p:spPr>
          <a:xfrm>
            <a:off x="868680" y="5020056"/>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42852"/>
                </a:solidFill>
                <a:latin typeface="Arial"/>
              </a:rPr>
              <a:t>→ Supervisado · clasificación</a:t>
            </a:r>
          </a:p>
        </p:txBody>
      </p:sp>
      <p:sp>
        <p:nvSpPr>
          <p:cNvPr id="18" name="Rounded Rectangle 17"/>
          <p:cNvSpPr/>
          <p:nvPr/>
        </p:nvSpPr>
        <p:spPr>
          <a:xfrm>
            <a:off x="4663440" y="4343400"/>
            <a:ext cx="3794760" cy="1078992"/>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4800600" y="4398264"/>
            <a:ext cx="3520440" cy="5943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Encontrar transacciones raras cuando nadie sabe cuáles son fraude</a:t>
            </a:r>
          </a:p>
        </p:txBody>
      </p:sp>
      <p:sp>
        <p:nvSpPr>
          <p:cNvPr id="20" name="TextBox 19"/>
          <p:cNvSpPr txBox="1"/>
          <p:nvPr/>
        </p:nvSpPr>
        <p:spPr>
          <a:xfrm>
            <a:off x="4800600" y="5020056"/>
            <a:ext cx="3520440" cy="347472"/>
          </a:xfrm>
          <a:prstGeom prst="rect">
            <a:avLst/>
          </a:prstGeom>
          <a:noFill/>
        </p:spPr>
        <p:txBody>
          <a:bodyPr wrap="square" anchor="t" lIns="36576" rIns="36576" tIns="36576" bIns="36576">
            <a:spAutoFit/>
          </a:bodyPr>
          <a:lstStyle/>
          <a:p>
            <a:pPr algn="l">
              <a:spcAft>
                <a:spcPts val="400"/>
              </a:spcAft>
            </a:pPr>
            <a:r>
              <a:rPr sz="1200" b="1" i="0">
                <a:solidFill>
                  <a:srgbClr val="2A9D8F"/>
                </a:solidFill>
                <a:latin typeface="Arial"/>
              </a:rPr>
              <a:t>→ No supervisado · casos raros</a:t>
            </a:r>
          </a:p>
        </p:txBody>
      </p:sp>
      <p:sp>
        <p:nvSpPr>
          <p:cNvPr id="21" name="Rounded Rectangle 20"/>
          <p:cNvSpPr/>
          <p:nvPr/>
        </p:nvSpPr>
        <p:spPr>
          <a:xfrm>
            <a:off x="731520" y="562356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Truco: </a:t>
            </a:r>
            <a:r>
              <a:rPr sz="1200" b="0" i="0">
                <a:solidFill>
                  <a:srgbClr val="2B2B2B"/>
                </a:solidFill>
                <a:latin typeface="Arial"/>
              </a:rPr>
              <a:t>busca la columna que quieres obtener. Si existe en los datos históricos, es supervisado.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Sin colores</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Tres tipos</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Usos</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Vocabulario</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Dos familias</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2</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¿Qué es clustering?</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No hay variable objetivo: buscamos grupos de filas que se parecen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Clasificación frente a clustering</a:t>
            </a:r>
          </a:p>
        </p:txBody>
      </p:sp>
      <p:pic>
        <p:nvPicPr>
          <p:cNvPr id="3" name="Picture 2" descr="sup_vs_unsup.png"/>
          <p:cNvPicPr>
            <a:picLocks noChangeAspect="1"/>
          </p:cNvPicPr>
          <p:nvPr/>
        </p:nvPicPr>
        <p:blipFill>
          <a:blip r:embed="rId3"/>
          <a:stretch>
            <a:fillRect/>
          </a:stretch>
        </p:blipFill>
        <p:spPr>
          <a:xfrm>
            <a:off x="731520" y="1915503"/>
            <a:ext cx="7772400" cy="3026993"/>
          </a:xfrm>
          <a:prstGeom prst="rect">
            <a:avLst/>
          </a:prstGeom>
        </p:spPr>
      </p:pic>
      <p:sp>
        <p:nvSpPr>
          <p:cNvPr id="4" name="Rounded Rectangle 3"/>
          <p:cNvSpPr/>
          <p:nvPr/>
        </p:nvSpPr>
        <p:spPr>
          <a:xfrm>
            <a:off x="731520" y="5074920"/>
            <a:ext cx="3794760" cy="10972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51846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Clasificación</a:t>
            </a:r>
          </a:p>
        </p:txBody>
      </p:sp>
      <p:sp>
        <p:nvSpPr>
          <p:cNvPr id="6" name="TextBox 5"/>
          <p:cNvSpPr txBox="1"/>
          <p:nvPr/>
        </p:nvSpPr>
        <p:spPr>
          <a:xfrm>
            <a:off x="868680" y="5733288"/>
            <a:ext cx="3520440" cy="3657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Los colores (clases) vienen en los datos.</a:t>
            </a:r>
          </a:p>
        </p:txBody>
      </p:sp>
      <p:sp>
        <p:nvSpPr>
          <p:cNvPr id="7" name="Rounded Rectangle 6"/>
          <p:cNvSpPr/>
          <p:nvPr/>
        </p:nvSpPr>
        <p:spPr>
          <a:xfrm>
            <a:off x="4709160" y="5074920"/>
            <a:ext cx="3794760" cy="10972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51846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Clustering</a:t>
            </a:r>
          </a:p>
        </p:txBody>
      </p:sp>
      <p:sp>
        <p:nvSpPr>
          <p:cNvPr id="9" name="TextBox 8"/>
          <p:cNvSpPr txBox="1"/>
          <p:nvPr/>
        </p:nvSpPr>
        <p:spPr>
          <a:xfrm>
            <a:off x="4846320" y="5733288"/>
            <a:ext cx="3520440" cy="3657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Los colores los propone el algoritmo.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Regresión, clasificación y clustering</a:t>
            </a:r>
          </a:p>
        </p:txBody>
      </p:sp>
      <p:graphicFrame>
        <p:nvGraphicFramePr>
          <p:cNvPr id="3" name="Table 2"/>
          <p:cNvGraphicFramePr>
            <a:graphicFrameLocks noGrp="1"/>
          </p:cNvGraphicFramePr>
          <p:nvPr/>
        </p:nvGraphicFramePr>
        <p:xfrm>
          <a:off x="731520" y="1965960"/>
          <a:ext cx="7772400" cy="3200400"/>
        </p:xfrm>
        <a:graphic>
          <a:graphicData uri="http://schemas.openxmlformats.org/drawingml/2006/table">
            <a:tbl>
              <a:tblPr firstRow="1" bandRow="1">
                <a:tableStyleId>{5C22544A-7EE6-4342-B048-85BDC9FD1C3A}</a:tableStyleId>
              </a:tblPr>
              <a:tblGrid>
                <a:gridCol w="1828800"/>
                <a:gridCol w="1920240"/>
                <a:gridCol w="1920240"/>
                <a:gridCol w="2103120"/>
              </a:tblGrid>
              <a:tr h="457200">
                <a:tc>
                  <a:txBody>
                    <a:bodyPr wrap="square"/>
                    <a:lstStyle/>
                    <a:p>
                      <a:pPr algn="l"/>
                      <a:r>
                        <a:rPr sz="1150" b="1" i="0">
                          <a:solidFill>
                            <a:srgbClr val="FFFFFF"/>
                          </a:solidFill>
                          <a:latin typeface="Arial"/>
                        </a:rPr>
                        <a:t/>
                      </a:r>
                    </a:p>
                  </a:txBody>
                  <a:tcPr marL="64008" marR="64008" marT="27432" marB="27432" anchor="ctr">
                    <a:solidFill>
                      <a:srgbClr val="242852"/>
                    </a:solidFill>
                  </a:tcPr>
                </a:tc>
                <a:tc>
                  <a:txBody>
                    <a:bodyPr wrap="square"/>
                    <a:lstStyle/>
                    <a:p>
                      <a:pPr algn="ctr"/>
                      <a:r>
                        <a:rPr sz="1150" b="1" i="0">
                          <a:solidFill>
                            <a:srgbClr val="FFFFFF"/>
                          </a:solidFill>
                          <a:latin typeface="Arial"/>
                        </a:rPr>
                        <a:t>Regresión</a:t>
                      </a:r>
                    </a:p>
                  </a:txBody>
                  <a:tcPr marL="64008" marR="64008" marT="27432" marB="27432" anchor="ctr">
                    <a:solidFill>
                      <a:srgbClr val="242852"/>
                    </a:solidFill>
                  </a:tcPr>
                </a:tc>
                <a:tc>
                  <a:txBody>
                    <a:bodyPr wrap="square"/>
                    <a:lstStyle/>
                    <a:p>
                      <a:pPr algn="ctr"/>
                      <a:r>
                        <a:rPr sz="1150" b="1" i="0">
                          <a:solidFill>
                            <a:srgbClr val="FFFFFF"/>
                          </a:solidFill>
                          <a:latin typeface="Arial"/>
                        </a:rPr>
                        <a:t>Clasificación</a:t>
                      </a:r>
                    </a:p>
                  </a:txBody>
                  <a:tcPr marL="64008" marR="64008" marT="27432" marB="27432" anchor="ctr">
                    <a:solidFill>
                      <a:srgbClr val="242852"/>
                    </a:solidFill>
                  </a:tcPr>
                </a:tc>
                <a:tc>
                  <a:txBody>
                    <a:bodyPr wrap="square"/>
                    <a:lstStyle/>
                    <a:p>
                      <a:pPr algn="ctr"/>
                      <a:r>
                        <a:rPr sz="1150" b="1" i="0">
                          <a:solidFill>
                            <a:srgbClr val="FFFFFF"/>
                          </a:solidFill>
                          <a:latin typeface="Arial"/>
                        </a:rPr>
                        <a:t>Clustering</a:t>
                      </a:r>
                    </a:p>
                  </a:txBody>
                  <a:tcPr marL="64008" marR="64008" marT="27432" marB="27432" anchor="ctr">
                    <a:solidFill>
                      <a:srgbClr val="242852"/>
                    </a:solidFill>
                  </a:tcPr>
                </a:tc>
              </a:tr>
              <a:tr h="457200">
                <a:tc>
                  <a:txBody>
                    <a:bodyPr wrap="square"/>
                    <a:lstStyle/>
                    <a:p>
                      <a:pPr algn="l"/>
                      <a:r>
                        <a:rPr sz="1150" b="1" i="0">
                          <a:solidFill>
                            <a:srgbClr val="2B2B2B"/>
                          </a:solidFill>
                          <a:latin typeface="Arial"/>
                        </a:rPr>
                        <a:t>¿Hay variable objetivo?</a:t>
                      </a:r>
                    </a:p>
                  </a:txBody>
                  <a:tcPr marL="64008" marR="64008" marT="27432" marB="27432" anchor="ctr">
                    <a:solidFill>
                      <a:srgbClr val="FFFFFF"/>
                    </a:solidFill>
                  </a:tcPr>
                </a:tc>
                <a:tc>
                  <a:txBody>
                    <a:bodyPr wrap="square"/>
                    <a:lstStyle/>
                    <a:p>
                      <a:pPr algn="ctr"/>
                      <a:r>
                        <a:rPr sz="1150" b="0" i="0">
                          <a:solidFill>
                            <a:srgbClr val="2B2B2B"/>
                          </a:solidFill>
                          <a:latin typeface="Arial"/>
                        </a:rPr>
                        <a:t>Sí, un número</a:t>
                      </a:r>
                    </a:p>
                  </a:txBody>
                  <a:tcPr marL="64008" marR="64008" marT="27432" marB="27432" anchor="ctr">
                    <a:solidFill>
                      <a:srgbClr val="FFFFFF"/>
                    </a:solidFill>
                  </a:tcPr>
                </a:tc>
                <a:tc>
                  <a:txBody>
                    <a:bodyPr wrap="square"/>
                    <a:lstStyle/>
                    <a:p>
                      <a:pPr algn="ctr"/>
                      <a:r>
                        <a:rPr sz="1150" b="0" i="0">
                          <a:solidFill>
                            <a:srgbClr val="2B2B2B"/>
                          </a:solidFill>
                          <a:latin typeface="Arial"/>
                        </a:rPr>
                        <a:t>Sí, una clase</a:t>
                      </a:r>
                    </a:p>
                  </a:txBody>
                  <a:tcPr marL="64008" marR="64008" marT="27432" marB="27432" anchor="ctr">
                    <a:solidFill>
                      <a:srgbClr val="FFFFFF"/>
                    </a:solidFill>
                  </a:tcPr>
                </a:tc>
                <a:tc>
                  <a:txBody>
                    <a:bodyPr wrap="square"/>
                    <a:lstStyle/>
                    <a:p>
                      <a:pPr algn="ctr"/>
                      <a:r>
                        <a:rPr sz="1150" b="1" i="0">
                          <a:solidFill>
                            <a:srgbClr val="2A9D8F"/>
                          </a:solidFill>
                          <a:latin typeface="Arial"/>
                        </a:rPr>
                        <a:t>No</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Pregunta</a:t>
                      </a:r>
                    </a:p>
                  </a:txBody>
                  <a:tcPr marL="64008" marR="64008" marT="27432" marB="27432" anchor="ctr">
                    <a:solidFill>
                      <a:srgbClr val="F2F3F5"/>
                    </a:solidFill>
                  </a:tcPr>
                </a:tc>
                <a:tc>
                  <a:txBody>
                    <a:bodyPr wrap="square"/>
                    <a:lstStyle/>
                    <a:p>
                      <a:pPr algn="ctr"/>
                      <a:r>
                        <a:rPr sz="1150" b="0" i="0">
                          <a:solidFill>
                            <a:srgbClr val="2B2B2B"/>
                          </a:solidFill>
                          <a:latin typeface="Arial"/>
                        </a:rPr>
                        <a:t>¿Cuánto?</a:t>
                      </a:r>
                    </a:p>
                  </a:txBody>
                  <a:tcPr marL="64008" marR="64008" marT="27432" marB="27432" anchor="ctr">
                    <a:solidFill>
                      <a:srgbClr val="F2F3F5"/>
                    </a:solidFill>
                  </a:tcPr>
                </a:tc>
                <a:tc>
                  <a:txBody>
                    <a:bodyPr wrap="square"/>
                    <a:lstStyle/>
                    <a:p>
                      <a:pPr algn="ctr"/>
                      <a:r>
                        <a:rPr sz="1150" b="0" i="0">
                          <a:solidFill>
                            <a:srgbClr val="2B2B2B"/>
                          </a:solidFill>
                          <a:latin typeface="Arial"/>
                        </a:rPr>
                        <a:t>¿Cuál clase?</a:t>
                      </a:r>
                    </a:p>
                  </a:txBody>
                  <a:tcPr marL="64008" marR="64008" marT="27432" marB="27432" anchor="ctr">
                    <a:solidFill>
                      <a:srgbClr val="F2F3F5"/>
                    </a:solidFill>
                  </a:tcPr>
                </a:tc>
                <a:tc>
                  <a:txBody>
                    <a:bodyPr wrap="square"/>
                    <a:lstStyle/>
                    <a:p>
                      <a:pPr algn="ctr"/>
                      <a:r>
                        <a:rPr sz="1150" b="0" i="0">
                          <a:solidFill>
                            <a:srgbClr val="2B2B2B"/>
                          </a:solidFill>
                          <a:latin typeface="Arial"/>
                        </a:rPr>
                        <a:t>¿Qué grupos de filas parecidas hay?</a:t>
                      </a:r>
                    </a:p>
                  </a:txBody>
                  <a:tcPr marL="64008" marR="64008" marT="27432" marB="27432" anchor="ctr">
                    <a:solidFill>
                      <a:srgbClr val="F2F3F5"/>
                    </a:solidFill>
                  </a:tcPr>
                </a:tc>
              </a:tr>
              <a:tr h="457200">
                <a:tc>
                  <a:txBody>
                    <a:bodyPr wrap="square"/>
                    <a:lstStyle/>
                    <a:p>
                      <a:pPr algn="l"/>
                      <a:r>
                        <a:rPr sz="1150" b="1" i="0">
                          <a:solidFill>
                            <a:srgbClr val="2B2B2B"/>
                          </a:solidFill>
                          <a:latin typeface="Arial"/>
                        </a:rPr>
                        <a:t>Cómo se evalúa</a:t>
                      </a:r>
                    </a:p>
                  </a:txBody>
                  <a:tcPr marL="64008" marR="64008" marT="27432" marB="27432" anchor="ctr">
                    <a:solidFill>
                      <a:srgbClr val="FFFFFF"/>
                    </a:solidFill>
                  </a:tcPr>
                </a:tc>
                <a:tc>
                  <a:txBody>
                    <a:bodyPr wrap="square"/>
                    <a:lstStyle/>
                    <a:p>
                      <a:pPr algn="ctr"/>
                      <a:r>
                        <a:rPr sz="1150" b="0" i="0">
                          <a:solidFill>
                            <a:srgbClr val="2B2B2B"/>
                          </a:solidFill>
                          <a:latin typeface="Arial"/>
                        </a:rPr>
                        <a:t>MAE, RMSE, R²</a:t>
                      </a:r>
                    </a:p>
                  </a:txBody>
                  <a:tcPr marL="64008" marR="64008" marT="27432" marB="27432" anchor="ctr">
                    <a:solidFill>
                      <a:srgbClr val="FFFFFF"/>
                    </a:solidFill>
                  </a:tcPr>
                </a:tc>
                <a:tc>
                  <a:txBody>
                    <a:bodyPr wrap="square"/>
                    <a:lstStyle/>
                    <a:p>
                      <a:pPr algn="ctr"/>
                      <a:r>
                        <a:rPr sz="1150" b="0" i="0">
                          <a:solidFill>
                            <a:srgbClr val="2B2B2B"/>
                          </a:solidFill>
                          <a:latin typeface="Arial"/>
                        </a:rPr>
                        <a:t>Matriz de confusión, F1</a:t>
                      </a:r>
                    </a:p>
                  </a:txBody>
                  <a:tcPr marL="64008" marR="64008" marT="27432" marB="27432" anchor="ctr">
                    <a:solidFill>
                      <a:srgbClr val="FFFFFF"/>
                    </a:solidFill>
                  </a:tcPr>
                </a:tc>
                <a:tc>
                  <a:txBody>
                    <a:bodyPr wrap="square"/>
                    <a:lstStyle/>
                    <a:p>
                      <a:pPr algn="ctr"/>
                      <a:r>
                        <a:rPr sz="1150" b="0" i="0">
                          <a:solidFill>
                            <a:srgbClr val="2B2B2B"/>
                          </a:solidFill>
                          <a:latin typeface="Arial"/>
                        </a:rPr>
                        <a:t>Silhouette, tamaños e interpretación</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Línea base</a:t>
                      </a:r>
                    </a:p>
                  </a:txBody>
                  <a:tcPr marL="64008" marR="64008" marT="27432" marB="27432" anchor="ctr">
                    <a:solidFill>
                      <a:srgbClr val="F2F3F5"/>
                    </a:solidFill>
                  </a:tcPr>
                </a:tc>
                <a:tc>
                  <a:txBody>
                    <a:bodyPr wrap="square"/>
                    <a:lstStyle/>
                    <a:p>
                      <a:pPr algn="ctr"/>
                      <a:r>
                        <a:rPr sz="1150" b="0" i="0">
                          <a:solidFill>
                            <a:srgbClr val="2B2B2B"/>
                          </a:solidFill>
                          <a:latin typeface="Arial"/>
                        </a:rPr>
                        <a:t>Predecir el promedio</a:t>
                      </a:r>
                    </a:p>
                  </a:txBody>
                  <a:tcPr marL="64008" marR="64008" marT="27432" marB="27432" anchor="ctr">
                    <a:solidFill>
                      <a:srgbClr val="F2F3F5"/>
                    </a:solidFill>
                  </a:tcPr>
                </a:tc>
                <a:tc>
                  <a:txBody>
                    <a:bodyPr wrap="square"/>
                    <a:lstStyle/>
                    <a:p>
                      <a:pPr algn="ctr"/>
                      <a:r>
                        <a:rPr sz="1150" b="0" i="0">
                          <a:solidFill>
                            <a:srgbClr val="2B2B2B"/>
                          </a:solidFill>
                          <a:latin typeface="Arial"/>
                        </a:rPr>
                        <a:t>La clase más frecuente</a:t>
                      </a:r>
                    </a:p>
                  </a:txBody>
                  <a:tcPr marL="64008" marR="64008" marT="27432" marB="27432" anchor="ctr">
                    <a:solidFill>
                      <a:srgbClr val="F2F3F5"/>
                    </a:solidFill>
                  </a:tcPr>
                </a:tc>
                <a:tc>
                  <a:txBody>
                    <a:bodyPr wrap="square"/>
                    <a:lstStyle/>
                    <a:p>
                      <a:pPr algn="ctr"/>
                      <a:r>
                        <a:rPr sz="1150" b="0" i="0">
                          <a:solidFill>
                            <a:srgbClr val="2B2B2B"/>
                          </a:solidFill>
                          <a:latin typeface="Arial"/>
                        </a:rPr>
                        <a:t>Una segmentación simple</a:t>
                      </a:r>
                    </a:p>
                  </a:txBody>
                  <a:tcPr marL="64008" marR="64008" marT="27432" marB="27432" anchor="ctr">
                    <a:solidFill>
                      <a:srgbClr val="F2F3F5"/>
                    </a:solidFill>
                  </a:tcPr>
                </a:tc>
              </a:tr>
              <a:tr h="457200">
                <a:tc>
                  <a:txBody>
                    <a:bodyPr wrap="square"/>
                    <a:lstStyle/>
                    <a:p>
                      <a:pPr algn="l"/>
                      <a:r>
                        <a:rPr sz="1150" b="1" i="0">
                          <a:solidFill>
                            <a:srgbClr val="2B2B2B"/>
                          </a:solidFill>
                          <a:latin typeface="Arial"/>
                        </a:rPr>
                        <a:t>Ejemplo bancario</a:t>
                      </a:r>
                    </a:p>
                  </a:txBody>
                  <a:tcPr marL="64008" marR="64008" marT="27432" marB="27432" anchor="ctr">
                    <a:solidFill>
                      <a:srgbClr val="FFFFFF"/>
                    </a:solidFill>
                  </a:tcPr>
                </a:tc>
                <a:tc>
                  <a:txBody>
                    <a:bodyPr wrap="square"/>
                    <a:lstStyle/>
                    <a:p>
                      <a:pPr algn="ctr"/>
                      <a:r>
                        <a:rPr sz="1150" b="0" i="0">
                          <a:solidFill>
                            <a:srgbClr val="2B2B2B"/>
                          </a:solidFill>
                          <a:latin typeface="Arial"/>
                        </a:rPr>
                        <a:t>Monto que transará un cliente</a:t>
                      </a:r>
                    </a:p>
                  </a:txBody>
                  <a:tcPr marL="64008" marR="64008" marT="27432" marB="27432" anchor="ctr">
                    <a:solidFill>
                      <a:srgbClr val="FFFFFF"/>
                    </a:solidFill>
                  </a:tcPr>
                </a:tc>
                <a:tc>
                  <a:txBody>
                    <a:bodyPr wrap="square"/>
                    <a:lstStyle/>
                    <a:p>
                      <a:pPr algn="ctr"/>
                      <a:r>
                        <a:rPr sz="1150" b="0" i="0">
                          <a:solidFill>
                            <a:srgbClr val="2B2B2B"/>
                          </a:solidFill>
                          <a:latin typeface="Arial"/>
                        </a:rPr>
                        <a:t>¿Abandonará la tarjeta?</a:t>
                      </a:r>
                    </a:p>
                  </a:txBody>
                  <a:tcPr marL="64008" marR="64008" marT="27432" marB="27432" anchor="ctr">
                    <a:solidFill>
                      <a:srgbClr val="FFFFFF"/>
                    </a:solidFill>
                  </a:tcPr>
                </a:tc>
                <a:tc>
                  <a:txBody>
                    <a:bodyPr wrap="square"/>
                    <a:lstStyle/>
                    <a:p>
                      <a:pPr algn="ctr"/>
                      <a:r>
                        <a:rPr sz="1150" b="0" i="0">
                          <a:solidFill>
                            <a:srgbClr val="2B2B2B"/>
                          </a:solidFill>
                          <a:latin typeface="Arial"/>
                        </a:rPr>
                        <a:t>Perfiles de uso de la tarjeta</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Algoritmos</a:t>
                      </a:r>
                    </a:p>
                  </a:txBody>
                  <a:tcPr marL="64008" marR="64008" marT="27432" marB="27432" anchor="ctr">
                    <a:solidFill>
                      <a:srgbClr val="F2F3F5"/>
                    </a:solidFill>
                  </a:tcPr>
                </a:tc>
                <a:tc>
                  <a:txBody>
                    <a:bodyPr wrap="square"/>
                    <a:lstStyle/>
                    <a:p>
                      <a:pPr algn="ctr"/>
                      <a:r>
                        <a:rPr sz="1150" b="0" i="0">
                          <a:solidFill>
                            <a:srgbClr val="2B2B2B"/>
                          </a:solidFill>
                          <a:latin typeface="Arial"/>
                        </a:rPr>
                        <a:t>Lineal, árbol, bosque, KNN, SVR</a:t>
                      </a:r>
                    </a:p>
                  </a:txBody>
                  <a:tcPr marL="64008" marR="64008" marT="27432" marB="27432" anchor="ctr">
                    <a:solidFill>
                      <a:srgbClr val="F2F3F5"/>
                    </a:solidFill>
                  </a:tcPr>
                </a:tc>
                <a:tc>
                  <a:txBody>
                    <a:bodyPr wrap="square"/>
                    <a:lstStyle/>
                    <a:p>
                      <a:pPr algn="ctr"/>
                      <a:r>
                        <a:rPr sz="1150" b="0" i="0">
                          <a:solidFill>
                            <a:srgbClr val="2B2B2B"/>
                          </a:solidFill>
                          <a:latin typeface="Arial"/>
                        </a:rPr>
                        <a:t>Árbol, bosque, KNN, SVM</a:t>
                      </a:r>
                    </a:p>
                  </a:txBody>
                  <a:tcPr marL="64008" marR="64008" marT="27432" marB="27432" anchor="ctr">
                    <a:solidFill>
                      <a:srgbClr val="F2F3F5"/>
                    </a:solidFill>
                  </a:tcPr>
                </a:tc>
                <a:tc>
                  <a:txBody>
                    <a:bodyPr wrap="square"/>
                    <a:lstStyle/>
                    <a:p>
                      <a:pPr algn="ctr"/>
                      <a:r>
                        <a:rPr sz="1150" b="0" i="0">
                          <a:solidFill>
                            <a:srgbClr val="2B2B2B"/>
                          </a:solidFill>
                          <a:latin typeface="Arial"/>
                        </a:rPr>
                        <a:t>K-Means, jerárquico</a:t>
                      </a:r>
                    </a:p>
                  </a:txBody>
                  <a:tcPr marL="64008" marR="64008" marT="27432" marB="27432" anchor="ctr">
                    <a:solidFill>
                      <a:srgbClr val="F2F3F5"/>
                    </a:solidFill>
                  </a:tcPr>
                </a:tc>
              </a:tr>
            </a:tbl>
          </a:graphicData>
        </a:graphic>
      </p:graphicFrame>
      <p:sp>
        <p:nvSpPr>
          <p:cNvPr id="4" name="Rounded Rectangle 3"/>
          <p:cNvSpPr/>
          <p:nvPr/>
        </p:nvSpPr>
        <p:spPr>
          <a:xfrm>
            <a:off x="731520" y="548640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Pista: </a:t>
            </a:r>
            <a:r>
              <a:rPr sz="1200" b="0" i="0">
                <a:solidFill>
                  <a:srgbClr val="2B2B2B"/>
                </a:solidFill>
                <a:latin typeface="Arial"/>
              </a:rPr>
              <a:t>si nadie puede decirte cuál es la respuesta correcta de cada fila, el problema es de clustering.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¿Para qué sirve agrupar en un banco?</a:t>
            </a:r>
          </a:p>
        </p:txBody>
      </p:sp>
      <p:sp>
        <p:nvSpPr>
          <p:cNvPr id="3" name="Rounded Rectangle 2"/>
          <p:cNvSpPr/>
          <p:nvPr/>
        </p:nvSpPr>
        <p:spPr>
          <a:xfrm>
            <a:off x="731520" y="1965960"/>
            <a:ext cx="379476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Segmentar clientes</a:t>
            </a:r>
          </a:p>
        </p:txBody>
      </p:sp>
      <p:sp>
        <p:nvSpPr>
          <p:cNvPr id="5" name="TextBox 4"/>
          <p:cNvSpPr txBox="1"/>
          <p:nvPr/>
        </p:nvSpPr>
        <p:spPr>
          <a:xfrm>
            <a:off x="868680" y="262432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productos y campañas para cada perfil de uso</a:t>
            </a:r>
          </a:p>
        </p:txBody>
      </p:sp>
      <p:sp>
        <p:nvSpPr>
          <p:cNvPr id="6" name="Rounded Rectangle 5"/>
          <p:cNvSpPr/>
          <p:nvPr/>
        </p:nvSpPr>
        <p:spPr>
          <a:xfrm>
            <a:off x="4663440" y="196596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00600" y="20756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Perfiles de riesgo</a:t>
            </a:r>
          </a:p>
        </p:txBody>
      </p:sp>
      <p:sp>
        <p:nvSpPr>
          <p:cNvPr id="8" name="TextBox 7"/>
          <p:cNvSpPr txBox="1"/>
          <p:nvPr/>
        </p:nvSpPr>
        <p:spPr>
          <a:xfrm>
            <a:off x="4800600" y="262432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clientes con patrones de pago parecidos</a:t>
            </a:r>
          </a:p>
        </p:txBody>
      </p:sp>
      <p:sp>
        <p:nvSpPr>
          <p:cNvPr id="9" name="Rounded Rectangle 8"/>
          <p:cNvSpPr/>
          <p:nvPr/>
        </p:nvSpPr>
        <p:spPr>
          <a:xfrm>
            <a:off x="731520" y="3566160"/>
            <a:ext cx="379476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868680" y="3675887"/>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Economías parecidas</a:t>
            </a:r>
          </a:p>
        </p:txBody>
      </p:sp>
      <p:sp>
        <p:nvSpPr>
          <p:cNvPr id="11" name="TextBox 10"/>
          <p:cNvSpPr txBox="1"/>
          <p:nvPr/>
        </p:nvSpPr>
        <p:spPr>
          <a:xfrm>
            <a:off x="868680" y="422452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países, provincias o sectores con indicadores similares</a:t>
            </a:r>
          </a:p>
        </p:txBody>
      </p:sp>
      <p:sp>
        <p:nvSpPr>
          <p:cNvPr id="12" name="Rounded Rectangle 11"/>
          <p:cNvSpPr/>
          <p:nvPr/>
        </p:nvSpPr>
        <p:spPr>
          <a:xfrm>
            <a:off x="4663440" y="3566160"/>
            <a:ext cx="3794760" cy="14630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4800600" y="3675887"/>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Casos raros</a:t>
            </a:r>
          </a:p>
        </p:txBody>
      </p:sp>
      <p:sp>
        <p:nvSpPr>
          <p:cNvPr id="14" name="TextBox 13"/>
          <p:cNvSpPr txBox="1"/>
          <p:nvPr/>
        </p:nvSpPr>
        <p:spPr>
          <a:xfrm>
            <a:off x="4800600" y="4224528"/>
            <a:ext cx="3520440" cy="73152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filas que no se parecen a ningún grupo</a:t>
            </a:r>
          </a:p>
        </p:txBody>
      </p:sp>
      <p:sp>
        <p:nvSpPr>
          <p:cNvPr id="15" name="Rounded Rectangle 14"/>
          <p:cNvSpPr/>
          <p:nvPr/>
        </p:nvSpPr>
        <p:spPr>
          <a:xfrm>
            <a:off x="731520" y="53492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a:t>
            </a:r>
            <a:r>
              <a:rPr sz="1200" b="0" i="0">
                <a:solidFill>
                  <a:srgbClr val="2B2B2B"/>
                </a:solidFill>
                <a:latin typeface="Arial"/>
              </a:rPr>
              <a:t>segmentar 8 950 clientes de tarjeta de crédito según cómo usan la tarjeta.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Vocabulario del día</a:t>
            </a:r>
          </a:p>
        </p:txBody>
      </p:sp>
      <p:sp>
        <p:nvSpPr>
          <p:cNvPr id="3" name="Rounded Rectangle 2"/>
          <p:cNvSpPr/>
          <p:nvPr/>
        </p:nvSpPr>
        <p:spPr>
          <a:xfrm>
            <a:off x="731520" y="1965960"/>
            <a:ext cx="2487168" cy="1371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Cluster</a:t>
            </a:r>
          </a:p>
        </p:txBody>
      </p:sp>
      <p:sp>
        <p:nvSpPr>
          <p:cNvPr id="5" name="TextBox 4"/>
          <p:cNvSpPr txBox="1"/>
          <p:nvPr/>
        </p:nvSpPr>
        <p:spPr>
          <a:xfrm>
            <a:off x="868680" y="2624328"/>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un grupo propuesto por el algoritmo</a:t>
            </a:r>
          </a:p>
        </p:txBody>
      </p:sp>
      <p:sp>
        <p:nvSpPr>
          <p:cNvPr id="6" name="Rounded Rectangle 5"/>
          <p:cNvSpPr/>
          <p:nvPr/>
        </p:nvSpPr>
        <p:spPr>
          <a:xfrm>
            <a:off x="3355848" y="1965960"/>
            <a:ext cx="2487168" cy="1371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3493008" y="207568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Centroide</a:t>
            </a:r>
          </a:p>
        </p:txBody>
      </p:sp>
      <p:sp>
        <p:nvSpPr>
          <p:cNvPr id="8" name="TextBox 7"/>
          <p:cNvSpPr txBox="1"/>
          <p:nvPr/>
        </p:nvSpPr>
        <p:spPr>
          <a:xfrm>
            <a:off x="3493008" y="2624328"/>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el punto promedio de un grupo</a:t>
            </a:r>
          </a:p>
        </p:txBody>
      </p:sp>
      <p:sp>
        <p:nvSpPr>
          <p:cNvPr id="9" name="Rounded Rectangle 8"/>
          <p:cNvSpPr/>
          <p:nvPr/>
        </p:nvSpPr>
        <p:spPr>
          <a:xfrm>
            <a:off x="5980176" y="1965960"/>
            <a:ext cx="2487168" cy="13716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117336" y="2075688"/>
            <a:ext cx="2258567"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Distancia</a:t>
            </a:r>
          </a:p>
        </p:txBody>
      </p:sp>
      <p:sp>
        <p:nvSpPr>
          <p:cNvPr id="11" name="TextBox 10"/>
          <p:cNvSpPr txBox="1"/>
          <p:nvPr/>
        </p:nvSpPr>
        <p:spPr>
          <a:xfrm>
            <a:off x="6117336" y="2624328"/>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qué tan diferentes son dos filas</a:t>
            </a:r>
          </a:p>
        </p:txBody>
      </p:sp>
      <p:sp>
        <p:nvSpPr>
          <p:cNvPr id="12" name="Rounded Rectangle 11"/>
          <p:cNvSpPr/>
          <p:nvPr/>
        </p:nvSpPr>
        <p:spPr>
          <a:xfrm>
            <a:off x="731520" y="3474720"/>
            <a:ext cx="2487168" cy="1371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868680" y="358444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Inercia</a:t>
            </a:r>
          </a:p>
        </p:txBody>
      </p:sp>
      <p:sp>
        <p:nvSpPr>
          <p:cNvPr id="14" name="TextBox 13"/>
          <p:cNvSpPr txBox="1"/>
          <p:nvPr/>
        </p:nvSpPr>
        <p:spPr>
          <a:xfrm>
            <a:off x="868680" y="4133087"/>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suma de distancias² de cada fila a su centroide</a:t>
            </a:r>
          </a:p>
        </p:txBody>
      </p:sp>
      <p:sp>
        <p:nvSpPr>
          <p:cNvPr id="15" name="Rounded Rectangle 14"/>
          <p:cNvSpPr/>
          <p:nvPr/>
        </p:nvSpPr>
        <p:spPr>
          <a:xfrm>
            <a:off x="3355848" y="3474720"/>
            <a:ext cx="2487168" cy="1371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3493008" y="358444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Silhouette</a:t>
            </a:r>
          </a:p>
        </p:txBody>
      </p:sp>
      <p:sp>
        <p:nvSpPr>
          <p:cNvPr id="17" name="TextBox 16"/>
          <p:cNvSpPr txBox="1"/>
          <p:nvPr/>
        </p:nvSpPr>
        <p:spPr>
          <a:xfrm>
            <a:off x="3493008" y="4133087"/>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¿cada fila está más cerca de su grupo que del vecino?</a:t>
            </a:r>
          </a:p>
        </p:txBody>
      </p:sp>
      <p:sp>
        <p:nvSpPr>
          <p:cNvPr id="18" name="Rounded Rectangle 17"/>
          <p:cNvSpPr/>
          <p:nvPr/>
        </p:nvSpPr>
        <p:spPr>
          <a:xfrm>
            <a:off x="5980176" y="3474720"/>
            <a:ext cx="2487168" cy="13716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6117336" y="3584448"/>
            <a:ext cx="2258567"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Perfil</a:t>
            </a:r>
          </a:p>
        </p:txBody>
      </p:sp>
      <p:sp>
        <p:nvSpPr>
          <p:cNvPr id="20" name="TextBox 19"/>
          <p:cNvSpPr txBox="1"/>
          <p:nvPr/>
        </p:nvSpPr>
        <p:spPr>
          <a:xfrm>
            <a:off x="6117336" y="4133087"/>
            <a:ext cx="2212848" cy="6400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cómo es un grupo, en unidades originales</a:t>
            </a:r>
          </a:p>
        </p:txBody>
      </p:sp>
      <p:sp>
        <p:nvSpPr>
          <p:cNvPr id="21" name="Rounded Rectangle 20"/>
          <p:cNvSpPr/>
          <p:nvPr/>
        </p:nvSpPr>
        <p:spPr>
          <a:xfrm>
            <a:off x="731520" y="507492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Advertencia central: </a:t>
            </a:r>
            <a:r>
              <a:rPr sz="1350" b="0" i="0">
                <a:solidFill>
                  <a:srgbClr val="FFFFFF"/>
                </a:solidFill>
                <a:latin typeface="Arial"/>
              </a:rPr>
              <a:t>un algoritmo de clustering siempre entrega grupos, aunque los datos no tengan grupos reales.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Dos familias de clustering: por centros y jerárquico</a:t>
            </a:r>
          </a:p>
        </p:txBody>
      </p:sp>
      <p:sp>
        <p:nvSpPr>
          <p:cNvPr id="3" name="Rounded Rectangle 2"/>
          <p:cNvSpPr/>
          <p:nvPr/>
        </p:nvSpPr>
        <p:spPr>
          <a:xfrm>
            <a:off x="731520" y="1965960"/>
            <a:ext cx="3794760" cy="29260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57400"/>
            <a:ext cx="3520440" cy="45720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K-Means: grupos alrededor de centros</a:t>
            </a:r>
          </a:p>
        </p:txBody>
      </p:sp>
      <p:sp>
        <p:nvSpPr>
          <p:cNvPr id="5" name="TextBox 4"/>
          <p:cNvSpPr txBox="1"/>
          <p:nvPr/>
        </p:nvSpPr>
        <p:spPr>
          <a:xfrm>
            <a:off x="868680" y="2606040"/>
            <a:ext cx="3520440" cy="1737360"/>
          </a:xfrm>
          <a:prstGeom prst="rect">
            <a:avLst/>
          </a:prstGeom>
          <a:noFill/>
        </p:spPr>
        <p:txBody>
          <a:bodyPr wrap="square" anchor="t" lIns="36576" rIns="36576" tIns="36576" bIns="36576">
            <a:spAutoFit/>
          </a:bodyPr>
          <a:lstStyle/>
          <a:p>
            <a:pPr algn="l">
              <a:spcAft>
                <a:spcPts val="600"/>
              </a:spcAft>
            </a:pPr>
            <a:r>
              <a:rPr sz="1200" b="0" i="0">
                <a:solidFill>
                  <a:srgbClr val="2B2B2B"/>
                </a:solidFill>
                <a:latin typeface="Arial"/>
              </a:rPr>
              <a:t>• Se elige k antes de empezar.</a:t>
            </a:r>
          </a:p>
          <a:p>
            <a:pPr algn="l">
              <a:spcAft>
                <a:spcPts val="600"/>
              </a:spcAft>
            </a:pPr>
            <a:r>
              <a:rPr sz="1200" b="0" i="0">
                <a:solidFill>
                  <a:srgbClr val="2B2B2B"/>
                </a:solidFill>
                <a:latin typeface="Arial"/>
              </a:rPr>
              <a:t>• Ubica k centros (promedios).</a:t>
            </a:r>
          </a:p>
          <a:p>
            <a:pPr algn="l">
              <a:spcAft>
                <a:spcPts val="600"/>
              </a:spcAft>
            </a:pPr>
            <a:r>
              <a:rPr sz="1200" b="0" i="0">
                <a:solidFill>
                  <a:srgbClr val="2B2B2B"/>
                </a:solidFill>
                <a:latin typeface="Arial"/>
              </a:rPr>
              <a:t>• Cada fila va al centro más cercano.</a:t>
            </a:r>
          </a:p>
          <a:p>
            <a:pPr algn="l">
              <a:spcAft>
                <a:spcPts val="600"/>
              </a:spcAft>
            </a:pPr>
            <a:r>
              <a:rPr sz="1200" b="0" i="0">
                <a:solidFill>
                  <a:srgbClr val="2B2B2B"/>
                </a:solidFill>
                <a:latin typeface="Arial"/>
              </a:rPr>
              <a:t>• Rápido: sirve para millones de filas.</a:t>
            </a:r>
          </a:p>
        </p:txBody>
      </p:sp>
      <p:sp>
        <p:nvSpPr>
          <p:cNvPr id="6" name="Rounded Rectangle 5"/>
          <p:cNvSpPr/>
          <p:nvPr/>
        </p:nvSpPr>
        <p:spPr>
          <a:xfrm>
            <a:off x="868680" y="4343400"/>
            <a:ext cx="3520440" cy="4114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resultado: k grupos y sus centros</a:t>
            </a:r>
          </a:p>
        </p:txBody>
      </p:sp>
      <p:sp>
        <p:nvSpPr>
          <p:cNvPr id="7" name="Rounded Rectangle 6"/>
          <p:cNvSpPr/>
          <p:nvPr/>
        </p:nvSpPr>
        <p:spPr>
          <a:xfrm>
            <a:off x="4709160" y="1965960"/>
            <a:ext cx="3794760" cy="29260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2057400"/>
            <a:ext cx="3520440" cy="45720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Jerárquico: un árbol de uniones</a:t>
            </a:r>
          </a:p>
        </p:txBody>
      </p:sp>
      <p:sp>
        <p:nvSpPr>
          <p:cNvPr id="9" name="TextBox 8"/>
          <p:cNvSpPr txBox="1"/>
          <p:nvPr/>
        </p:nvSpPr>
        <p:spPr>
          <a:xfrm>
            <a:off x="4846320" y="2606040"/>
            <a:ext cx="3520440" cy="1737360"/>
          </a:xfrm>
          <a:prstGeom prst="rect">
            <a:avLst/>
          </a:prstGeom>
          <a:noFill/>
        </p:spPr>
        <p:txBody>
          <a:bodyPr wrap="square" anchor="t" lIns="36576" rIns="36576" tIns="36576" bIns="36576">
            <a:spAutoFit/>
          </a:bodyPr>
          <a:lstStyle/>
          <a:p>
            <a:pPr algn="l">
              <a:spcAft>
                <a:spcPts val="600"/>
              </a:spcAft>
            </a:pPr>
            <a:r>
              <a:rPr sz="1200" b="0" i="0">
                <a:solidFill>
                  <a:srgbClr val="2B2B2B"/>
                </a:solidFill>
                <a:latin typeface="Arial"/>
              </a:rPr>
              <a:t>• Cada fila empieza sola.</a:t>
            </a:r>
          </a:p>
          <a:p>
            <a:pPr algn="l">
              <a:spcAft>
                <a:spcPts val="600"/>
              </a:spcAft>
            </a:pPr>
            <a:r>
              <a:rPr sz="1200" b="0" i="0">
                <a:solidFill>
                  <a:srgbClr val="2B2B2B"/>
                </a:solidFill>
                <a:latin typeface="Arial"/>
              </a:rPr>
              <a:t>• Une, paso a paso, los grupos más parecidos.</a:t>
            </a:r>
          </a:p>
          <a:p>
            <a:pPr algn="l">
              <a:spcAft>
                <a:spcPts val="600"/>
              </a:spcAft>
            </a:pPr>
            <a:r>
              <a:rPr sz="1200" b="0" i="0">
                <a:solidFill>
                  <a:srgbClr val="2B2B2B"/>
                </a:solidFill>
                <a:latin typeface="Arial"/>
              </a:rPr>
              <a:t>• El árbol (dendrograma) muestra todas las uniones.</a:t>
            </a:r>
          </a:p>
          <a:p>
            <a:pPr algn="l">
              <a:spcAft>
                <a:spcPts val="600"/>
              </a:spcAft>
            </a:pPr>
            <a:r>
              <a:rPr sz="1200" b="0" i="0">
                <a:solidFill>
                  <a:srgbClr val="2B2B2B"/>
                </a:solidFill>
                <a:latin typeface="Arial"/>
              </a:rPr>
              <a:t>• k se elige al cortar el árbol.</a:t>
            </a:r>
          </a:p>
        </p:txBody>
      </p:sp>
      <p:sp>
        <p:nvSpPr>
          <p:cNvPr id="10" name="Rounded Rectangle 9"/>
          <p:cNvSpPr/>
          <p:nvPr/>
        </p:nvSpPr>
        <p:spPr>
          <a:xfrm>
            <a:off x="4846320" y="4343400"/>
            <a:ext cx="35204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resultado: un dendrograma</a:t>
            </a:r>
          </a:p>
        </p:txBody>
      </p:sp>
      <p:sp>
        <p:nvSpPr>
          <p:cNvPr id="11" name="Rounded Rectangle 10"/>
          <p:cNvSpPr/>
          <p:nvPr/>
        </p:nvSpPr>
        <p:spPr>
          <a:xfrm>
            <a:off x="731520" y="5166360"/>
            <a:ext cx="7772400" cy="6400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 común: </a:t>
            </a:r>
            <a:r>
              <a:rPr sz="1200" b="0" i="0">
                <a:solidFill>
                  <a:srgbClr val="2B2B2B"/>
                </a:solidFill>
                <a:latin typeface="Arial"/>
              </a:rPr>
              <a:t>ambos miden distancias entre filas; por eso limpiar, transformar y escalar es igual de importante en los dos.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El dataset</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Limpieza</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Logaritmo</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Escala</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3</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Conocer y preparar los datos</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Credit Card Dataset for Clustering: 8 950 clientes y 6 meses de comportamiento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El dataset: 8 950 clientes de tarjeta de crédito</a:t>
            </a:r>
          </a:p>
        </p:txBody>
      </p:sp>
      <p:graphicFrame>
        <p:nvGraphicFramePr>
          <p:cNvPr id="3" name="Table 2"/>
          <p:cNvGraphicFramePr>
            <a:graphicFrameLocks noGrp="1"/>
          </p:cNvGraphicFramePr>
          <p:nvPr/>
        </p:nvGraphicFramePr>
        <p:xfrm>
          <a:off x="731520" y="1920240"/>
          <a:ext cx="5120640" cy="3456432"/>
        </p:xfrm>
        <a:graphic>
          <a:graphicData uri="http://schemas.openxmlformats.org/drawingml/2006/table">
            <a:tbl>
              <a:tblPr firstRow="1" bandRow="1">
                <a:tableStyleId>{5C22544A-7EE6-4342-B048-85BDC9FD1C3A}</a:tableStyleId>
              </a:tblPr>
              <a:tblGrid>
                <a:gridCol w="2514600"/>
                <a:gridCol w="2606040"/>
              </a:tblGrid>
              <a:tr h="384048">
                <a:tc>
                  <a:txBody>
                    <a:bodyPr wrap="square"/>
                    <a:lstStyle/>
                    <a:p>
                      <a:pPr algn="l"/>
                      <a:r>
                        <a:rPr sz="1100" b="1" i="0">
                          <a:solidFill>
                            <a:srgbClr val="FFFFFF"/>
                          </a:solidFill>
                          <a:latin typeface="Arial"/>
                        </a:rPr>
                        <a:t>Variable</a:t>
                      </a:r>
                    </a:p>
                  </a:txBody>
                  <a:tcPr marL="64008" marR="64008" marT="27432" marB="27432" anchor="ctr">
                    <a:solidFill>
                      <a:srgbClr val="242852"/>
                    </a:solidFill>
                  </a:tcPr>
                </a:tc>
                <a:tc>
                  <a:txBody>
                    <a:bodyPr wrap="square"/>
                    <a:lstStyle/>
                    <a:p>
                      <a:pPr algn="ctr"/>
                      <a:r>
                        <a:rPr sz="1100" b="1" i="0">
                          <a:solidFill>
                            <a:srgbClr val="FFFFFF"/>
                          </a:solidFill>
                          <a:latin typeface="Arial"/>
                        </a:rPr>
                        <a:t>Qué mide</a:t>
                      </a:r>
                    </a:p>
                  </a:txBody>
                  <a:tcPr marL="64008" marR="64008" marT="27432" marB="27432" anchor="ctr">
                    <a:solidFill>
                      <a:srgbClr val="242852"/>
                    </a:solidFill>
                  </a:tcPr>
                </a:tc>
              </a:tr>
              <a:tr h="384048">
                <a:tc>
                  <a:txBody>
                    <a:bodyPr wrap="square"/>
                    <a:lstStyle/>
                    <a:p>
                      <a:pPr algn="l"/>
                      <a:r>
                        <a:rPr sz="1100" b="1" i="0">
                          <a:solidFill>
                            <a:srgbClr val="2B2B2B"/>
                          </a:solidFill>
                          <a:latin typeface="Arial"/>
                        </a:rPr>
                        <a:t>BALANCE</a:t>
                      </a:r>
                    </a:p>
                  </a:txBody>
                  <a:tcPr marL="64008" marR="64008" marT="27432" marB="27432" anchor="ctr">
                    <a:solidFill>
                      <a:srgbClr val="FFFFFF"/>
                    </a:solidFill>
                  </a:tcPr>
                </a:tc>
                <a:tc>
                  <a:txBody>
                    <a:bodyPr wrap="square"/>
                    <a:lstStyle/>
                    <a:p>
                      <a:pPr algn="ctr"/>
                      <a:r>
                        <a:rPr sz="1100" b="0" i="0">
                          <a:solidFill>
                            <a:srgbClr val="2B2B2B"/>
                          </a:solidFill>
                          <a:latin typeface="Arial"/>
                        </a:rPr>
                        <a:t>saldo adeudado</a:t>
                      </a:r>
                    </a:p>
                  </a:txBody>
                  <a:tcPr marL="64008" marR="64008" marT="27432" marB="27432" anchor="ctr">
                    <a:solidFill>
                      <a:srgbClr val="FFFFFF"/>
                    </a:solidFill>
                  </a:tcPr>
                </a:tc>
              </a:tr>
              <a:tr h="384048">
                <a:tc>
                  <a:txBody>
                    <a:bodyPr wrap="square"/>
                    <a:lstStyle/>
                    <a:p>
                      <a:pPr algn="l"/>
                      <a:r>
                        <a:rPr sz="1100" b="1" i="0">
                          <a:solidFill>
                            <a:srgbClr val="2B2B2B"/>
                          </a:solidFill>
                          <a:latin typeface="Arial"/>
                        </a:rPr>
                        <a:t>PURCHASES</a:t>
                      </a:r>
                    </a:p>
                  </a:txBody>
                  <a:tcPr marL="64008" marR="64008" marT="27432" marB="27432" anchor="ctr">
                    <a:solidFill>
                      <a:srgbClr val="F2F3F5"/>
                    </a:solidFill>
                  </a:tcPr>
                </a:tc>
                <a:tc>
                  <a:txBody>
                    <a:bodyPr wrap="square"/>
                    <a:lstStyle/>
                    <a:p>
                      <a:pPr algn="ctr"/>
                      <a:r>
                        <a:rPr sz="1100" b="0" i="0">
                          <a:solidFill>
                            <a:srgbClr val="2B2B2B"/>
                          </a:solidFill>
                          <a:latin typeface="Arial"/>
                        </a:rPr>
                        <a:t>compras totales en 6 meses</a:t>
                      </a:r>
                    </a:p>
                  </a:txBody>
                  <a:tcPr marL="64008" marR="64008" marT="27432" marB="27432" anchor="ctr">
                    <a:solidFill>
                      <a:srgbClr val="F2F3F5"/>
                    </a:solidFill>
                  </a:tcPr>
                </a:tc>
              </a:tr>
              <a:tr h="384048">
                <a:tc>
                  <a:txBody>
                    <a:bodyPr wrap="square"/>
                    <a:lstStyle/>
                    <a:p>
                      <a:pPr algn="l"/>
                      <a:r>
                        <a:rPr sz="1100" b="1" i="0">
                          <a:solidFill>
                            <a:srgbClr val="2B2B2B"/>
                          </a:solidFill>
                          <a:latin typeface="Arial"/>
                        </a:rPr>
                        <a:t>ONEOFF / INSTALLMENTS_PURCHASES</a:t>
                      </a:r>
                    </a:p>
                  </a:txBody>
                  <a:tcPr marL="64008" marR="64008" marT="27432" marB="27432" anchor="ctr">
                    <a:solidFill>
                      <a:srgbClr val="FFFFFF"/>
                    </a:solidFill>
                  </a:tcPr>
                </a:tc>
                <a:tc>
                  <a:txBody>
                    <a:bodyPr wrap="square"/>
                    <a:lstStyle/>
                    <a:p>
                      <a:pPr algn="ctr"/>
                      <a:r>
                        <a:rPr sz="1100" b="0" i="0">
                          <a:solidFill>
                            <a:srgbClr val="2B2B2B"/>
                          </a:solidFill>
                          <a:latin typeface="Arial"/>
                        </a:rPr>
                        <a:t>compras de un solo pago / en cuotas</a:t>
                      </a:r>
                    </a:p>
                  </a:txBody>
                  <a:tcPr marL="64008" marR="64008" marT="27432" marB="27432" anchor="ctr">
                    <a:solidFill>
                      <a:srgbClr val="FFFFFF"/>
                    </a:solidFill>
                  </a:tcPr>
                </a:tc>
              </a:tr>
              <a:tr h="384048">
                <a:tc>
                  <a:txBody>
                    <a:bodyPr wrap="square"/>
                    <a:lstStyle/>
                    <a:p>
                      <a:pPr algn="l"/>
                      <a:r>
                        <a:rPr sz="1100" b="1" i="0">
                          <a:solidFill>
                            <a:srgbClr val="2B2B2B"/>
                          </a:solidFill>
                          <a:latin typeface="Arial"/>
                        </a:rPr>
                        <a:t>CASH_ADVANCE</a:t>
                      </a:r>
                    </a:p>
                  </a:txBody>
                  <a:tcPr marL="64008" marR="64008" marT="27432" marB="27432" anchor="ctr">
                    <a:solidFill>
                      <a:srgbClr val="F2F3F5"/>
                    </a:solidFill>
                  </a:tcPr>
                </a:tc>
                <a:tc>
                  <a:txBody>
                    <a:bodyPr wrap="square"/>
                    <a:lstStyle/>
                    <a:p>
                      <a:pPr algn="ctr"/>
                      <a:r>
                        <a:rPr sz="1100" b="0" i="0">
                          <a:solidFill>
                            <a:srgbClr val="2B2B2B"/>
                          </a:solidFill>
                          <a:latin typeface="Arial"/>
                        </a:rPr>
                        <a:t>avances en efectivo con la tarjeta</a:t>
                      </a:r>
                    </a:p>
                  </a:txBody>
                  <a:tcPr marL="64008" marR="64008" marT="27432" marB="27432" anchor="ctr">
                    <a:solidFill>
                      <a:srgbClr val="F2F3F5"/>
                    </a:solidFill>
                  </a:tcPr>
                </a:tc>
              </a:tr>
              <a:tr h="384048">
                <a:tc>
                  <a:txBody>
                    <a:bodyPr wrap="square"/>
                    <a:lstStyle/>
                    <a:p>
                      <a:pPr algn="l"/>
                      <a:r>
                        <a:rPr sz="1100" b="1" i="0">
                          <a:solidFill>
                            <a:srgbClr val="2B2B2B"/>
                          </a:solidFill>
                          <a:latin typeface="Arial"/>
                        </a:rPr>
                        <a:t>PURCHASES_FREQUENCY</a:t>
                      </a:r>
                    </a:p>
                  </a:txBody>
                  <a:tcPr marL="64008" marR="64008" marT="27432" marB="27432" anchor="ctr">
                    <a:solidFill>
                      <a:srgbClr val="FFFFFF"/>
                    </a:solidFill>
                  </a:tcPr>
                </a:tc>
                <a:tc>
                  <a:txBody>
                    <a:bodyPr wrap="square"/>
                    <a:lstStyle/>
                    <a:p>
                      <a:pPr algn="ctr"/>
                      <a:r>
                        <a:rPr sz="1100" b="0" i="0">
                          <a:solidFill>
                            <a:srgbClr val="2B2B2B"/>
                          </a:solidFill>
                          <a:latin typeface="Arial"/>
                        </a:rPr>
                        <a:t>qué tan seguido compra (0 a 1)</a:t>
                      </a:r>
                    </a:p>
                  </a:txBody>
                  <a:tcPr marL="64008" marR="64008" marT="27432" marB="27432" anchor="ctr">
                    <a:solidFill>
                      <a:srgbClr val="FFFFFF"/>
                    </a:solidFill>
                  </a:tcPr>
                </a:tc>
              </a:tr>
              <a:tr h="384048">
                <a:tc>
                  <a:txBody>
                    <a:bodyPr wrap="square"/>
                    <a:lstStyle/>
                    <a:p>
                      <a:pPr algn="l"/>
                      <a:r>
                        <a:rPr sz="1100" b="1" i="0">
                          <a:solidFill>
                            <a:srgbClr val="2B2B2B"/>
                          </a:solidFill>
                          <a:latin typeface="Arial"/>
                        </a:rPr>
                        <a:t>CREDIT_LIMIT</a:t>
                      </a:r>
                    </a:p>
                  </a:txBody>
                  <a:tcPr marL="64008" marR="64008" marT="27432" marB="27432" anchor="ctr">
                    <a:solidFill>
                      <a:srgbClr val="F2F3F5"/>
                    </a:solidFill>
                  </a:tcPr>
                </a:tc>
                <a:tc>
                  <a:txBody>
                    <a:bodyPr wrap="square"/>
                    <a:lstStyle/>
                    <a:p>
                      <a:pPr algn="ctr"/>
                      <a:r>
                        <a:rPr sz="1100" b="0" i="0">
                          <a:solidFill>
                            <a:srgbClr val="2B2B2B"/>
                          </a:solidFill>
                          <a:latin typeface="Arial"/>
                        </a:rPr>
                        <a:t>límite de crédito</a:t>
                      </a:r>
                    </a:p>
                  </a:txBody>
                  <a:tcPr marL="64008" marR="64008" marT="27432" marB="27432" anchor="ctr">
                    <a:solidFill>
                      <a:srgbClr val="F2F3F5"/>
                    </a:solidFill>
                  </a:tcPr>
                </a:tc>
              </a:tr>
              <a:tr h="384048">
                <a:tc>
                  <a:txBody>
                    <a:bodyPr wrap="square"/>
                    <a:lstStyle/>
                    <a:p>
                      <a:pPr algn="l"/>
                      <a:r>
                        <a:rPr sz="1100" b="1" i="0">
                          <a:solidFill>
                            <a:srgbClr val="2B2B2B"/>
                          </a:solidFill>
                          <a:latin typeface="Arial"/>
                        </a:rPr>
                        <a:t>PAYMENTS</a:t>
                      </a:r>
                    </a:p>
                  </a:txBody>
                  <a:tcPr marL="64008" marR="64008" marT="27432" marB="27432" anchor="ctr">
                    <a:solidFill>
                      <a:srgbClr val="FFFFFF"/>
                    </a:solidFill>
                  </a:tcPr>
                </a:tc>
                <a:tc>
                  <a:txBody>
                    <a:bodyPr wrap="square"/>
                    <a:lstStyle/>
                    <a:p>
                      <a:pPr algn="ctr"/>
                      <a:r>
                        <a:rPr sz="1100" b="0" i="0">
                          <a:solidFill>
                            <a:srgbClr val="2B2B2B"/>
                          </a:solidFill>
                          <a:latin typeface="Arial"/>
                        </a:rPr>
                        <a:t>total pagado</a:t>
                      </a:r>
                    </a:p>
                  </a:txBody>
                  <a:tcPr marL="64008" marR="64008" marT="27432" marB="27432" anchor="ctr">
                    <a:solidFill>
                      <a:srgbClr val="FFFFFF"/>
                    </a:solidFill>
                  </a:tcPr>
                </a:tc>
              </a:tr>
              <a:tr h="384048">
                <a:tc>
                  <a:txBody>
                    <a:bodyPr wrap="square"/>
                    <a:lstStyle/>
                    <a:p>
                      <a:pPr algn="l"/>
                      <a:r>
                        <a:rPr sz="1100" b="1" i="0">
                          <a:solidFill>
                            <a:srgbClr val="2B2B2B"/>
                          </a:solidFill>
                          <a:latin typeface="Arial"/>
                        </a:rPr>
                        <a:t>PRC_FULL_PAYMENT</a:t>
                      </a:r>
                    </a:p>
                  </a:txBody>
                  <a:tcPr marL="64008" marR="64008" marT="27432" marB="27432" anchor="ctr">
                    <a:solidFill>
                      <a:srgbClr val="F2F3F5"/>
                    </a:solidFill>
                  </a:tcPr>
                </a:tc>
                <a:tc>
                  <a:txBody>
                    <a:bodyPr wrap="square"/>
                    <a:lstStyle/>
                    <a:p>
                      <a:pPr algn="ctr"/>
                      <a:r>
                        <a:rPr sz="1100" b="0" i="0">
                          <a:solidFill>
                            <a:srgbClr val="2B2B2B"/>
                          </a:solidFill>
                          <a:latin typeface="Arial"/>
                        </a:rPr>
                        <a:t>% de meses en que pagó el total</a:t>
                      </a:r>
                    </a:p>
                  </a:txBody>
                  <a:tcPr marL="64008" marR="64008" marT="27432" marB="27432" anchor="ctr">
                    <a:solidFill>
                      <a:srgbClr val="F2F3F5"/>
                    </a:solidFill>
                  </a:tcPr>
                </a:tc>
              </a:tr>
            </a:tbl>
          </a:graphicData>
        </a:graphic>
      </p:graphicFrame>
      <p:sp>
        <p:nvSpPr>
          <p:cNvPr id="4" name="Rounded Rectangle 3"/>
          <p:cNvSpPr/>
          <p:nvPr/>
        </p:nvSpPr>
        <p:spPr>
          <a:xfrm>
            <a:off x="6035040" y="1965960"/>
            <a:ext cx="2468880" cy="11430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Clientes</a:t>
            </a:r>
          </a:p>
          <a:p>
            <a:pPr algn="ctr">
              <a:spcAft>
                <a:spcPts val="300"/>
              </a:spcAft>
            </a:pPr>
            <a:r>
              <a:rPr sz="2200" b="1" i="0">
                <a:solidFill>
                  <a:srgbClr val="FFFFFF"/>
                </a:solidFill>
                <a:latin typeface="Arial"/>
              </a:rPr>
              <a:t>8 950</a:t>
            </a:r>
          </a:p>
        </p:txBody>
      </p:sp>
      <p:sp>
        <p:nvSpPr>
          <p:cNvPr id="5" name="Rounded Rectangle 4"/>
          <p:cNvSpPr/>
          <p:nvPr/>
        </p:nvSpPr>
        <p:spPr>
          <a:xfrm>
            <a:off x="6035040" y="3246120"/>
            <a:ext cx="246888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Variables</a:t>
            </a:r>
          </a:p>
          <a:p>
            <a:pPr algn="ctr">
              <a:spcAft>
                <a:spcPts val="300"/>
              </a:spcAft>
            </a:pPr>
            <a:r>
              <a:rPr sz="2200" b="1" i="0">
                <a:solidFill>
                  <a:srgbClr val="242852"/>
                </a:solidFill>
                <a:latin typeface="Arial"/>
              </a:rPr>
              <a:t>17 + ID</a:t>
            </a:r>
          </a:p>
        </p:txBody>
      </p:sp>
      <p:sp>
        <p:nvSpPr>
          <p:cNvPr id="6" name="Rounded Rectangle 5"/>
          <p:cNvSpPr/>
          <p:nvPr/>
        </p:nvSpPr>
        <p:spPr>
          <a:xfrm>
            <a:off x="6035040" y="4526280"/>
            <a:ext cx="2468880" cy="11430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Etiqueta de grupo</a:t>
            </a:r>
          </a:p>
          <a:p>
            <a:pPr algn="ctr">
              <a:spcAft>
                <a:spcPts val="300"/>
              </a:spcAft>
            </a:pPr>
            <a:r>
              <a:rPr sz="2200" b="1" i="0">
                <a:solidFill>
                  <a:srgbClr val="2A9D8F"/>
                </a:solidFill>
                <a:latin typeface="Arial"/>
              </a:rPr>
              <a:t>ninguna</a:t>
            </a:r>
          </a:p>
        </p:txBody>
      </p:sp>
      <p:sp>
        <p:nvSpPr>
          <p:cNvPr id="7" name="Rounded Rectangle 6"/>
          <p:cNvSpPr/>
          <p:nvPr/>
        </p:nvSpPr>
        <p:spPr>
          <a:xfrm>
            <a:off x="731520" y="5577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Una fila = un cliente. </a:t>
            </a:r>
            <a:r>
              <a:rPr sz="1200" b="0" i="0">
                <a:solidFill>
                  <a:srgbClr val="2B2B2B"/>
                </a:solidFill>
                <a:latin typeface="Arial"/>
              </a:rPr>
              <a:t>Usaremos 9 de las 17 variables: las que describen cómo se usa la tarjeta.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Limpieza: decisiones declaradas</a:t>
            </a:r>
          </a:p>
        </p:txBody>
      </p:sp>
      <p:graphicFrame>
        <p:nvGraphicFramePr>
          <p:cNvPr id="3" name="Table 2"/>
          <p:cNvGraphicFramePr>
            <a:graphicFrameLocks noGrp="1"/>
          </p:cNvGraphicFramePr>
          <p:nvPr/>
        </p:nvGraphicFramePr>
        <p:xfrm>
          <a:off x="731520" y="2011680"/>
          <a:ext cx="7772400" cy="2514600"/>
        </p:xfrm>
        <a:graphic>
          <a:graphicData uri="http://schemas.openxmlformats.org/drawingml/2006/table">
            <a:tbl>
              <a:tblPr firstRow="1" bandRow="1">
                <a:tableStyleId>{5C22544A-7EE6-4342-B048-85BDC9FD1C3A}</a:tableStyleId>
              </a:tblPr>
              <a:tblGrid>
                <a:gridCol w="2286000"/>
                <a:gridCol w="1280160"/>
                <a:gridCol w="1737360"/>
                <a:gridCol w="2468880"/>
              </a:tblGrid>
              <a:tr h="502920">
                <a:tc>
                  <a:txBody>
                    <a:bodyPr wrap="square"/>
                    <a:lstStyle/>
                    <a:p>
                      <a:pPr algn="l"/>
                      <a:r>
                        <a:rPr sz="1200" b="1" i="0">
                          <a:solidFill>
                            <a:srgbClr val="FFFFFF"/>
                          </a:solidFill>
                          <a:latin typeface="Arial"/>
                        </a:rPr>
                        <a:t>Problema</a:t>
                      </a:r>
                    </a:p>
                  </a:txBody>
                  <a:tcPr marL="64008" marR="64008" marT="27432" marB="27432" anchor="ctr">
                    <a:solidFill>
                      <a:srgbClr val="242852"/>
                    </a:solidFill>
                  </a:tcPr>
                </a:tc>
                <a:tc>
                  <a:txBody>
                    <a:bodyPr wrap="square"/>
                    <a:lstStyle/>
                    <a:p>
                      <a:pPr algn="ctr"/>
                      <a:r>
                        <a:rPr sz="1200" b="1" i="0">
                          <a:solidFill>
                            <a:srgbClr val="FFFFFF"/>
                          </a:solidFill>
                          <a:latin typeface="Arial"/>
                        </a:rPr>
                        <a:t>Filas afectadas</a:t>
                      </a:r>
                    </a:p>
                  </a:txBody>
                  <a:tcPr marL="64008" marR="64008" marT="27432" marB="27432" anchor="ctr">
                    <a:solidFill>
                      <a:srgbClr val="242852"/>
                    </a:solidFill>
                  </a:tcPr>
                </a:tc>
                <a:tc>
                  <a:txBody>
                    <a:bodyPr wrap="square"/>
                    <a:lstStyle/>
                    <a:p>
                      <a:pPr algn="ctr"/>
                      <a:r>
                        <a:rPr sz="1200" b="1" i="0">
                          <a:solidFill>
                            <a:srgbClr val="FFFFFF"/>
                          </a:solidFill>
                          <a:latin typeface="Arial"/>
                        </a:rPr>
                        <a:t>Decisión</a:t>
                      </a:r>
                    </a:p>
                  </a:txBody>
                  <a:tcPr marL="64008" marR="64008" marT="27432" marB="27432" anchor="ctr">
                    <a:solidFill>
                      <a:srgbClr val="242852"/>
                    </a:solidFill>
                  </a:tcPr>
                </a:tc>
                <a:tc>
                  <a:txBody>
                    <a:bodyPr wrap="square"/>
                    <a:lstStyle/>
                    <a:p>
                      <a:pPr algn="ctr"/>
                      <a:r>
                        <a:rPr sz="1200" b="1" i="0">
                          <a:solidFill>
                            <a:srgbClr val="FFFFFF"/>
                          </a:solidFill>
                          <a:latin typeface="Arial"/>
                        </a:rPr>
                        <a:t>Por qué</a:t>
                      </a:r>
                    </a:p>
                  </a:txBody>
                  <a:tcPr marL="64008" marR="64008" marT="27432" marB="27432" anchor="ctr">
                    <a:solidFill>
                      <a:srgbClr val="242852"/>
                    </a:solidFill>
                  </a:tcPr>
                </a:tc>
              </a:tr>
              <a:tr h="502920">
                <a:tc>
                  <a:txBody>
                    <a:bodyPr wrap="square"/>
                    <a:lstStyle/>
                    <a:p>
                      <a:pPr algn="l"/>
                      <a:r>
                        <a:rPr sz="1200" b="1" i="0">
                          <a:solidFill>
                            <a:srgbClr val="2B2B2B"/>
                          </a:solidFill>
                          <a:latin typeface="Arial"/>
                        </a:rPr>
                        <a:t>CUST_ID</a:t>
                      </a:r>
                    </a:p>
                  </a:txBody>
                  <a:tcPr marL="64008" marR="64008" marT="27432" marB="27432" anchor="ctr">
                    <a:solidFill>
                      <a:srgbClr val="FFFFFF"/>
                    </a:solidFill>
                  </a:tcPr>
                </a:tc>
                <a:tc>
                  <a:txBody>
                    <a:bodyPr wrap="square"/>
                    <a:lstStyle/>
                    <a:p>
                      <a:pPr algn="ctr"/>
                      <a:r>
                        <a:rPr sz="1200" b="0" i="0">
                          <a:solidFill>
                            <a:srgbClr val="2B2B2B"/>
                          </a:solidFill>
                          <a:latin typeface="Arial"/>
                        </a:rPr>
                        <a:t>todas</a:t>
                      </a:r>
                    </a:p>
                  </a:txBody>
                  <a:tcPr marL="64008" marR="64008" marT="27432" marB="27432" anchor="ctr">
                    <a:solidFill>
                      <a:srgbClr val="FFFFFF"/>
                    </a:solidFill>
                  </a:tcPr>
                </a:tc>
                <a:tc>
                  <a:txBody>
                    <a:bodyPr wrap="square"/>
                    <a:lstStyle/>
                    <a:p>
                      <a:pPr algn="ctr"/>
                      <a:r>
                        <a:rPr sz="1200" b="0" i="0">
                          <a:solidFill>
                            <a:srgbClr val="2B2B2B"/>
                          </a:solidFill>
                          <a:latin typeface="Arial"/>
                        </a:rPr>
                        <a:t>fuera</a:t>
                      </a:r>
                    </a:p>
                  </a:txBody>
                  <a:tcPr marL="64008" marR="64008" marT="27432" marB="27432" anchor="ctr">
                    <a:solidFill>
                      <a:srgbClr val="FFFFFF"/>
                    </a:solidFill>
                  </a:tcPr>
                </a:tc>
                <a:tc>
                  <a:txBody>
                    <a:bodyPr wrap="square"/>
                    <a:lstStyle/>
                    <a:p>
                      <a:pPr algn="ctr"/>
                      <a:r>
                        <a:rPr sz="1200" b="0" i="0">
                          <a:solidFill>
                            <a:srgbClr val="2B2B2B"/>
                          </a:solidFill>
                          <a:latin typeface="Arial"/>
                        </a:rPr>
                        <a:t>es un identificador</a:t>
                      </a:r>
                    </a:p>
                  </a:txBody>
                  <a:tcPr marL="64008" marR="64008" marT="27432" marB="27432" anchor="ctr">
                    <a:solidFill>
                      <a:srgbClr val="FFFFFF"/>
                    </a:solidFill>
                  </a:tcPr>
                </a:tc>
              </a:tr>
              <a:tr h="502920">
                <a:tc>
                  <a:txBody>
                    <a:bodyPr wrap="square"/>
                    <a:lstStyle/>
                    <a:p>
                      <a:pPr algn="l"/>
                      <a:r>
                        <a:rPr sz="1200" b="1" i="0">
                          <a:solidFill>
                            <a:srgbClr val="2B2B2B"/>
                          </a:solidFill>
                          <a:latin typeface="Arial"/>
                        </a:rPr>
                        <a:t>CREDIT_LIMIT faltante</a:t>
                      </a:r>
                    </a:p>
                  </a:txBody>
                  <a:tcPr marL="64008" marR="64008" marT="27432" marB="27432" anchor="ctr">
                    <a:solidFill>
                      <a:srgbClr val="F2F3F5"/>
                    </a:solidFill>
                  </a:tcPr>
                </a:tc>
                <a:tc>
                  <a:txBody>
                    <a:bodyPr wrap="square"/>
                    <a:lstStyle/>
                    <a:p>
                      <a:pPr algn="ctr"/>
                      <a:r>
                        <a:rPr sz="1200" b="0" i="0">
                          <a:solidFill>
                            <a:srgbClr val="2B2B2B"/>
                          </a:solidFill>
                          <a:latin typeface="Arial"/>
                        </a:rPr>
                        <a:t>1</a:t>
                      </a:r>
                    </a:p>
                  </a:txBody>
                  <a:tcPr marL="64008" marR="64008" marT="27432" marB="27432" anchor="ctr">
                    <a:solidFill>
                      <a:srgbClr val="F2F3F5"/>
                    </a:solidFill>
                  </a:tcPr>
                </a:tc>
                <a:tc>
                  <a:txBody>
                    <a:bodyPr wrap="square"/>
                    <a:lstStyle/>
                    <a:p>
                      <a:pPr algn="ctr"/>
                      <a:r>
                        <a:rPr sz="1200" b="0" i="0">
                          <a:solidFill>
                            <a:srgbClr val="2B2B2B"/>
                          </a:solidFill>
                          <a:latin typeface="Arial"/>
                        </a:rPr>
                        <a:t>eliminar la fila</a:t>
                      </a:r>
                    </a:p>
                  </a:txBody>
                  <a:tcPr marL="64008" marR="64008" marT="27432" marB="27432" anchor="ctr">
                    <a:solidFill>
                      <a:srgbClr val="F2F3F5"/>
                    </a:solidFill>
                  </a:tcPr>
                </a:tc>
                <a:tc>
                  <a:txBody>
                    <a:bodyPr wrap="square"/>
                    <a:lstStyle/>
                    <a:p>
                      <a:pPr algn="ctr"/>
                      <a:r>
                        <a:rPr sz="1200" b="0" i="0">
                          <a:solidFill>
                            <a:srgbClr val="2B2B2B"/>
                          </a:solidFill>
                          <a:latin typeface="Arial"/>
                        </a:rPr>
                        <a:t>es un solo cliente</a:t>
                      </a:r>
                    </a:p>
                  </a:txBody>
                  <a:tcPr marL="64008" marR="64008" marT="27432" marB="27432" anchor="ctr">
                    <a:solidFill>
                      <a:srgbClr val="F2F3F5"/>
                    </a:solidFill>
                  </a:tcPr>
                </a:tc>
              </a:tr>
              <a:tr h="502920">
                <a:tc>
                  <a:txBody>
                    <a:bodyPr wrap="square"/>
                    <a:lstStyle/>
                    <a:p>
                      <a:pPr algn="l"/>
                      <a:r>
                        <a:rPr sz="1200" b="1" i="0">
                          <a:solidFill>
                            <a:srgbClr val="2B2B2B"/>
                          </a:solidFill>
                          <a:latin typeface="Arial"/>
                        </a:rPr>
                        <a:t>MINIMUM_PAYMENTS faltante</a:t>
                      </a:r>
                    </a:p>
                  </a:txBody>
                  <a:tcPr marL="64008" marR="64008" marT="27432" marB="27432" anchor="ctr">
                    <a:solidFill>
                      <a:srgbClr val="FFFFFF"/>
                    </a:solidFill>
                  </a:tcPr>
                </a:tc>
                <a:tc>
                  <a:txBody>
                    <a:bodyPr wrap="square"/>
                    <a:lstStyle/>
                    <a:p>
                      <a:pPr algn="ctr"/>
                      <a:r>
                        <a:rPr sz="1200" b="0" i="0">
                          <a:solidFill>
                            <a:srgbClr val="2B2B2B"/>
                          </a:solidFill>
                          <a:latin typeface="Arial"/>
                        </a:rPr>
                        <a:t>313</a:t>
                      </a:r>
                    </a:p>
                  </a:txBody>
                  <a:tcPr marL="64008" marR="64008" marT="27432" marB="27432" anchor="ctr">
                    <a:solidFill>
                      <a:srgbClr val="FFFFFF"/>
                    </a:solidFill>
                  </a:tcPr>
                </a:tc>
                <a:tc>
                  <a:txBody>
                    <a:bodyPr wrap="square"/>
                    <a:lstStyle/>
                    <a:p>
                      <a:pPr algn="ctr"/>
                      <a:r>
                        <a:rPr sz="1200" b="0" i="0">
                          <a:solidFill>
                            <a:srgbClr val="2B2B2B"/>
                          </a:solidFill>
                          <a:latin typeface="Arial"/>
                        </a:rPr>
                        <a:t>imputar la mediana</a:t>
                      </a:r>
                    </a:p>
                  </a:txBody>
                  <a:tcPr marL="64008" marR="64008" marT="27432" marB="27432" anchor="ctr">
                    <a:solidFill>
                      <a:srgbClr val="FFFFFF"/>
                    </a:solidFill>
                  </a:tcPr>
                </a:tc>
                <a:tc>
                  <a:txBody>
                    <a:bodyPr wrap="square"/>
                    <a:lstStyle/>
                    <a:p>
                      <a:pPr algn="ctr"/>
                      <a:r>
                        <a:rPr sz="1200" b="0" i="0">
                          <a:solidFill>
                            <a:srgbClr val="2B2B2B"/>
                          </a:solidFill>
                          <a:latin typeface="Arial"/>
                        </a:rPr>
                        <a:t>eliminar perdería el 3,5 %</a:t>
                      </a:r>
                    </a:p>
                  </a:txBody>
                  <a:tcPr marL="64008" marR="64008" marT="27432" marB="27432" anchor="ctr">
                    <a:solidFill>
                      <a:srgbClr val="FFFFFF"/>
                    </a:solidFill>
                  </a:tcPr>
                </a:tc>
              </a:tr>
              <a:tr h="502920">
                <a:tc>
                  <a:txBody>
                    <a:bodyPr wrap="square"/>
                    <a:lstStyle/>
                    <a:p>
                      <a:pPr algn="l"/>
                      <a:r>
                        <a:rPr sz="1200" b="1" i="0">
                          <a:solidFill>
                            <a:srgbClr val="2B2B2B"/>
                          </a:solidFill>
                          <a:latin typeface="Arial"/>
                        </a:rPr>
                        <a:t>Variables que repiten información</a:t>
                      </a:r>
                    </a:p>
                  </a:txBody>
                  <a:tcPr marL="64008" marR="64008" marT="27432" marB="27432" anchor="ctr">
                    <a:solidFill>
                      <a:srgbClr val="F2F3F5"/>
                    </a:solidFill>
                  </a:tcPr>
                </a:tc>
                <a:tc>
                  <a:txBody>
                    <a:bodyPr wrap="square"/>
                    <a:lstStyle/>
                    <a:p>
                      <a:pPr algn="ctr"/>
                      <a:r>
                        <a:rPr sz="1200" b="0" i="0">
                          <a:solidFill>
                            <a:srgbClr val="2B2B2B"/>
                          </a:solidFill>
                          <a:latin typeface="Arial"/>
                        </a:rPr>
                        <a:t>—</a:t>
                      </a:r>
                    </a:p>
                  </a:txBody>
                  <a:tcPr marL="64008" marR="64008" marT="27432" marB="27432" anchor="ctr">
                    <a:solidFill>
                      <a:srgbClr val="F2F3F5"/>
                    </a:solidFill>
                  </a:tcPr>
                </a:tc>
                <a:tc>
                  <a:txBody>
                    <a:bodyPr wrap="square"/>
                    <a:lstStyle/>
                    <a:p>
                      <a:pPr algn="ctr"/>
                      <a:r>
                        <a:rPr sz="1200" b="0" i="0">
                          <a:solidFill>
                            <a:srgbClr val="2B2B2B"/>
                          </a:solidFill>
                          <a:latin typeface="Arial"/>
                        </a:rPr>
                        <a:t>elegir 9 de 17</a:t>
                      </a:r>
                    </a:p>
                  </a:txBody>
                  <a:tcPr marL="64008" marR="64008" marT="27432" marB="27432" anchor="ctr">
                    <a:solidFill>
                      <a:srgbClr val="F2F3F5"/>
                    </a:solidFill>
                  </a:tcPr>
                </a:tc>
                <a:tc>
                  <a:txBody>
                    <a:bodyPr wrap="square"/>
                    <a:lstStyle/>
                    <a:p>
                      <a:pPr algn="ctr"/>
                      <a:r>
                        <a:rPr sz="1200" b="0" i="0">
                          <a:solidFill>
                            <a:srgbClr val="2B2B2B"/>
                          </a:solidFill>
                          <a:latin typeface="Arial"/>
                        </a:rPr>
                        <a:t>frecuencia y número de compras miden casi lo mismo</a:t>
                      </a:r>
                    </a:p>
                  </a:txBody>
                  <a:tcPr marL="64008" marR="64008" marT="27432" marB="27432" anchor="ctr">
                    <a:solidFill>
                      <a:srgbClr val="F2F3F5"/>
                    </a:solidFill>
                  </a:tcPr>
                </a:tc>
              </a:tr>
            </a:tbl>
          </a:graphicData>
        </a:graphic>
      </p:graphicFrame>
      <p:sp>
        <p:nvSpPr>
          <p:cNvPr id="4" name="Rounded Rectangle 3"/>
          <p:cNvSpPr/>
          <p:nvPr/>
        </p:nvSpPr>
        <p:spPr>
          <a:xfrm>
            <a:off x="731520" y="4709160"/>
            <a:ext cx="3794760" cy="10058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Clientes después de limpiar</a:t>
            </a:r>
          </a:p>
          <a:p>
            <a:pPr algn="ctr">
              <a:spcAft>
                <a:spcPts val="300"/>
              </a:spcAft>
            </a:pPr>
            <a:r>
              <a:rPr sz="2000" b="1" i="0">
                <a:solidFill>
                  <a:srgbClr val="FFFFFF"/>
                </a:solidFill>
                <a:latin typeface="Arial"/>
              </a:rPr>
              <a:t>8 949</a:t>
            </a:r>
          </a:p>
        </p:txBody>
      </p:sp>
      <p:sp>
        <p:nvSpPr>
          <p:cNvPr id="5" name="Rounded Rectangle 4"/>
          <p:cNvSpPr/>
          <p:nvPr/>
        </p:nvSpPr>
        <p:spPr>
          <a:xfrm>
            <a:off x="4709160" y="4709160"/>
            <a:ext cx="3794760" cy="10058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Igual en el proyecto final:</a:t>
            </a:r>
          </a:p>
          <a:p>
            <a:pPr algn="ctr">
              <a:spcAft>
                <a:spcPts val="300"/>
              </a:spcAft>
            </a:pPr>
            <a:r>
              <a:rPr sz="1150" b="0" i="0">
                <a:solidFill>
                  <a:srgbClr val="2B2B2B"/>
                </a:solidFill>
                <a:latin typeface="Arial"/>
              </a:rPr>
              <a:t>problema, filas afectadas, decisión y motivo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Montos muy asimétricos: el logaritmo</a:t>
            </a:r>
          </a:p>
        </p:txBody>
      </p:sp>
      <p:pic>
        <p:nvPicPr>
          <p:cNvPr id="3" name="Picture 2" descr="hist_log.png"/>
          <p:cNvPicPr>
            <a:picLocks noChangeAspect="1"/>
          </p:cNvPicPr>
          <p:nvPr/>
        </p:nvPicPr>
        <p:blipFill>
          <a:blip r:embed="rId3"/>
          <a:stretch>
            <a:fillRect/>
          </a:stretch>
        </p:blipFill>
        <p:spPr>
          <a:xfrm>
            <a:off x="731520" y="1921509"/>
            <a:ext cx="7772400" cy="2740661"/>
          </a:xfrm>
          <a:prstGeom prst="rect">
            <a:avLst/>
          </a:prstGeom>
        </p:spPr>
      </p:pic>
      <p:sp>
        <p:nvSpPr>
          <p:cNvPr id="4" name="Rounded Rectangle 3"/>
          <p:cNvSpPr/>
          <p:nvPr/>
        </p:nvSpPr>
        <p:spPr>
          <a:xfrm>
            <a:off x="731520" y="4846320"/>
            <a:ext cx="2487168" cy="9144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Compras: promedio / mediana</a:t>
            </a:r>
          </a:p>
          <a:p>
            <a:pPr algn="ctr">
              <a:spcAft>
                <a:spcPts val="300"/>
              </a:spcAft>
            </a:pPr>
            <a:r>
              <a:rPr sz="1900" b="1" i="0">
                <a:solidFill>
                  <a:srgbClr val="242852"/>
                </a:solidFill>
                <a:latin typeface="Arial"/>
              </a:rPr>
              <a:t>1 003 / 361</a:t>
            </a:r>
          </a:p>
        </p:txBody>
      </p:sp>
      <p:sp>
        <p:nvSpPr>
          <p:cNvPr id="5" name="Rounded Rectangle 4"/>
          <p:cNvSpPr/>
          <p:nvPr/>
        </p:nvSpPr>
        <p:spPr>
          <a:xfrm>
            <a:off x="3355848" y="4846320"/>
            <a:ext cx="2487168" cy="9144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Clientes sin compras</a:t>
            </a:r>
          </a:p>
          <a:p>
            <a:pPr algn="ctr">
              <a:spcAft>
                <a:spcPts val="300"/>
              </a:spcAft>
            </a:pPr>
            <a:r>
              <a:rPr sz="1900" b="1" i="0">
                <a:solidFill>
                  <a:srgbClr val="D7263D"/>
                </a:solidFill>
                <a:latin typeface="Arial"/>
              </a:rPr>
              <a:t>22,8 %</a:t>
            </a:r>
          </a:p>
        </p:txBody>
      </p:sp>
      <p:sp>
        <p:nvSpPr>
          <p:cNvPr id="6" name="Rounded Rectangle 5"/>
          <p:cNvSpPr/>
          <p:nvPr/>
        </p:nvSpPr>
        <p:spPr>
          <a:xfrm>
            <a:off x="5980176" y="4846320"/>
            <a:ext cx="2487168" cy="9144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Clientes sin avances</a:t>
            </a:r>
          </a:p>
          <a:p>
            <a:pPr algn="ctr">
              <a:spcAft>
                <a:spcPts val="300"/>
              </a:spcAft>
            </a:pPr>
            <a:r>
              <a:rPr sz="1900" b="1" i="0">
                <a:solidFill>
                  <a:srgbClr val="2A9D8F"/>
                </a:solidFill>
                <a:latin typeface="Arial"/>
              </a:rPr>
              <a:t>51,7 %</a:t>
            </a:r>
          </a:p>
        </p:txBody>
      </p:sp>
      <p:sp>
        <p:nvSpPr>
          <p:cNvPr id="7" name="Rounded Rectangle 6"/>
          <p:cNvSpPr/>
          <p:nvPr/>
        </p:nvSpPr>
        <p:spPr>
          <a:xfrm>
            <a:off x="731520" y="589788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log(1 + x): </a:t>
            </a:r>
            <a:r>
              <a:rPr sz="1200" b="0" i="0">
                <a:solidFill>
                  <a:srgbClr val="2B2B2B"/>
                </a:solidFill>
                <a:latin typeface="Arial"/>
              </a:rPr>
              <a:t>pasar de 100 a 1 000 USD pesa parecido a pasar de 1 000 a 10 000: importa la proporción.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Escalar antes de medir distancias</a:t>
            </a:r>
          </a:p>
        </p:txBody>
      </p:sp>
      <p:graphicFrame>
        <p:nvGraphicFramePr>
          <p:cNvPr id="3" name="Table 2"/>
          <p:cNvGraphicFramePr>
            <a:graphicFrameLocks noGrp="1"/>
          </p:cNvGraphicFramePr>
          <p:nvPr/>
        </p:nvGraphicFramePr>
        <p:xfrm>
          <a:off x="731520" y="2011680"/>
          <a:ext cx="7772400" cy="1901952"/>
        </p:xfrm>
        <a:graphic>
          <a:graphicData uri="http://schemas.openxmlformats.org/drawingml/2006/table">
            <a:tbl>
              <a:tblPr firstRow="1" bandRow="1">
                <a:tableStyleId>{5C22544A-7EE6-4342-B048-85BDC9FD1C3A}</a:tableStyleId>
              </a:tblPr>
              <a:tblGrid>
                <a:gridCol w="2286000"/>
                <a:gridCol w="1280160"/>
                <a:gridCol w="1280160"/>
                <a:gridCol w="1463040"/>
                <a:gridCol w="1463040"/>
              </a:tblGrid>
              <a:tr h="475488">
                <a:tc>
                  <a:txBody>
                    <a:bodyPr wrap="square"/>
                    <a:lstStyle/>
                    <a:p>
                      <a:pPr algn="l"/>
                      <a:r>
                        <a:rPr sz="1250" b="1" i="0">
                          <a:solidFill>
                            <a:srgbClr val="FFFFFF"/>
                          </a:solidFill>
                          <a:latin typeface="Arial"/>
                        </a:rPr>
                        <a:t/>
                      </a:r>
                    </a:p>
                  </a:txBody>
                  <a:tcPr marL="64008" marR="64008" marT="27432" marB="27432" anchor="ctr">
                    <a:solidFill>
                      <a:srgbClr val="242852"/>
                    </a:solidFill>
                  </a:tcPr>
                </a:tc>
                <a:tc>
                  <a:txBody>
                    <a:bodyPr wrap="square"/>
                    <a:lstStyle/>
                    <a:p>
                      <a:pPr algn="ctr"/>
                      <a:r>
                        <a:rPr sz="1250" b="1" i="0">
                          <a:solidFill>
                            <a:srgbClr val="FFFFFF"/>
                          </a:solidFill>
                          <a:latin typeface="Arial"/>
                        </a:rPr>
                        <a:t>Cliente A</a:t>
                      </a:r>
                    </a:p>
                  </a:txBody>
                  <a:tcPr marL="64008" marR="64008" marT="27432" marB="27432" anchor="ctr">
                    <a:solidFill>
                      <a:srgbClr val="242852"/>
                    </a:solidFill>
                  </a:tcPr>
                </a:tc>
                <a:tc>
                  <a:txBody>
                    <a:bodyPr wrap="square"/>
                    <a:lstStyle/>
                    <a:p>
                      <a:pPr algn="ctr"/>
                      <a:r>
                        <a:rPr sz="1250" b="1" i="0">
                          <a:solidFill>
                            <a:srgbClr val="FFFFFF"/>
                          </a:solidFill>
                          <a:latin typeface="Arial"/>
                        </a:rPr>
                        <a:t>Cliente B</a:t>
                      </a:r>
                    </a:p>
                  </a:txBody>
                  <a:tcPr marL="64008" marR="64008" marT="27432" marB="27432" anchor="ctr">
                    <a:solidFill>
                      <a:srgbClr val="242852"/>
                    </a:solidFill>
                  </a:tcPr>
                </a:tc>
                <a:tc>
                  <a:txBody>
                    <a:bodyPr wrap="square"/>
                    <a:lstStyle/>
                    <a:p>
                      <a:pPr algn="ctr"/>
                      <a:r>
                        <a:rPr sz="1250" b="1" i="0">
                          <a:solidFill>
                            <a:srgbClr val="FFFFFF"/>
                          </a:solidFill>
                          <a:latin typeface="Arial"/>
                        </a:rPr>
                        <a:t>Diferencia cruda</a:t>
                      </a:r>
                    </a:p>
                  </a:txBody>
                  <a:tcPr marL="64008" marR="64008" marT="27432" marB="27432" anchor="ctr">
                    <a:solidFill>
                      <a:srgbClr val="242852"/>
                    </a:solidFill>
                  </a:tcPr>
                </a:tc>
                <a:tc>
                  <a:txBody>
                    <a:bodyPr wrap="square"/>
                    <a:lstStyle/>
                    <a:p>
                      <a:pPr algn="ctr"/>
                      <a:r>
                        <a:rPr sz="1250" b="1" i="0">
                          <a:solidFill>
                            <a:srgbClr val="FFFFFF"/>
                          </a:solidFill>
                          <a:latin typeface="Arial"/>
                        </a:rPr>
                        <a:t>En desviaciones</a:t>
                      </a:r>
                    </a:p>
                  </a:txBody>
                  <a:tcPr marL="64008" marR="64008" marT="27432" marB="27432" anchor="ctr">
                    <a:solidFill>
                      <a:srgbClr val="242852"/>
                    </a:solidFill>
                  </a:tcPr>
                </a:tc>
              </a:tr>
              <a:tr h="475488">
                <a:tc>
                  <a:txBody>
                    <a:bodyPr wrap="square"/>
                    <a:lstStyle/>
                    <a:p>
                      <a:pPr algn="l"/>
                      <a:r>
                        <a:rPr sz="1250" b="1" i="0">
                          <a:solidFill>
                            <a:srgbClr val="2B2B2B"/>
                          </a:solidFill>
                          <a:latin typeface="Arial"/>
                        </a:rPr>
                        <a:t>Compras (USD)</a:t>
                      </a:r>
                    </a:p>
                  </a:txBody>
                  <a:tcPr marL="64008" marR="64008" marT="27432" marB="27432" anchor="ctr">
                    <a:solidFill>
                      <a:srgbClr val="FFFFFF"/>
                    </a:solidFill>
                  </a:tcPr>
                </a:tc>
                <a:tc>
                  <a:txBody>
                    <a:bodyPr wrap="square"/>
                    <a:lstStyle/>
                    <a:p>
                      <a:pPr algn="ctr"/>
                      <a:r>
                        <a:rPr sz="1250" b="0" i="0">
                          <a:solidFill>
                            <a:srgbClr val="2B2B2B"/>
                          </a:solidFill>
                          <a:latin typeface="Arial"/>
                        </a:rPr>
                        <a:t>1 000</a:t>
                      </a:r>
                    </a:p>
                  </a:txBody>
                  <a:tcPr marL="64008" marR="64008" marT="27432" marB="27432" anchor="ctr">
                    <a:solidFill>
                      <a:srgbClr val="FFFFFF"/>
                    </a:solidFill>
                  </a:tcPr>
                </a:tc>
                <a:tc>
                  <a:txBody>
                    <a:bodyPr wrap="square"/>
                    <a:lstStyle/>
                    <a:p>
                      <a:pPr algn="ctr"/>
                      <a:r>
                        <a:rPr sz="1250" b="0" i="0">
                          <a:solidFill>
                            <a:srgbClr val="2B2B2B"/>
                          </a:solidFill>
                          <a:latin typeface="Arial"/>
                        </a:rPr>
                        <a:t>1 100</a:t>
                      </a:r>
                    </a:p>
                  </a:txBody>
                  <a:tcPr marL="64008" marR="64008" marT="27432" marB="27432" anchor="ctr">
                    <a:solidFill>
                      <a:srgbClr val="FFFFFF"/>
                    </a:solidFill>
                  </a:tcPr>
                </a:tc>
                <a:tc>
                  <a:txBody>
                    <a:bodyPr wrap="square"/>
                    <a:lstStyle/>
                    <a:p>
                      <a:pPr algn="ctr"/>
                      <a:r>
                        <a:rPr sz="1250" b="0" i="0">
                          <a:solidFill>
                            <a:srgbClr val="2B2B2B"/>
                          </a:solidFill>
                          <a:latin typeface="Arial"/>
                        </a:rPr>
                        <a:t>100</a:t>
                      </a:r>
                    </a:p>
                  </a:txBody>
                  <a:tcPr marL="64008" marR="64008" marT="27432" marB="27432" anchor="ctr">
                    <a:solidFill>
                      <a:srgbClr val="FFFFFF"/>
                    </a:solidFill>
                  </a:tcPr>
                </a:tc>
                <a:tc>
                  <a:txBody>
                    <a:bodyPr wrap="square"/>
                    <a:lstStyle/>
                    <a:p>
                      <a:pPr algn="ctr"/>
                      <a:r>
                        <a:rPr sz="1250" b="0" i="0">
                          <a:solidFill>
                            <a:srgbClr val="2B2B2B"/>
                          </a:solidFill>
                          <a:latin typeface="Arial"/>
                        </a:rPr>
                        <a:t>0,05</a:t>
                      </a:r>
                    </a:p>
                  </a:txBody>
                  <a:tcPr marL="64008" marR="64008" marT="27432" marB="27432" anchor="ctr">
                    <a:solidFill>
                      <a:srgbClr val="FFFFFF"/>
                    </a:solidFill>
                  </a:tcPr>
                </a:tc>
              </a:tr>
              <a:tr h="475488">
                <a:tc>
                  <a:txBody>
                    <a:bodyPr wrap="square"/>
                    <a:lstStyle/>
                    <a:p>
                      <a:pPr algn="l"/>
                      <a:r>
                        <a:rPr sz="1250" b="1" i="0">
                          <a:solidFill>
                            <a:srgbClr val="2B2B2B"/>
                          </a:solidFill>
                          <a:latin typeface="Arial"/>
                        </a:rPr>
                        <a:t>Límite de crédito (USD)</a:t>
                      </a:r>
                    </a:p>
                  </a:txBody>
                  <a:tcPr marL="64008" marR="64008" marT="27432" marB="27432" anchor="ctr">
                    <a:solidFill>
                      <a:srgbClr val="F2F3F5"/>
                    </a:solidFill>
                  </a:tcPr>
                </a:tc>
                <a:tc>
                  <a:txBody>
                    <a:bodyPr wrap="square"/>
                    <a:lstStyle/>
                    <a:p>
                      <a:pPr algn="ctr"/>
                      <a:r>
                        <a:rPr sz="1250" b="0" i="0">
                          <a:solidFill>
                            <a:srgbClr val="2B2B2B"/>
                          </a:solidFill>
                          <a:latin typeface="Arial"/>
                        </a:rPr>
                        <a:t>3 000</a:t>
                      </a:r>
                    </a:p>
                  </a:txBody>
                  <a:tcPr marL="64008" marR="64008" marT="27432" marB="27432" anchor="ctr">
                    <a:solidFill>
                      <a:srgbClr val="F2F3F5"/>
                    </a:solidFill>
                  </a:tcPr>
                </a:tc>
                <a:tc>
                  <a:txBody>
                    <a:bodyPr wrap="square"/>
                    <a:lstStyle/>
                    <a:p>
                      <a:pPr algn="ctr"/>
                      <a:r>
                        <a:rPr sz="1250" b="0" i="0">
                          <a:solidFill>
                            <a:srgbClr val="2B2B2B"/>
                          </a:solidFill>
                          <a:latin typeface="Arial"/>
                        </a:rPr>
                        <a:t>9 000</a:t>
                      </a:r>
                    </a:p>
                  </a:txBody>
                  <a:tcPr marL="64008" marR="64008" marT="27432" marB="27432" anchor="ctr">
                    <a:solidFill>
                      <a:srgbClr val="F2F3F5"/>
                    </a:solidFill>
                  </a:tcPr>
                </a:tc>
                <a:tc>
                  <a:txBody>
                    <a:bodyPr wrap="square"/>
                    <a:lstStyle/>
                    <a:p>
                      <a:pPr algn="ctr"/>
                      <a:r>
                        <a:rPr sz="1250" b="1" i="0">
                          <a:solidFill>
                            <a:srgbClr val="D7263D"/>
                          </a:solidFill>
                          <a:latin typeface="Arial"/>
                        </a:rPr>
                        <a:t>6 000</a:t>
                      </a:r>
                    </a:p>
                  </a:txBody>
                  <a:tcPr marL="64008" marR="64008" marT="27432" marB="27432" anchor="ctr">
                    <a:solidFill>
                      <a:srgbClr val="F2F3F5"/>
                    </a:solidFill>
                  </a:tcPr>
                </a:tc>
                <a:tc>
                  <a:txBody>
                    <a:bodyPr wrap="square"/>
                    <a:lstStyle/>
                    <a:p>
                      <a:pPr algn="ctr"/>
                      <a:r>
                        <a:rPr sz="1250" b="0" i="0">
                          <a:solidFill>
                            <a:srgbClr val="2B2B2B"/>
                          </a:solidFill>
                          <a:latin typeface="Arial"/>
                        </a:rPr>
                        <a:t>1,65</a:t>
                      </a:r>
                    </a:p>
                  </a:txBody>
                  <a:tcPr marL="64008" marR="64008" marT="27432" marB="27432" anchor="ctr">
                    <a:solidFill>
                      <a:srgbClr val="F2F3F5"/>
                    </a:solidFill>
                  </a:tcPr>
                </a:tc>
              </a:tr>
              <a:tr h="475488">
                <a:tc>
                  <a:txBody>
                    <a:bodyPr wrap="square"/>
                    <a:lstStyle/>
                    <a:p>
                      <a:pPr algn="l"/>
                      <a:r>
                        <a:rPr sz="1250" b="1" i="0">
                          <a:solidFill>
                            <a:srgbClr val="2B2B2B"/>
                          </a:solidFill>
                          <a:latin typeface="Arial"/>
                        </a:rPr>
                        <a:t>Frecuencia de compras</a:t>
                      </a:r>
                    </a:p>
                  </a:txBody>
                  <a:tcPr marL="64008" marR="64008" marT="27432" marB="27432" anchor="ctr">
                    <a:solidFill>
                      <a:srgbClr val="FFFFFF"/>
                    </a:solidFill>
                  </a:tcPr>
                </a:tc>
                <a:tc>
                  <a:txBody>
                    <a:bodyPr wrap="square"/>
                    <a:lstStyle/>
                    <a:p>
                      <a:pPr algn="ctr"/>
                      <a:r>
                        <a:rPr sz="1250" b="0" i="0">
                          <a:solidFill>
                            <a:srgbClr val="2B2B2B"/>
                          </a:solidFill>
                          <a:latin typeface="Arial"/>
                        </a:rPr>
                        <a:t>0,9</a:t>
                      </a:r>
                    </a:p>
                  </a:txBody>
                  <a:tcPr marL="64008" marR="64008" marT="27432" marB="27432" anchor="ctr">
                    <a:solidFill>
                      <a:srgbClr val="FFFFFF"/>
                    </a:solidFill>
                  </a:tcPr>
                </a:tc>
                <a:tc>
                  <a:txBody>
                    <a:bodyPr wrap="square"/>
                    <a:lstStyle/>
                    <a:p>
                      <a:pPr algn="ctr"/>
                      <a:r>
                        <a:rPr sz="1250" b="0" i="0">
                          <a:solidFill>
                            <a:srgbClr val="2B2B2B"/>
                          </a:solidFill>
                          <a:latin typeface="Arial"/>
                        </a:rPr>
                        <a:t>0,1</a:t>
                      </a:r>
                    </a:p>
                  </a:txBody>
                  <a:tcPr marL="64008" marR="64008" marT="27432" marB="27432" anchor="ctr">
                    <a:solidFill>
                      <a:srgbClr val="FFFFFF"/>
                    </a:solidFill>
                  </a:tcPr>
                </a:tc>
                <a:tc>
                  <a:txBody>
                    <a:bodyPr wrap="square"/>
                    <a:lstStyle/>
                    <a:p>
                      <a:pPr algn="ctr"/>
                      <a:r>
                        <a:rPr sz="1250" b="0" i="0">
                          <a:solidFill>
                            <a:srgbClr val="2B2B2B"/>
                          </a:solidFill>
                          <a:latin typeface="Arial"/>
                        </a:rPr>
                        <a:t>0,8</a:t>
                      </a:r>
                    </a:p>
                  </a:txBody>
                  <a:tcPr marL="64008" marR="64008" marT="27432" marB="27432" anchor="ctr">
                    <a:solidFill>
                      <a:srgbClr val="FFFFFF"/>
                    </a:solidFill>
                  </a:tcPr>
                </a:tc>
                <a:tc>
                  <a:txBody>
                    <a:bodyPr wrap="square"/>
                    <a:lstStyle/>
                    <a:p>
                      <a:pPr algn="ctr"/>
                      <a:r>
                        <a:rPr sz="1250" b="1" i="0">
                          <a:solidFill>
                            <a:srgbClr val="2A9D8F"/>
                          </a:solidFill>
                          <a:latin typeface="Arial"/>
                        </a:rPr>
                        <a:t>1,99</a:t>
                      </a:r>
                    </a:p>
                  </a:txBody>
                  <a:tcPr marL="64008" marR="64008" marT="27432" marB="27432" anchor="ctr">
                    <a:solidFill>
                      <a:srgbClr val="FFFFFF"/>
                    </a:solidFill>
                  </a:tcPr>
                </a:tc>
              </a:tr>
            </a:tbl>
          </a:graphicData>
        </a:graphic>
      </p:graphicFrame>
      <p:sp>
        <p:nvSpPr>
          <p:cNvPr id="4" name="Rounded Rectangle 3"/>
          <p:cNvSpPr/>
          <p:nvPr/>
        </p:nvSpPr>
        <p:spPr>
          <a:xfrm>
            <a:off x="731520" y="411480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2245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Sin escalar</a:t>
            </a:r>
          </a:p>
        </p:txBody>
      </p:sp>
      <p:sp>
        <p:nvSpPr>
          <p:cNvPr id="6" name="TextBox 5"/>
          <p:cNvSpPr txBox="1"/>
          <p:nvPr/>
        </p:nvSpPr>
        <p:spPr>
          <a:xfrm>
            <a:off x="868680" y="4773168"/>
            <a:ext cx="3520440" cy="5486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El límite domina: A y B parecen distintos solo por el límite.</a:t>
            </a:r>
          </a:p>
        </p:txBody>
      </p:sp>
      <p:sp>
        <p:nvSpPr>
          <p:cNvPr id="7" name="Rounded Rectangle 6"/>
          <p:cNvSpPr/>
          <p:nvPr/>
        </p:nvSpPr>
        <p:spPr>
          <a:xfrm>
            <a:off x="4709160" y="4114800"/>
            <a:ext cx="3794760" cy="12801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2245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Estandarizado: z = (x − media) / desv.</a:t>
            </a:r>
          </a:p>
        </p:txBody>
      </p:sp>
      <p:sp>
        <p:nvSpPr>
          <p:cNvPr id="9" name="TextBox 8"/>
          <p:cNvSpPr txBox="1"/>
          <p:nvPr/>
        </p:nvSpPr>
        <p:spPr>
          <a:xfrm>
            <a:off x="4846320" y="4773168"/>
            <a:ext cx="3520440" cy="5486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variable aporta en su propia escala; la frecuencia vuelve a contar.</a:t>
            </a:r>
          </a:p>
        </p:txBody>
      </p:sp>
      <p:sp>
        <p:nvSpPr>
          <p:cNvPr id="10" name="Rounded Rectangle 9"/>
          <p:cNvSpPr/>
          <p:nvPr/>
        </p:nvSpPr>
        <p:spPr>
          <a:xfrm>
            <a:off x="731520" y="5577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Orden de preparación: </a:t>
            </a:r>
            <a:r>
              <a:rPr sz="1200" b="0" i="0">
                <a:solidFill>
                  <a:srgbClr val="2B2B2B"/>
                </a:solidFill>
                <a:latin typeface="Arial"/>
              </a:rPr>
              <a:t>1) limpiar faltantes · 2) log a los montos · 3) estandarizar las 9 variables.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Qué es</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Una variable</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Paso a paso</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Hiperparámetros</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Límites</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4</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K-Means</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Qué es, cómo funciona paso a paso, sus hiperparámetros y sus límites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K-Means?</a:t>
            </a:r>
          </a:p>
        </p:txBody>
      </p:sp>
      <p:sp>
        <p:nvSpPr>
          <p:cNvPr id="3" name="Rounded Rectangle 2"/>
          <p:cNvSpPr/>
          <p:nvPr/>
        </p:nvSpPr>
        <p:spPr>
          <a:xfrm>
            <a:off x="731520" y="196596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K-Means: </a:t>
            </a:r>
            <a:r>
              <a:rPr sz="1350" b="0" i="0">
                <a:solidFill>
                  <a:srgbClr val="FFFFFF"/>
                </a:solidFill>
                <a:latin typeface="Arial"/>
              </a:rPr>
              <a:t>divide los datos en k grupos; cada grupo es un centro (promedio) y cada fila va al centro más cercano.</a:t>
            </a:r>
          </a:p>
        </p:txBody>
      </p:sp>
      <p:sp>
        <p:nvSpPr>
          <p:cNvPr id="4" name="Rounded Rectangle 3"/>
          <p:cNvSpPr/>
          <p:nvPr/>
        </p:nvSpPr>
        <p:spPr>
          <a:xfrm>
            <a:off x="731520" y="3017520"/>
            <a:ext cx="182880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600" b="1" i="0">
                <a:solidFill>
                  <a:srgbClr val="242852"/>
                </a:solidFill>
                <a:latin typeface="Arial"/>
              </a:rPr>
              <a:t>K</a:t>
            </a:r>
          </a:p>
          <a:p>
            <a:pPr algn="ctr">
              <a:spcAft>
                <a:spcPts val="300"/>
              </a:spcAft>
            </a:pPr>
            <a:r>
              <a:rPr sz="1100" b="0" i="0">
                <a:solidFill>
                  <a:srgbClr val="2B2B2B"/>
                </a:solidFill>
                <a:latin typeface="Arial"/>
              </a:rPr>
              <a:t>número de grupos (lo elegimos)</a:t>
            </a:r>
          </a:p>
        </p:txBody>
      </p:sp>
      <p:sp>
        <p:nvSpPr>
          <p:cNvPr id="5" name="Rounded Rectangle 4"/>
          <p:cNvSpPr/>
          <p:nvPr/>
        </p:nvSpPr>
        <p:spPr>
          <a:xfrm>
            <a:off x="2697480" y="3017520"/>
            <a:ext cx="1828800" cy="11430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200" b="1" i="0">
                <a:solidFill>
                  <a:srgbClr val="D7263D"/>
                </a:solidFill>
                <a:latin typeface="Arial"/>
              </a:rPr>
              <a:t>Means</a:t>
            </a:r>
          </a:p>
          <a:p>
            <a:pPr algn="ctr">
              <a:spcAft>
                <a:spcPts val="300"/>
              </a:spcAft>
            </a:pPr>
            <a:r>
              <a:rPr sz="1100" b="0" i="0">
                <a:solidFill>
                  <a:srgbClr val="2B2B2B"/>
                </a:solidFill>
                <a:latin typeface="Arial"/>
              </a:rPr>
              <a:t>medias: los centros son promedios</a:t>
            </a:r>
          </a:p>
        </p:txBody>
      </p:sp>
      <p:sp>
        <p:nvSpPr>
          <p:cNvPr id="6" name="Rounded Rectangle 5"/>
          <p:cNvSpPr/>
          <p:nvPr/>
        </p:nvSpPr>
        <p:spPr>
          <a:xfrm>
            <a:off x="4709160" y="3017520"/>
            <a:ext cx="3794760" cy="22402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46320" y="31272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Analogía: abrir k agencias</a:t>
            </a:r>
          </a:p>
        </p:txBody>
      </p:sp>
      <p:sp>
        <p:nvSpPr>
          <p:cNvPr id="8" name="TextBox 7"/>
          <p:cNvSpPr txBox="1"/>
          <p:nvPr/>
        </p:nvSpPr>
        <p:spPr>
          <a:xfrm>
            <a:off x="4846320" y="3675887"/>
            <a:ext cx="3520440" cy="150876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1. Ubicar k agencias en la ciudad.
2. Cada cliente va a la más cercana.
3. Mover cada agencia al centro de sus clientes.
4. Repetir hasta que ya no convenga moverlas.</a:t>
            </a:r>
          </a:p>
        </p:txBody>
      </p:sp>
      <p:sp>
        <p:nvSpPr>
          <p:cNvPr id="9" name="Rounded Rectangle 8"/>
          <p:cNvSpPr/>
          <p:nvPr/>
        </p:nvSpPr>
        <p:spPr>
          <a:xfrm>
            <a:off x="731520" y="4343400"/>
            <a:ext cx="3794760" cy="9144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A9D8F"/>
                </a:solidFill>
                <a:latin typeface="Arial"/>
              </a:rPr>
              <a:t>Entrega</a:t>
            </a:r>
          </a:p>
          <a:p>
            <a:pPr algn="ctr">
              <a:spcAft>
                <a:spcPts val="300"/>
              </a:spcAft>
            </a:pPr>
            <a:r>
              <a:rPr sz="1150" b="0" i="0">
                <a:solidFill>
                  <a:srgbClr val="2B2B2B"/>
                </a:solidFill>
                <a:latin typeface="Arial"/>
              </a:rPr>
              <a:t>una etiqueta de grupo por fila y k centroides</a:t>
            </a:r>
          </a:p>
        </p:txBody>
      </p:sp>
      <p:sp>
        <p:nvSpPr>
          <p:cNvPr id="10" name="Rounded Rectangle 9"/>
          <p:cNvSpPr/>
          <p:nvPr/>
        </p:nvSpPr>
        <p:spPr>
          <a:xfrm>
            <a:off x="731520" y="548640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Qué busca: </a:t>
            </a:r>
            <a:r>
              <a:rPr sz="1200" b="0" i="0">
                <a:solidFill>
                  <a:srgbClr val="2B2B2B"/>
                </a:solidFill>
                <a:latin typeface="Arial"/>
              </a:rPr>
              <a:t>grupos compactos, es decir, la menor inercia: la suma de distancias² de cada fila a su centro.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Ejemplo visual: 12 clientes, una sola variable</a:t>
            </a:r>
          </a:p>
        </p:txBody>
      </p:sp>
      <p:pic>
        <p:nvPicPr>
          <p:cNvPr id="3" name="Picture 2" descr="kmeans_1d.png"/>
          <p:cNvPicPr>
            <a:picLocks noChangeAspect="1"/>
          </p:cNvPicPr>
          <p:nvPr/>
        </p:nvPicPr>
        <p:blipFill>
          <a:blip r:embed="rId3"/>
          <a:stretch>
            <a:fillRect/>
          </a:stretch>
        </p:blipFill>
        <p:spPr>
          <a:xfrm>
            <a:off x="731520" y="1816733"/>
            <a:ext cx="7772400" cy="2630173"/>
          </a:xfrm>
          <a:prstGeom prst="rect">
            <a:avLst/>
          </a:prstGeom>
        </p:spPr>
      </p:pic>
      <p:graphicFrame>
        <p:nvGraphicFramePr>
          <p:cNvPr id="4" name="Table 3"/>
          <p:cNvGraphicFramePr>
            <a:graphicFrameLocks noGrp="1"/>
          </p:cNvGraphicFramePr>
          <p:nvPr/>
        </p:nvGraphicFramePr>
        <p:xfrm>
          <a:off x="731520" y="4572000"/>
          <a:ext cx="4206240" cy="1207008"/>
        </p:xfrm>
        <a:graphic>
          <a:graphicData uri="http://schemas.openxmlformats.org/drawingml/2006/table">
            <a:tbl>
              <a:tblPr firstRow="1" bandRow="1">
                <a:tableStyleId>{5C22544A-7EE6-4342-B048-85BDC9FD1C3A}</a:tableStyleId>
              </a:tblPr>
              <a:tblGrid>
                <a:gridCol w="640080"/>
                <a:gridCol w="2103120"/>
                <a:gridCol w="1463040"/>
              </a:tblGrid>
              <a:tr h="301752">
                <a:tc>
                  <a:txBody>
                    <a:bodyPr wrap="square"/>
                    <a:lstStyle/>
                    <a:p>
                      <a:pPr algn="l"/>
                      <a:r>
                        <a:rPr sz="1050" b="1" i="0">
                          <a:solidFill>
                            <a:srgbClr val="FFFFFF"/>
                          </a:solidFill>
                          <a:latin typeface="Arial"/>
                        </a:rPr>
                        <a:t>Grupo</a:t>
                      </a:r>
                    </a:p>
                  </a:txBody>
                  <a:tcPr marL="64008" marR="64008" marT="27432" marB="27432" anchor="ctr">
                    <a:solidFill>
                      <a:srgbClr val="242852"/>
                    </a:solidFill>
                  </a:tcPr>
                </a:tc>
                <a:tc>
                  <a:txBody>
                    <a:bodyPr wrap="square"/>
                    <a:lstStyle/>
                    <a:p>
                      <a:pPr algn="ctr"/>
                      <a:r>
                        <a:rPr sz="1050" b="1" i="0">
                          <a:solidFill>
                            <a:srgbClr val="FFFFFF"/>
                          </a:solidFill>
                          <a:latin typeface="Arial"/>
                        </a:rPr>
                        <a:t>Clientes (USD)</a:t>
                      </a:r>
                    </a:p>
                  </a:txBody>
                  <a:tcPr marL="64008" marR="64008" marT="27432" marB="27432" anchor="ctr">
                    <a:solidFill>
                      <a:srgbClr val="242852"/>
                    </a:solidFill>
                  </a:tcPr>
                </a:tc>
                <a:tc>
                  <a:txBody>
                    <a:bodyPr wrap="square"/>
                    <a:lstStyle/>
                    <a:p>
                      <a:pPr algn="ctr"/>
                      <a:r>
                        <a:rPr sz="1050" b="1" i="0">
                          <a:solidFill>
                            <a:srgbClr val="FFFFFF"/>
                          </a:solidFill>
                          <a:latin typeface="Arial"/>
                        </a:rPr>
                        <a:t>Centro = promedio</a:t>
                      </a:r>
                    </a:p>
                  </a:txBody>
                  <a:tcPr marL="64008" marR="64008" marT="27432" marB="27432" anchor="ctr">
                    <a:solidFill>
                      <a:srgbClr val="242852"/>
                    </a:solidFill>
                  </a:tcPr>
                </a:tc>
              </a:tr>
              <a:tr h="301752">
                <a:tc>
                  <a:txBody>
                    <a:bodyPr wrap="square"/>
                    <a:lstStyle/>
                    <a:p>
                      <a:pPr algn="l"/>
                      <a:r>
                        <a:rPr sz="1050" b="1" i="0">
                          <a:solidFill>
                            <a:srgbClr val="3D5A99"/>
                          </a:solidFill>
                          <a:latin typeface="Arial"/>
                        </a:rPr>
                        <a:t>1</a:t>
                      </a:r>
                    </a:p>
                  </a:txBody>
                  <a:tcPr marL="64008" marR="64008" marT="27432" marB="27432" anchor="ctr">
                    <a:solidFill>
                      <a:srgbClr val="FFFFFF"/>
                    </a:solidFill>
                  </a:tcPr>
                </a:tc>
                <a:tc>
                  <a:txBody>
                    <a:bodyPr wrap="square"/>
                    <a:lstStyle/>
                    <a:p>
                      <a:pPr algn="ctr"/>
                      <a:r>
                        <a:rPr sz="1050" b="0" i="0">
                          <a:solidFill>
                            <a:srgbClr val="2B2B2B"/>
                          </a:solidFill>
                          <a:latin typeface="Arial"/>
                        </a:rPr>
                        <a:t>20 · 35 · 40 · 55</a:t>
                      </a:r>
                    </a:p>
                  </a:txBody>
                  <a:tcPr marL="64008" marR="64008" marT="27432" marB="27432" anchor="ctr">
                    <a:solidFill>
                      <a:srgbClr val="FFFFFF"/>
                    </a:solidFill>
                  </a:tcPr>
                </a:tc>
                <a:tc>
                  <a:txBody>
                    <a:bodyPr wrap="square"/>
                    <a:lstStyle/>
                    <a:p>
                      <a:pPr algn="ctr"/>
                      <a:r>
                        <a:rPr sz="1050" b="0" i="0">
                          <a:solidFill>
                            <a:srgbClr val="2B2B2B"/>
                          </a:solidFill>
                          <a:latin typeface="Arial"/>
                        </a:rPr>
                        <a:t>37,5</a:t>
                      </a:r>
                    </a:p>
                  </a:txBody>
                  <a:tcPr marL="64008" marR="64008" marT="27432" marB="27432" anchor="ctr">
                    <a:solidFill>
                      <a:srgbClr val="FFFFFF"/>
                    </a:solidFill>
                  </a:tcPr>
                </a:tc>
              </a:tr>
              <a:tr h="301752">
                <a:tc>
                  <a:txBody>
                    <a:bodyPr wrap="square"/>
                    <a:lstStyle/>
                    <a:p>
                      <a:pPr algn="l"/>
                      <a:r>
                        <a:rPr sz="1050" b="1" i="0">
                          <a:solidFill>
                            <a:srgbClr val="D7263D"/>
                          </a:solidFill>
                          <a:latin typeface="Arial"/>
                        </a:rPr>
                        <a:t>2</a:t>
                      </a:r>
                    </a:p>
                  </a:txBody>
                  <a:tcPr marL="64008" marR="64008" marT="27432" marB="27432" anchor="ctr">
                    <a:solidFill>
                      <a:srgbClr val="F2F3F5"/>
                    </a:solidFill>
                  </a:tcPr>
                </a:tc>
                <a:tc>
                  <a:txBody>
                    <a:bodyPr wrap="square"/>
                    <a:lstStyle/>
                    <a:p>
                      <a:pPr algn="ctr"/>
                      <a:r>
                        <a:rPr sz="1050" b="0" i="0">
                          <a:solidFill>
                            <a:srgbClr val="2B2B2B"/>
                          </a:solidFill>
                          <a:latin typeface="Arial"/>
                        </a:rPr>
                        <a:t>300 · 320 · 350 · 380</a:t>
                      </a:r>
                    </a:p>
                  </a:txBody>
                  <a:tcPr marL="64008" marR="64008" marT="27432" marB="27432" anchor="ctr">
                    <a:solidFill>
                      <a:srgbClr val="F2F3F5"/>
                    </a:solidFill>
                  </a:tcPr>
                </a:tc>
                <a:tc>
                  <a:txBody>
                    <a:bodyPr wrap="square"/>
                    <a:lstStyle/>
                    <a:p>
                      <a:pPr algn="ctr"/>
                      <a:r>
                        <a:rPr sz="1050" b="0" i="0">
                          <a:solidFill>
                            <a:srgbClr val="2B2B2B"/>
                          </a:solidFill>
                          <a:latin typeface="Arial"/>
                        </a:rPr>
                        <a:t>337,5</a:t>
                      </a:r>
                    </a:p>
                  </a:txBody>
                  <a:tcPr marL="64008" marR="64008" marT="27432" marB="27432" anchor="ctr">
                    <a:solidFill>
                      <a:srgbClr val="F2F3F5"/>
                    </a:solidFill>
                  </a:tcPr>
                </a:tc>
              </a:tr>
              <a:tr h="301752">
                <a:tc>
                  <a:txBody>
                    <a:bodyPr wrap="square"/>
                    <a:lstStyle/>
                    <a:p>
                      <a:pPr algn="l"/>
                      <a:r>
                        <a:rPr sz="1050" b="1" i="0">
                          <a:solidFill>
                            <a:srgbClr val="2A9D8F"/>
                          </a:solidFill>
                          <a:latin typeface="Arial"/>
                        </a:rPr>
                        <a:t>3</a:t>
                      </a:r>
                    </a:p>
                  </a:txBody>
                  <a:tcPr marL="64008" marR="64008" marT="27432" marB="27432" anchor="ctr">
                    <a:solidFill>
                      <a:srgbClr val="FFFFFF"/>
                    </a:solidFill>
                  </a:tcPr>
                </a:tc>
                <a:tc>
                  <a:txBody>
                    <a:bodyPr wrap="square"/>
                    <a:lstStyle/>
                    <a:p>
                      <a:pPr algn="ctr"/>
                      <a:r>
                        <a:rPr sz="1050" b="0" i="0">
                          <a:solidFill>
                            <a:srgbClr val="2B2B2B"/>
                          </a:solidFill>
                          <a:latin typeface="Arial"/>
                        </a:rPr>
                        <a:t>900 · 950 · 1 000 · 1 100</a:t>
                      </a:r>
                    </a:p>
                  </a:txBody>
                  <a:tcPr marL="64008" marR="64008" marT="27432" marB="27432" anchor="ctr">
                    <a:solidFill>
                      <a:srgbClr val="FFFFFF"/>
                    </a:solidFill>
                  </a:tcPr>
                </a:tc>
                <a:tc>
                  <a:txBody>
                    <a:bodyPr wrap="square"/>
                    <a:lstStyle/>
                    <a:p>
                      <a:pPr algn="ctr"/>
                      <a:r>
                        <a:rPr sz="1050" b="0" i="0">
                          <a:solidFill>
                            <a:srgbClr val="2B2B2B"/>
                          </a:solidFill>
                          <a:latin typeface="Arial"/>
                        </a:rPr>
                        <a:t>987,5</a:t>
                      </a:r>
                    </a:p>
                  </a:txBody>
                  <a:tcPr marL="64008" marR="64008" marT="27432" marB="27432" anchor="ctr">
                    <a:solidFill>
                      <a:srgbClr val="FFFFFF"/>
                    </a:solidFill>
                  </a:tcPr>
                </a:tc>
              </a:tr>
            </a:tbl>
          </a:graphicData>
        </a:graphic>
      </p:graphicFrame>
      <p:sp>
        <p:nvSpPr>
          <p:cNvPr id="5" name="Rounded Rectangle 4"/>
          <p:cNvSpPr/>
          <p:nvPr/>
        </p:nvSpPr>
        <p:spPr>
          <a:xfrm>
            <a:off x="5074920" y="4572000"/>
            <a:ext cx="3429000" cy="1207008"/>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242852"/>
                </a:solidFill>
                <a:latin typeface="Arial"/>
              </a:rPr>
              <a:t>Fronteras</a:t>
            </a:r>
          </a:p>
          <a:p>
            <a:pPr algn="ctr">
              <a:spcAft>
                <a:spcPts val="300"/>
              </a:spcAft>
            </a:pPr>
            <a:r>
              <a:rPr sz="1100" b="0" i="0">
                <a:solidFill>
                  <a:srgbClr val="2B2B2B"/>
                </a:solidFill>
                <a:latin typeface="Arial"/>
              </a:rPr>
              <a:t>(37,5 + 337,5) / 2 = 187,5</a:t>
            </a:r>
          </a:p>
          <a:p>
            <a:pPr algn="ctr">
              <a:spcAft>
                <a:spcPts val="300"/>
              </a:spcAft>
            </a:pPr>
            <a:r>
              <a:rPr sz="1100" b="0" i="0">
                <a:solidFill>
                  <a:srgbClr val="2B2B2B"/>
                </a:solidFill>
                <a:latin typeface="Arial"/>
              </a:rPr>
              <a:t>(337,5 + 987,5) / 2 = 662,5</a:t>
            </a:r>
          </a:p>
          <a:p>
            <a:pPr algn="ctr">
              <a:spcAft>
                <a:spcPts val="300"/>
              </a:spcAft>
            </a:pPr>
            <a:r>
              <a:rPr sz="1100" b="0" i="0">
                <a:solidFill>
                  <a:srgbClr val="D7263D"/>
                </a:solidFill>
                <a:latin typeface="Arial"/>
              </a:rPr>
              <a:t>cliente nuevo de 500 → grupo 2</a:t>
            </a:r>
          </a:p>
        </p:txBody>
      </p:sp>
      <p:sp>
        <p:nvSpPr>
          <p:cNvPr id="6" name="Rounded Rectangle 5"/>
          <p:cNvSpPr/>
          <p:nvPr/>
        </p:nvSpPr>
        <p:spPr>
          <a:xfrm>
            <a:off x="731520" y="589788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150" b="1" i="0">
                <a:solidFill>
                  <a:srgbClr val="242852"/>
                </a:solidFill>
                <a:latin typeface="Arial"/>
              </a:rPr>
              <a:t>K-Means sigue los huecos de los datos (Silhouette 0,87); </a:t>
            </a:r>
            <a:r>
              <a:rPr sz="1150" b="0" i="0">
                <a:solidFill>
                  <a:srgbClr val="2B2B2B"/>
                </a:solidFill>
                <a:latin typeface="Arial"/>
              </a:rPr>
              <a:t>los cuartiles cortan por cantidad de clientes, no por parecido (0,27).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Cuartiles frente a K-Means, punto por punto</a:t>
            </a:r>
          </a:p>
        </p:txBody>
      </p:sp>
      <p:graphicFrame>
        <p:nvGraphicFramePr>
          <p:cNvPr id="3" name="Table 2"/>
          <p:cNvGraphicFramePr>
            <a:graphicFrameLocks noGrp="1"/>
          </p:cNvGraphicFramePr>
          <p:nvPr/>
        </p:nvGraphicFramePr>
        <p:xfrm>
          <a:off x="731520" y="1965960"/>
          <a:ext cx="7772400" cy="2286000"/>
        </p:xfrm>
        <a:graphic>
          <a:graphicData uri="http://schemas.openxmlformats.org/drawingml/2006/table">
            <a:tbl>
              <a:tblPr firstRow="1" bandRow="1">
                <a:tableStyleId>{5C22544A-7EE6-4342-B048-85BDC9FD1C3A}</a:tableStyleId>
              </a:tblPr>
              <a:tblGrid>
                <a:gridCol w="2834640"/>
                <a:gridCol w="2468880"/>
                <a:gridCol w="2468880"/>
              </a:tblGrid>
              <a:tr h="457200">
                <a:tc>
                  <a:txBody>
                    <a:bodyPr wrap="square"/>
                    <a:lstStyle/>
                    <a:p>
                      <a:pPr algn="l"/>
                      <a:r>
                        <a:rPr sz="1200" b="1" i="0">
                          <a:solidFill>
                            <a:srgbClr val="FFFFFF"/>
                          </a:solidFill>
                          <a:latin typeface="Arial"/>
                        </a:rPr>
                        <a:t>Cliente que gasta 55</a:t>
                      </a:r>
                    </a:p>
                  </a:txBody>
                  <a:tcPr marL="64008" marR="64008" marT="27432" marB="27432" anchor="ctr">
                    <a:solidFill>
                      <a:srgbClr val="242852"/>
                    </a:solidFill>
                  </a:tcPr>
                </a:tc>
                <a:tc>
                  <a:txBody>
                    <a:bodyPr wrap="square"/>
                    <a:lstStyle/>
                    <a:p>
                      <a:pPr algn="ctr"/>
                      <a:r>
                        <a:rPr sz="1200" b="1" i="0">
                          <a:solidFill>
                            <a:srgbClr val="FFFFFF"/>
                          </a:solidFill>
                          <a:latin typeface="Arial"/>
                        </a:rPr>
                        <a:t>K-Means</a:t>
                      </a:r>
                    </a:p>
                  </a:txBody>
                  <a:tcPr marL="64008" marR="64008" marT="27432" marB="27432" anchor="ctr">
                    <a:solidFill>
                      <a:srgbClr val="242852"/>
                    </a:solidFill>
                  </a:tcPr>
                </a:tc>
                <a:tc>
                  <a:txBody>
                    <a:bodyPr wrap="square"/>
                    <a:lstStyle/>
                    <a:p>
                      <a:pPr algn="ctr"/>
                      <a:r>
                        <a:rPr sz="1200" b="1" i="0">
                          <a:solidFill>
                            <a:srgbClr val="FFFFFF"/>
                          </a:solidFill>
                          <a:latin typeface="Arial"/>
                        </a:rPr>
                        <a:t>Cuartiles</a:t>
                      </a:r>
                    </a:p>
                  </a:txBody>
                  <a:tcPr marL="64008" marR="64008" marT="27432" marB="27432" anchor="ctr">
                    <a:solidFill>
                      <a:srgbClr val="242852"/>
                    </a:solidFill>
                  </a:tcPr>
                </a:tc>
              </a:tr>
              <a:tr h="457200">
                <a:tc>
                  <a:txBody>
                    <a:bodyPr wrap="square"/>
                    <a:lstStyle/>
                    <a:p>
                      <a:pPr algn="l"/>
                      <a:r>
                        <a:rPr sz="1200" b="1" i="0">
                          <a:solidFill>
                            <a:srgbClr val="2B2B2B"/>
                          </a:solidFill>
                          <a:latin typeface="Arial"/>
                        </a:rPr>
                        <a:t>Su grupo</a:t>
                      </a:r>
                    </a:p>
                  </a:txBody>
                  <a:tcPr marL="64008" marR="64008" marT="27432" marB="27432" anchor="ctr">
                    <a:solidFill>
                      <a:srgbClr val="FFFFFF"/>
                    </a:solidFill>
                  </a:tcPr>
                </a:tc>
                <a:tc>
                  <a:txBody>
                    <a:bodyPr wrap="square"/>
                    <a:lstStyle/>
                    <a:p>
                      <a:pPr algn="ctr"/>
                      <a:r>
                        <a:rPr sz="1200" b="0" i="0">
                          <a:solidFill>
                            <a:srgbClr val="2B2B2B"/>
                          </a:solidFill>
                          <a:latin typeface="Arial"/>
                        </a:rPr>
                        <a:t>20 · 35 · 40</a:t>
                      </a:r>
                    </a:p>
                  </a:txBody>
                  <a:tcPr marL="64008" marR="64008" marT="27432" marB="27432" anchor="ctr">
                    <a:solidFill>
                      <a:srgbClr val="FFFFFF"/>
                    </a:solidFill>
                  </a:tcPr>
                </a:tc>
                <a:tc>
                  <a:txBody>
                    <a:bodyPr wrap="square"/>
                    <a:lstStyle/>
                    <a:p>
                      <a:pPr algn="ctr"/>
                      <a:r>
                        <a:rPr sz="1200" b="0" i="0">
                          <a:solidFill>
                            <a:srgbClr val="2B2B2B"/>
                          </a:solidFill>
                          <a:latin typeface="Arial"/>
                        </a:rPr>
                        <a:t>300 · 320</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a = distancia media a su grupo</a:t>
                      </a:r>
                    </a:p>
                  </a:txBody>
                  <a:tcPr marL="64008" marR="64008" marT="27432" marB="27432" anchor="ctr">
                    <a:solidFill>
                      <a:srgbClr val="F2F3F5"/>
                    </a:solidFill>
                  </a:tcPr>
                </a:tc>
                <a:tc>
                  <a:txBody>
                    <a:bodyPr wrap="square"/>
                    <a:lstStyle/>
                    <a:p>
                      <a:pPr algn="ctr"/>
                      <a:r>
                        <a:rPr sz="1200" b="0" i="0">
                          <a:solidFill>
                            <a:srgbClr val="2B2B2B"/>
                          </a:solidFill>
                          <a:latin typeface="Arial"/>
                        </a:rPr>
                        <a:t>(35 + 20 + 15) / 3 = 23,3</a:t>
                      </a:r>
                    </a:p>
                  </a:txBody>
                  <a:tcPr marL="64008" marR="64008" marT="27432" marB="27432" anchor="ctr">
                    <a:solidFill>
                      <a:srgbClr val="F2F3F5"/>
                    </a:solidFill>
                  </a:tcPr>
                </a:tc>
                <a:tc>
                  <a:txBody>
                    <a:bodyPr wrap="square"/>
                    <a:lstStyle/>
                    <a:p>
                      <a:pPr algn="ctr"/>
                      <a:r>
                        <a:rPr sz="1200" b="0" i="0">
                          <a:solidFill>
                            <a:srgbClr val="2B2B2B"/>
                          </a:solidFill>
                          <a:latin typeface="Arial"/>
                        </a:rPr>
                        <a:t>(245 + 265) / 2 = 255</a:t>
                      </a:r>
                    </a:p>
                  </a:txBody>
                  <a:tcPr marL="64008" marR="64008" marT="27432" marB="27432" anchor="ctr">
                    <a:solidFill>
                      <a:srgbClr val="F2F3F5"/>
                    </a:solidFill>
                  </a:tcPr>
                </a:tc>
              </a:tr>
              <a:tr h="457200">
                <a:tc>
                  <a:txBody>
                    <a:bodyPr wrap="square"/>
                    <a:lstStyle/>
                    <a:p>
                      <a:pPr algn="l"/>
                      <a:r>
                        <a:rPr sz="1200" b="1" i="0">
                          <a:solidFill>
                            <a:srgbClr val="2B2B2B"/>
                          </a:solidFill>
                          <a:latin typeface="Arial"/>
                        </a:rPr>
                        <a:t>b = distancia media al grupo vecino</a:t>
                      </a:r>
                    </a:p>
                  </a:txBody>
                  <a:tcPr marL="64008" marR="64008" marT="27432" marB="27432" anchor="ctr">
                    <a:solidFill>
                      <a:srgbClr val="FFFFFF"/>
                    </a:solidFill>
                  </a:tcPr>
                </a:tc>
                <a:tc>
                  <a:txBody>
                    <a:bodyPr wrap="square"/>
                    <a:lstStyle/>
                    <a:p>
                      <a:pPr algn="ctr"/>
                      <a:r>
                        <a:rPr sz="1200" b="0" i="0">
                          <a:solidFill>
                            <a:srgbClr val="2B2B2B"/>
                          </a:solidFill>
                          <a:latin typeface="Arial"/>
                        </a:rPr>
                        <a:t>a 300–380: 282,5</a:t>
                      </a:r>
                    </a:p>
                  </a:txBody>
                  <a:tcPr marL="64008" marR="64008" marT="27432" marB="27432" anchor="ctr">
                    <a:solidFill>
                      <a:srgbClr val="FFFFFF"/>
                    </a:solidFill>
                  </a:tcPr>
                </a:tc>
                <a:tc>
                  <a:txBody>
                    <a:bodyPr wrap="square"/>
                    <a:lstStyle/>
                    <a:p>
                      <a:pPr algn="ctr"/>
                      <a:r>
                        <a:rPr sz="1200" b="0" i="0">
                          <a:solidFill>
                            <a:srgbClr val="2B2B2B"/>
                          </a:solidFill>
                          <a:latin typeface="Arial"/>
                        </a:rPr>
                        <a:t>a 20–40: 23,3</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s = (b − a) / máx(a, b)</a:t>
                      </a:r>
                    </a:p>
                  </a:txBody>
                  <a:tcPr marL="64008" marR="64008" marT="27432" marB="27432" anchor="ctr">
                    <a:solidFill>
                      <a:srgbClr val="F2F3F5"/>
                    </a:solidFill>
                  </a:tcPr>
                </a:tc>
                <a:tc>
                  <a:txBody>
                    <a:bodyPr wrap="square"/>
                    <a:lstStyle/>
                    <a:p>
                      <a:pPr algn="ctr"/>
                      <a:r>
                        <a:rPr sz="1200" b="1" i="0">
                          <a:solidFill>
                            <a:srgbClr val="2A9D8F"/>
                          </a:solidFill>
                          <a:latin typeface="Arial"/>
                        </a:rPr>
                        <a:t>0,92</a:t>
                      </a:r>
                    </a:p>
                  </a:txBody>
                  <a:tcPr marL="64008" marR="64008" marT="27432" marB="27432" anchor="ctr">
                    <a:solidFill>
                      <a:srgbClr val="F2F3F5"/>
                    </a:solidFill>
                  </a:tcPr>
                </a:tc>
                <a:tc>
                  <a:txBody>
                    <a:bodyPr wrap="square"/>
                    <a:lstStyle/>
                    <a:p>
                      <a:pPr algn="ctr"/>
                      <a:r>
                        <a:rPr sz="1200" b="1" i="0">
                          <a:solidFill>
                            <a:srgbClr val="D7263D"/>
                          </a:solidFill>
                          <a:latin typeface="Arial"/>
                        </a:rPr>
                        <a:t>−0,91</a:t>
                      </a:r>
                    </a:p>
                  </a:txBody>
                  <a:tcPr marL="64008" marR="64008" marT="27432" marB="27432" anchor="ctr">
                    <a:solidFill>
                      <a:srgbClr val="F2F3F5"/>
                    </a:solidFill>
                  </a:tcPr>
                </a:tc>
              </a:tr>
            </a:tbl>
          </a:graphicData>
        </a:graphic>
      </p:graphicFrame>
      <p:sp>
        <p:nvSpPr>
          <p:cNvPr id="4" name="Rounded Rectangle 3"/>
          <p:cNvSpPr/>
          <p:nvPr/>
        </p:nvSpPr>
        <p:spPr>
          <a:xfrm>
            <a:off x="731520" y="4434840"/>
            <a:ext cx="3794760" cy="10972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Clientes con Silhouette negativo · K-Means</a:t>
            </a:r>
          </a:p>
          <a:p>
            <a:pPr algn="ctr">
              <a:spcAft>
                <a:spcPts val="300"/>
              </a:spcAft>
            </a:pPr>
            <a:r>
              <a:rPr sz="2200" b="1" i="0">
                <a:solidFill>
                  <a:srgbClr val="2A9D8F"/>
                </a:solidFill>
                <a:latin typeface="Arial"/>
              </a:rPr>
              <a:t>0 de 12</a:t>
            </a:r>
          </a:p>
        </p:txBody>
      </p:sp>
      <p:sp>
        <p:nvSpPr>
          <p:cNvPr id="5" name="Rounded Rectangle 4"/>
          <p:cNvSpPr/>
          <p:nvPr/>
        </p:nvSpPr>
        <p:spPr>
          <a:xfrm>
            <a:off x="4709160" y="4434840"/>
            <a:ext cx="3794760" cy="10972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Clientes con Silhouette negativo · cuartiles</a:t>
            </a:r>
          </a:p>
          <a:p>
            <a:pPr algn="ctr">
              <a:spcAft>
                <a:spcPts val="300"/>
              </a:spcAft>
            </a:pPr>
            <a:r>
              <a:rPr sz="2200" b="1" i="0">
                <a:solidFill>
                  <a:srgbClr val="D7263D"/>
                </a:solidFill>
                <a:latin typeface="Arial"/>
              </a:rPr>
              <a:t>4 de 12</a:t>
            </a:r>
          </a:p>
        </p:txBody>
      </p:sp>
      <p:sp>
        <p:nvSpPr>
          <p:cNvPr id="6" name="Rounded Rectangle 5"/>
          <p:cNvSpPr/>
          <p:nvPr/>
        </p:nvSpPr>
        <p:spPr>
          <a:xfrm>
            <a:off x="731520" y="57607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eso los cuartiles son una línea base: </a:t>
            </a:r>
            <a:r>
              <a:rPr sz="1200" b="0" i="0">
                <a:solidFill>
                  <a:srgbClr val="2B2B2B"/>
                </a:solidFill>
                <a:latin typeface="Arial"/>
              </a:rPr>
              <a:t>agrupan sin mirar el parecido. Si K-Means no les gana, no aporta nada.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Lo mismo con los 8 950 clientes: solo compras</a:t>
            </a:r>
          </a:p>
        </p:txBody>
      </p:sp>
      <p:pic>
        <p:nvPicPr>
          <p:cNvPr id="3" name="Picture 2" descr="kmeans_1d_real.png"/>
          <p:cNvPicPr>
            <a:picLocks noChangeAspect="1"/>
          </p:cNvPicPr>
          <p:nvPr/>
        </p:nvPicPr>
        <p:blipFill>
          <a:blip r:embed="rId3"/>
          <a:stretch>
            <a:fillRect/>
          </a:stretch>
        </p:blipFill>
        <p:spPr>
          <a:xfrm>
            <a:off x="977096" y="1828800"/>
            <a:ext cx="7281246" cy="2971800"/>
          </a:xfrm>
          <a:prstGeom prst="rect">
            <a:avLst/>
          </a:prstGeom>
        </p:spPr>
      </p:pic>
      <p:sp>
        <p:nvSpPr>
          <p:cNvPr id="4" name="Rounded Rectangle 3"/>
          <p:cNvSpPr/>
          <p:nvPr/>
        </p:nvSpPr>
        <p:spPr>
          <a:xfrm>
            <a:off x="731520" y="4892040"/>
            <a:ext cx="2487168"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Grupo 1 · no compran</a:t>
            </a:r>
          </a:p>
          <a:p>
            <a:pPr algn="ctr">
              <a:spcAft>
                <a:spcPts val="300"/>
              </a:spcAft>
            </a:pPr>
            <a:r>
              <a:rPr sz="1900" b="1" i="0">
                <a:solidFill>
                  <a:srgbClr val="3D5A99"/>
                </a:solidFill>
                <a:latin typeface="Arial"/>
              </a:rPr>
              <a:t>2 079</a:t>
            </a:r>
          </a:p>
        </p:txBody>
      </p:sp>
      <p:sp>
        <p:nvSpPr>
          <p:cNvPr id="5" name="Rounded Rectangle 4"/>
          <p:cNvSpPr/>
          <p:nvPr/>
        </p:nvSpPr>
        <p:spPr>
          <a:xfrm>
            <a:off x="3355848" y="4892040"/>
            <a:ext cx="2487168"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Grupo 2 · 13 a 574 USD</a:t>
            </a:r>
          </a:p>
          <a:p>
            <a:pPr algn="ctr">
              <a:spcAft>
                <a:spcPts val="300"/>
              </a:spcAft>
            </a:pPr>
            <a:r>
              <a:rPr sz="1900" b="1" i="0">
                <a:solidFill>
                  <a:srgbClr val="D7263D"/>
                </a:solidFill>
                <a:latin typeface="Arial"/>
              </a:rPr>
              <a:t>3 346</a:t>
            </a:r>
          </a:p>
        </p:txBody>
      </p:sp>
      <p:sp>
        <p:nvSpPr>
          <p:cNvPr id="6" name="Rounded Rectangle 5"/>
          <p:cNvSpPr/>
          <p:nvPr/>
        </p:nvSpPr>
        <p:spPr>
          <a:xfrm>
            <a:off x="5980176" y="4892040"/>
            <a:ext cx="2487168" cy="8686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Grupo 3 · más de 574 USD</a:t>
            </a:r>
          </a:p>
          <a:p>
            <a:pPr algn="ctr">
              <a:spcAft>
                <a:spcPts val="300"/>
              </a:spcAft>
            </a:pPr>
            <a:r>
              <a:rPr sz="1900" b="1" i="0">
                <a:solidFill>
                  <a:srgbClr val="2A9D8F"/>
                </a:solidFill>
                <a:latin typeface="Arial"/>
              </a:rPr>
              <a:t>3 525</a:t>
            </a:r>
          </a:p>
        </p:txBody>
      </p:sp>
      <p:sp>
        <p:nvSpPr>
          <p:cNvPr id="7" name="Rounded Rectangle 6"/>
          <p:cNvSpPr/>
          <p:nvPr/>
        </p:nvSpPr>
        <p:spPr>
          <a:xfrm>
            <a:off x="731520" y="589788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Una variable ayuda a ver; nueve ayudan a entender: </a:t>
            </a:r>
            <a:r>
              <a:rPr sz="1200" b="0" i="0">
                <a:solidFill>
                  <a:srgbClr val="2B2B2B"/>
                </a:solidFill>
                <a:latin typeface="Arial"/>
              </a:rPr>
              <a:t>con más variables ya no se puede dibujar, pero la idea es la misma.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K-Means paso a paso: centros que se mueven</a:t>
            </a:r>
          </a:p>
        </p:txBody>
      </p:sp>
      <p:sp>
        <p:nvSpPr>
          <p:cNvPr id="3" name="Rounded Rectangle 2"/>
          <p:cNvSpPr/>
          <p:nvPr/>
        </p:nvSpPr>
        <p:spPr>
          <a:xfrm>
            <a:off x="731520" y="2194560"/>
            <a:ext cx="178308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0. Elegir k</a:t>
            </a:r>
          </a:p>
          <a:p>
            <a:pPr algn="ctr">
              <a:spcAft>
                <a:spcPts val="300"/>
              </a:spcAft>
            </a:pPr>
            <a:r>
              <a:rPr sz="1150" b="0" i="0">
                <a:solidFill>
                  <a:srgbClr val="2B2B2B"/>
                </a:solidFill>
                <a:latin typeface="Arial"/>
              </a:rPr>
              <a:t>y ubicar k centros iniciales</a:t>
            </a:r>
          </a:p>
        </p:txBody>
      </p:sp>
      <p:sp>
        <p:nvSpPr>
          <p:cNvPr id="4" name="Right Arrow 3"/>
          <p:cNvSpPr/>
          <p:nvPr/>
        </p:nvSpPr>
        <p:spPr>
          <a:xfrm>
            <a:off x="2532888" y="2788920"/>
            <a:ext cx="18288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2715768" y="2194560"/>
            <a:ext cx="178308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1. Asignar</a:t>
            </a:r>
          </a:p>
          <a:p>
            <a:pPr algn="ctr">
              <a:spcAft>
                <a:spcPts val="300"/>
              </a:spcAft>
            </a:pPr>
            <a:r>
              <a:rPr sz="1150" b="0" i="0">
                <a:solidFill>
                  <a:srgbClr val="2B2B2B"/>
                </a:solidFill>
                <a:latin typeface="Arial"/>
              </a:rPr>
              <a:t>cada punto al centro más cercano</a:t>
            </a:r>
          </a:p>
        </p:txBody>
      </p:sp>
      <p:sp>
        <p:nvSpPr>
          <p:cNvPr id="6" name="Right Arrow 5"/>
          <p:cNvSpPr/>
          <p:nvPr/>
        </p:nvSpPr>
        <p:spPr>
          <a:xfrm>
            <a:off x="4517136" y="2788920"/>
            <a:ext cx="18288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4700016" y="2194560"/>
            <a:ext cx="178308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A9D8F"/>
                </a:solidFill>
                <a:latin typeface="Arial"/>
              </a:rPr>
              <a:t>2. Actualizar</a:t>
            </a:r>
          </a:p>
          <a:p>
            <a:pPr algn="ctr">
              <a:spcAft>
                <a:spcPts val="300"/>
              </a:spcAft>
            </a:pPr>
            <a:r>
              <a:rPr sz="1150" b="0" i="0">
                <a:solidFill>
                  <a:srgbClr val="2B2B2B"/>
                </a:solidFill>
                <a:latin typeface="Arial"/>
              </a:rPr>
              <a:t>cada centro al promedio de sus puntos</a:t>
            </a:r>
          </a:p>
        </p:txBody>
      </p:sp>
      <p:sp>
        <p:nvSpPr>
          <p:cNvPr id="8" name="Right Arrow 7"/>
          <p:cNvSpPr/>
          <p:nvPr/>
        </p:nvSpPr>
        <p:spPr>
          <a:xfrm>
            <a:off x="6501383" y="2788920"/>
            <a:ext cx="18288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Rounded Rectangle 8"/>
          <p:cNvSpPr/>
          <p:nvPr/>
        </p:nvSpPr>
        <p:spPr>
          <a:xfrm>
            <a:off x="6684264" y="2194560"/>
            <a:ext cx="178308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3. Repetir</a:t>
            </a:r>
          </a:p>
          <a:p>
            <a:pPr algn="ctr">
              <a:spcAft>
                <a:spcPts val="300"/>
              </a:spcAft>
            </a:pPr>
            <a:r>
              <a:rPr sz="1150" b="0" i="0">
                <a:solidFill>
                  <a:srgbClr val="2B2B2B"/>
                </a:solidFill>
                <a:latin typeface="Arial"/>
              </a:rPr>
              <a:t>hasta que nada cambie</a:t>
            </a:r>
          </a:p>
        </p:txBody>
      </p:sp>
      <p:sp>
        <p:nvSpPr>
          <p:cNvPr id="10" name="Rounded Rectangle 9"/>
          <p:cNvSpPr/>
          <p:nvPr/>
        </p:nvSpPr>
        <p:spPr>
          <a:xfrm>
            <a:off x="731520" y="3977639"/>
            <a:ext cx="7772400" cy="9144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Inercia = Σ distancia² de cada punto a su centroide  </a:t>
            </a:r>
            <a:r>
              <a:rPr sz="1200" b="0" i="0">
                <a:solidFill>
                  <a:srgbClr val="C9D2E8"/>
                </a:solidFill>
                <a:latin typeface="Arial"/>
              </a:rPr>
              <a:t>· K-Means intenta hacerla lo más pequeña posible</a:t>
            </a:r>
          </a:p>
        </p:txBody>
      </p:sp>
      <p:sp>
        <p:nvSpPr>
          <p:cNvPr id="11" name="Rounded Rectangle 10"/>
          <p:cNvSpPr/>
          <p:nvPr/>
        </p:nvSpPr>
        <p:spPr>
          <a:xfrm>
            <a:off x="731520" y="5166360"/>
            <a:ext cx="7772400" cy="6400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«Means» = medias: </a:t>
            </a:r>
            <a:r>
              <a:rPr sz="1200" b="0" i="0">
                <a:solidFill>
                  <a:srgbClr val="2B2B2B"/>
                </a:solidFill>
                <a:latin typeface="Arial"/>
              </a:rPr>
              <a:t>los centros son promedios. Por eso los valores extremos los arrastran y conviene el logaritmo.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K-Means a mano: seis puntos, dos grupos</a:t>
            </a:r>
          </a:p>
        </p:txBody>
      </p:sp>
      <p:pic>
        <p:nvPicPr>
          <p:cNvPr id="3" name="Picture 2" descr="kmeans_toy.png"/>
          <p:cNvPicPr>
            <a:picLocks noChangeAspect="1"/>
          </p:cNvPicPr>
          <p:nvPr/>
        </p:nvPicPr>
        <p:blipFill>
          <a:blip r:embed="rId3"/>
          <a:stretch>
            <a:fillRect/>
          </a:stretch>
        </p:blipFill>
        <p:spPr>
          <a:xfrm>
            <a:off x="731520" y="1938234"/>
            <a:ext cx="7772400" cy="2387170"/>
          </a:xfrm>
          <a:prstGeom prst="rect">
            <a:avLst/>
          </a:prstGeom>
        </p:spPr>
      </p:pic>
      <p:graphicFrame>
        <p:nvGraphicFramePr>
          <p:cNvPr id="4" name="Table 3"/>
          <p:cNvGraphicFramePr>
            <a:graphicFrameLocks noGrp="1"/>
          </p:cNvGraphicFramePr>
          <p:nvPr/>
        </p:nvGraphicFramePr>
        <p:xfrm>
          <a:off x="731520" y="4526280"/>
          <a:ext cx="7772400" cy="1389888"/>
        </p:xfrm>
        <a:graphic>
          <a:graphicData uri="http://schemas.openxmlformats.org/drawingml/2006/table">
            <a:tbl>
              <a:tblPr firstRow="1" bandRow="1">
                <a:tableStyleId>{5C22544A-7EE6-4342-B048-85BDC9FD1C3A}</a:tableStyleId>
              </a:tblPr>
              <a:tblGrid>
                <a:gridCol w="1188720"/>
                <a:gridCol w="1645920"/>
                <a:gridCol w="1645920"/>
                <a:gridCol w="1463040"/>
                <a:gridCol w="1828800"/>
              </a:tblGrid>
              <a:tr h="347472">
                <a:tc>
                  <a:txBody>
                    <a:bodyPr wrap="square"/>
                    <a:lstStyle/>
                    <a:p>
                      <a:pPr algn="l"/>
                      <a:r>
                        <a:rPr sz="1150" b="1" i="0">
                          <a:solidFill>
                            <a:srgbClr val="FFFFFF"/>
                          </a:solidFill>
                          <a:latin typeface="Arial"/>
                        </a:rPr>
                        <a:t/>
                      </a:r>
                    </a:p>
                  </a:txBody>
                  <a:tcPr marL="64008" marR="64008" marT="27432" marB="27432" anchor="ctr">
                    <a:solidFill>
                      <a:srgbClr val="242852"/>
                    </a:solidFill>
                  </a:tcPr>
                </a:tc>
                <a:tc>
                  <a:txBody>
                    <a:bodyPr wrap="square"/>
                    <a:lstStyle/>
                    <a:p>
                      <a:pPr algn="ctr"/>
                      <a:r>
                        <a:rPr sz="1150" b="1" i="0">
                          <a:solidFill>
                            <a:srgbClr val="FFFFFF"/>
                          </a:solidFill>
                          <a:latin typeface="Arial"/>
                        </a:rPr>
                        <a:t>Centro azul</a:t>
                      </a:r>
                    </a:p>
                  </a:txBody>
                  <a:tcPr marL="64008" marR="64008" marT="27432" marB="27432" anchor="ctr">
                    <a:solidFill>
                      <a:srgbClr val="242852"/>
                    </a:solidFill>
                  </a:tcPr>
                </a:tc>
                <a:tc>
                  <a:txBody>
                    <a:bodyPr wrap="square"/>
                    <a:lstStyle/>
                    <a:p>
                      <a:pPr algn="ctr"/>
                      <a:r>
                        <a:rPr sz="1150" b="1" i="0">
                          <a:solidFill>
                            <a:srgbClr val="FFFFFF"/>
                          </a:solidFill>
                          <a:latin typeface="Arial"/>
                        </a:rPr>
                        <a:t>Centro rojo</a:t>
                      </a:r>
                    </a:p>
                  </a:txBody>
                  <a:tcPr marL="64008" marR="64008" marT="27432" marB="27432" anchor="ctr">
                    <a:solidFill>
                      <a:srgbClr val="242852"/>
                    </a:solidFill>
                  </a:tcPr>
                </a:tc>
                <a:tc>
                  <a:txBody>
                    <a:bodyPr wrap="square"/>
                    <a:lstStyle/>
                    <a:p>
                      <a:pPr algn="ctr"/>
                      <a:r>
                        <a:rPr sz="1150" b="1" i="0">
                          <a:solidFill>
                            <a:srgbClr val="FFFFFF"/>
                          </a:solidFill>
                          <a:latin typeface="Arial"/>
                        </a:rPr>
                        <a:t>Grupo azul</a:t>
                      </a:r>
                    </a:p>
                  </a:txBody>
                  <a:tcPr marL="64008" marR="64008" marT="27432" marB="27432" anchor="ctr">
                    <a:solidFill>
                      <a:srgbClr val="242852"/>
                    </a:solidFill>
                  </a:tcPr>
                </a:tc>
                <a:tc>
                  <a:txBody>
                    <a:bodyPr wrap="square"/>
                    <a:lstStyle/>
                    <a:p>
                      <a:pPr algn="ctr"/>
                      <a:r>
                        <a:rPr sz="1150" b="1" i="0">
                          <a:solidFill>
                            <a:srgbClr val="FFFFFF"/>
                          </a:solidFill>
                          <a:latin typeface="Arial"/>
                        </a:rPr>
                        <a:t>Grupo rojo</a:t>
                      </a:r>
                    </a:p>
                  </a:txBody>
                  <a:tcPr marL="64008" marR="64008" marT="27432" marB="27432" anchor="ctr">
                    <a:solidFill>
                      <a:srgbClr val="242852"/>
                    </a:solidFill>
                  </a:tcPr>
                </a:tc>
              </a:tr>
              <a:tr h="347472">
                <a:tc>
                  <a:txBody>
                    <a:bodyPr wrap="square"/>
                    <a:lstStyle/>
                    <a:p>
                      <a:pPr algn="l"/>
                      <a:r>
                        <a:rPr sz="1150" b="1" i="0">
                          <a:solidFill>
                            <a:srgbClr val="2B2B2B"/>
                          </a:solidFill>
                          <a:latin typeface="Arial"/>
                        </a:rPr>
                        <a:t>Vuelta 1</a:t>
                      </a:r>
                    </a:p>
                  </a:txBody>
                  <a:tcPr marL="64008" marR="64008" marT="27432" marB="27432" anchor="ctr">
                    <a:solidFill>
                      <a:srgbClr val="FFFFFF"/>
                    </a:solidFill>
                  </a:tcPr>
                </a:tc>
                <a:tc>
                  <a:txBody>
                    <a:bodyPr wrap="square"/>
                    <a:lstStyle/>
                    <a:p>
                      <a:pPr algn="ctr"/>
                      <a:r>
                        <a:rPr sz="1150" b="0" i="0">
                          <a:solidFill>
                            <a:srgbClr val="2B2B2B"/>
                          </a:solidFill>
                          <a:latin typeface="Arial"/>
                        </a:rPr>
                        <a:t>A (1; 1)</a:t>
                      </a:r>
                    </a:p>
                  </a:txBody>
                  <a:tcPr marL="64008" marR="64008" marT="27432" marB="27432" anchor="ctr">
                    <a:solidFill>
                      <a:srgbClr val="FFFFFF"/>
                    </a:solidFill>
                  </a:tcPr>
                </a:tc>
                <a:tc>
                  <a:txBody>
                    <a:bodyPr wrap="square"/>
                    <a:lstStyle/>
                    <a:p>
                      <a:pPr algn="ctr"/>
                      <a:r>
                        <a:rPr sz="1150" b="0" i="0">
                          <a:solidFill>
                            <a:srgbClr val="2B2B2B"/>
                          </a:solidFill>
                          <a:latin typeface="Arial"/>
                        </a:rPr>
                        <a:t>B (1,5; 2)</a:t>
                      </a:r>
                    </a:p>
                  </a:txBody>
                  <a:tcPr marL="64008" marR="64008" marT="27432" marB="27432" anchor="ctr">
                    <a:solidFill>
                      <a:srgbClr val="FFFFFF"/>
                    </a:solidFill>
                  </a:tcPr>
                </a:tc>
                <a:tc>
                  <a:txBody>
                    <a:bodyPr wrap="square"/>
                    <a:lstStyle/>
                    <a:p>
                      <a:pPr algn="ctr"/>
                      <a:r>
                        <a:rPr sz="1150" b="0" i="0">
                          <a:solidFill>
                            <a:srgbClr val="2B2B2B"/>
                          </a:solidFill>
                          <a:latin typeface="Arial"/>
                        </a:rPr>
                        <a:t>A, C</a:t>
                      </a:r>
                    </a:p>
                  </a:txBody>
                  <a:tcPr marL="64008" marR="64008" marT="27432" marB="27432" anchor="ctr">
                    <a:solidFill>
                      <a:srgbClr val="FFFFFF"/>
                    </a:solidFill>
                  </a:tcPr>
                </a:tc>
                <a:tc>
                  <a:txBody>
                    <a:bodyPr wrap="square"/>
                    <a:lstStyle/>
                    <a:p>
                      <a:pPr algn="ctr"/>
                      <a:r>
                        <a:rPr sz="1150" b="0" i="0">
                          <a:solidFill>
                            <a:srgbClr val="2B2B2B"/>
                          </a:solidFill>
                          <a:latin typeface="Arial"/>
                        </a:rPr>
                        <a:t>B, D, E, F</a:t>
                      </a:r>
                    </a:p>
                  </a:txBody>
                  <a:tcPr marL="64008" marR="64008" marT="27432" marB="27432" anchor="ctr">
                    <a:solidFill>
                      <a:srgbClr val="FFFFFF"/>
                    </a:solidFill>
                  </a:tcPr>
                </a:tc>
              </a:tr>
              <a:tr h="347472">
                <a:tc>
                  <a:txBody>
                    <a:bodyPr wrap="square"/>
                    <a:lstStyle/>
                    <a:p>
                      <a:pPr algn="l"/>
                      <a:r>
                        <a:rPr sz="1150" b="1" i="0">
                          <a:solidFill>
                            <a:srgbClr val="2B2B2B"/>
                          </a:solidFill>
                          <a:latin typeface="Arial"/>
                        </a:rPr>
                        <a:t>Vuelta 2</a:t>
                      </a:r>
                    </a:p>
                  </a:txBody>
                  <a:tcPr marL="64008" marR="64008" marT="27432" marB="27432" anchor="ctr">
                    <a:solidFill>
                      <a:srgbClr val="F2F3F5"/>
                    </a:solidFill>
                  </a:tcPr>
                </a:tc>
                <a:tc>
                  <a:txBody>
                    <a:bodyPr wrap="square"/>
                    <a:lstStyle/>
                    <a:p>
                      <a:pPr algn="ctr"/>
                      <a:r>
                        <a:rPr sz="1150" b="0" i="0">
                          <a:solidFill>
                            <a:srgbClr val="2B2B2B"/>
                          </a:solidFill>
                          <a:latin typeface="Arial"/>
                        </a:rPr>
                        <a:t>(1,5; 1)</a:t>
                      </a:r>
                    </a:p>
                  </a:txBody>
                  <a:tcPr marL="64008" marR="64008" marT="27432" marB="27432" anchor="ctr">
                    <a:solidFill>
                      <a:srgbClr val="F2F3F5"/>
                    </a:solidFill>
                  </a:tcPr>
                </a:tc>
                <a:tc>
                  <a:txBody>
                    <a:bodyPr wrap="square"/>
                    <a:lstStyle/>
                    <a:p>
                      <a:pPr algn="ctr"/>
                      <a:r>
                        <a:rPr sz="1150" b="0" i="0">
                          <a:solidFill>
                            <a:srgbClr val="2B2B2B"/>
                          </a:solidFill>
                          <a:latin typeface="Arial"/>
                        </a:rPr>
                        <a:t>(4,5; 4,25)</a:t>
                      </a:r>
                    </a:p>
                  </a:txBody>
                  <a:tcPr marL="64008" marR="64008" marT="27432" marB="27432" anchor="ctr">
                    <a:solidFill>
                      <a:srgbClr val="F2F3F5"/>
                    </a:solidFill>
                  </a:tcPr>
                </a:tc>
                <a:tc>
                  <a:txBody>
                    <a:bodyPr wrap="square"/>
                    <a:lstStyle/>
                    <a:p>
                      <a:pPr algn="ctr"/>
                      <a:r>
                        <a:rPr sz="1150" b="0" i="0">
                          <a:solidFill>
                            <a:srgbClr val="2B2B2B"/>
                          </a:solidFill>
                          <a:latin typeface="Arial"/>
                        </a:rPr>
                        <a:t>A, B, C</a:t>
                      </a:r>
                    </a:p>
                  </a:txBody>
                  <a:tcPr marL="64008" marR="64008" marT="27432" marB="27432" anchor="ctr">
                    <a:solidFill>
                      <a:srgbClr val="F2F3F5"/>
                    </a:solidFill>
                  </a:tcPr>
                </a:tc>
                <a:tc>
                  <a:txBody>
                    <a:bodyPr wrap="square"/>
                    <a:lstStyle/>
                    <a:p>
                      <a:pPr algn="ctr"/>
                      <a:r>
                        <a:rPr sz="1150" b="0" i="0">
                          <a:solidFill>
                            <a:srgbClr val="2B2B2B"/>
                          </a:solidFill>
                          <a:latin typeface="Arial"/>
                        </a:rPr>
                        <a:t>D, E, F</a:t>
                      </a:r>
                    </a:p>
                  </a:txBody>
                  <a:tcPr marL="64008" marR="64008" marT="27432" marB="27432" anchor="ctr">
                    <a:solidFill>
                      <a:srgbClr val="F2F3F5"/>
                    </a:solidFill>
                  </a:tcPr>
                </a:tc>
              </a:tr>
              <a:tr h="347472">
                <a:tc>
                  <a:txBody>
                    <a:bodyPr wrap="square"/>
                    <a:lstStyle/>
                    <a:p>
                      <a:pPr algn="l"/>
                      <a:r>
                        <a:rPr sz="1150" b="1" i="0">
                          <a:solidFill>
                            <a:srgbClr val="2B2B2B"/>
                          </a:solidFill>
                          <a:latin typeface="Arial"/>
                        </a:rPr>
                        <a:t>Vuelta 3</a:t>
                      </a:r>
                    </a:p>
                  </a:txBody>
                  <a:tcPr marL="64008" marR="64008" marT="27432" marB="27432" anchor="ctr">
                    <a:solidFill>
                      <a:srgbClr val="FFFFFF"/>
                    </a:solidFill>
                  </a:tcPr>
                </a:tc>
                <a:tc>
                  <a:txBody>
                    <a:bodyPr wrap="square"/>
                    <a:lstStyle/>
                    <a:p>
                      <a:pPr algn="ctr"/>
                      <a:r>
                        <a:rPr sz="1150" b="0" i="0">
                          <a:solidFill>
                            <a:srgbClr val="2B2B2B"/>
                          </a:solidFill>
                          <a:latin typeface="Arial"/>
                        </a:rPr>
                        <a:t>(1,5; 1,33)</a:t>
                      </a:r>
                    </a:p>
                  </a:txBody>
                  <a:tcPr marL="64008" marR="64008" marT="27432" marB="27432" anchor="ctr">
                    <a:solidFill>
                      <a:srgbClr val="FFFFFF"/>
                    </a:solidFill>
                  </a:tcPr>
                </a:tc>
                <a:tc>
                  <a:txBody>
                    <a:bodyPr wrap="square"/>
                    <a:lstStyle/>
                    <a:p>
                      <a:pPr algn="ctr"/>
                      <a:r>
                        <a:rPr sz="1150" b="0" i="0">
                          <a:solidFill>
                            <a:srgbClr val="2B2B2B"/>
                          </a:solidFill>
                          <a:latin typeface="Arial"/>
                        </a:rPr>
                        <a:t>(5,5; 5)</a:t>
                      </a:r>
                    </a:p>
                  </a:txBody>
                  <a:tcPr marL="64008" marR="64008" marT="27432" marB="27432" anchor="ctr">
                    <a:solidFill>
                      <a:srgbClr val="FFFFFF"/>
                    </a:solidFill>
                  </a:tcPr>
                </a:tc>
                <a:tc>
                  <a:txBody>
                    <a:bodyPr wrap="square"/>
                    <a:lstStyle/>
                    <a:p>
                      <a:pPr algn="ctr"/>
                      <a:r>
                        <a:rPr sz="1150" b="0" i="0">
                          <a:solidFill>
                            <a:srgbClr val="2B2B2B"/>
                          </a:solidFill>
                          <a:latin typeface="Arial"/>
                        </a:rPr>
                        <a:t>A, B, C</a:t>
                      </a:r>
                    </a:p>
                  </a:txBody>
                  <a:tcPr marL="64008" marR="64008" marT="27432" marB="27432" anchor="ctr">
                    <a:solidFill>
                      <a:srgbClr val="FFFFFF"/>
                    </a:solidFill>
                  </a:tcPr>
                </a:tc>
                <a:tc>
                  <a:txBody>
                    <a:bodyPr wrap="square"/>
                    <a:lstStyle/>
                    <a:p>
                      <a:pPr algn="ctr"/>
                      <a:r>
                        <a:rPr sz="1150" b="0" i="0">
                          <a:solidFill>
                            <a:srgbClr val="2B2B2B"/>
                          </a:solidFill>
                          <a:latin typeface="Arial"/>
                        </a:rPr>
                        <a:t>D, E, F  ✓</a:t>
                      </a:r>
                    </a:p>
                  </a:txBody>
                  <a:tcPr marL="64008" marR="64008" marT="27432" marB="27432" anchor="ctr">
                    <a:solidFill>
                      <a:srgbClr val="FFFFFF"/>
                    </a:solidFill>
                  </a:tcPr>
                </a:tc>
              </a:tr>
            </a:tbl>
          </a:graphicData>
        </a:graphic>
      </p:graphicFrame>
      <p:sp>
        <p:nvSpPr>
          <p:cNvPr id="5" name="Rounded Rectangle 4"/>
          <p:cNvSpPr/>
          <p:nvPr/>
        </p:nvSpPr>
        <p:spPr>
          <a:xfrm>
            <a:off x="731520" y="5989320"/>
            <a:ext cx="7772400" cy="4114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Lección: </a:t>
            </a:r>
            <a:r>
              <a:rPr sz="1200" b="0" i="0">
                <a:solidFill>
                  <a:srgbClr val="2B2B2B"/>
                </a:solidFill>
                <a:latin typeface="Arial"/>
              </a:rPr>
              <a:t>el punto de partida importa. Por eso K-Means se repite desde varios inicios.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primera vuelta con números</a:t>
            </a:r>
          </a:p>
        </p:txBody>
      </p:sp>
      <p:graphicFrame>
        <p:nvGraphicFramePr>
          <p:cNvPr id="3" name="Table 2"/>
          <p:cNvGraphicFramePr>
            <a:graphicFrameLocks noGrp="1"/>
          </p:cNvGraphicFramePr>
          <p:nvPr/>
        </p:nvGraphicFramePr>
        <p:xfrm>
          <a:off x="731520" y="1965960"/>
          <a:ext cx="7772400" cy="2688336"/>
        </p:xfrm>
        <a:graphic>
          <a:graphicData uri="http://schemas.openxmlformats.org/drawingml/2006/table">
            <a:tbl>
              <a:tblPr firstRow="1" bandRow="1">
                <a:tableStyleId>{5C22544A-7EE6-4342-B048-85BDC9FD1C3A}</a:tableStyleId>
              </a:tblPr>
              <a:tblGrid>
                <a:gridCol w="822960"/>
                <a:gridCol w="1371600"/>
                <a:gridCol w="2103120"/>
                <a:gridCol w="2194560"/>
                <a:gridCol w="1280160"/>
              </a:tblGrid>
              <a:tr h="384048">
                <a:tc>
                  <a:txBody>
                    <a:bodyPr wrap="square"/>
                    <a:lstStyle/>
                    <a:p>
                      <a:pPr algn="l"/>
                      <a:r>
                        <a:rPr sz="1200" b="1" i="0">
                          <a:solidFill>
                            <a:srgbClr val="FFFFFF"/>
                          </a:solidFill>
                          <a:latin typeface="Arial"/>
                        </a:rPr>
                        <a:t>Punto</a:t>
                      </a:r>
                    </a:p>
                  </a:txBody>
                  <a:tcPr marL="64008" marR="64008" marT="27432" marB="27432" anchor="ctr">
                    <a:solidFill>
                      <a:srgbClr val="242852"/>
                    </a:solidFill>
                  </a:tcPr>
                </a:tc>
                <a:tc>
                  <a:txBody>
                    <a:bodyPr wrap="square"/>
                    <a:lstStyle/>
                    <a:p>
                      <a:pPr algn="ctr"/>
                      <a:r>
                        <a:rPr sz="1200" b="1" i="0">
                          <a:solidFill>
                            <a:srgbClr val="FFFFFF"/>
                          </a:solidFill>
                          <a:latin typeface="Arial"/>
                        </a:rPr>
                        <a:t>Coordenadas</a:t>
                      </a:r>
                    </a:p>
                  </a:txBody>
                  <a:tcPr marL="64008" marR="64008" marT="27432" marB="27432" anchor="ctr">
                    <a:solidFill>
                      <a:srgbClr val="242852"/>
                    </a:solidFill>
                  </a:tcPr>
                </a:tc>
                <a:tc>
                  <a:txBody>
                    <a:bodyPr wrap="square"/>
                    <a:lstStyle/>
                    <a:p>
                      <a:pPr algn="ctr"/>
                      <a:r>
                        <a:rPr sz="1200" b="1" i="0">
                          <a:solidFill>
                            <a:srgbClr val="FFFFFF"/>
                          </a:solidFill>
                          <a:latin typeface="Arial"/>
                        </a:rPr>
                        <a:t>Distancia al azul (1; 1)</a:t>
                      </a:r>
                    </a:p>
                  </a:txBody>
                  <a:tcPr marL="64008" marR="64008" marT="27432" marB="27432" anchor="ctr">
                    <a:solidFill>
                      <a:srgbClr val="242852"/>
                    </a:solidFill>
                  </a:tcPr>
                </a:tc>
                <a:tc>
                  <a:txBody>
                    <a:bodyPr wrap="square"/>
                    <a:lstStyle/>
                    <a:p>
                      <a:pPr algn="ctr"/>
                      <a:r>
                        <a:rPr sz="1200" b="1" i="0">
                          <a:solidFill>
                            <a:srgbClr val="FFFFFF"/>
                          </a:solidFill>
                          <a:latin typeface="Arial"/>
                        </a:rPr>
                        <a:t>Distancia al rojo (1,5; 2)</a:t>
                      </a:r>
                    </a:p>
                  </a:txBody>
                  <a:tcPr marL="64008" marR="64008" marT="27432" marB="27432" anchor="ctr">
                    <a:solidFill>
                      <a:srgbClr val="242852"/>
                    </a:solidFill>
                  </a:tcPr>
                </a:tc>
                <a:tc>
                  <a:txBody>
                    <a:bodyPr wrap="square"/>
                    <a:lstStyle/>
                    <a:p>
                      <a:pPr algn="ctr"/>
                      <a:r>
                        <a:rPr sz="1200" b="1" i="0">
                          <a:solidFill>
                            <a:srgbClr val="FFFFFF"/>
                          </a:solidFill>
                          <a:latin typeface="Arial"/>
                        </a:rPr>
                        <a:t>Va al</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A</a:t>
                      </a:r>
                    </a:p>
                  </a:txBody>
                  <a:tcPr marL="64008" marR="64008" marT="27432" marB="27432" anchor="ctr">
                    <a:solidFill>
                      <a:srgbClr val="FFFFFF"/>
                    </a:solidFill>
                  </a:tcPr>
                </a:tc>
                <a:tc>
                  <a:txBody>
                    <a:bodyPr wrap="square"/>
                    <a:lstStyle/>
                    <a:p>
                      <a:pPr algn="ctr"/>
                      <a:r>
                        <a:rPr sz="1200" b="0" i="0">
                          <a:solidFill>
                            <a:srgbClr val="2B2B2B"/>
                          </a:solidFill>
                          <a:latin typeface="Arial"/>
                        </a:rPr>
                        <a:t>(1; 1)</a:t>
                      </a:r>
                    </a:p>
                  </a:txBody>
                  <a:tcPr marL="64008" marR="64008" marT="27432" marB="27432" anchor="ctr">
                    <a:solidFill>
                      <a:srgbClr val="FFFFFF"/>
                    </a:solidFill>
                  </a:tcPr>
                </a:tc>
                <a:tc>
                  <a:txBody>
                    <a:bodyPr wrap="square"/>
                    <a:lstStyle/>
                    <a:p>
                      <a:pPr algn="ctr"/>
                      <a:r>
                        <a:rPr sz="1200" b="0" i="0">
                          <a:solidFill>
                            <a:srgbClr val="2B2B2B"/>
                          </a:solidFill>
                          <a:latin typeface="Arial"/>
                        </a:rPr>
                        <a:t>0,00</a:t>
                      </a:r>
                    </a:p>
                  </a:txBody>
                  <a:tcPr marL="64008" marR="64008" marT="27432" marB="27432" anchor="ctr">
                    <a:solidFill>
                      <a:srgbClr val="FFFFFF"/>
                    </a:solidFill>
                  </a:tcPr>
                </a:tc>
                <a:tc>
                  <a:txBody>
                    <a:bodyPr wrap="square"/>
                    <a:lstStyle/>
                    <a:p>
                      <a:pPr algn="ctr"/>
                      <a:r>
                        <a:rPr sz="1200" b="0" i="0">
                          <a:solidFill>
                            <a:srgbClr val="2B2B2B"/>
                          </a:solidFill>
                          <a:latin typeface="Arial"/>
                        </a:rPr>
                        <a:t>1,12</a:t>
                      </a:r>
                    </a:p>
                  </a:txBody>
                  <a:tcPr marL="64008" marR="64008" marT="27432" marB="27432" anchor="ctr">
                    <a:solidFill>
                      <a:srgbClr val="FFFFFF"/>
                    </a:solidFill>
                  </a:tcPr>
                </a:tc>
                <a:tc>
                  <a:txBody>
                    <a:bodyPr wrap="square"/>
                    <a:lstStyle/>
                    <a:p>
                      <a:pPr algn="ctr"/>
                      <a:r>
                        <a:rPr sz="1200" b="1" i="0">
                          <a:solidFill>
                            <a:srgbClr val="3D5A99"/>
                          </a:solidFill>
                          <a:latin typeface="Arial"/>
                        </a:rPr>
                        <a:t>azul</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B</a:t>
                      </a:r>
                    </a:p>
                  </a:txBody>
                  <a:tcPr marL="64008" marR="64008" marT="27432" marB="27432" anchor="ctr">
                    <a:solidFill>
                      <a:srgbClr val="F2F3F5"/>
                    </a:solidFill>
                  </a:tcPr>
                </a:tc>
                <a:tc>
                  <a:txBody>
                    <a:bodyPr wrap="square"/>
                    <a:lstStyle/>
                    <a:p>
                      <a:pPr algn="ctr"/>
                      <a:r>
                        <a:rPr sz="1200" b="0" i="0">
                          <a:solidFill>
                            <a:srgbClr val="2B2B2B"/>
                          </a:solidFill>
                          <a:latin typeface="Arial"/>
                        </a:rPr>
                        <a:t>(1,5; 2)</a:t>
                      </a:r>
                    </a:p>
                  </a:txBody>
                  <a:tcPr marL="64008" marR="64008" marT="27432" marB="27432" anchor="ctr">
                    <a:solidFill>
                      <a:srgbClr val="F2F3F5"/>
                    </a:solidFill>
                  </a:tcPr>
                </a:tc>
                <a:tc>
                  <a:txBody>
                    <a:bodyPr wrap="square"/>
                    <a:lstStyle/>
                    <a:p>
                      <a:pPr algn="ctr"/>
                      <a:r>
                        <a:rPr sz="1200" b="0" i="0">
                          <a:solidFill>
                            <a:srgbClr val="2B2B2B"/>
                          </a:solidFill>
                          <a:latin typeface="Arial"/>
                        </a:rPr>
                        <a:t>1,12</a:t>
                      </a:r>
                    </a:p>
                  </a:txBody>
                  <a:tcPr marL="64008" marR="64008" marT="27432" marB="27432" anchor="ctr">
                    <a:solidFill>
                      <a:srgbClr val="F2F3F5"/>
                    </a:solidFill>
                  </a:tcPr>
                </a:tc>
                <a:tc>
                  <a:txBody>
                    <a:bodyPr wrap="square"/>
                    <a:lstStyle/>
                    <a:p>
                      <a:pPr algn="ctr"/>
                      <a:r>
                        <a:rPr sz="1200" b="0" i="0">
                          <a:solidFill>
                            <a:srgbClr val="2B2B2B"/>
                          </a:solidFill>
                          <a:latin typeface="Arial"/>
                        </a:rPr>
                        <a:t>0,00</a:t>
                      </a:r>
                    </a:p>
                  </a:txBody>
                  <a:tcPr marL="64008" marR="64008" marT="27432" marB="27432" anchor="ctr">
                    <a:solidFill>
                      <a:srgbClr val="F2F3F5"/>
                    </a:solidFill>
                  </a:tcPr>
                </a:tc>
                <a:tc>
                  <a:txBody>
                    <a:bodyPr wrap="square"/>
                    <a:lstStyle/>
                    <a:p>
                      <a:pPr algn="ctr"/>
                      <a:r>
                        <a:rPr sz="1200" b="1" i="0">
                          <a:solidFill>
                            <a:srgbClr val="D7263D"/>
                          </a:solidFill>
                          <a:latin typeface="Arial"/>
                        </a:rPr>
                        <a:t>rojo</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C</a:t>
                      </a:r>
                    </a:p>
                  </a:txBody>
                  <a:tcPr marL="64008" marR="64008" marT="27432" marB="27432" anchor="ctr">
                    <a:solidFill>
                      <a:srgbClr val="FFFFFF"/>
                    </a:solidFill>
                  </a:tcPr>
                </a:tc>
                <a:tc>
                  <a:txBody>
                    <a:bodyPr wrap="square"/>
                    <a:lstStyle/>
                    <a:p>
                      <a:pPr algn="ctr"/>
                      <a:r>
                        <a:rPr sz="1200" b="0" i="0">
                          <a:solidFill>
                            <a:srgbClr val="2B2B2B"/>
                          </a:solidFill>
                          <a:latin typeface="Arial"/>
                        </a:rPr>
                        <a:t>(2; 1)</a:t>
                      </a:r>
                    </a:p>
                  </a:txBody>
                  <a:tcPr marL="64008" marR="64008" marT="27432" marB="27432" anchor="ctr">
                    <a:solidFill>
                      <a:srgbClr val="FFFFFF"/>
                    </a:solidFill>
                  </a:tcPr>
                </a:tc>
                <a:tc>
                  <a:txBody>
                    <a:bodyPr wrap="square"/>
                    <a:lstStyle/>
                    <a:p>
                      <a:pPr algn="ctr"/>
                      <a:r>
                        <a:rPr sz="1200" b="0" i="0">
                          <a:solidFill>
                            <a:srgbClr val="2B2B2B"/>
                          </a:solidFill>
                          <a:latin typeface="Arial"/>
                        </a:rPr>
                        <a:t>1,00</a:t>
                      </a:r>
                    </a:p>
                  </a:txBody>
                  <a:tcPr marL="64008" marR="64008" marT="27432" marB="27432" anchor="ctr">
                    <a:solidFill>
                      <a:srgbClr val="FFFFFF"/>
                    </a:solidFill>
                  </a:tcPr>
                </a:tc>
                <a:tc>
                  <a:txBody>
                    <a:bodyPr wrap="square"/>
                    <a:lstStyle/>
                    <a:p>
                      <a:pPr algn="ctr"/>
                      <a:r>
                        <a:rPr sz="1200" b="0" i="0">
                          <a:solidFill>
                            <a:srgbClr val="2B2B2B"/>
                          </a:solidFill>
                          <a:latin typeface="Arial"/>
                        </a:rPr>
                        <a:t>1,12</a:t>
                      </a:r>
                    </a:p>
                  </a:txBody>
                  <a:tcPr marL="64008" marR="64008" marT="27432" marB="27432" anchor="ctr">
                    <a:solidFill>
                      <a:srgbClr val="FFFFFF"/>
                    </a:solidFill>
                  </a:tcPr>
                </a:tc>
                <a:tc>
                  <a:txBody>
                    <a:bodyPr wrap="square"/>
                    <a:lstStyle/>
                    <a:p>
                      <a:pPr algn="ctr"/>
                      <a:r>
                        <a:rPr sz="1200" b="1" i="0">
                          <a:solidFill>
                            <a:srgbClr val="3D5A99"/>
                          </a:solidFill>
                          <a:latin typeface="Arial"/>
                        </a:rPr>
                        <a:t>azul</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D</a:t>
                      </a:r>
                    </a:p>
                  </a:txBody>
                  <a:tcPr marL="64008" marR="64008" marT="27432" marB="27432" anchor="ctr">
                    <a:solidFill>
                      <a:srgbClr val="F2F3F5"/>
                    </a:solidFill>
                  </a:tcPr>
                </a:tc>
                <a:tc>
                  <a:txBody>
                    <a:bodyPr wrap="square"/>
                    <a:lstStyle/>
                    <a:p>
                      <a:pPr algn="ctr"/>
                      <a:r>
                        <a:rPr sz="1200" b="0" i="0">
                          <a:solidFill>
                            <a:srgbClr val="2B2B2B"/>
                          </a:solidFill>
                          <a:latin typeface="Arial"/>
                        </a:rPr>
                        <a:t>(5; 4)</a:t>
                      </a:r>
                    </a:p>
                  </a:txBody>
                  <a:tcPr marL="64008" marR="64008" marT="27432" marB="27432" anchor="ctr">
                    <a:solidFill>
                      <a:srgbClr val="F2F3F5"/>
                    </a:solidFill>
                  </a:tcPr>
                </a:tc>
                <a:tc>
                  <a:txBody>
                    <a:bodyPr wrap="square"/>
                    <a:lstStyle/>
                    <a:p>
                      <a:pPr algn="ctr"/>
                      <a:r>
                        <a:rPr sz="1200" b="0" i="0">
                          <a:solidFill>
                            <a:srgbClr val="2B2B2B"/>
                          </a:solidFill>
                          <a:latin typeface="Arial"/>
                        </a:rPr>
                        <a:t>5,00</a:t>
                      </a:r>
                    </a:p>
                  </a:txBody>
                  <a:tcPr marL="64008" marR="64008" marT="27432" marB="27432" anchor="ctr">
                    <a:solidFill>
                      <a:srgbClr val="F2F3F5"/>
                    </a:solidFill>
                  </a:tcPr>
                </a:tc>
                <a:tc>
                  <a:txBody>
                    <a:bodyPr wrap="square"/>
                    <a:lstStyle/>
                    <a:p>
                      <a:pPr algn="ctr"/>
                      <a:r>
                        <a:rPr sz="1200" b="0" i="0">
                          <a:solidFill>
                            <a:srgbClr val="2B2B2B"/>
                          </a:solidFill>
                          <a:latin typeface="Arial"/>
                        </a:rPr>
                        <a:t>4,03</a:t>
                      </a:r>
                    </a:p>
                  </a:txBody>
                  <a:tcPr marL="64008" marR="64008" marT="27432" marB="27432" anchor="ctr">
                    <a:solidFill>
                      <a:srgbClr val="F2F3F5"/>
                    </a:solidFill>
                  </a:tcPr>
                </a:tc>
                <a:tc>
                  <a:txBody>
                    <a:bodyPr wrap="square"/>
                    <a:lstStyle/>
                    <a:p>
                      <a:pPr algn="ctr"/>
                      <a:r>
                        <a:rPr sz="1200" b="1" i="0">
                          <a:solidFill>
                            <a:srgbClr val="D7263D"/>
                          </a:solidFill>
                          <a:latin typeface="Arial"/>
                        </a:rPr>
                        <a:t>rojo</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E</a:t>
                      </a:r>
                    </a:p>
                  </a:txBody>
                  <a:tcPr marL="64008" marR="64008" marT="27432" marB="27432" anchor="ctr">
                    <a:solidFill>
                      <a:srgbClr val="FFFFFF"/>
                    </a:solidFill>
                  </a:tcPr>
                </a:tc>
                <a:tc>
                  <a:txBody>
                    <a:bodyPr wrap="square"/>
                    <a:lstStyle/>
                    <a:p>
                      <a:pPr algn="ctr"/>
                      <a:r>
                        <a:rPr sz="1200" b="0" i="0">
                          <a:solidFill>
                            <a:srgbClr val="2B2B2B"/>
                          </a:solidFill>
                          <a:latin typeface="Arial"/>
                        </a:rPr>
                        <a:t>(6; 5)</a:t>
                      </a:r>
                    </a:p>
                  </a:txBody>
                  <a:tcPr marL="64008" marR="64008" marT="27432" marB="27432" anchor="ctr">
                    <a:solidFill>
                      <a:srgbClr val="FFFFFF"/>
                    </a:solidFill>
                  </a:tcPr>
                </a:tc>
                <a:tc>
                  <a:txBody>
                    <a:bodyPr wrap="square"/>
                    <a:lstStyle/>
                    <a:p>
                      <a:pPr algn="ctr"/>
                      <a:r>
                        <a:rPr sz="1200" b="0" i="0">
                          <a:solidFill>
                            <a:srgbClr val="2B2B2B"/>
                          </a:solidFill>
                          <a:latin typeface="Arial"/>
                        </a:rPr>
                        <a:t>6,40</a:t>
                      </a:r>
                    </a:p>
                  </a:txBody>
                  <a:tcPr marL="64008" marR="64008" marT="27432" marB="27432" anchor="ctr">
                    <a:solidFill>
                      <a:srgbClr val="FFFFFF"/>
                    </a:solidFill>
                  </a:tcPr>
                </a:tc>
                <a:tc>
                  <a:txBody>
                    <a:bodyPr wrap="square"/>
                    <a:lstStyle/>
                    <a:p>
                      <a:pPr algn="ctr"/>
                      <a:r>
                        <a:rPr sz="1200" b="0" i="0">
                          <a:solidFill>
                            <a:srgbClr val="2B2B2B"/>
                          </a:solidFill>
                          <a:latin typeface="Arial"/>
                        </a:rPr>
                        <a:t>5,41</a:t>
                      </a:r>
                    </a:p>
                  </a:txBody>
                  <a:tcPr marL="64008" marR="64008" marT="27432" marB="27432" anchor="ctr">
                    <a:solidFill>
                      <a:srgbClr val="FFFFFF"/>
                    </a:solidFill>
                  </a:tcPr>
                </a:tc>
                <a:tc>
                  <a:txBody>
                    <a:bodyPr wrap="square"/>
                    <a:lstStyle/>
                    <a:p>
                      <a:pPr algn="ctr"/>
                      <a:r>
                        <a:rPr sz="1200" b="1" i="0">
                          <a:solidFill>
                            <a:srgbClr val="D7263D"/>
                          </a:solidFill>
                          <a:latin typeface="Arial"/>
                        </a:rPr>
                        <a:t>rojo</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F</a:t>
                      </a:r>
                    </a:p>
                  </a:txBody>
                  <a:tcPr marL="64008" marR="64008" marT="27432" marB="27432" anchor="ctr">
                    <a:solidFill>
                      <a:srgbClr val="F2F3F5"/>
                    </a:solidFill>
                  </a:tcPr>
                </a:tc>
                <a:tc>
                  <a:txBody>
                    <a:bodyPr wrap="square"/>
                    <a:lstStyle/>
                    <a:p>
                      <a:pPr algn="ctr"/>
                      <a:r>
                        <a:rPr sz="1200" b="0" i="0">
                          <a:solidFill>
                            <a:srgbClr val="2B2B2B"/>
                          </a:solidFill>
                          <a:latin typeface="Arial"/>
                        </a:rPr>
                        <a:t>(5,5; 6)</a:t>
                      </a:r>
                    </a:p>
                  </a:txBody>
                  <a:tcPr marL="64008" marR="64008" marT="27432" marB="27432" anchor="ctr">
                    <a:solidFill>
                      <a:srgbClr val="F2F3F5"/>
                    </a:solidFill>
                  </a:tcPr>
                </a:tc>
                <a:tc>
                  <a:txBody>
                    <a:bodyPr wrap="square"/>
                    <a:lstStyle/>
                    <a:p>
                      <a:pPr algn="ctr"/>
                      <a:r>
                        <a:rPr sz="1200" b="0" i="0">
                          <a:solidFill>
                            <a:srgbClr val="2B2B2B"/>
                          </a:solidFill>
                          <a:latin typeface="Arial"/>
                        </a:rPr>
                        <a:t>6,73</a:t>
                      </a:r>
                    </a:p>
                  </a:txBody>
                  <a:tcPr marL="64008" marR="64008" marT="27432" marB="27432" anchor="ctr">
                    <a:solidFill>
                      <a:srgbClr val="F2F3F5"/>
                    </a:solidFill>
                  </a:tcPr>
                </a:tc>
                <a:tc>
                  <a:txBody>
                    <a:bodyPr wrap="square"/>
                    <a:lstStyle/>
                    <a:p>
                      <a:pPr algn="ctr"/>
                      <a:r>
                        <a:rPr sz="1200" b="0" i="0">
                          <a:solidFill>
                            <a:srgbClr val="2B2B2B"/>
                          </a:solidFill>
                          <a:latin typeface="Arial"/>
                        </a:rPr>
                        <a:t>5,66</a:t>
                      </a:r>
                    </a:p>
                  </a:txBody>
                  <a:tcPr marL="64008" marR="64008" marT="27432" marB="27432" anchor="ctr">
                    <a:solidFill>
                      <a:srgbClr val="F2F3F5"/>
                    </a:solidFill>
                  </a:tcPr>
                </a:tc>
                <a:tc>
                  <a:txBody>
                    <a:bodyPr wrap="square"/>
                    <a:lstStyle/>
                    <a:p>
                      <a:pPr algn="ctr"/>
                      <a:r>
                        <a:rPr sz="1200" b="1" i="0">
                          <a:solidFill>
                            <a:srgbClr val="D7263D"/>
                          </a:solidFill>
                          <a:latin typeface="Arial"/>
                        </a:rPr>
                        <a:t>rojo</a:t>
                      </a:r>
                    </a:p>
                  </a:txBody>
                  <a:tcPr marL="64008" marR="64008" marT="27432" marB="27432" anchor="ctr">
                    <a:solidFill>
                      <a:srgbClr val="F2F3F5"/>
                    </a:solidFill>
                  </a:tcPr>
                </a:tc>
              </a:tr>
            </a:tbl>
          </a:graphicData>
        </a:graphic>
      </p:graphicFrame>
      <p:sp>
        <p:nvSpPr>
          <p:cNvPr id="4" name="Rounded Rectangle 3"/>
          <p:cNvSpPr/>
          <p:nvPr/>
        </p:nvSpPr>
        <p:spPr>
          <a:xfrm>
            <a:off x="731520" y="4800600"/>
            <a:ext cx="3794760"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3D5A99"/>
                </a:solidFill>
                <a:latin typeface="Arial"/>
              </a:rPr>
              <a:t>Nuevo centro azul</a:t>
            </a:r>
          </a:p>
          <a:p>
            <a:pPr algn="ctr">
              <a:spcAft>
                <a:spcPts val="300"/>
              </a:spcAft>
            </a:pPr>
            <a:r>
              <a:rPr sz="1100" b="0" i="0">
                <a:solidFill>
                  <a:srgbClr val="2B2B2B"/>
                </a:solidFill>
                <a:latin typeface="Arial"/>
              </a:rPr>
              <a:t>promedio de A y C = ((1 + 2) / 2; (1 + 1) / 2) = (1,5; 1)</a:t>
            </a:r>
          </a:p>
        </p:txBody>
      </p:sp>
      <p:sp>
        <p:nvSpPr>
          <p:cNvPr id="5" name="Rounded Rectangle 4"/>
          <p:cNvSpPr/>
          <p:nvPr/>
        </p:nvSpPr>
        <p:spPr>
          <a:xfrm>
            <a:off x="4709160" y="4800600"/>
            <a:ext cx="3794760"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Nuevo centro rojo</a:t>
            </a:r>
          </a:p>
          <a:p>
            <a:pPr algn="ctr">
              <a:spcAft>
                <a:spcPts val="300"/>
              </a:spcAft>
            </a:pPr>
            <a:r>
              <a:rPr sz="1100" b="0" i="0">
                <a:solidFill>
                  <a:srgbClr val="2B2B2B"/>
                </a:solidFill>
                <a:latin typeface="Arial"/>
              </a:rPr>
              <a:t>promedio de B, D, E y F = (4,5; 4,25)</a:t>
            </a:r>
          </a:p>
        </p:txBody>
      </p:sp>
      <p:sp>
        <p:nvSpPr>
          <p:cNvPr id="6" name="Rounded Rectangle 5"/>
          <p:cNvSpPr/>
          <p:nvPr/>
        </p:nvSpPr>
        <p:spPr>
          <a:xfrm>
            <a:off x="731520" y="585216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Distancia euclidiana: </a:t>
            </a:r>
            <a:r>
              <a:rPr sz="1200" b="0" i="0">
                <a:solidFill>
                  <a:srgbClr val="2B2B2B"/>
                </a:solidFill>
                <a:latin typeface="Arial"/>
              </a:rPr>
              <a:t>de C a A = √((2 − 1)² + (1 − 1)²) = 1,00. La misma del KNN del Día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Los hiperparámetros de K-Means</a:t>
            </a:r>
          </a:p>
        </p:txBody>
      </p:sp>
      <p:sp>
        <p:nvSpPr>
          <p:cNvPr id="3" name="Rounded Rectangle 2"/>
          <p:cNvSpPr/>
          <p:nvPr/>
        </p:nvSpPr>
        <p:spPr>
          <a:xfrm>
            <a:off x="731520" y="1965960"/>
            <a:ext cx="3794760"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Rounded Rectangle 3"/>
          <p:cNvSpPr/>
          <p:nvPr/>
        </p:nvSpPr>
        <p:spPr>
          <a:xfrm>
            <a:off x="868680" y="2103120"/>
            <a:ext cx="1920240" cy="4114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n_clusters (k)</a:t>
            </a:r>
          </a:p>
        </p:txBody>
      </p:sp>
      <p:sp>
        <p:nvSpPr>
          <p:cNvPr id="5" name="TextBox 4"/>
          <p:cNvSpPr txBox="1"/>
          <p:nvPr/>
        </p:nvSpPr>
        <p:spPr>
          <a:xfrm>
            <a:off x="2926080" y="2057400"/>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hoy: </a:t>
            </a:r>
            <a:r>
              <a:rPr sz="1400" b="1" i="0">
                <a:solidFill>
                  <a:srgbClr val="242852"/>
                </a:solidFill>
                <a:latin typeface="Arial"/>
              </a:rPr>
              <a:t>4</a:t>
            </a:r>
          </a:p>
        </p:txBody>
      </p:sp>
      <p:sp>
        <p:nvSpPr>
          <p:cNvPr id="6" name="TextBox 5"/>
          <p:cNvSpPr txBox="1"/>
          <p:nvPr/>
        </p:nvSpPr>
        <p:spPr>
          <a:xfrm>
            <a:off x="868680" y="2651760"/>
            <a:ext cx="3520440" cy="9144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Número de grupos</a:t>
            </a:r>
          </a:p>
          <a:p>
            <a:pPr algn="l">
              <a:spcAft>
                <a:spcPts val="400"/>
              </a:spcAft>
            </a:pPr>
            <a:r>
              <a:rPr sz="1200" b="0" i="0">
                <a:solidFill>
                  <a:srgbClr val="2B2B2B"/>
                </a:solidFill>
                <a:latin typeface="Arial"/>
              </a:rPr>
              <a:t>Se elige con codo, Silhouette e interpretación</a:t>
            </a:r>
          </a:p>
        </p:txBody>
      </p:sp>
      <p:sp>
        <p:nvSpPr>
          <p:cNvPr id="7" name="Rounded Rectangle 6"/>
          <p:cNvSpPr/>
          <p:nvPr/>
        </p:nvSpPr>
        <p:spPr>
          <a:xfrm>
            <a:off x="4663440" y="1965960"/>
            <a:ext cx="3794760" cy="16459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ounded Rectangle 7"/>
          <p:cNvSpPr/>
          <p:nvPr/>
        </p:nvSpPr>
        <p:spPr>
          <a:xfrm>
            <a:off x="4800600" y="2103120"/>
            <a:ext cx="1920240" cy="41148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n_init</a:t>
            </a:r>
          </a:p>
        </p:txBody>
      </p:sp>
      <p:sp>
        <p:nvSpPr>
          <p:cNvPr id="9" name="TextBox 8"/>
          <p:cNvSpPr txBox="1"/>
          <p:nvPr/>
        </p:nvSpPr>
        <p:spPr>
          <a:xfrm>
            <a:off x="6858000" y="2057400"/>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hoy: </a:t>
            </a:r>
            <a:r>
              <a:rPr sz="1400" b="1" i="0">
                <a:solidFill>
                  <a:srgbClr val="D7263D"/>
                </a:solidFill>
                <a:latin typeface="Arial"/>
              </a:rPr>
              <a:t>20</a:t>
            </a:r>
          </a:p>
        </p:txBody>
      </p:sp>
      <p:sp>
        <p:nvSpPr>
          <p:cNvPr id="10" name="TextBox 9"/>
          <p:cNvSpPr txBox="1"/>
          <p:nvPr/>
        </p:nvSpPr>
        <p:spPr>
          <a:xfrm>
            <a:off x="4800600" y="2651760"/>
            <a:ext cx="3520440" cy="91440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Inicios distintos</a:t>
            </a:r>
          </a:p>
          <a:p>
            <a:pPr algn="l">
              <a:spcAft>
                <a:spcPts val="400"/>
              </a:spcAft>
            </a:pPr>
            <a:r>
              <a:rPr sz="1200" b="0" i="0">
                <a:solidFill>
                  <a:srgbClr val="2B2B2B"/>
                </a:solidFill>
                <a:latin typeface="Arial"/>
              </a:rPr>
              <a:t>Evita quedarse con un mal punto de partida</a:t>
            </a:r>
          </a:p>
        </p:txBody>
      </p:sp>
      <p:sp>
        <p:nvSpPr>
          <p:cNvPr id="11" name="Rounded Rectangle 10"/>
          <p:cNvSpPr/>
          <p:nvPr/>
        </p:nvSpPr>
        <p:spPr>
          <a:xfrm>
            <a:off x="731520" y="3749039"/>
            <a:ext cx="3794760"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ounded Rectangle 11"/>
          <p:cNvSpPr/>
          <p:nvPr/>
        </p:nvSpPr>
        <p:spPr>
          <a:xfrm>
            <a:off x="868680" y="3886200"/>
            <a:ext cx="1920240" cy="4114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random_state</a:t>
            </a:r>
          </a:p>
        </p:txBody>
      </p:sp>
      <p:sp>
        <p:nvSpPr>
          <p:cNvPr id="13" name="TextBox 12"/>
          <p:cNvSpPr txBox="1"/>
          <p:nvPr/>
        </p:nvSpPr>
        <p:spPr>
          <a:xfrm>
            <a:off x="2926080" y="3840479"/>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hoy: </a:t>
            </a:r>
            <a:r>
              <a:rPr sz="1400" b="1" i="0">
                <a:solidFill>
                  <a:srgbClr val="242852"/>
                </a:solidFill>
                <a:latin typeface="Arial"/>
              </a:rPr>
              <a:t>42</a:t>
            </a:r>
          </a:p>
        </p:txBody>
      </p:sp>
      <p:sp>
        <p:nvSpPr>
          <p:cNvPr id="14" name="TextBox 13"/>
          <p:cNvSpPr txBox="1"/>
          <p:nvPr/>
        </p:nvSpPr>
        <p:spPr>
          <a:xfrm>
            <a:off x="868680" y="4434840"/>
            <a:ext cx="3520440" cy="91440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Semilla del sorteo</a:t>
            </a:r>
          </a:p>
          <a:p>
            <a:pPr algn="l">
              <a:spcAft>
                <a:spcPts val="400"/>
              </a:spcAft>
            </a:pPr>
            <a:r>
              <a:rPr sz="1200" b="0" i="0">
                <a:solidFill>
                  <a:srgbClr val="2B2B2B"/>
                </a:solidFill>
                <a:latin typeface="Arial"/>
              </a:rPr>
              <a:t>Resultados repetibles</a:t>
            </a:r>
          </a:p>
        </p:txBody>
      </p:sp>
      <p:sp>
        <p:nvSpPr>
          <p:cNvPr id="15" name="Rounded Rectangle 14"/>
          <p:cNvSpPr/>
          <p:nvPr/>
        </p:nvSpPr>
        <p:spPr>
          <a:xfrm>
            <a:off x="4663440" y="3749039"/>
            <a:ext cx="3794760" cy="16459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ounded Rectangle 15"/>
          <p:cNvSpPr/>
          <p:nvPr/>
        </p:nvSpPr>
        <p:spPr>
          <a:xfrm>
            <a:off x="4800600" y="3886200"/>
            <a:ext cx="1920240" cy="41148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300"/>
              </a:spcAft>
            </a:pPr>
            <a:r>
              <a:rPr sz="1150" b="1" i="0">
                <a:solidFill>
                  <a:srgbClr val="FFFFFF"/>
                </a:solidFill>
                <a:latin typeface="Arial"/>
              </a:rPr>
              <a:t>Preparación</a:t>
            </a:r>
          </a:p>
        </p:txBody>
      </p:sp>
      <p:sp>
        <p:nvSpPr>
          <p:cNvPr id="17" name="TextBox 16"/>
          <p:cNvSpPr txBox="1"/>
          <p:nvPr/>
        </p:nvSpPr>
        <p:spPr>
          <a:xfrm>
            <a:off x="6858000" y="3840479"/>
            <a:ext cx="1508760" cy="502920"/>
          </a:xfrm>
          <a:prstGeom prst="rect">
            <a:avLst/>
          </a:prstGeom>
          <a:noFill/>
        </p:spPr>
        <p:txBody>
          <a:bodyPr wrap="square" anchor="ctr" lIns="36576" rIns="36576" tIns="36576" bIns="36576">
            <a:spAutoFit/>
          </a:bodyPr>
          <a:lstStyle/>
          <a:p>
            <a:pPr algn="l">
              <a:spcAft>
                <a:spcPts val="400"/>
              </a:spcAft>
            </a:pPr>
            <a:r>
              <a:rPr sz="1100" b="0" i="0">
                <a:solidFill>
                  <a:srgbClr val="5F6368"/>
                </a:solidFill>
                <a:latin typeface="Arial"/>
              </a:rPr>
              <a:t>hoy: </a:t>
            </a:r>
            <a:r>
              <a:rPr sz="1400" b="1" i="0">
                <a:solidFill>
                  <a:srgbClr val="D7263D"/>
                </a:solidFill>
                <a:latin typeface="Arial"/>
              </a:rPr>
              <a:t>9, log, z</a:t>
            </a:r>
          </a:p>
        </p:txBody>
      </p:sp>
      <p:sp>
        <p:nvSpPr>
          <p:cNvPr id="18" name="TextBox 17"/>
          <p:cNvSpPr txBox="1"/>
          <p:nvPr/>
        </p:nvSpPr>
        <p:spPr>
          <a:xfrm>
            <a:off x="4800600" y="4434840"/>
            <a:ext cx="3520440" cy="914400"/>
          </a:xfrm>
          <a:prstGeom prst="rect">
            <a:avLst/>
          </a:prstGeom>
          <a:noFill/>
        </p:spPr>
        <p:txBody>
          <a:bodyPr wrap="square" anchor="t" lIns="36576" rIns="36576" tIns="36576" bIns="36576">
            <a:spAutoFit/>
          </a:bodyPr>
          <a:lstStyle/>
          <a:p>
            <a:pPr algn="l">
              <a:spcAft>
                <a:spcPts val="400"/>
              </a:spcAft>
            </a:pPr>
            <a:r>
              <a:rPr sz="1300" b="1" i="0">
                <a:solidFill>
                  <a:srgbClr val="D7263D"/>
                </a:solidFill>
                <a:latin typeface="Arial"/>
              </a:rPr>
              <a:t>Variables y transformación</a:t>
            </a:r>
          </a:p>
          <a:p>
            <a:pPr algn="l">
              <a:spcAft>
                <a:spcPts val="400"/>
              </a:spcAft>
            </a:pPr>
            <a:r>
              <a:rPr sz="1200" b="0" i="0">
                <a:solidFill>
                  <a:srgbClr val="2B2B2B"/>
                </a:solidFill>
                <a:latin typeface="Arial"/>
              </a:rPr>
              <a:t>Cambia los grupos tanto como k</a:t>
            </a:r>
          </a:p>
        </p:txBody>
      </p:sp>
      <p:sp>
        <p:nvSpPr>
          <p:cNvPr id="19" name="Rounded Rectangle 18"/>
          <p:cNvSpPr/>
          <p:nvPr/>
        </p:nvSpPr>
        <p:spPr>
          <a:xfrm>
            <a:off x="731520" y="5577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Para el proyecto final: </a:t>
            </a:r>
            <a:r>
              <a:rPr sz="1200" b="0" i="0">
                <a:solidFill>
                  <a:srgbClr val="2B2B2B"/>
                </a:solidFill>
                <a:latin typeface="Arial"/>
              </a:rPr>
              <a:t>comparar al menos tres configuraciones (por ejemplo, varios k, con y sin logaritmo).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n_init: no confiar en un solo punto de partida</a:t>
            </a:r>
          </a:p>
        </p:txBody>
      </p:sp>
      <p:graphicFrame>
        <p:nvGraphicFramePr>
          <p:cNvPr id="3" name="Table 2"/>
          <p:cNvGraphicFramePr>
            <a:graphicFrameLocks noGrp="1"/>
          </p:cNvGraphicFramePr>
          <p:nvPr/>
        </p:nvGraphicFramePr>
        <p:xfrm>
          <a:off x="731520" y="2011680"/>
          <a:ext cx="7772400" cy="1901952"/>
        </p:xfrm>
        <a:graphic>
          <a:graphicData uri="http://schemas.openxmlformats.org/drawingml/2006/table">
            <a:tbl>
              <a:tblPr firstRow="1" bandRow="1">
                <a:tableStyleId>{5C22544A-7EE6-4342-B048-85BDC9FD1C3A}</a:tableStyleId>
              </a:tblPr>
              <a:tblGrid>
                <a:gridCol w="2377440"/>
                <a:gridCol w="896112"/>
                <a:gridCol w="896112"/>
                <a:gridCol w="896112"/>
                <a:gridCol w="896112"/>
                <a:gridCol w="896112"/>
                <a:gridCol w="914400"/>
              </a:tblGrid>
              <a:tr h="475488">
                <a:tc>
                  <a:txBody>
                    <a:bodyPr wrap="square"/>
                    <a:lstStyle/>
                    <a:p>
                      <a:pPr algn="l"/>
                      <a:r>
                        <a:rPr sz="1200" b="1" i="0">
                          <a:solidFill>
                            <a:srgbClr val="FFFFFF"/>
                          </a:solidFill>
                          <a:latin typeface="Arial"/>
                        </a:rPr>
                        <a:t>Semilla</a:t>
                      </a:r>
                    </a:p>
                  </a:txBody>
                  <a:tcPr marL="64008" marR="64008" marT="27432" marB="27432" anchor="ctr">
                    <a:solidFill>
                      <a:srgbClr val="242852"/>
                    </a:solidFill>
                  </a:tcPr>
                </a:tc>
                <a:tc>
                  <a:txBody>
                    <a:bodyPr wrap="square"/>
                    <a:lstStyle/>
                    <a:p>
                      <a:pPr algn="ctr"/>
                      <a:r>
                        <a:rPr sz="1200" b="1" i="0">
                          <a:solidFill>
                            <a:srgbClr val="FFFFFF"/>
                          </a:solidFill>
                          <a:latin typeface="Arial"/>
                        </a:rPr>
                        <a:t>0</a:t>
                      </a:r>
                    </a:p>
                  </a:txBody>
                  <a:tcPr marL="64008" marR="64008" marT="27432" marB="27432" anchor="ctr">
                    <a:solidFill>
                      <a:srgbClr val="242852"/>
                    </a:solidFill>
                  </a:tcPr>
                </a:tc>
                <a:tc>
                  <a:txBody>
                    <a:bodyPr wrap="square"/>
                    <a:lstStyle/>
                    <a:p>
                      <a:pPr algn="ctr"/>
                      <a:r>
                        <a:rPr sz="1200" b="1" i="0">
                          <a:solidFill>
                            <a:srgbClr val="FFFFFF"/>
                          </a:solidFill>
                          <a:latin typeface="Arial"/>
                        </a:rPr>
                        <a:t>1</a:t>
                      </a:r>
                    </a:p>
                  </a:txBody>
                  <a:tcPr marL="64008" marR="64008" marT="27432" marB="27432" anchor="ctr">
                    <a:solidFill>
                      <a:srgbClr val="242852"/>
                    </a:solidFill>
                  </a:tcPr>
                </a:tc>
                <a:tc>
                  <a:txBody>
                    <a:bodyPr wrap="square"/>
                    <a:lstStyle/>
                    <a:p>
                      <a:pPr algn="ctr"/>
                      <a:r>
                        <a:rPr sz="1200" b="1" i="0">
                          <a:solidFill>
                            <a:srgbClr val="FFFFFF"/>
                          </a:solidFill>
                          <a:latin typeface="Arial"/>
                        </a:rPr>
                        <a:t>2</a:t>
                      </a:r>
                    </a:p>
                  </a:txBody>
                  <a:tcPr marL="64008" marR="64008" marT="27432" marB="27432" anchor="ctr">
                    <a:solidFill>
                      <a:srgbClr val="242852"/>
                    </a:solidFill>
                  </a:tcPr>
                </a:tc>
                <a:tc>
                  <a:txBody>
                    <a:bodyPr wrap="square"/>
                    <a:lstStyle/>
                    <a:p>
                      <a:pPr algn="ctr"/>
                      <a:r>
                        <a:rPr sz="1200" b="1" i="0">
                          <a:solidFill>
                            <a:srgbClr val="FFFFFF"/>
                          </a:solidFill>
                          <a:latin typeface="Arial"/>
                        </a:rPr>
                        <a:t>3</a:t>
                      </a:r>
                    </a:p>
                  </a:txBody>
                  <a:tcPr marL="64008" marR="64008" marT="27432" marB="27432" anchor="ctr">
                    <a:solidFill>
                      <a:srgbClr val="242852"/>
                    </a:solidFill>
                  </a:tcPr>
                </a:tc>
                <a:tc>
                  <a:txBody>
                    <a:bodyPr wrap="square"/>
                    <a:lstStyle/>
                    <a:p>
                      <a:pPr algn="ctr"/>
                      <a:r>
                        <a:rPr sz="1200" b="1" i="0">
                          <a:solidFill>
                            <a:srgbClr val="FFFFFF"/>
                          </a:solidFill>
                          <a:latin typeface="Arial"/>
                        </a:rPr>
                        <a:t>4</a:t>
                      </a:r>
                    </a:p>
                  </a:txBody>
                  <a:tcPr marL="64008" marR="64008" marT="27432" marB="27432" anchor="ctr">
                    <a:solidFill>
                      <a:srgbClr val="242852"/>
                    </a:solidFill>
                  </a:tcPr>
                </a:tc>
                <a:tc>
                  <a:txBody>
                    <a:bodyPr wrap="square"/>
                    <a:lstStyle/>
                    <a:p>
                      <a:pPr algn="ctr"/>
                      <a:r>
                        <a:rPr sz="1200" b="1" i="0">
                          <a:solidFill>
                            <a:srgbClr val="FFFFFF"/>
                          </a:solidFill>
                          <a:latin typeface="Arial"/>
                        </a:rPr>
                        <a:t>5</a:t>
                      </a:r>
                    </a:p>
                  </a:txBody>
                  <a:tcPr marL="64008" marR="64008" marT="27432" marB="27432" anchor="ctr">
                    <a:solidFill>
                      <a:srgbClr val="242852"/>
                    </a:solidFill>
                  </a:tcPr>
                </a:tc>
              </a:tr>
              <a:tr h="475488">
                <a:tc>
                  <a:txBody>
                    <a:bodyPr wrap="square"/>
                    <a:lstStyle/>
                    <a:p>
                      <a:pPr algn="l"/>
                      <a:r>
                        <a:rPr sz="1200" b="1" i="0">
                          <a:solidFill>
                            <a:srgbClr val="2B2B2B"/>
                          </a:solidFill>
                          <a:latin typeface="Arial"/>
                        </a:rPr>
                        <a:t>Inercia con n_init = 1</a:t>
                      </a:r>
                    </a:p>
                  </a:txBody>
                  <a:tcPr marL="64008" marR="64008" marT="27432" marB="27432" anchor="ctr">
                    <a:solidFill>
                      <a:srgbClr val="FFFFFF"/>
                    </a:solidFill>
                  </a:tcPr>
                </a:tc>
                <a:tc>
                  <a:txBody>
                    <a:bodyPr wrap="square"/>
                    <a:lstStyle/>
                    <a:p>
                      <a:pPr algn="ctr"/>
                      <a:r>
                        <a:rPr sz="1200" b="0" i="0">
                          <a:solidFill>
                            <a:srgbClr val="2B2B2B"/>
                          </a:solidFill>
                          <a:latin typeface="Arial"/>
                        </a:rPr>
                        <a:t>41 171</a:t>
                      </a:r>
                    </a:p>
                  </a:txBody>
                  <a:tcPr marL="64008" marR="64008" marT="27432" marB="27432" anchor="ctr">
                    <a:solidFill>
                      <a:srgbClr val="FFFFFF"/>
                    </a:solidFill>
                  </a:tcPr>
                </a:tc>
                <a:tc>
                  <a:txBody>
                    <a:bodyPr wrap="square"/>
                    <a:lstStyle/>
                    <a:p>
                      <a:pPr algn="ctr"/>
                      <a:r>
                        <a:rPr sz="1200" b="1" i="0">
                          <a:solidFill>
                            <a:srgbClr val="D7263D"/>
                          </a:solidFill>
                          <a:latin typeface="Arial"/>
                        </a:rPr>
                        <a:t>41 825</a:t>
                      </a:r>
                    </a:p>
                  </a:txBody>
                  <a:tcPr marL="64008" marR="64008" marT="27432" marB="27432" anchor="ctr">
                    <a:solidFill>
                      <a:srgbClr val="FFFFFF"/>
                    </a:solidFill>
                  </a:tcPr>
                </a:tc>
                <a:tc>
                  <a:txBody>
                    <a:bodyPr wrap="square"/>
                    <a:lstStyle/>
                    <a:p>
                      <a:pPr algn="ctr"/>
                      <a:r>
                        <a:rPr sz="1200" b="0" i="0">
                          <a:solidFill>
                            <a:srgbClr val="2B2B2B"/>
                          </a:solidFill>
                          <a:latin typeface="Arial"/>
                        </a:rPr>
                        <a:t>41 172</a:t>
                      </a:r>
                    </a:p>
                  </a:txBody>
                  <a:tcPr marL="64008" marR="64008" marT="27432" marB="27432" anchor="ctr">
                    <a:solidFill>
                      <a:srgbClr val="FFFFFF"/>
                    </a:solidFill>
                  </a:tcPr>
                </a:tc>
                <a:tc>
                  <a:txBody>
                    <a:bodyPr wrap="square"/>
                    <a:lstStyle/>
                    <a:p>
                      <a:pPr algn="ctr"/>
                      <a:r>
                        <a:rPr sz="1200" b="1" i="0">
                          <a:solidFill>
                            <a:srgbClr val="D7263D"/>
                          </a:solidFill>
                          <a:latin typeface="Arial"/>
                        </a:rPr>
                        <a:t>41 825</a:t>
                      </a:r>
                    </a:p>
                  </a:txBody>
                  <a:tcPr marL="64008" marR="64008" marT="27432" marB="27432" anchor="ctr">
                    <a:solidFill>
                      <a:srgbClr val="FFFFFF"/>
                    </a:solidFill>
                  </a:tcPr>
                </a:tc>
                <a:tc>
                  <a:txBody>
                    <a:bodyPr wrap="square"/>
                    <a:lstStyle/>
                    <a:p>
                      <a:pPr algn="ctr"/>
                      <a:r>
                        <a:rPr sz="1200" b="1" i="0">
                          <a:solidFill>
                            <a:srgbClr val="D7263D"/>
                          </a:solidFill>
                          <a:latin typeface="Arial"/>
                        </a:rPr>
                        <a:t>41 825</a:t>
                      </a:r>
                    </a:p>
                  </a:txBody>
                  <a:tcPr marL="64008" marR="64008" marT="27432" marB="27432" anchor="ctr">
                    <a:solidFill>
                      <a:srgbClr val="FFFFFF"/>
                    </a:solidFill>
                  </a:tcPr>
                </a:tc>
                <a:tc>
                  <a:txBody>
                    <a:bodyPr wrap="square"/>
                    <a:lstStyle/>
                    <a:p>
                      <a:pPr algn="ctr"/>
                      <a:r>
                        <a:rPr sz="1200" b="1" i="0">
                          <a:solidFill>
                            <a:srgbClr val="D7263D"/>
                          </a:solidFill>
                          <a:latin typeface="Arial"/>
                        </a:rPr>
                        <a:t>41 825</a:t>
                      </a:r>
                    </a:p>
                  </a:txBody>
                  <a:tcPr marL="64008" marR="64008" marT="27432" marB="27432" anchor="ctr">
                    <a:solidFill>
                      <a:srgbClr val="FFFFFF"/>
                    </a:solidFill>
                  </a:tcPr>
                </a:tc>
              </a:tr>
              <a:tr h="475488">
                <a:tc>
                  <a:txBody>
                    <a:bodyPr wrap="square"/>
                    <a:lstStyle/>
                    <a:p>
                      <a:pPr algn="l"/>
                      <a:r>
                        <a:rPr sz="1200" b="1" i="0">
                          <a:solidFill>
                            <a:srgbClr val="2B2B2B"/>
                          </a:solidFill>
                          <a:latin typeface="Arial"/>
                        </a:rPr>
                        <a:t>ARI frente a la referencia</a:t>
                      </a:r>
                    </a:p>
                  </a:txBody>
                  <a:tcPr marL="64008" marR="64008" marT="27432" marB="27432" anchor="ctr">
                    <a:solidFill>
                      <a:srgbClr val="F2F3F5"/>
                    </a:solidFill>
                  </a:tcPr>
                </a:tc>
                <a:tc>
                  <a:txBody>
                    <a:bodyPr wrap="square"/>
                    <a:lstStyle/>
                    <a:p>
                      <a:pPr algn="ctr"/>
                      <a:r>
                        <a:rPr sz="1200" b="0" i="0">
                          <a:solidFill>
                            <a:srgbClr val="2B2B2B"/>
                          </a:solidFill>
                          <a:latin typeface="Arial"/>
                        </a:rPr>
                        <a:t>1,00</a:t>
                      </a:r>
                    </a:p>
                  </a:txBody>
                  <a:tcPr marL="64008" marR="64008" marT="27432" marB="27432" anchor="ctr">
                    <a:solidFill>
                      <a:srgbClr val="F2F3F5"/>
                    </a:solidFill>
                  </a:tcPr>
                </a:tc>
                <a:tc>
                  <a:txBody>
                    <a:bodyPr wrap="square"/>
                    <a:lstStyle/>
                    <a:p>
                      <a:pPr algn="ctr"/>
                      <a:r>
                        <a:rPr sz="1200" b="0" i="0">
                          <a:solidFill>
                            <a:srgbClr val="2B2B2B"/>
                          </a:solidFill>
                          <a:latin typeface="Arial"/>
                        </a:rPr>
                        <a:t>0,51</a:t>
                      </a:r>
                    </a:p>
                  </a:txBody>
                  <a:tcPr marL="64008" marR="64008" marT="27432" marB="27432" anchor="ctr">
                    <a:solidFill>
                      <a:srgbClr val="F2F3F5"/>
                    </a:solidFill>
                  </a:tcPr>
                </a:tc>
                <a:tc>
                  <a:txBody>
                    <a:bodyPr wrap="square"/>
                    <a:lstStyle/>
                    <a:p>
                      <a:pPr algn="ctr"/>
                      <a:r>
                        <a:rPr sz="1200" b="0" i="0">
                          <a:solidFill>
                            <a:srgbClr val="2B2B2B"/>
                          </a:solidFill>
                          <a:latin typeface="Arial"/>
                        </a:rPr>
                        <a:t>0,98</a:t>
                      </a:r>
                    </a:p>
                  </a:txBody>
                  <a:tcPr marL="64008" marR="64008" marT="27432" marB="27432" anchor="ctr">
                    <a:solidFill>
                      <a:srgbClr val="F2F3F5"/>
                    </a:solidFill>
                  </a:tcPr>
                </a:tc>
                <a:tc>
                  <a:txBody>
                    <a:bodyPr wrap="square"/>
                    <a:lstStyle/>
                    <a:p>
                      <a:pPr algn="ctr"/>
                      <a:r>
                        <a:rPr sz="1200" b="0" i="0">
                          <a:solidFill>
                            <a:srgbClr val="2B2B2B"/>
                          </a:solidFill>
                          <a:latin typeface="Arial"/>
                        </a:rPr>
                        <a:t>0,50</a:t>
                      </a:r>
                    </a:p>
                  </a:txBody>
                  <a:tcPr marL="64008" marR="64008" marT="27432" marB="27432" anchor="ctr">
                    <a:solidFill>
                      <a:srgbClr val="F2F3F5"/>
                    </a:solidFill>
                  </a:tcPr>
                </a:tc>
                <a:tc>
                  <a:txBody>
                    <a:bodyPr wrap="square"/>
                    <a:lstStyle/>
                    <a:p>
                      <a:pPr algn="ctr"/>
                      <a:r>
                        <a:rPr sz="1200" b="0" i="0">
                          <a:solidFill>
                            <a:srgbClr val="2B2B2B"/>
                          </a:solidFill>
                          <a:latin typeface="Arial"/>
                        </a:rPr>
                        <a:t>0,50</a:t>
                      </a:r>
                    </a:p>
                  </a:txBody>
                  <a:tcPr marL="64008" marR="64008" marT="27432" marB="27432" anchor="ctr">
                    <a:solidFill>
                      <a:srgbClr val="F2F3F5"/>
                    </a:solidFill>
                  </a:tcPr>
                </a:tc>
                <a:tc>
                  <a:txBody>
                    <a:bodyPr wrap="square"/>
                    <a:lstStyle/>
                    <a:p>
                      <a:pPr algn="ctr"/>
                      <a:r>
                        <a:rPr sz="1200" b="0" i="0">
                          <a:solidFill>
                            <a:srgbClr val="2B2B2B"/>
                          </a:solidFill>
                          <a:latin typeface="Arial"/>
                        </a:rPr>
                        <a:t>0,50</a:t>
                      </a:r>
                    </a:p>
                  </a:txBody>
                  <a:tcPr marL="64008" marR="64008" marT="27432" marB="27432" anchor="ctr">
                    <a:solidFill>
                      <a:srgbClr val="F2F3F5"/>
                    </a:solidFill>
                  </a:tcPr>
                </a:tc>
              </a:tr>
              <a:tr h="475488">
                <a:tc>
                  <a:txBody>
                    <a:bodyPr wrap="square"/>
                    <a:lstStyle/>
                    <a:p>
                      <a:pPr algn="l"/>
                      <a:r>
                        <a:rPr sz="1200" b="1" i="0">
                          <a:solidFill>
                            <a:srgbClr val="2B2B2B"/>
                          </a:solidFill>
                          <a:latin typeface="Arial"/>
                        </a:rPr>
                        <a:t>Inercia con n_init = 20</a:t>
                      </a:r>
                    </a:p>
                  </a:txBody>
                  <a:tcPr marL="64008" marR="64008" marT="27432" marB="27432" anchor="ctr">
                    <a:solidFill>
                      <a:srgbClr val="E3F3F1"/>
                    </a:solidFill>
                  </a:tcPr>
                </a:tc>
                <a:tc>
                  <a:txBody>
                    <a:bodyPr wrap="square"/>
                    <a:lstStyle/>
                    <a:p>
                      <a:pPr algn="ctr"/>
                      <a:r>
                        <a:rPr sz="1200" b="0" i="0">
                          <a:solidFill>
                            <a:srgbClr val="2B2B2B"/>
                          </a:solidFill>
                          <a:latin typeface="Arial"/>
                        </a:rPr>
                        <a:t>41 171</a:t>
                      </a:r>
                    </a:p>
                  </a:txBody>
                  <a:tcPr marL="64008" marR="64008" marT="27432" marB="27432" anchor="ctr">
                    <a:solidFill>
                      <a:srgbClr val="E3F3F1"/>
                    </a:solidFill>
                  </a:tcPr>
                </a:tc>
                <a:tc>
                  <a:txBody>
                    <a:bodyPr wrap="square"/>
                    <a:lstStyle/>
                    <a:p>
                      <a:pPr algn="ctr"/>
                      <a:r>
                        <a:rPr sz="1200" b="0" i="0">
                          <a:solidFill>
                            <a:srgbClr val="2B2B2B"/>
                          </a:solidFill>
                          <a:latin typeface="Arial"/>
                        </a:rPr>
                        <a:t>41 172</a:t>
                      </a:r>
                    </a:p>
                  </a:txBody>
                  <a:tcPr marL="64008" marR="64008" marT="27432" marB="27432" anchor="ctr">
                    <a:solidFill>
                      <a:srgbClr val="E3F3F1"/>
                    </a:solidFill>
                  </a:tcPr>
                </a:tc>
                <a:tc>
                  <a:txBody>
                    <a:bodyPr wrap="square"/>
                    <a:lstStyle/>
                    <a:p>
                      <a:pPr algn="ctr"/>
                      <a:r>
                        <a:rPr sz="1200" b="0" i="0">
                          <a:solidFill>
                            <a:srgbClr val="2B2B2B"/>
                          </a:solidFill>
                          <a:latin typeface="Arial"/>
                        </a:rPr>
                        <a:t>41 171</a:t>
                      </a:r>
                    </a:p>
                  </a:txBody>
                  <a:tcPr marL="64008" marR="64008" marT="27432" marB="27432" anchor="ctr">
                    <a:solidFill>
                      <a:srgbClr val="E3F3F1"/>
                    </a:solidFill>
                  </a:tcPr>
                </a:tc>
                <a:tc>
                  <a:txBody>
                    <a:bodyPr wrap="square"/>
                    <a:lstStyle/>
                    <a:p>
                      <a:pPr algn="ctr"/>
                      <a:r>
                        <a:rPr sz="1200" b="0" i="0">
                          <a:solidFill>
                            <a:srgbClr val="2B2B2B"/>
                          </a:solidFill>
                          <a:latin typeface="Arial"/>
                        </a:rPr>
                        <a:t>41 172</a:t>
                      </a:r>
                    </a:p>
                  </a:txBody>
                  <a:tcPr marL="64008" marR="64008" marT="27432" marB="27432" anchor="ctr">
                    <a:solidFill>
                      <a:srgbClr val="E3F3F1"/>
                    </a:solidFill>
                  </a:tcPr>
                </a:tc>
                <a:tc>
                  <a:txBody>
                    <a:bodyPr wrap="square"/>
                    <a:lstStyle/>
                    <a:p>
                      <a:pPr algn="ctr"/>
                      <a:r>
                        <a:rPr sz="1200" b="0" i="0">
                          <a:solidFill>
                            <a:srgbClr val="2B2B2B"/>
                          </a:solidFill>
                          <a:latin typeface="Arial"/>
                        </a:rPr>
                        <a:t>41 171</a:t>
                      </a:r>
                    </a:p>
                  </a:txBody>
                  <a:tcPr marL="64008" marR="64008" marT="27432" marB="27432" anchor="ctr">
                    <a:solidFill>
                      <a:srgbClr val="E3F3F1"/>
                    </a:solidFill>
                  </a:tcPr>
                </a:tc>
                <a:tc>
                  <a:txBody>
                    <a:bodyPr wrap="square"/>
                    <a:lstStyle/>
                    <a:p>
                      <a:pPr algn="ctr"/>
                      <a:r>
                        <a:rPr sz="1200" b="0" i="0">
                          <a:solidFill>
                            <a:srgbClr val="2B2B2B"/>
                          </a:solidFill>
                          <a:latin typeface="Arial"/>
                        </a:rPr>
                        <a:t>41 171</a:t>
                      </a:r>
                    </a:p>
                  </a:txBody>
                  <a:tcPr marL="64008" marR="64008" marT="27432" marB="27432" anchor="ctr">
                    <a:solidFill>
                      <a:srgbClr val="E3F3F1"/>
                    </a:solidFill>
                  </a:tcPr>
                </a:tc>
              </a:tr>
            </a:tbl>
          </a:graphicData>
        </a:graphic>
      </p:graphicFrame>
      <p:sp>
        <p:nvSpPr>
          <p:cNvPr id="4" name="Rounded Rectangle 3"/>
          <p:cNvSpPr/>
          <p:nvPr/>
        </p:nvSpPr>
        <p:spPr>
          <a:xfrm>
            <a:off x="731520" y="411480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2245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Un solo inicio</a:t>
            </a:r>
          </a:p>
        </p:txBody>
      </p:sp>
      <p:sp>
        <p:nvSpPr>
          <p:cNvPr id="6" name="TextBox 5"/>
          <p:cNvSpPr txBox="1"/>
          <p:nvPr/>
        </p:nvSpPr>
        <p:spPr>
          <a:xfrm>
            <a:off x="868680" y="4773168"/>
            <a:ext cx="3520440" cy="5486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4 de 6 veces cae en una solución peor: los grupos cambian según la suerte.</a:t>
            </a:r>
          </a:p>
        </p:txBody>
      </p:sp>
      <p:sp>
        <p:nvSpPr>
          <p:cNvPr id="7" name="Rounded Rectangle 6"/>
          <p:cNvSpPr/>
          <p:nvPr/>
        </p:nvSpPr>
        <p:spPr>
          <a:xfrm>
            <a:off x="4709160" y="4114800"/>
            <a:ext cx="3794760" cy="12801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22452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Veinte inicios</a:t>
            </a:r>
          </a:p>
        </p:txBody>
      </p:sp>
      <p:sp>
        <p:nvSpPr>
          <p:cNvPr id="9" name="TextBox 8"/>
          <p:cNvSpPr txBox="1"/>
          <p:nvPr/>
        </p:nvSpPr>
        <p:spPr>
          <a:xfrm>
            <a:off x="4846320" y="4773168"/>
            <a:ext cx="3520440" cy="5486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Siempre la misma solución: el resultado es estable y repetible.</a:t>
            </a:r>
          </a:p>
        </p:txBody>
      </p:sp>
      <p:sp>
        <p:nvSpPr>
          <p:cNvPr id="10" name="Rounded Rectangle 9"/>
          <p:cNvSpPr/>
          <p:nvPr/>
        </p:nvSpPr>
        <p:spPr>
          <a:xfrm>
            <a:off x="731520" y="5577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ARI (Adjusted Rand Index): </a:t>
            </a:r>
            <a:r>
              <a:rPr sz="1200" b="0" i="0">
                <a:solidFill>
                  <a:srgbClr val="2B2B2B"/>
                </a:solidFill>
                <a:latin typeface="Arial"/>
              </a:rPr>
              <a:t>1 = mismos grupos, 0 = parecido al azar. Sirve para medir estabilidad.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hace bien K-Means y dónde falla</a:t>
            </a:r>
          </a:p>
        </p:txBody>
      </p:sp>
      <p:pic>
        <p:nvPicPr>
          <p:cNvPr id="3" name="Picture 2" descr="kmeans_limites.png"/>
          <p:cNvPicPr>
            <a:picLocks noChangeAspect="1"/>
          </p:cNvPicPr>
          <p:nvPr/>
        </p:nvPicPr>
        <p:blipFill>
          <a:blip r:embed="rId3"/>
          <a:stretch>
            <a:fillRect/>
          </a:stretch>
        </p:blipFill>
        <p:spPr>
          <a:xfrm>
            <a:off x="731520" y="1878194"/>
            <a:ext cx="7772400" cy="2141490"/>
          </a:xfrm>
          <a:prstGeom prst="rect">
            <a:avLst/>
          </a:prstGeom>
        </p:spPr>
      </p:pic>
      <p:sp>
        <p:nvSpPr>
          <p:cNvPr id="4" name="Rounded Rectangle 3"/>
          <p:cNvSpPr/>
          <p:nvPr/>
        </p:nvSpPr>
        <p:spPr>
          <a:xfrm>
            <a:off x="731520" y="4206240"/>
            <a:ext cx="379476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3159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Fortalezas</a:t>
            </a:r>
          </a:p>
        </p:txBody>
      </p:sp>
      <p:sp>
        <p:nvSpPr>
          <p:cNvPr id="6" name="TextBox 5"/>
          <p:cNvSpPr txBox="1"/>
          <p:nvPr/>
        </p:nvSpPr>
        <p:spPr>
          <a:xfrm>
            <a:off x="868680" y="4864607"/>
            <a:ext cx="3520440" cy="73152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Rápido, simple, escala a millones de filas; centros fáciles de leer como perfiles.</a:t>
            </a:r>
          </a:p>
        </p:txBody>
      </p:sp>
      <p:sp>
        <p:nvSpPr>
          <p:cNvPr id="7" name="Rounded Rectangle 6"/>
          <p:cNvSpPr/>
          <p:nvPr/>
        </p:nvSpPr>
        <p:spPr>
          <a:xfrm>
            <a:off x="4709160" y="420624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3159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Limitaciones</a:t>
            </a:r>
          </a:p>
        </p:txBody>
      </p:sp>
      <p:sp>
        <p:nvSpPr>
          <p:cNvPr id="9" name="TextBox 8"/>
          <p:cNvSpPr txBox="1"/>
          <p:nvPr/>
        </p:nvSpPr>
        <p:spPr>
          <a:xfrm>
            <a:off x="4846320" y="4864607"/>
            <a:ext cx="3520440" cy="73152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Hay que elegir k; sensible a escala, inicio y extremos; supone grupos redondos; solo numéricas.</a:t>
            </a:r>
          </a:p>
        </p:txBody>
      </p:sp>
      <p:sp>
        <p:nvSpPr>
          <p:cNvPr id="10" name="Rounded Rectangle 9"/>
          <p:cNvSpPr/>
          <p:nvPr/>
        </p:nvSpPr>
        <p:spPr>
          <a:xfrm>
            <a:off x="731520" y="585216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eso hoy: </a:t>
            </a:r>
            <a:r>
              <a:rPr sz="1200" b="0" i="0">
                <a:solidFill>
                  <a:srgbClr val="2B2B2B"/>
                </a:solidFill>
                <a:latin typeface="Arial"/>
              </a:rPr>
              <a:t>logaritmo para los extremos, escalado para las unidades y n_init alto para el punto de partida.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Codo</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Silhouette</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Una trampa</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Perfiles</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5</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Elegir k y describir los grupos</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Codo, Silhouette, tamaños y, sobre todo, perfiles que se puedan explicar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Silhouette a mano</a:t>
            </a:r>
          </a:p>
        </p:txBody>
      </p:sp>
      <p:sp>
        <p:nvSpPr>
          <p:cNvPr id="3" name="Rounded Rectangle 2"/>
          <p:cNvSpPr/>
          <p:nvPr/>
        </p:nvSpPr>
        <p:spPr>
          <a:xfrm>
            <a:off x="731520" y="1965960"/>
            <a:ext cx="7772400" cy="7772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800" b="1" i="0">
                <a:solidFill>
                  <a:srgbClr val="FFFFFF"/>
                </a:solidFill>
                <a:latin typeface="Arial"/>
              </a:rPr>
              <a:t>s = (b − a) / máx(a, b)</a:t>
            </a:r>
          </a:p>
          <a:p>
            <a:pPr algn="ctr">
              <a:spcAft>
                <a:spcPts val="300"/>
              </a:spcAft>
            </a:pPr>
            <a:r>
              <a:rPr sz="1200" b="0" i="0">
                <a:solidFill>
                  <a:srgbClr val="C9D2E8"/>
                </a:solidFill>
                <a:latin typeface="Arial"/>
              </a:rPr>
              <a:t>a = distancia media a su grupo · b = distancia media al grupo vecino</a:t>
            </a:r>
          </a:p>
        </p:txBody>
      </p:sp>
      <p:sp>
        <p:nvSpPr>
          <p:cNvPr id="4" name="Oval 3"/>
          <p:cNvSpPr/>
          <p:nvPr/>
        </p:nvSpPr>
        <p:spPr>
          <a:xfrm>
            <a:off x="868680" y="3017520"/>
            <a:ext cx="502920" cy="50292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1</a:t>
            </a:r>
          </a:p>
        </p:txBody>
      </p:sp>
      <p:sp>
        <p:nvSpPr>
          <p:cNvPr id="5" name="Oval 4"/>
          <p:cNvSpPr/>
          <p:nvPr/>
        </p:nvSpPr>
        <p:spPr>
          <a:xfrm>
            <a:off x="1737360" y="3017520"/>
            <a:ext cx="502920" cy="50292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2</a:t>
            </a:r>
          </a:p>
        </p:txBody>
      </p:sp>
      <p:sp>
        <p:nvSpPr>
          <p:cNvPr id="6" name="Oval 5"/>
          <p:cNvSpPr/>
          <p:nvPr/>
        </p:nvSpPr>
        <p:spPr>
          <a:xfrm>
            <a:off x="2606039" y="3017520"/>
            <a:ext cx="502920" cy="50292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3</a:t>
            </a:r>
          </a:p>
        </p:txBody>
      </p:sp>
      <p:sp>
        <p:nvSpPr>
          <p:cNvPr id="7" name="Oval 6"/>
          <p:cNvSpPr/>
          <p:nvPr/>
        </p:nvSpPr>
        <p:spPr>
          <a:xfrm>
            <a:off x="6949440" y="301752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8</a:t>
            </a:r>
          </a:p>
        </p:txBody>
      </p:sp>
      <p:sp>
        <p:nvSpPr>
          <p:cNvPr id="8" name="Oval 7"/>
          <p:cNvSpPr/>
          <p:nvPr/>
        </p:nvSpPr>
        <p:spPr>
          <a:xfrm>
            <a:off x="7818119" y="301752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9</a:t>
            </a:r>
          </a:p>
        </p:txBody>
      </p:sp>
      <p:sp>
        <p:nvSpPr>
          <p:cNvPr id="9" name="TextBox 8"/>
          <p:cNvSpPr txBox="1"/>
          <p:nvPr/>
        </p:nvSpPr>
        <p:spPr>
          <a:xfrm>
            <a:off x="868680" y="3566160"/>
            <a:ext cx="2377440" cy="320040"/>
          </a:xfrm>
          <a:prstGeom prst="rect">
            <a:avLst/>
          </a:prstGeom>
          <a:noFill/>
        </p:spPr>
        <p:txBody>
          <a:bodyPr wrap="square" anchor="t" lIns="36576" rIns="36576" tIns="36576" bIns="36576">
            <a:spAutoFit/>
          </a:bodyPr>
          <a:lstStyle/>
          <a:p>
            <a:pPr algn="ctr">
              <a:spcAft>
                <a:spcPts val="400"/>
              </a:spcAft>
            </a:pPr>
            <a:r>
              <a:rPr sz="1100" b="1" i="0">
                <a:solidFill>
                  <a:srgbClr val="3D5A99"/>
                </a:solidFill>
                <a:latin typeface="Arial"/>
              </a:rPr>
              <a:t>grupo A</a:t>
            </a:r>
          </a:p>
        </p:txBody>
      </p:sp>
      <p:sp>
        <p:nvSpPr>
          <p:cNvPr id="10" name="TextBox 9"/>
          <p:cNvSpPr txBox="1"/>
          <p:nvPr/>
        </p:nvSpPr>
        <p:spPr>
          <a:xfrm>
            <a:off x="6949440" y="3566160"/>
            <a:ext cx="1463040" cy="320040"/>
          </a:xfrm>
          <a:prstGeom prst="rect">
            <a:avLst/>
          </a:prstGeom>
          <a:noFill/>
        </p:spPr>
        <p:txBody>
          <a:bodyPr wrap="square" anchor="t" lIns="36576" rIns="36576" tIns="36576" bIns="36576">
            <a:spAutoFit/>
          </a:bodyPr>
          <a:lstStyle/>
          <a:p>
            <a:pPr algn="ctr">
              <a:spcAft>
                <a:spcPts val="400"/>
              </a:spcAft>
            </a:pPr>
            <a:r>
              <a:rPr sz="1100" b="1" i="0">
                <a:solidFill>
                  <a:srgbClr val="D7263D"/>
                </a:solidFill>
                <a:latin typeface="Arial"/>
              </a:rPr>
              <a:t>grupo B</a:t>
            </a:r>
          </a:p>
        </p:txBody>
      </p:sp>
      <p:graphicFrame>
        <p:nvGraphicFramePr>
          <p:cNvPr id="11" name="Table 10"/>
          <p:cNvGraphicFramePr>
            <a:graphicFrameLocks noGrp="1"/>
          </p:cNvGraphicFramePr>
          <p:nvPr/>
        </p:nvGraphicFramePr>
        <p:xfrm>
          <a:off x="731520" y="4023360"/>
          <a:ext cx="4206240" cy="1536192"/>
        </p:xfrm>
        <a:graphic>
          <a:graphicData uri="http://schemas.openxmlformats.org/drawingml/2006/table">
            <a:tbl>
              <a:tblPr firstRow="1" bandRow="1">
                <a:tableStyleId>{5C22544A-7EE6-4342-B048-85BDC9FD1C3A}</a:tableStyleId>
              </a:tblPr>
              <a:tblGrid>
                <a:gridCol w="1737360"/>
                <a:gridCol w="2468880"/>
              </a:tblGrid>
              <a:tr h="384048">
                <a:tc>
                  <a:txBody>
                    <a:bodyPr wrap="square"/>
                    <a:lstStyle/>
                    <a:p>
                      <a:pPr algn="l"/>
                      <a:r>
                        <a:rPr sz="1200" b="1" i="0">
                          <a:solidFill>
                            <a:srgbClr val="FFFFFF"/>
                          </a:solidFill>
                          <a:latin typeface="Arial"/>
                        </a:rPr>
                        <a:t>Punto 3</a:t>
                      </a:r>
                    </a:p>
                  </a:txBody>
                  <a:tcPr marL="64008" marR="64008" marT="27432" marB="27432" anchor="ctr">
                    <a:solidFill>
                      <a:srgbClr val="242852"/>
                    </a:solidFill>
                  </a:tcPr>
                </a:tc>
                <a:tc>
                  <a:txBody>
                    <a:bodyPr wrap="square"/>
                    <a:lstStyle/>
                    <a:p>
                      <a:pPr algn="ctr"/>
                      <a:r>
                        <a:rPr sz="1200" b="1" i="0">
                          <a:solidFill>
                            <a:srgbClr val="FFFFFF"/>
                          </a:solidFill>
                          <a:latin typeface="Arial"/>
                        </a:rPr>
                        <a:t>Cálculo</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a (su grupo: 1 y 2)</a:t>
                      </a:r>
                    </a:p>
                  </a:txBody>
                  <a:tcPr marL="64008" marR="64008" marT="27432" marB="27432" anchor="ctr">
                    <a:solidFill>
                      <a:srgbClr val="FFFFFF"/>
                    </a:solidFill>
                  </a:tcPr>
                </a:tc>
                <a:tc>
                  <a:txBody>
                    <a:bodyPr wrap="square"/>
                    <a:lstStyle/>
                    <a:p>
                      <a:pPr algn="ctr"/>
                      <a:r>
                        <a:rPr sz="1200" b="0" i="0">
                          <a:solidFill>
                            <a:srgbClr val="2B2B2B"/>
                          </a:solidFill>
                          <a:latin typeface="Arial"/>
                        </a:rPr>
                        <a:t>(2 + 1) / 2 = 1,5</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b (grupo B: 8 y 9)</a:t>
                      </a:r>
                    </a:p>
                  </a:txBody>
                  <a:tcPr marL="64008" marR="64008" marT="27432" marB="27432" anchor="ctr">
                    <a:solidFill>
                      <a:srgbClr val="F2F3F5"/>
                    </a:solidFill>
                  </a:tcPr>
                </a:tc>
                <a:tc>
                  <a:txBody>
                    <a:bodyPr wrap="square"/>
                    <a:lstStyle/>
                    <a:p>
                      <a:pPr algn="ctr"/>
                      <a:r>
                        <a:rPr sz="1200" b="0" i="0">
                          <a:solidFill>
                            <a:srgbClr val="2B2B2B"/>
                          </a:solidFill>
                          <a:latin typeface="Arial"/>
                        </a:rPr>
                        <a:t>(5 + 6) / 2 = 5,5</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s</a:t>
                      </a:r>
                    </a:p>
                  </a:txBody>
                  <a:tcPr marL="64008" marR="64008" marT="27432" marB="27432" anchor="ctr">
                    <a:solidFill>
                      <a:srgbClr val="FFFFFF"/>
                    </a:solidFill>
                  </a:tcPr>
                </a:tc>
                <a:tc>
                  <a:txBody>
                    <a:bodyPr wrap="square"/>
                    <a:lstStyle/>
                    <a:p>
                      <a:pPr algn="ctr"/>
                      <a:r>
                        <a:rPr sz="1200" b="1" i="0">
                          <a:solidFill>
                            <a:srgbClr val="2A9D8F"/>
                          </a:solidFill>
                          <a:latin typeface="Arial"/>
                        </a:rPr>
                        <a:t>(5,5 − 1,5) / 5,5 = 0,73</a:t>
                      </a:r>
                    </a:p>
                  </a:txBody>
                  <a:tcPr marL="64008" marR="64008" marT="27432" marB="27432" anchor="ctr">
                    <a:solidFill>
                      <a:srgbClr val="FFFFFF"/>
                    </a:solidFill>
                  </a:tcPr>
                </a:tc>
              </a:tr>
            </a:tbl>
          </a:graphicData>
        </a:graphic>
      </p:graphicFrame>
      <p:sp>
        <p:nvSpPr>
          <p:cNvPr id="12" name="Rounded Rectangle 11"/>
          <p:cNvSpPr/>
          <p:nvPr/>
        </p:nvSpPr>
        <p:spPr>
          <a:xfrm>
            <a:off x="5120640" y="4023360"/>
            <a:ext cx="1051560" cy="11430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700" b="1" i="0">
                <a:solidFill>
                  <a:srgbClr val="2A9D8F"/>
                </a:solidFill>
                <a:latin typeface="Arial"/>
              </a:rPr>
              <a:t>≈ 1</a:t>
            </a:r>
          </a:p>
          <a:p>
            <a:pPr algn="ctr">
              <a:spcAft>
                <a:spcPts val="300"/>
              </a:spcAft>
            </a:pPr>
            <a:r>
              <a:rPr sz="1050" b="0" i="0">
                <a:solidFill>
                  <a:srgbClr val="2B2B2B"/>
                </a:solidFill>
                <a:latin typeface="Arial"/>
              </a:rPr>
              <a:t>bien separado</a:t>
            </a:r>
          </a:p>
        </p:txBody>
      </p:sp>
      <p:sp>
        <p:nvSpPr>
          <p:cNvPr id="13" name="Rounded Rectangle 12"/>
          <p:cNvSpPr/>
          <p:nvPr/>
        </p:nvSpPr>
        <p:spPr>
          <a:xfrm>
            <a:off x="6263640" y="4023360"/>
            <a:ext cx="105156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700" b="1" i="0">
                <a:solidFill>
                  <a:srgbClr val="242852"/>
                </a:solidFill>
                <a:latin typeface="Arial"/>
              </a:rPr>
              <a:t>≈ 0</a:t>
            </a:r>
          </a:p>
          <a:p>
            <a:pPr algn="ctr">
              <a:spcAft>
                <a:spcPts val="300"/>
              </a:spcAft>
            </a:pPr>
            <a:r>
              <a:rPr sz="1050" b="0" i="0">
                <a:solidFill>
                  <a:srgbClr val="2B2B2B"/>
                </a:solidFill>
                <a:latin typeface="Arial"/>
              </a:rPr>
              <a:t>en la frontera</a:t>
            </a:r>
          </a:p>
        </p:txBody>
      </p:sp>
      <p:sp>
        <p:nvSpPr>
          <p:cNvPr id="14" name="Rounded Rectangle 13"/>
          <p:cNvSpPr/>
          <p:nvPr/>
        </p:nvSpPr>
        <p:spPr>
          <a:xfrm>
            <a:off x="7406640" y="4023360"/>
            <a:ext cx="1051560" cy="11430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700" b="1" i="0">
                <a:solidFill>
                  <a:srgbClr val="D7263D"/>
                </a:solidFill>
                <a:latin typeface="Arial"/>
              </a:rPr>
              <a:t>&lt; 0</a:t>
            </a:r>
          </a:p>
          <a:p>
            <a:pPr algn="ctr">
              <a:spcAft>
                <a:spcPts val="300"/>
              </a:spcAft>
            </a:pPr>
            <a:r>
              <a:rPr sz="1050" b="0" i="0">
                <a:solidFill>
                  <a:srgbClr val="2B2B2B"/>
                </a:solidFill>
                <a:latin typeface="Arial"/>
              </a:rPr>
              <a:t>grupo equivocado</a:t>
            </a:r>
          </a:p>
        </p:txBody>
      </p:sp>
      <p:sp>
        <p:nvSpPr>
          <p:cNvPr id="15" name="Rounded Rectangle 14"/>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Silhouette no es Accuracy: </a:t>
            </a:r>
            <a:r>
              <a:rPr sz="1200" b="0" i="0">
                <a:solidFill>
                  <a:srgbClr val="2B2B2B"/>
                </a:solidFill>
                <a:latin typeface="Arial"/>
              </a:rPr>
              <a:t>no hay respuestas correctas; solo mide separación geométrica.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Codo y Silhouette con los clientes</a:t>
            </a:r>
          </a:p>
        </p:txBody>
      </p:sp>
      <p:pic>
        <p:nvPicPr>
          <p:cNvPr id="3" name="Picture 2" descr="codo_sil.png"/>
          <p:cNvPicPr>
            <a:picLocks noChangeAspect="1"/>
          </p:cNvPicPr>
          <p:nvPr/>
        </p:nvPicPr>
        <p:blipFill>
          <a:blip r:embed="rId3"/>
          <a:stretch>
            <a:fillRect/>
          </a:stretch>
        </p:blipFill>
        <p:spPr>
          <a:xfrm>
            <a:off x="731520" y="1941016"/>
            <a:ext cx="7772400" cy="2884527"/>
          </a:xfrm>
          <a:prstGeom prst="rect">
            <a:avLst/>
          </a:prstGeom>
        </p:spPr>
      </p:pic>
      <p:sp>
        <p:nvSpPr>
          <p:cNvPr id="4" name="Rounded Rectangle 3"/>
          <p:cNvSpPr/>
          <p:nvPr/>
        </p:nvSpPr>
        <p:spPr>
          <a:xfrm>
            <a:off x="731520" y="4983480"/>
            <a:ext cx="3794760" cy="10972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509320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Codo</a:t>
            </a:r>
          </a:p>
        </p:txBody>
      </p:sp>
      <p:sp>
        <p:nvSpPr>
          <p:cNvPr id="6" name="TextBox 5"/>
          <p:cNvSpPr txBox="1"/>
          <p:nvPr/>
        </p:nvSpPr>
        <p:spPr>
          <a:xfrm>
            <a:off x="868680" y="5641848"/>
            <a:ext cx="3520440" cy="36575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La inercia baja mucho hasta k = 4; después, cada grupo extra aporta menos.</a:t>
            </a:r>
          </a:p>
        </p:txBody>
      </p:sp>
      <p:sp>
        <p:nvSpPr>
          <p:cNvPr id="7" name="Rounded Rectangle 6"/>
          <p:cNvSpPr/>
          <p:nvPr/>
        </p:nvSpPr>
        <p:spPr>
          <a:xfrm>
            <a:off x="4709160" y="4983480"/>
            <a:ext cx="3794760" cy="10972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509320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Silhouette con log</a:t>
            </a:r>
          </a:p>
        </p:txBody>
      </p:sp>
      <p:sp>
        <p:nvSpPr>
          <p:cNvPr id="9" name="TextBox 8"/>
          <p:cNvSpPr txBox="1"/>
          <p:nvPr/>
        </p:nvSpPr>
        <p:spPr>
          <a:xfrm>
            <a:off x="4846320" y="5641848"/>
            <a:ext cx="3520440" cy="36575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Entre 0,26 y 0,28: ningún k separa claramente mejor.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La trampa: el Silhouette más alto no es el mejor</a:t>
            </a:r>
          </a:p>
        </p:txBody>
      </p:sp>
      <p:graphicFrame>
        <p:nvGraphicFramePr>
          <p:cNvPr id="3" name="Table 2"/>
          <p:cNvGraphicFramePr>
            <a:graphicFrameLocks noGrp="1"/>
          </p:cNvGraphicFramePr>
          <p:nvPr/>
        </p:nvGraphicFramePr>
        <p:xfrm>
          <a:off x="731520" y="2011680"/>
          <a:ext cx="4389120" cy="2468880"/>
        </p:xfrm>
        <a:graphic>
          <a:graphicData uri="http://schemas.openxmlformats.org/drawingml/2006/table">
            <a:tbl>
              <a:tblPr firstRow="1" bandRow="1">
                <a:tableStyleId>{5C22544A-7EE6-4342-B048-85BDC9FD1C3A}</a:tableStyleId>
              </a:tblPr>
              <a:tblGrid>
                <a:gridCol w="1828800"/>
                <a:gridCol w="1280160"/>
                <a:gridCol w="1280160"/>
              </a:tblGrid>
              <a:tr h="411480">
                <a:tc>
                  <a:txBody>
                    <a:bodyPr wrap="square"/>
                    <a:lstStyle/>
                    <a:p>
                      <a:pPr algn="l"/>
                      <a:r>
                        <a:rPr sz="1200" b="1" i="0">
                          <a:solidFill>
                            <a:srgbClr val="FFFFFF"/>
                          </a:solidFill>
                          <a:latin typeface="Arial"/>
                        </a:rPr>
                        <a:t>Sin log, k = 2 (medianas)</a:t>
                      </a:r>
                    </a:p>
                  </a:txBody>
                  <a:tcPr marL="64008" marR="64008" marT="27432" marB="27432" anchor="ctr">
                    <a:solidFill>
                      <a:srgbClr val="242852"/>
                    </a:solidFill>
                  </a:tcPr>
                </a:tc>
                <a:tc>
                  <a:txBody>
                    <a:bodyPr wrap="square"/>
                    <a:lstStyle/>
                    <a:p>
                      <a:pPr algn="ctr"/>
                      <a:r>
                        <a:rPr sz="1200" b="1" i="0">
                          <a:solidFill>
                            <a:srgbClr val="FFFFFF"/>
                          </a:solidFill>
                          <a:latin typeface="Arial"/>
                        </a:rPr>
                        <a:t>Grupo grande</a:t>
                      </a:r>
                    </a:p>
                  </a:txBody>
                  <a:tcPr marL="64008" marR="64008" marT="27432" marB="27432" anchor="ctr">
                    <a:solidFill>
                      <a:srgbClr val="242852"/>
                    </a:solidFill>
                  </a:tcPr>
                </a:tc>
                <a:tc>
                  <a:txBody>
                    <a:bodyPr wrap="square"/>
                    <a:lstStyle/>
                    <a:p>
                      <a:pPr algn="ctr"/>
                      <a:r>
                        <a:rPr sz="1200" b="1" i="0">
                          <a:solidFill>
                            <a:srgbClr val="FFFFFF"/>
                          </a:solidFill>
                          <a:latin typeface="Arial"/>
                        </a:rPr>
                        <a:t>Grupo pequeño</a:t>
                      </a:r>
                    </a:p>
                  </a:txBody>
                  <a:tcPr marL="64008" marR="64008" marT="27432" marB="27432" anchor="ctr">
                    <a:solidFill>
                      <a:srgbClr val="242852"/>
                    </a:solidFill>
                  </a:tcPr>
                </a:tc>
              </a:tr>
              <a:tr h="411480">
                <a:tc>
                  <a:txBody>
                    <a:bodyPr wrap="square"/>
                    <a:lstStyle/>
                    <a:p>
                      <a:pPr algn="l"/>
                      <a:r>
                        <a:rPr sz="1200" b="1" i="0">
                          <a:solidFill>
                            <a:srgbClr val="2B2B2B"/>
                          </a:solidFill>
                          <a:latin typeface="Arial"/>
                        </a:rPr>
                        <a:t>Clientes</a:t>
                      </a:r>
                    </a:p>
                  </a:txBody>
                  <a:tcPr marL="64008" marR="64008" marT="27432" marB="27432" anchor="ctr">
                    <a:solidFill>
                      <a:srgbClr val="FFFFFF"/>
                    </a:solidFill>
                  </a:tcPr>
                </a:tc>
                <a:tc>
                  <a:txBody>
                    <a:bodyPr wrap="square"/>
                    <a:lstStyle/>
                    <a:p>
                      <a:pPr algn="ctr"/>
                      <a:r>
                        <a:rPr sz="1200" b="0" i="0">
                          <a:solidFill>
                            <a:srgbClr val="2B2B2B"/>
                          </a:solidFill>
                          <a:latin typeface="Arial"/>
                        </a:rPr>
                        <a:t>7 699</a:t>
                      </a:r>
                    </a:p>
                  </a:txBody>
                  <a:tcPr marL="64008" marR="64008" marT="27432" marB="27432" anchor="ctr">
                    <a:solidFill>
                      <a:srgbClr val="FFFFFF"/>
                    </a:solidFill>
                  </a:tcPr>
                </a:tc>
                <a:tc>
                  <a:txBody>
                    <a:bodyPr wrap="square"/>
                    <a:lstStyle/>
                    <a:p>
                      <a:pPr algn="ctr"/>
                      <a:r>
                        <a:rPr sz="1200" b="0" i="0">
                          <a:solidFill>
                            <a:srgbClr val="2B2B2B"/>
                          </a:solidFill>
                          <a:latin typeface="Arial"/>
                        </a:rPr>
                        <a:t>1 250</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Saldo (USD)</a:t>
                      </a:r>
                    </a:p>
                  </a:txBody>
                  <a:tcPr marL="64008" marR="64008" marT="27432" marB="27432" anchor="ctr">
                    <a:solidFill>
                      <a:srgbClr val="F2F3F5"/>
                    </a:solidFill>
                  </a:tcPr>
                </a:tc>
                <a:tc>
                  <a:txBody>
                    <a:bodyPr wrap="square"/>
                    <a:lstStyle/>
                    <a:p>
                      <a:pPr algn="ctr"/>
                      <a:r>
                        <a:rPr sz="1200" b="0" i="0">
                          <a:solidFill>
                            <a:srgbClr val="2B2B2B"/>
                          </a:solidFill>
                          <a:latin typeface="Arial"/>
                        </a:rPr>
                        <a:t>661</a:t>
                      </a:r>
                    </a:p>
                  </a:txBody>
                  <a:tcPr marL="64008" marR="64008" marT="27432" marB="27432" anchor="ctr">
                    <a:solidFill>
                      <a:srgbClr val="F2F3F5"/>
                    </a:solidFill>
                  </a:tcPr>
                </a:tc>
                <a:tc>
                  <a:txBody>
                    <a:bodyPr wrap="square"/>
                    <a:lstStyle/>
                    <a:p>
                      <a:pPr algn="ctr"/>
                      <a:r>
                        <a:rPr sz="1200" b="0" i="0">
                          <a:solidFill>
                            <a:srgbClr val="2B2B2B"/>
                          </a:solidFill>
                          <a:latin typeface="Arial"/>
                        </a:rPr>
                        <a:t>4 227</a:t>
                      </a:r>
                    </a:p>
                  </a:txBody>
                  <a:tcPr marL="64008" marR="64008" marT="27432" marB="27432" anchor="ctr">
                    <a:solidFill>
                      <a:srgbClr val="F2F3F5"/>
                    </a:solidFill>
                  </a:tcPr>
                </a:tc>
              </a:tr>
              <a:tr h="411480">
                <a:tc>
                  <a:txBody>
                    <a:bodyPr wrap="square"/>
                    <a:lstStyle/>
                    <a:p>
                      <a:pPr algn="l"/>
                      <a:r>
                        <a:rPr sz="1200" b="1" i="0">
                          <a:solidFill>
                            <a:srgbClr val="2B2B2B"/>
                          </a:solidFill>
                          <a:latin typeface="Arial"/>
                        </a:rPr>
                        <a:t>Compras (USD)</a:t>
                      </a:r>
                    </a:p>
                  </a:txBody>
                  <a:tcPr marL="64008" marR="64008" marT="27432" marB="27432" anchor="ctr">
                    <a:solidFill>
                      <a:srgbClr val="FFFFFF"/>
                    </a:solidFill>
                  </a:tcPr>
                </a:tc>
                <a:tc>
                  <a:txBody>
                    <a:bodyPr wrap="square"/>
                    <a:lstStyle/>
                    <a:p>
                      <a:pPr algn="ctr"/>
                      <a:r>
                        <a:rPr sz="1200" b="0" i="0">
                          <a:solidFill>
                            <a:srgbClr val="2B2B2B"/>
                          </a:solidFill>
                          <a:latin typeface="Arial"/>
                        </a:rPr>
                        <a:t>297</a:t>
                      </a:r>
                    </a:p>
                  </a:txBody>
                  <a:tcPr marL="64008" marR="64008" marT="27432" marB="27432" anchor="ctr">
                    <a:solidFill>
                      <a:srgbClr val="FFFFFF"/>
                    </a:solidFill>
                  </a:tcPr>
                </a:tc>
                <a:tc>
                  <a:txBody>
                    <a:bodyPr wrap="square"/>
                    <a:lstStyle/>
                    <a:p>
                      <a:pPr algn="ctr"/>
                      <a:r>
                        <a:rPr sz="1200" b="0" i="0">
                          <a:solidFill>
                            <a:srgbClr val="2B2B2B"/>
                          </a:solidFill>
                          <a:latin typeface="Arial"/>
                        </a:rPr>
                        <a:t>2 544</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Límite (USD)</a:t>
                      </a:r>
                    </a:p>
                  </a:txBody>
                  <a:tcPr marL="64008" marR="64008" marT="27432" marB="27432" anchor="ctr">
                    <a:solidFill>
                      <a:srgbClr val="F2F3F5"/>
                    </a:solidFill>
                  </a:tcPr>
                </a:tc>
                <a:tc>
                  <a:txBody>
                    <a:bodyPr wrap="square"/>
                    <a:lstStyle/>
                    <a:p>
                      <a:pPr algn="ctr"/>
                      <a:r>
                        <a:rPr sz="1200" b="0" i="0">
                          <a:solidFill>
                            <a:srgbClr val="2B2B2B"/>
                          </a:solidFill>
                          <a:latin typeface="Arial"/>
                        </a:rPr>
                        <a:t>3 000</a:t>
                      </a:r>
                    </a:p>
                  </a:txBody>
                  <a:tcPr marL="64008" marR="64008" marT="27432" marB="27432" anchor="ctr">
                    <a:solidFill>
                      <a:srgbClr val="F2F3F5"/>
                    </a:solidFill>
                  </a:tcPr>
                </a:tc>
                <a:tc>
                  <a:txBody>
                    <a:bodyPr wrap="square"/>
                    <a:lstStyle/>
                    <a:p>
                      <a:pPr algn="ctr"/>
                      <a:r>
                        <a:rPr sz="1200" b="0" i="0">
                          <a:solidFill>
                            <a:srgbClr val="2B2B2B"/>
                          </a:solidFill>
                          <a:latin typeface="Arial"/>
                        </a:rPr>
                        <a:t>9 450</a:t>
                      </a:r>
                    </a:p>
                  </a:txBody>
                  <a:tcPr marL="64008" marR="64008" marT="27432" marB="27432" anchor="ctr">
                    <a:solidFill>
                      <a:srgbClr val="F2F3F5"/>
                    </a:solidFill>
                  </a:tcPr>
                </a:tc>
              </a:tr>
              <a:tr h="411480">
                <a:tc>
                  <a:txBody>
                    <a:bodyPr wrap="square"/>
                    <a:lstStyle/>
                    <a:p>
                      <a:pPr algn="l"/>
                      <a:r>
                        <a:rPr sz="1200" b="1" i="0">
                          <a:solidFill>
                            <a:srgbClr val="2B2B2B"/>
                          </a:solidFill>
                          <a:latin typeface="Arial"/>
                        </a:rPr>
                        <a:t>Pagos (USD)</a:t>
                      </a:r>
                    </a:p>
                  </a:txBody>
                  <a:tcPr marL="64008" marR="64008" marT="27432" marB="27432" anchor="ctr">
                    <a:solidFill>
                      <a:srgbClr val="FFFFFF"/>
                    </a:solidFill>
                  </a:tcPr>
                </a:tc>
                <a:tc>
                  <a:txBody>
                    <a:bodyPr wrap="square"/>
                    <a:lstStyle/>
                    <a:p>
                      <a:pPr algn="ctr"/>
                      <a:r>
                        <a:rPr sz="1200" b="0" i="0">
                          <a:solidFill>
                            <a:srgbClr val="2B2B2B"/>
                          </a:solidFill>
                          <a:latin typeface="Arial"/>
                        </a:rPr>
                        <a:t>692</a:t>
                      </a:r>
                    </a:p>
                  </a:txBody>
                  <a:tcPr marL="64008" marR="64008" marT="27432" marB="27432" anchor="ctr">
                    <a:solidFill>
                      <a:srgbClr val="FFFFFF"/>
                    </a:solidFill>
                  </a:tcPr>
                </a:tc>
                <a:tc>
                  <a:txBody>
                    <a:bodyPr wrap="square"/>
                    <a:lstStyle/>
                    <a:p>
                      <a:pPr algn="ctr"/>
                      <a:r>
                        <a:rPr sz="1200" b="0" i="0">
                          <a:solidFill>
                            <a:srgbClr val="2B2B2B"/>
                          </a:solidFill>
                          <a:latin typeface="Arial"/>
                        </a:rPr>
                        <a:t>3 923</a:t>
                      </a:r>
                    </a:p>
                  </a:txBody>
                  <a:tcPr marL="64008" marR="64008" marT="27432" marB="27432" anchor="ctr">
                    <a:solidFill>
                      <a:srgbClr val="FFFFFF"/>
                    </a:solidFill>
                  </a:tcPr>
                </a:tc>
              </a:tr>
            </a:tbl>
          </a:graphicData>
        </a:graphic>
      </p:graphicFrame>
      <p:sp>
        <p:nvSpPr>
          <p:cNvPr id="4" name="Rounded Rectangle 3"/>
          <p:cNvSpPr/>
          <p:nvPr/>
        </p:nvSpPr>
        <p:spPr>
          <a:xfrm>
            <a:off x="5349240" y="2011680"/>
            <a:ext cx="315468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Silhouette sin log, k = 2</a:t>
            </a:r>
          </a:p>
          <a:p>
            <a:pPr algn="ctr">
              <a:spcAft>
                <a:spcPts val="300"/>
              </a:spcAft>
            </a:pPr>
            <a:r>
              <a:rPr sz="2400" b="1" i="0">
                <a:solidFill>
                  <a:srgbClr val="D7263D"/>
                </a:solidFill>
                <a:latin typeface="Arial"/>
              </a:rPr>
              <a:t>0,47</a:t>
            </a:r>
          </a:p>
        </p:txBody>
      </p:sp>
      <p:sp>
        <p:nvSpPr>
          <p:cNvPr id="5" name="Rounded Rectangle 4"/>
          <p:cNvSpPr/>
          <p:nvPr/>
        </p:nvSpPr>
        <p:spPr>
          <a:xfrm>
            <a:off x="5349240" y="3383280"/>
            <a:ext cx="3154680" cy="12344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Silhouette con log, k = 4</a:t>
            </a:r>
          </a:p>
          <a:p>
            <a:pPr algn="ctr">
              <a:spcAft>
                <a:spcPts val="300"/>
              </a:spcAft>
            </a:pPr>
            <a:r>
              <a:rPr sz="2400" b="1" i="0">
                <a:solidFill>
                  <a:srgbClr val="2A9D8F"/>
                </a:solidFill>
                <a:latin typeface="Arial"/>
              </a:rPr>
              <a:t>0,27</a:t>
            </a:r>
          </a:p>
        </p:txBody>
      </p:sp>
      <p:sp>
        <p:nvSpPr>
          <p:cNvPr id="6" name="Rounded Rectangle 5"/>
          <p:cNvSpPr/>
          <p:nvPr/>
        </p:nvSpPr>
        <p:spPr>
          <a:xfrm>
            <a:off x="731520" y="493776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 mismo que en clasificación: </a:t>
            </a:r>
            <a:r>
              <a:rPr sz="1200" b="0" i="0">
                <a:solidFill>
                  <a:srgbClr val="2B2B2B"/>
                </a:solidFill>
                <a:latin typeface="Arial"/>
              </a:rPr>
              <a:t>un número alto (Accuracy, Silhouette) puede esconder un resultado inútil. Siempre mira los tamaños.</a:t>
            </a:r>
          </a:p>
        </p:txBody>
      </p:sp>
      <p:sp>
        <p:nvSpPr>
          <p:cNvPr id="7" name="Rounded Rectangle 6"/>
          <p:cNvSpPr/>
          <p:nvPr/>
        </p:nvSpPr>
        <p:spPr>
          <a:xfrm>
            <a:off x="731520" y="5806440"/>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Recuerda: </a:t>
            </a:r>
            <a:r>
              <a:rPr sz="1200" b="0" i="0">
                <a:solidFill>
                  <a:srgbClr val="2B2B2B"/>
                </a:solidFill>
                <a:latin typeface="Arial"/>
              </a:rPr>
              <a:t>el clustering siempre entrega grupos; aquí entregó «grandes contra el resto».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Nuestra decisión: k = 4, con argumentos</a:t>
            </a:r>
          </a:p>
        </p:txBody>
      </p:sp>
      <p:sp>
        <p:nvSpPr>
          <p:cNvPr id="3" name="Rounded Rectangle 2"/>
          <p:cNvSpPr/>
          <p:nvPr/>
        </p:nvSpPr>
        <p:spPr>
          <a:xfrm>
            <a:off x="731520" y="1965960"/>
            <a:ext cx="3794760" cy="14173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1. Codo</a:t>
            </a:r>
          </a:p>
        </p:txBody>
      </p:sp>
      <p:sp>
        <p:nvSpPr>
          <p:cNvPr id="5" name="TextBox 4"/>
          <p:cNvSpPr txBox="1"/>
          <p:nvPr/>
        </p:nvSpPr>
        <p:spPr>
          <a:xfrm>
            <a:off x="868680" y="2624328"/>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la inercia empieza a mejorar poco desde k = 4</a:t>
            </a:r>
          </a:p>
        </p:txBody>
      </p:sp>
      <p:sp>
        <p:nvSpPr>
          <p:cNvPr id="6" name="Rounded Rectangle 5"/>
          <p:cNvSpPr/>
          <p:nvPr/>
        </p:nvSpPr>
        <p:spPr>
          <a:xfrm>
            <a:off x="4663440" y="1965960"/>
            <a:ext cx="379476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00600" y="20756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2. Silhouette</a:t>
            </a:r>
          </a:p>
        </p:txBody>
      </p:sp>
      <p:sp>
        <p:nvSpPr>
          <p:cNvPr id="8" name="TextBox 7"/>
          <p:cNvSpPr txBox="1"/>
          <p:nvPr/>
        </p:nvSpPr>
        <p:spPr>
          <a:xfrm>
            <a:off x="4800600" y="2624328"/>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0,27, similar al resto: no penaliza</a:t>
            </a:r>
          </a:p>
        </p:txBody>
      </p:sp>
      <p:sp>
        <p:nvSpPr>
          <p:cNvPr id="9" name="Rounded Rectangle 8"/>
          <p:cNvSpPr/>
          <p:nvPr/>
        </p:nvSpPr>
        <p:spPr>
          <a:xfrm>
            <a:off x="731520" y="3520439"/>
            <a:ext cx="3794760" cy="14173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868680" y="363016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3. Tamaños</a:t>
            </a:r>
          </a:p>
        </p:txBody>
      </p:sp>
      <p:sp>
        <p:nvSpPr>
          <p:cNvPr id="11" name="TextBox 10"/>
          <p:cNvSpPr txBox="1"/>
          <p:nvPr/>
        </p:nvSpPr>
        <p:spPr>
          <a:xfrm>
            <a:off x="868680" y="4178807"/>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entre 1 297 y 2 770 clientes por grupo</a:t>
            </a:r>
          </a:p>
        </p:txBody>
      </p:sp>
      <p:sp>
        <p:nvSpPr>
          <p:cNvPr id="12" name="Rounded Rectangle 11"/>
          <p:cNvSpPr/>
          <p:nvPr/>
        </p:nvSpPr>
        <p:spPr>
          <a:xfrm>
            <a:off x="4663440" y="3520439"/>
            <a:ext cx="3794760" cy="14173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4800600" y="363016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4. Interpretación</a:t>
            </a:r>
          </a:p>
        </p:txBody>
      </p:sp>
      <p:sp>
        <p:nvSpPr>
          <p:cNvPr id="14" name="TextBox 13"/>
          <p:cNvSpPr txBox="1"/>
          <p:nvPr/>
        </p:nvSpPr>
        <p:spPr>
          <a:xfrm>
            <a:off x="4800600" y="4178807"/>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cuatro perfiles claros y con acciones posibles</a:t>
            </a:r>
          </a:p>
        </p:txBody>
      </p:sp>
      <p:sp>
        <p:nvSpPr>
          <p:cNvPr id="15" name="Rounded Rectangle 14"/>
          <p:cNvSpPr/>
          <p:nvPr/>
        </p:nvSpPr>
        <p:spPr>
          <a:xfrm>
            <a:off x="731520" y="52578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Válido también: </a:t>
            </a:r>
            <a:r>
              <a:rPr sz="1200" b="0" i="0">
                <a:solidFill>
                  <a:srgbClr val="2B2B2B"/>
                </a:solidFill>
                <a:latin typeface="Arial"/>
              </a:rPr>
              <a:t>«no encontré una separación convincente». Mejor eso que inventar grupos.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Del número al perfil: el mapa de calor</a:t>
            </a:r>
          </a:p>
        </p:txBody>
      </p:sp>
      <p:pic>
        <p:nvPicPr>
          <p:cNvPr id="3" name="Picture 2" descr="perfil_heat.png"/>
          <p:cNvPicPr>
            <a:picLocks noChangeAspect="1"/>
          </p:cNvPicPr>
          <p:nvPr/>
        </p:nvPicPr>
        <p:blipFill>
          <a:blip r:embed="rId3"/>
          <a:stretch>
            <a:fillRect/>
          </a:stretch>
        </p:blipFill>
        <p:spPr>
          <a:xfrm>
            <a:off x="731520" y="1884168"/>
            <a:ext cx="7772400" cy="3043943"/>
          </a:xfrm>
          <a:prstGeom prst="rect">
            <a:avLst/>
          </a:prstGeom>
        </p:spPr>
      </p:pic>
      <p:sp>
        <p:nvSpPr>
          <p:cNvPr id="4" name="Rounded Rectangle 3"/>
          <p:cNvSpPr/>
          <p:nvPr/>
        </p:nvSpPr>
        <p:spPr>
          <a:xfrm>
            <a:off x="731520" y="51206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Cómo leerlo: </a:t>
            </a:r>
            <a:r>
              <a:rPr sz="1200" b="0" i="0">
                <a:solidFill>
                  <a:srgbClr val="2B2B2B"/>
                </a:solidFill>
                <a:latin typeface="Arial"/>
              </a:rPr>
              <a:t>recorre cada fila y busca sus colores más intensos; eso es lo que distingue al segmento.</a:t>
            </a:r>
          </a:p>
        </p:txBody>
      </p:sp>
      <p:sp>
        <p:nvSpPr>
          <p:cNvPr id="5" name="Rounded Rectangle 4"/>
          <p:cNvSpPr/>
          <p:nvPr/>
        </p:nvSpPr>
        <p:spPr>
          <a:xfrm>
            <a:off x="731520" y="5806440"/>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Los números 0 a 3 </a:t>
            </a:r>
            <a:r>
              <a:rPr sz="1200" b="0" i="0">
                <a:solidFill>
                  <a:srgbClr val="2B2B2B"/>
                </a:solidFill>
                <a:latin typeface="Arial"/>
              </a:rPr>
              <a:t>son nombres arbitrarios: el segmento 3 no es «peor» que el 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Cuatro segmentos con nombre</a:t>
            </a:r>
          </a:p>
        </p:txBody>
      </p:sp>
      <p:sp>
        <p:nvSpPr>
          <p:cNvPr id="3" name="Rounded Rectangle 2"/>
          <p:cNvSpPr/>
          <p:nvPr/>
        </p:nvSpPr>
        <p:spPr>
          <a:xfrm>
            <a:off x="731520" y="1965960"/>
            <a:ext cx="3794760"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57400"/>
            <a:ext cx="2651760" cy="45720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Compradores que financian</a:t>
            </a:r>
          </a:p>
        </p:txBody>
      </p:sp>
      <p:sp>
        <p:nvSpPr>
          <p:cNvPr id="5" name="TextBox 4"/>
          <p:cNvSpPr txBox="1"/>
          <p:nvPr/>
        </p:nvSpPr>
        <p:spPr>
          <a:xfrm>
            <a:off x="3474720" y="2057400"/>
            <a:ext cx="914400" cy="457200"/>
          </a:xfrm>
          <a:prstGeom prst="rect">
            <a:avLst/>
          </a:prstGeom>
          <a:noFill/>
        </p:spPr>
        <p:txBody>
          <a:bodyPr wrap="square" anchor="ctr" lIns="36576" rIns="36576" tIns="36576" bIns="36576">
            <a:spAutoFit/>
          </a:bodyPr>
          <a:lstStyle/>
          <a:p>
            <a:pPr algn="r">
              <a:spcAft>
                <a:spcPts val="400"/>
              </a:spcAft>
            </a:pPr>
            <a:r>
              <a:rPr sz="1300" b="1" i="0">
                <a:solidFill>
                  <a:srgbClr val="5F6368"/>
                </a:solidFill>
                <a:latin typeface="Arial"/>
              </a:rPr>
              <a:t>2 770</a:t>
            </a:r>
          </a:p>
        </p:txBody>
      </p:sp>
      <p:sp>
        <p:nvSpPr>
          <p:cNvPr id="6" name="TextBox 5"/>
          <p:cNvSpPr txBox="1"/>
          <p:nvPr/>
        </p:nvSpPr>
        <p:spPr>
          <a:xfrm>
            <a:off x="868680" y="2606039"/>
            <a:ext cx="3520440" cy="9144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Saldo 1 865 · compras 1 271 · límite 5 950 · paga el total casi nunca</a:t>
            </a:r>
          </a:p>
        </p:txBody>
      </p:sp>
      <p:sp>
        <p:nvSpPr>
          <p:cNvPr id="7" name="Rounded Rectangle 6"/>
          <p:cNvSpPr/>
          <p:nvPr/>
        </p:nvSpPr>
        <p:spPr>
          <a:xfrm>
            <a:off x="4663440" y="1965960"/>
            <a:ext cx="3794760" cy="16459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00600" y="2057400"/>
            <a:ext cx="2651760" cy="457200"/>
          </a:xfrm>
          <a:prstGeom prst="rect">
            <a:avLst/>
          </a:prstGeom>
          <a:noFill/>
        </p:spPr>
        <p:txBody>
          <a:bodyPr wrap="square" anchor="ctr" lIns="36576" rIns="36576" tIns="36576" bIns="36576">
            <a:spAutoFit/>
          </a:bodyPr>
          <a:lstStyle/>
          <a:p>
            <a:pPr algn="l">
              <a:spcAft>
                <a:spcPts val="400"/>
              </a:spcAft>
            </a:pPr>
            <a:r>
              <a:rPr sz="1350" b="1" i="0">
                <a:solidFill>
                  <a:srgbClr val="2A9D8F"/>
                </a:solidFill>
                <a:latin typeface="Arial"/>
              </a:rPr>
              <a:t>Totaleros</a:t>
            </a:r>
          </a:p>
        </p:txBody>
      </p:sp>
      <p:sp>
        <p:nvSpPr>
          <p:cNvPr id="9" name="TextBox 8"/>
          <p:cNvSpPr txBox="1"/>
          <p:nvPr/>
        </p:nvSpPr>
        <p:spPr>
          <a:xfrm>
            <a:off x="7406640" y="2057400"/>
            <a:ext cx="914400" cy="457200"/>
          </a:xfrm>
          <a:prstGeom prst="rect">
            <a:avLst/>
          </a:prstGeom>
          <a:noFill/>
        </p:spPr>
        <p:txBody>
          <a:bodyPr wrap="square" anchor="ctr" lIns="36576" rIns="36576" tIns="36576" bIns="36576">
            <a:spAutoFit/>
          </a:bodyPr>
          <a:lstStyle/>
          <a:p>
            <a:pPr algn="r">
              <a:spcAft>
                <a:spcPts val="400"/>
              </a:spcAft>
            </a:pPr>
            <a:r>
              <a:rPr sz="1300" b="1" i="0">
                <a:solidFill>
                  <a:srgbClr val="5F6368"/>
                </a:solidFill>
                <a:latin typeface="Arial"/>
              </a:rPr>
              <a:t>1 297</a:t>
            </a:r>
          </a:p>
        </p:txBody>
      </p:sp>
      <p:sp>
        <p:nvSpPr>
          <p:cNvPr id="10" name="TextBox 9"/>
          <p:cNvSpPr txBox="1"/>
          <p:nvPr/>
        </p:nvSpPr>
        <p:spPr>
          <a:xfrm>
            <a:off x="4800600" y="2606039"/>
            <a:ext cx="3520440" cy="9144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Saldo 84 · compra el 92 % de los meses · paga el total el 83 % de los meses</a:t>
            </a:r>
          </a:p>
        </p:txBody>
      </p:sp>
      <p:sp>
        <p:nvSpPr>
          <p:cNvPr id="11" name="Rounded Rectangle 10"/>
          <p:cNvSpPr/>
          <p:nvPr/>
        </p:nvSpPr>
        <p:spPr>
          <a:xfrm>
            <a:off x="731520" y="3749039"/>
            <a:ext cx="3794760" cy="16459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868680" y="3840479"/>
            <a:ext cx="2651760" cy="45720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Usuarios de avances en efectivo</a:t>
            </a:r>
          </a:p>
        </p:txBody>
      </p:sp>
      <p:sp>
        <p:nvSpPr>
          <p:cNvPr id="13" name="TextBox 12"/>
          <p:cNvSpPr txBox="1"/>
          <p:nvPr/>
        </p:nvSpPr>
        <p:spPr>
          <a:xfrm>
            <a:off x="3474720" y="3840479"/>
            <a:ext cx="914400" cy="457200"/>
          </a:xfrm>
          <a:prstGeom prst="rect">
            <a:avLst/>
          </a:prstGeom>
          <a:noFill/>
        </p:spPr>
        <p:txBody>
          <a:bodyPr wrap="square" anchor="ctr" lIns="36576" rIns="36576" tIns="36576" bIns="36576">
            <a:spAutoFit/>
          </a:bodyPr>
          <a:lstStyle/>
          <a:p>
            <a:pPr algn="r">
              <a:spcAft>
                <a:spcPts val="400"/>
              </a:spcAft>
            </a:pPr>
            <a:r>
              <a:rPr sz="1300" b="1" i="0">
                <a:solidFill>
                  <a:srgbClr val="5F6368"/>
                </a:solidFill>
                <a:latin typeface="Arial"/>
              </a:rPr>
              <a:t>2 438</a:t>
            </a:r>
          </a:p>
        </p:txBody>
      </p:sp>
      <p:sp>
        <p:nvSpPr>
          <p:cNvPr id="14" name="TextBox 13"/>
          <p:cNvSpPr txBox="1"/>
          <p:nvPr/>
        </p:nvSpPr>
        <p:spPr>
          <a:xfrm>
            <a:off x="868680" y="4389120"/>
            <a:ext cx="3520440" cy="9144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82 % sin compras · 99 % usa avances (mediana 1 272) · saldo 1 528</a:t>
            </a:r>
          </a:p>
        </p:txBody>
      </p:sp>
      <p:sp>
        <p:nvSpPr>
          <p:cNvPr id="15" name="Rounded Rectangle 14"/>
          <p:cNvSpPr/>
          <p:nvPr/>
        </p:nvSpPr>
        <p:spPr>
          <a:xfrm>
            <a:off x="4663440" y="3749039"/>
            <a:ext cx="3794760" cy="1645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4800600" y="3840479"/>
            <a:ext cx="2651760" cy="457200"/>
          </a:xfrm>
          <a:prstGeom prst="rect">
            <a:avLst/>
          </a:prstGeom>
          <a:noFill/>
        </p:spPr>
        <p:txBody>
          <a:bodyPr wrap="square" anchor="ctr" lIns="36576" rIns="36576" tIns="36576" bIns="36576">
            <a:spAutoFit/>
          </a:bodyPr>
          <a:lstStyle/>
          <a:p>
            <a:pPr algn="l">
              <a:spcAft>
                <a:spcPts val="400"/>
              </a:spcAft>
            </a:pPr>
            <a:r>
              <a:rPr sz="1350" b="1" i="0">
                <a:solidFill>
                  <a:srgbClr val="B7791F"/>
                </a:solidFill>
                <a:latin typeface="Arial"/>
              </a:rPr>
              <a:t>Poco activos</a:t>
            </a:r>
          </a:p>
        </p:txBody>
      </p:sp>
      <p:sp>
        <p:nvSpPr>
          <p:cNvPr id="17" name="TextBox 16"/>
          <p:cNvSpPr txBox="1"/>
          <p:nvPr/>
        </p:nvSpPr>
        <p:spPr>
          <a:xfrm>
            <a:off x="7406640" y="3840479"/>
            <a:ext cx="914400" cy="457200"/>
          </a:xfrm>
          <a:prstGeom prst="rect">
            <a:avLst/>
          </a:prstGeom>
          <a:noFill/>
        </p:spPr>
        <p:txBody>
          <a:bodyPr wrap="square" anchor="ctr" lIns="36576" rIns="36576" tIns="36576" bIns="36576">
            <a:spAutoFit/>
          </a:bodyPr>
          <a:lstStyle/>
          <a:p>
            <a:pPr algn="r">
              <a:spcAft>
                <a:spcPts val="400"/>
              </a:spcAft>
            </a:pPr>
            <a:r>
              <a:rPr sz="1300" b="1" i="0">
                <a:solidFill>
                  <a:srgbClr val="5F6368"/>
                </a:solidFill>
                <a:latin typeface="Arial"/>
              </a:rPr>
              <a:t>2 444</a:t>
            </a:r>
          </a:p>
        </p:txBody>
      </p:sp>
      <p:sp>
        <p:nvSpPr>
          <p:cNvPr id="18" name="TextBox 17"/>
          <p:cNvSpPr txBox="1"/>
          <p:nvPr/>
        </p:nvSpPr>
        <p:spPr>
          <a:xfrm>
            <a:off x="4800600" y="4389120"/>
            <a:ext cx="3520440" cy="9144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Saldo 127 · compras 282 · pagos 338 · límite 1 800</a:t>
            </a:r>
          </a:p>
        </p:txBody>
      </p:sp>
      <p:sp>
        <p:nvSpPr>
          <p:cNvPr id="19" name="Rounded Rectangle 18"/>
          <p:cNvSpPr/>
          <p:nvPr/>
        </p:nvSpPr>
        <p:spPr>
          <a:xfrm>
            <a:off x="731520" y="562356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Medianas, no promedios: </a:t>
            </a:r>
            <a:r>
              <a:rPr sz="1200" b="0" i="0">
                <a:solidFill>
                  <a:srgbClr val="2B2B2B"/>
                </a:solidFill>
                <a:latin typeface="Arial"/>
              </a:rPr>
              <a:t>con montos asimétricos la mediana describe mejor al cliente típico de cada segmento.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Dos de las nueve variables, por segmento</a:t>
            </a:r>
          </a:p>
        </p:txBody>
      </p:sp>
      <p:pic>
        <p:nvPicPr>
          <p:cNvPr id="3" name="Picture 2" descr="scatter_seg.png"/>
          <p:cNvPicPr>
            <a:picLocks noChangeAspect="1"/>
          </p:cNvPicPr>
          <p:nvPr/>
        </p:nvPicPr>
        <p:blipFill>
          <a:blip r:embed="rId3"/>
          <a:stretch>
            <a:fillRect/>
          </a:stretch>
        </p:blipFill>
        <p:spPr>
          <a:xfrm>
            <a:off x="731520" y="1854120"/>
            <a:ext cx="5120640" cy="3286919"/>
          </a:xfrm>
          <a:prstGeom prst="rect">
            <a:avLst/>
          </a:prstGeom>
        </p:spPr>
      </p:pic>
      <p:sp>
        <p:nvSpPr>
          <p:cNvPr id="4" name="Rounded Rectangle 3"/>
          <p:cNvSpPr/>
          <p:nvPr/>
        </p:nvSpPr>
        <p:spPr>
          <a:xfrm>
            <a:off x="6035040" y="1874519"/>
            <a:ext cx="2468880" cy="1024128"/>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6172200" y="1984248"/>
            <a:ext cx="2240280" cy="502920"/>
          </a:xfrm>
          <a:prstGeom prst="rect">
            <a:avLst/>
          </a:prstGeom>
          <a:noFill/>
        </p:spPr>
        <p:txBody>
          <a:bodyPr wrap="square" anchor="ctr" lIns="36576" rIns="36576" tIns="36576" bIns="36576">
            <a:spAutoFit/>
          </a:bodyPr>
          <a:lstStyle/>
          <a:p>
            <a:pPr algn="l">
              <a:spcAft>
                <a:spcPts val="400"/>
              </a:spcAft>
            </a:pPr>
            <a:r>
              <a:rPr sz="1200" b="1" i="0">
                <a:solidFill>
                  <a:srgbClr val="D7263D"/>
                </a:solidFill>
                <a:latin typeface="Arial"/>
              </a:rPr>
              <a:t>Columna en compras = 0</a:t>
            </a:r>
          </a:p>
        </p:txBody>
      </p:sp>
      <p:sp>
        <p:nvSpPr>
          <p:cNvPr id="6" name="TextBox 5"/>
          <p:cNvSpPr txBox="1"/>
          <p:nvPr/>
        </p:nvSpPr>
        <p:spPr>
          <a:xfrm>
            <a:off x="6172200" y="2532887"/>
            <a:ext cx="2194560" cy="292608"/>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usuarios de avances (grupo 2)</a:t>
            </a:r>
          </a:p>
        </p:txBody>
      </p:sp>
      <p:sp>
        <p:nvSpPr>
          <p:cNvPr id="7" name="Rounded Rectangle 6"/>
          <p:cNvSpPr/>
          <p:nvPr/>
        </p:nvSpPr>
        <p:spPr>
          <a:xfrm>
            <a:off x="6035040" y="2990087"/>
            <a:ext cx="2468880" cy="1024128"/>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6172200" y="3099815"/>
            <a:ext cx="2240280" cy="502920"/>
          </a:xfrm>
          <a:prstGeom prst="rect">
            <a:avLst/>
          </a:prstGeom>
          <a:noFill/>
        </p:spPr>
        <p:txBody>
          <a:bodyPr wrap="square" anchor="ctr" lIns="36576" rIns="36576" tIns="36576" bIns="36576">
            <a:spAutoFit/>
          </a:bodyPr>
          <a:lstStyle/>
          <a:p>
            <a:pPr algn="l">
              <a:spcAft>
                <a:spcPts val="400"/>
              </a:spcAft>
            </a:pPr>
            <a:r>
              <a:rPr sz="1200" b="1" i="0">
                <a:solidFill>
                  <a:srgbClr val="2A9D8F"/>
                </a:solidFill>
                <a:latin typeface="Arial"/>
              </a:rPr>
              <a:t>Franja en avances = 0</a:t>
            </a:r>
          </a:p>
        </p:txBody>
      </p:sp>
      <p:sp>
        <p:nvSpPr>
          <p:cNvPr id="9" name="TextBox 8"/>
          <p:cNvSpPr txBox="1"/>
          <p:nvPr/>
        </p:nvSpPr>
        <p:spPr>
          <a:xfrm>
            <a:off x="6172200" y="3648455"/>
            <a:ext cx="2194560" cy="292608"/>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totaleros y poco activos (1 y 3)</a:t>
            </a:r>
          </a:p>
        </p:txBody>
      </p:sp>
      <p:sp>
        <p:nvSpPr>
          <p:cNvPr id="10" name="Rounded Rectangle 9"/>
          <p:cNvSpPr/>
          <p:nvPr/>
        </p:nvSpPr>
        <p:spPr>
          <a:xfrm>
            <a:off x="6035040" y="4105656"/>
            <a:ext cx="2468880" cy="1024128"/>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6172200" y="4215384"/>
            <a:ext cx="2240280" cy="502920"/>
          </a:xfrm>
          <a:prstGeom prst="rect">
            <a:avLst/>
          </a:prstGeom>
          <a:noFill/>
        </p:spPr>
        <p:txBody>
          <a:bodyPr wrap="square" anchor="ctr" lIns="36576" rIns="36576" tIns="36576" bIns="36576">
            <a:spAutoFit/>
          </a:bodyPr>
          <a:lstStyle/>
          <a:p>
            <a:pPr algn="l">
              <a:spcAft>
                <a:spcPts val="400"/>
              </a:spcAft>
            </a:pPr>
            <a:r>
              <a:rPr sz="1200" b="1" i="0">
                <a:solidFill>
                  <a:srgbClr val="242852"/>
                </a:solidFill>
                <a:latin typeface="Arial"/>
              </a:rPr>
              <a:t>Nube central</a:t>
            </a:r>
          </a:p>
        </p:txBody>
      </p:sp>
      <p:sp>
        <p:nvSpPr>
          <p:cNvPr id="12" name="TextBox 11"/>
          <p:cNvSpPr txBox="1"/>
          <p:nvPr/>
        </p:nvSpPr>
        <p:spPr>
          <a:xfrm>
            <a:off x="6172200" y="4764024"/>
            <a:ext cx="2194560" cy="292608"/>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compradores que financian (0)</a:t>
            </a:r>
          </a:p>
        </p:txBody>
      </p:sp>
      <p:sp>
        <p:nvSpPr>
          <p:cNvPr id="13" name="Rounded Rectangle 12"/>
          <p:cNvSpPr/>
          <p:nvPr/>
        </p:nvSpPr>
        <p:spPr>
          <a:xfrm>
            <a:off x="731520" y="53492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Una vista 2D no es todo el modelo: </a:t>
            </a:r>
            <a:r>
              <a:rPr sz="1200" b="0" i="0">
                <a:solidFill>
                  <a:srgbClr val="2B2B2B"/>
                </a:solidFill>
                <a:latin typeface="Arial"/>
              </a:rPr>
              <a:t>grupos que se mezclan aquí pueden separarse en las otras siete variables.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 los segmentos a las decisiones</a:t>
            </a:r>
          </a:p>
        </p:txBody>
      </p:sp>
      <p:graphicFrame>
        <p:nvGraphicFramePr>
          <p:cNvPr id="3" name="Table 2"/>
          <p:cNvGraphicFramePr>
            <a:graphicFrameLocks noGrp="1"/>
          </p:cNvGraphicFramePr>
          <p:nvPr/>
        </p:nvGraphicFramePr>
        <p:xfrm>
          <a:off x="731520" y="2011680"/>
          <a:ext cx="7772400" cy="2514600"/>
        </p:xfrm>
        <a:graphic>
          <a:graphicData uri="http://schemas.openxmlformats.org/drawingml/2006/table">
            <a:tbl>
              <a:tblPr firstRow="1" bandRow="1">
                <a:tableStyleId>{5C22544A-7EE6-4342-B048-85BDC9FD1C3A}</a:tableStyleId>
              </a:tblPr>
              <a:tblGrid>
                <a:gridCol w="2286000"/>
                <a:gridCol w="3108960"/>
                <a:gridCol w="2377440"/>
              </a:tblGrid>
              <a:tr h="502920">
                <a:tc>
                  <a:txBody>
                    <a:bodyPr wrap="square"/>
                    <a:lstStyle/>
                    <a:p>
                      <a:pPr algn="l"/>
                      <a:r>
                        <a:rPr sz="1200" b="1" i="0">
                          <a:solidFill>
                            <a:srgbClr val="FFFFFF"/>
                          </a:solidFill>
                          <a:latin typeface="Arial"/>
                        </a:rPr>
                        <a:t>Segmento</a:t>
                      </a:r>
                    </a:p>
                  </a:txBody>
                  <a:tcPr marL="64008" marR="64008" marT="27432" marB="27432" anchor="ctr">
                    <a:solidFill>
                      <a:srgbClr val="242852"/>
                    </a:solidFill>
                  </a:tcPr>
                </a:tc>
                <a:tc>
                  <a:txBody>
                    <a:bodyPr wrap="square"/>
                    <a:lstStyle/>
                    <a:p>
                      <a:pPr algn="ctr"/>
                      <a:r>
                        <a:rPr sz="1200" b="1" i="0">
                          <a:solidFill>
                            <a:srgbClr val="FFFFFF"/>
                          </a:solidFill>
                          <a:latin typeface="Arial"/>
                        </a:rPr>
                        <a:t>Idea de acción</a:t>
                      </a:r>
                    </a:p>
                  </a:txBody>
                  <a:tcPr marL="64008" marR="64008" marT="27432" marB="27432" anchor="ctr">
                    <a:solidFill>
                      <a:srgbClr val="242852"/>
                    </a:solidFill>
                  </a:tcPr>
                </a:tc>
                <a:tc>
                  <a:txBody>
                    <a:bodyPr wrap="square"/>
                    <a:lstStyle/>
                    <a:p>
                      <a:pPr algn="ctr"/>
                      <a:r>
                        <a:rPr sz="1200" b="1" i="0">
                          <a:solidFill>
                            <a:srgbClr val="FFFFFF"/>
                          </a:solidFill>
                          <a:latin typeface="Arial"/>
                        </a:rPr>
                        <a:t>Antes de actuar, revisar…</a:t>
                      </a:r>
                    </a:p>
                  </a:txBody>
                  <a:tcPr marL="64008" marR="64008" marT="27432" marB="27432" anchor="ctr">
                    <a:solidFill>
                      <a:srgbClr val="242852"/>
                    </a:solidFill>
                  </a:tcPr>
                </a:tc>
              </a:tr>
              <a:tr h="502920">
                <a:tc>
                  <a:txBody>
                    <a:bodyPr wrap="square"/>
                    <a:lstStyle/>
                    <a:p>
                      <a:pPr algn="l"/>
                      <a:r>
                        <a:rPr sz="1200" b="1" i="0">
                          <a:solidFill>
                            <a:srgbClr val="2B2B2B"/>
                          </a:solidFill>
                          <a:latin typeface="Arial"/>
                        </a:rPr>
                        <a:t>Compradores que financian</a:t>
                      </a:r>
                    </a:p>
                  </a:txBody>
                  <a:tcPr marL="64008" marR="64008" marT="27432" marB="27432" anchor="ctr">
                    <a:solidFill>
                      <a:srgbClr val="FFFFFF"/>
                    </a:solidFill>
                  </a:tcPr>
                </a:tc>
                <a:tc>
                  <a:txBody>
                    <a:bodyPr wrap="square"/>
                    <a:lstStyle/>
                    <a:p>
                      <a:pPr algn="ctr"/>
                      <a:r>
                        <a:rPr sz="1200" b="0" i="0">
                          <a:solidFill>
                            <a:srgbClr val="2B2B2B"/>
                          </a:solidFill>
                          <a:latin typeface="Arial"/>
                        </a:rPr>
                        <a:t>Ofertas de cuotas; vigilar endeudamiento</a:t>
                      </a:r>
                    </a:p>
                  </a:txBody>
                  <a:tcPr marL="64008" marR="64008" marT="27432" marB="27432" anchor="ctr">
                    <a:solidFill>
                      <a:srgbClr val="FFFFFF"/>
                    </a:solidFill>
                  </a:tcPr>
                </a:tc>
                <a:tc>
                  <a:txBody>
                    <a:bodyPr wrap="square"/>
                    <a:lstStyle/>
                    <a:p>
                      <a:pPr algn="ctr"/>
                      <a:r>
                        <a:rPr sz="1200" b="0" i="0">
                          <a:solidFill>
                            <a:srgbClr val="2B2B2B"/>
                          </a:solidFill>
                          <a:latin typeface="Arial"/>
                        </a:rPr>
                        <a:t>mora e ingresos</a:t>
                      </a:r>
                    </a:p>
                  </a:txBody>
                  <a:tcPr marL="64008" marR="64008" marT="27432" marB="27432" anchor="ctr">
                    <a:solidFill>
                      <a:srgbClr val="FFFFFF"/>
                    </a:solidFill>
                  </a:tcPr>
                </a:tc>
              </a:tr>
              <a:tr h="502920">
                <a:tc>
                  <a:txBody>
                    <a:bodyPr wrap="square"/>
                    <a:lstStyle/>
                    <a:p>
                      <a:pPr algn="l"/>
                      <a:r>
                        <a:rPr sz="1200" b="1" i="0">
                          <a:solidFill>
                            <a:srgbClr val="2B2B2B"/>
                          </a:solidFill>
                          <a:latin typeface="Arial"/>
                        </a:rPr>
                        <a:t>Totaleros</a:t>
                      </a:r>
                    </a:p>
                  </a:txBody>
                  <a:tcPr marL="64008" marR="64008" marT="27432" marB="27432" anchor="ctr">
                    <a:solidFill>
                      <a:srgbClr val="F2F3F5"/>
                    </a:solidFill>
                  </a:tcPr>
                </a:tc>
                <a:tc>
                  <a:txBody>
                    <a:bodyPr wrap="square"/>
                    <a:lstStyle/>
                    <a:p>
                      <a:pPr algn="ctr"/>
                      <a:r>
                        <a:rPr sz="1200" b="0" i="0">
                          <a:solidFill>
                            <a:srgbClr val="2B2B2B"/>
                          </a:solidFill>
                          <a:latin typeface="Arial"/>
                        </a:rPr>
                        <a:t>Programas de recompensas</a:t>
                      </a:r>
                    </a:p>
                  </a:txBody>
                  <a:tcPr marL="64008" marR="64008" marT="27432" marB="27432" anchor="ctr">
                    <a:solidFill>
                      <a:srgbClr val="F2F3F5"/>
                    </a:solidFill>
                  </a:tcPr>
                </a:tc>
                <a:tc>
                  <a:txBody>
                    <a:bodyPr wrap="square"/>
                    <a:lstStyle/>
                    <a:p>
                      <a:pPr algn="ctr"/>
                      <a:r>
                        <a:rPr sz="1200" b="0" i="0">
                          <a:solidFill>
                            <a:srgbClr val="2B2B2B"/>
                          </a:solidFill>
                          <a:latin typeface="Arial"/>
                        </a:rPr>
                        <a:t>rentabilidad del cliente</a:t>
                      </a:r>
                    </a:p>
                  </a:txBody>
                  <a:tcPr marL="64008" marR="64008" marT="27432" marB="27432" anchor="ctr">
                    <a:solidFill>
                      <a:srgbClr val="F2F3F5"/>
                    </a:solidFill>
                  </a:tcPr>
                </a:tc>
              </a:tr>
              <a:tr h="502920">
                <a:tc>
                  <a:txBody>
                    <a:bodyPr wrap="square"/>
                    <a:lstStyle/>
                    <a:p>
                      <a:pPr algn="l"/>
                      <a:r>
                        <a:rPr sz="1200" b="1" i="0">
                          <a:solidFill>
                            <a:srgbClr val="2B2B2B"/>
                          </a:solidFill>
                          <a:latin typeface="Arial"/>
                        </a:rPr>
                        <a:t>Usuarios de avances</a:t>
                      </a:r>
                    </a:p>
                  </a:txBody>
                  <a:tcPr marL="64008" marR="64008" marT="27432" marB="27432" anchor="ctr">
                    <a:solidFill>
                      <a:srgbClr val="FFFFFF"/>
                    </a:solidFill>
                  </a:tcPr>
                </a:tc>
                <a:tc>
                  <a:txBody>
                    <a:bodyPr wrap="square"/>
                    <a:lstStyle/>
                    <a:p>
                      <a:pPr algn="ctr"/>
                      <a:r>
                        <a:rPr sz="1200" b="0" i="0">
                          <a:solidFill>
                            <a:srgbClr val="2B2B2B"/>
                          </a:solidFill>
                          <a:latin typeface="Arial"/>
                        </a:rPr>
                        <a:t>Ofrecer un crédito más barato; revisar riesgo</a:t>
                      </a:r>
                    </a:p>
                  </a:txBody>
                  <a:tcPr marL="64008" marR="64008" marT="27432" marB="27432" anchor="ctr">
                    <a:solidFill>
                      <a:srgbClr val="FFFFFF"/>
                    </a:solidFill>
                  </a:tcPr>
                </a:tc>
                <a:tc>
                  <a:txBody>
                    <a:bodyPr wrap="square"/>
                    <a:lstStyle/>
                    <a:p>
                      <a:pPr algn="ctr"/>
                      <a:r>
                        <a:rPr sz="1200" b="0" i="0">
                          <a:solidFill>
                            <a:srgbClr val="2B2B2B"/>
                          </a:solidFill>
                          <a:latin typeface="Arial"/>
                        </a:rPr>
                        <a:t>historial de pagos y mora</a:t>
                      </a:r>
                    </a:p>
                  </a:txBody>
                  <a:tcPr marL="64008" marR="64008" marT="27432" marB="27432" anchor="ctr">
                    <a:solidFill>
                      <a:srgbClr val="FFFFFF"/>
                    </a:solidFill>
                  </a:tcPr>
                </a:tc>
              </a:tr>
              <a:tr h="502920">
                <a:tc>
                  <a:txBody>
                    <a:bodyPr wrap="square"/>
                    <a:lstStyle/>
                    <a:p>
                      <a:pPr algn="l"/>
                      <a:r>
                        <a:rPr sz="1200" b="1" i="0">
                          <a:solidFill>
                            <a:srgbClr val="2B2B2B"/>
                          </a:solidFill>
                          <a:latin typeface="Arial"/>
                        </a:rPr>
                        <a:t>Poco activos</a:t>
                      </a:r>
                    </a:p>
                  </a:txBody>
                  <a:tcPr marL="64008" marR="64008" marT="27432" marB="27432" anchor="ctr">
                    <a:solidFill>
                      <a:srgbClr val="F2F3F5"/>
                    </a:solidFill>
                  </a:tcPr>
                </a:tc>
                <a:tc>
                  <a:txBody>
                    <a:bodyPr wrap="square"/>
                    <a:lstStyle/>
                    <a:p>
                      <a:pPr algn="ctr"/>
                      <a:r>
                        <a:rPr sz="1200" b="0" i="0">
                          <a:solidFill>
                            <a:srgbClr val="2B2B2B"/>
                          </a:solidFill>
                          <a:latin typeface="Arial"/>
                        </a:rPr>
                        <a:t>Campañas de activación</a:t>
                      </a:r>
                    </a:p>
                  </a:txBody>
                  <a:tcPr marL="64008" marR="64008" marT="27432" marB="27432" anchor="ctr">
                    <a:solidFill>
                      <a:srgbClr val="F2F3F5"/>
                    </a:solidFill>
                  </a:tcPr>
                </a:tc>
                <a:tc>
                  <a:txBody>
                    <a:bodyPr wrap="square"/>
                    <a:lstStyle/>
                    <a:p>
                      <a:pPr algn="ctr"/>
                      <a:r>
                        <a:rPr sz="1200" b="0" i="0">
                          <a:solidFill>
                            <a:srgbClr val="2B2B2B"/>
                          </a:solidFill>
                          <a:latin typeface="Arial"/>
                        </a:rPr>
                        <a:t>si tienen otra tarjeta principal</a:t>
                      </a:r>
                    </a:p>
                  </a:txBody>
                  <a:tcPr marL="64008" marR="64008" marT="27432" marB="27432" anchor="ctr">
                    <a:solidFill>
                      <a:srgbClr val="F2F3F5"/>
                    </a:solidFill>
                  </a:tcPr>
                </a:tc>
              </a:tr>
            </a:tbl>
          </a:graphicData>
        </a:graphic>
      </p:graphicFrame>
      <p:sp>
        <p:nvSpPr>
          <p:cNvPr id="4" name="Rounded Rectangle 3"/>
          <p:cNvSpPr/>
          <p:nvPr/>
        </p:nvSpPr>
        <p:spPr>
          <a:xfrm>
            <a:off x="731520" y="475488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Lo que el clustering NO dice: </a:t>
            </a:r>
            <a:r>
              <a:rPr sz="1200" b="0" i="0">
                <a:solidFill>
                  <a:srgbClr val="2B2B2B"/>
                </a:solidFill>
                <a:latin typeface="Arial"/>
              </a:rPr>
              <a:t>por qué un cliente se comporta así, ni que el grupo sea permanente. Con otras variables saldrían otros grupos.</a:t>
            </a:r>
          </a:p>
        </p:txBody>
      </p:sp>
      <p:sp>
        <p:nvSpPr>
          <p:cNvPr id="5" name="Rounded Rectangle 4"/>
          <p:cNvSpPr/>
          <p:nvPr/>
        </p:nvSpPr>
        <p:spPr>
          <a:xfrm>
            <a:off x="731520" y="5623560"/>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Siguiente paso real: </a:t>
            </a:r>
            <a:r>
              <a:rPr sz="1200" b="0" i="0">
                <a:solidFill>
                  <a:srgbClr val="2B2B2B"/>
                </a:solidFill>
                <a:latin typeface="Arial"/>
              </a:rPr>
              <a:t>validar cada segmento con el área de negocio y con datos que no se usaron para agrupar.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Línea base</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Qué es el jerárquico</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A mano</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Dendrograma</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Linkage</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6</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Validar y clustering jerárquico</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Comparar con una línea base, con otras configuraciones y con otro método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Línea base y configuraciones</a:t>
            </a:r>
          </a:p>
        </p:txBody>
      </p:sp>
      <p:graphicFrame>
        <p:nvGraphicFramePr>
          <p:cNvPr id="3" name="Table 2"/>
          <p:cNvGraphicFramePr>
            <a:graphicFrameLocks noGrp="1"/>
          </p:cNvGraphicFramePr>
          <p:nvPr/>
        </p:nvGraphicFramePr>
        <p:xfrm>
          <a:off x="731520" y="1965960"/>
          <a:ext cx="7772400" cy="3072384"/>
        </p:xfrm>
        <a:graphic>
          <a:graphicData uri="http://schemas.openxmlformats.org/drawingml/2006/table">
            <a:tbl>
              <a:tblPr firstRow="1" bandRow="1">
                <a:tableStyleId>{5C22544A-7EE6-4342-B048-85BDC9FD1C3A}</a:tableStyleId>
              </a:tblPr>
              <a:tblGrid>
                <a:gridCol w="2743200"/>
                <a:gridCol w="1051560"/>
                <a:gridCol w="1188720"/>
                <a:gridCol w="1234440"/>
                <a:gridCol w="1554480"/>
              </a:tblGrid>
              <a:tr h="438912">
                <a:tc>
                  <a:txBody>
                    <a:bodyPr wrap="square"/>
                    <a:lstStyle/>
                    <a:p>
                      <a:pPr algn="l"/>
                      <a:r>
                        <a:rPr sz="1150" b="1" i="0">
                          <a:solidFill>
                            <a:srgbClr val="FFFFFF"/>
                          </a:solidFill>
                          <a:latin typeface="Arial"/>
                        </a:rPr>
                        <a:t>Configuración</a:t>
                      </a:r>
                    </a:p>
                  </a:txBody>
                  <a:tcPr marL="64008" marR="64008" marT="27432" marB="27432" anchor="ctr">
                    <a:solidFill>
                      <a:srgbClr val="242852"/>
                    </a:solidFill>
                  </a:tcPr>
                </a:tc>
                <a:tc>
                  <a:txBody>
                    <a:bodyPr wrap="square"/>
                    <a:lstStyle/>
                    <a:p>
                      <a:pPr algn="ctr"/>
                      <a:r>
                        <a:rPr sz="1150" b="1" i="0">
                          <a:solidFill>
                            <a:srgbClr val="FFFFFF"/>
                          </a:solidFill>
                          <a:latin typeface="Arial"/>
                        </a:rPr>
                        <a:t>Silhouette</a:t>
                      </a:r>
                    </a:p>
                  </a:txBody>
                  <a:tcPr marL="64008" marR="64008" marT="27432" marB="27432" anchor="ctr">
                    <a:solidFill>
                      <a:srgbClr val="242852"/>
                    </a:solidFill>
                  </a:tcPr>
                </a:tc>
                <a:tc>
                  <a:txBody>
                    <a:bodyPr wrap="square"/>
                    <a:lstStyle/>
                    <a:p>
                      <a:pPr algn="ctr"/>
                      <a:r>
                        <a:rPr sz="1150" b="1" i="0">
                          <a:solidFill>
                            <a:srgbClr val="FFFFFF"/>
                          </a:solidFill>
                          <a:latin typeface="Arial"/>
                        </a:rPr>
                        <a:t>Grupo más chico</a:t>
                      </a:r>
                    </a:p>
                  </a:txBody>
                  <a:tcPr marL="64008" marR="64008" marT="27432" marB="27432" anchor="ctr">
                    <a:solidFill>
                      <a:srgbClr val="242852"/>
                    </a:solidFill>
                  </a:tcPr>
                </a:tc>
                <a:tc>
                  <a:txBody>
                    <a:bodyPr wrap="square"/>
                    <a:lstStyle/>
                    <a:p>
                      <a:pPr algn="ctr"/>
                      <a:r>
                        <a:rPr sz="1150" b="1" i="0">
                          <a:solidFill>
                            <a:srgbClr val="FFFFFF"/>
                          </a:solidFill>
                          <a:latin typeface="Arial"/>
                        </a:rPr>
                        <a:t>Grupo más grande</a:t>
                      </a:r>
                    </a:p>
                  </a:txBody>
                  <a:tcPr marL="64008" marR="64008" marT="27432" marB="27432" anchor="ctr">
                    <a:solidFill>
                      <a:srgbClr val="242852"/>
                    </a:solidFill>
                  </a:tcPr>
                </a:tc>
                <a:tc>
                  <a:txBody>
                    <a:bodyPr wrap="square"/>
                    <a:lstStyle/>
                    <a:p>
                      <a:pPr algn="ctr"/>
                      <a:r>
                        <a:rPr sz="1150" b="1" i="0">
                          <a:solidFill>
                            <a:srgbClr val="FFFFFF"/>
                          </a:solidFill>
                          <a:latin typeface="Arial"/>
                        </a:rPr>
                        <a:t>¿Útil?</a:t>
                      </a:r>
                    </a:p>
                  </a:txBody>
                  <a:tcPr marL="64008" marR="64008" marT="27432" marB="27432" anchor="ctr">
                    <a:solidFill>
                      <a:srgbClr val="242852"/>
                    </a:solidFill>
                  </a:tcPr>
                </a:tc>
              </a:tr>
              <a:tr h="438912">
                <a:tc>
                  <a:txBody>
                    <a:bodyPr wrap="square"/>
                    <a:lstStyle/>
                    <a:p>
                      <a:pPr algn="l"/>
                      <a:r>
                        <a:rPr sz="1150" b="1" i="0">
                          <a:solidFill>
                            <a:srgbClr val="2B2B2B"/>
                          </a:solidFill>
                          <a:latin typeface="Arial"/>
                        </a:rPr>
                        <a:t>Línea base: cuartiles de compras</a:t>
                      </a:r>
                    </a:p>
                  </a:txBody>
                  <a:tcPr marL="64008" marR="64008" marT="27432" marB="27432" anchor="ctr">
                    <a:solidFill>
                      <a:srgbClr val="FFFFFF"/>
                    </a:solidFill>
                  </a:tcPr>
                </a:tc>
                <a:tc>
                  <a:txBody>
                    <a:bodyPr wrap="square"/>
                    <a:lstStyle/>
                    <a:p>
                      <a:pPr algn="ctr"/>
                      <a:r>
                        <a:rPr sz="1150" b="0" i="0">
                          <a:solidFill>
                            <a:srgbClr val="2B2B2B"/>
                          </a:solidFill>
                          <a:latin typeface="Arial"/>
                        </a:rPr>
                        <a:t>0,135</a:t>
                      </a:r>
                    </a:p>
                  </a:txBody>
                  <a:tcPr marL="64008" marR="64008" marT="27432" marB="27432" anchor="ctr">
                    <a:solidFill>
                      <a:srgbClr val="FFFFFF"/>
                    </a:solidFill>
                  </a:tcPr>
                </a:tc>
                <a:tc>
                  <a:txBody>
                    <a:bodyPr wrap="square"/>
                    <a:lstStyle/>
                    <a:p>
                      <a:pPr algn="ctr"/>
                      <a:r>
                        <a:rPr sz="1150" b="0" i="0">
                          <a:solidFill>
                            <a:srgbClr val="2B2B2B"/>
                          </a:solidFill>
                          <a:latin typeface="Arial"/>
                        </a:rPr>
                        <a:t>2 237</a:t>
                      </a:r>
                    </a:p>
                  </a:txBody>
                  <a:tcPr marL="64008" marR="64008" marT="27432" marB="27432" anchor="ctr">
                    <a:solidFill>
                      <a:srgbClr val="FFFFFF"/>
                    </a:solidFill>
                  </a:tcPr>
                </a:tc>
                <a:tc>
                  <a:txBody>
                    <a:bodyPr wrap="square"/>
                    <a:lstStyle/>
                    <a:p>
                      <a:pPr algn="ctr"/>
                      <a:r>
                        <a:rPr sz="1150" b="0" i="0">
                          <a:solidFill>
                            <a:srgbClr val="2B2B2B"/>
                          </a:solidFill>
                          <a:latin typeface="Arial"/>
                        </a:rPr>
                        <a:t>2 238</a:t>
                      </a:r>
                    </a:p>
                  </a:txBody>
                  <a:tcPr marL="64008" marR="64008" marT="27432" marB="27432" anchor="ctr">
                    <a:solidFill>
                      <a:srgbClr val="FFFFFF"/>
                    </a:solidFill>
                  </a:tcPr>
                </a:tc>
                <a:tc>
                  <a:txBody>
                    <a:bodyPr wrap="square"/>
                    <a:lstStyle/>
                    <a:p>
                      <a:pPr algn="ctr"/>
                      <a:r>
                        <a:rPr sz="1150" b="0" i="0">
                          <a:solidFill>
                            <a:srgbClr val="2B2B2B"/>
                          </a:solidFill>
                          <a:latin typeface="Arial"/>
                        </a:rPr>
                        <a:t>referencia</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K-Means con log, k = 3</a:t>
                      </a:r>
                    </a:p>
                  </a:txBody>
                  <a:tcPr marL="64008" marR="64008" marT="27432" marB="27432" anchor="ctr">
                    <a:solidFill>
                      <a:srgbClr val="F2F3F5"/>
                    </a:solidFill>
                  </a:tcPr>
                </a:tc>
                <a:tc>
                  <a:txBody>
                    <a:bodyPr wrap="square"/>
                    <a:lstStyle/>
                    <a:p>
                      <a:pPr algn="ctr"/>
                      <a:r>
                        <a:rPr sz="1150" b="0" i="0">
                          <a:solidFill>
                            <a:srgbClr val="2B2B2B"/>
                          </a:solidFill>
                          <a:latin typeface="Arial"/>
                        </a:rPr>
                        <a:t>0,262</a:t>
                      </a:r>
                    </a:p>
                  </a:txBody>
                  <a:tcPr marL="64008" marR="64008" marT="27432" marB="27432" anchor="ctr">
                    <a:solidFill>
                      <a:srgbClr val="F2F3F5"/>
                    </a:solidFill>
                  </a:tcPr>
                </a:tc>
                <a:tc>
                  <a:txBody>
                    <a:bodyPr wrap="square"/>
                    <a:lstStyle/>
                    <a:p>
                      <a:pPr algn="ctr"/>
                      <a:r>
                        <a:rPr sz="1150" b="0" i="0">
                          <a:solidFill>
                            <a:srgbClr val="2B2B2B"/>
                          </a:solidFill>
                          <a:latin typeface="Arial"/>
                        </a:rPr>
                        <a:t>2 736</a:t>
                      </a:r>
                    </a:p>
                  </a:txBody>
                  <a:tcPr marL="64008" marR="64008" marT="27432" marB="27432" anchor="ctr">
                    <a:solidFill>
                      <a:srgbClr val="F2F3F5"/>
                    </a:solidFill>
                  </a:tcPr>
                </a:tc>
                <a:tc>
                  <a:txBody>
                    <a:bodyPr wrap="square"/>
                    <a:lstStyle/>
                    <a:p>
                      <a:pPr algn="ctr"/>
                      <a:r>
                        <a:rPr sz="1150" b="0" i="0">
                          <a:solidFill>
                            <a:srgbClr val="2B2B2B"/>
                          </a:solidFill>
                          <a:latin typeface="Arial"/>
                        </a:rPr>
                        <a:t>3 443</a:t>
                      </a:r>
                    </a:p>
                  </a:txBody>
                  <a:tcPr marL="64008" marR="64008" marT="27432" marB="27432" anchor="ctr">
                    <a:solidFill>
                      <a:srgbClr val="F2F3F5"/>
                    </a:solidFill>
                  </a:tcPr>
                </a:tc>
                <a:tc>
                  <a:txBody>
                    <a:bodyPr wrap="square"/>
                    <a:lstStyle/>
                    <a:p>
                      <a:pPr algn="ctr"/>
                      <a:r>
                        <a:rPr sz="1150" b="0" i="0">
                          <a:solidFill>
                            <a:srgbClr val="2B2B2B"/>
                          </a:solidFill>
                          <a:latin typeface="Arial"/>
                        </a:rPr>
                        <a:t>sí</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K-Means con log, k = 4</a:t>
                      </a:r>
                    </a:p>
                  </a:txBody>
                  <a:tcPr marL="64008" marR="64008" marT="27432" marB="27432" anchor="ctr">
                    <a:solidFill>
                      <a:srgbClr val="E3F3F1"/>
                    </a:solidFill>
                  </a:tcPr>
                </a:tc>
                <a:tc>
                  <a:txBody>
                    <a:bodyPr wrap="square"/>
                    <a:lstStyle/>
                    <a:p>
                      <a:pPr algn="ctr"/>
                      <a:r>
                        <a:rPr sz="1150" b="1" i="0">
                          <a:solidFill>
                            <a:srgbClr val="2B2B2B"/>
                          </a:solidFill>
                          <a:latin typeface="Arial"/>
                        </a:rPr>
                        <a:t>0,268</a:t>
                      </a:r>
                    </a:p>
                  </a:txBody>
                  <a:tcPr marL="64008" marR="64008" marT="27432" marB="27432" anchor="ctr">
                    <a:solidFill>
                      <a:srgbClr val="E3F3F1"/>
                    </a:solidFill>
                  </a:tcPr>
                </a:tc>
                <a:tc>
                  <a:txBody>
                    <a:bodyPr wrap="square"/>
                    <a:lstStyle/>
                    <a:p>
                      <a:pPr algn="ctr"/>
                      <a:r>
                        <a:rPr sz="1150" b="0" i="0">
                          <a:solidFill>
                            <a:srgbClr val="2B2B2B"/>
                          </a:solidFill>
                          <a:latin typeface="Arial"/>
                        </a:rPr>
                        <a:t>1 297</a:t>
                      </a:r>
                    </a:p>
                  </a:txBody>
                  <a:tcPr marL="64008" marR="64008" marT="27432" marB="27432" anchor="ctr">
                    <a:solidFill>
                      <a:srgbClr val="E3F3F1"/>
                    </a:solidFill>
                  </a:tcPr>
                </a:tc>
                <a:tc>
                  <a:txBody>
                    <a:bodyPr wrap="square"/>
                    <a:lstStyle/>
                    <a:p>
                      <a:pPr algn="ctr"/>
                      <a:r>
                        <a:rPr sz="1150" b="0" i="0">
                          <a:solidFill>
                            <a:srgbClr val="2B2B2B"/>
                          </a:solidFill>
                          <a:latin typeface="Arial"/>
                        </a:rPr>
                        <a:t>2 770</a:t>
                      </a:r>
                    </a:p>
                  </a:txBody>
                  <a:tcPr marL="64008" marR="64008" marT="27432" marB="27432" anchor="ctr">
                    <a:solidFill>
                      <a:srgbClr val="E3F3F1"/>
                    </a:solidFill>
                  </a:tcPr>
                </a:tc>
                <a:tc>
                  <a:txBody>
                    <a:bodyPr wrap="square"/>
                    <a:lstStyle/>
                    <a:p>
                      <a:pPr algn="ctr"/>
                      <a:r>
                        <a:rPr sz="1150" b="1" i="0">
                          <a:solidFill>
                            <a:srgbClr val="2A9D8F"/>
                          </a:solidFill>
                          <a:latin typeface="Arial"/>
                        </a:rPr>
                        <a:t>elegida</a:t>
                      </a:r>
                    </a:p>
                  </a:txBody>
                  <a:tcPr marL="64008" marR="64008" marT="27432" marB="27432" anchor="ctr">
                    <a:solidFill>
                      <a:srgbClr val="E3F3F1"/>
                    </a:solidFill>
                  </a:tcPr>
                </a:tc>
              </a:tr>
              <a:tr h="438912">
                <a:tc>
                  <a:txBody>
                    <a:bodyPr wrap="square"/>
                    <a:lstStyle/>
                    <a:p>
                      <a:pPr algn="l"/>
                      <a:r>
                        <a:rPr sz="1150" b="1" i="0">
                          <a:solidFill>
                            <a:srgbClr val="2B2B2B"/>
                          </a:solidFill>
                          <a:latin typeface="Arial"/>
                        </a:rPr>
                        <a:t>K-Means con log, k = 5</a:t>
                      </a:r>
                    </a:p>
                  </a:txBody>
                  <a:tcPr marL="64008" marR="64008" marT="27432" marB="27432" anchor="ctr">
                    <a:solidFill>
                      <a:srgbClr val="F2F3F5"/>
                    </a:solidFill>
                  </a:tcPr>
                </a:tc>
                <a:tc>
                  <a:txBody>
                    <a:bodyPr wrap="square"/>
                    <a:lstStyle/>
                    <a:p>
                      <a:pPr algn="ctr"/>
                      <a:r>
                        <a:rPr sz="1150" b="0" i="0">
                          <a:solidFill>
                            <a:srgbClr val="2B2B2B"/>
                          </a:solidFill>
                          <a:latin typeface="Arial"/>
                        </a:rPr>
                        <a:t>0,273</a:t>
                      </a:r>
                    </a:p>
                  </a:txBody>
                  <a:tcPr marL="64008" marR="64008" marT="27432" marB="27432" anchor="ctr">
                    <a:solidFill>
                      <a:srgbClr val="F2F3F5"/>
                    </a:solidFill>
                  </a:tcPr>
                </a:tc>
                <a:tc>
                  <a:txBody>
                    <a:bodyPr wrap="square"/>
                    <a:lstStyle/>
                    <a:p>
                      <a:pPr algn="ctr"/>
                      <a:r>
                        <a:rPr sz="1150" b="0" i="0">
                          <a:solidFill>
                            <a:srgbClr val="2B2B2B"/>
                          </a:solidFill>
                          <a:latin typeface="Arial"/>
                        </a:rPr>
                        <a:t>1 154</a:t>
                      </a:r>
                    </a:p>
                  </a:txBody>
                  <a:tcPr marL="64008" marR="64008" marT="27432" marB="27432" anchor="ctr">
                    <a:solidFill>
                      <a:srgbClr val="F2F3F5"/>
                    </a:solidFill>
                  </a:tcPr>
                </a:tc>
                <a:tc>
                  <a:txBody>
                    <a:bodyPr wrap="square"/>
                    <a:lstStyle/>
                    <a:p>
                      <a:pPr algn="ctr"/>
                      <a:r>
                        <a:rPr sz="1150" b="0" i="0">
                          <a:solidFill>
                            <a:srgbClr val="2B2B2B"/>
                          </a:solidFill>
                          <a:latin typeface="Arial"/>
                        </a:rPr>
                        <a:t>2 148</a:t>
                      </a:r>
                    </a:p>
                  </a:txBody>
                  <a:tcPr marL="64008" marR="64008" marT="27432" marB="27432" anchor="ctr">
                    <a:solidFill>
                      <a:srgbClr val="F2F3F5"/>
                    </a:solidFill>
                  </a:tcPr>
                </a:tc>
                <a:tc>
                  <a:txBody>
                    <a:bodyPr wrap="square"/>
                    <a:lstStyle/>
                    <a:p>
                      <a:pPr algn="ctr"/>
                      <a:r>
                        <a:rPr sz="1150" b="0" i="0">
                          <a:solidFill>
                            <a:srgbClr val="2B2B2B"/>
                          </a:solidFill>
                          <a:latin typeface="Arial"/>
                        </a:rPr>
                        <a:t>sí</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K-Means con log, k = 6</a:t>
                      </a:r>
                    </a:p>
                  </a:txBody>
                  <a:tcPr marL="64008" marR="64008" marT="27432" marB="27432" anchor="ctr">
                    <a:solidFill>
                      <a:srgbClr val="FFFFFF"/>
                    </a:solidFill>
                  </a:tcPr>
                </a:tc>
                <a:tc>
                  <a:txBody>
                    <a:bodyPr wrap="square"/>
                    <a:lstStyle/>
                    <a:p>
                      <a:pPr algn="ctr"/>
                      <a:r>
                        <a:rPr sz="1150" b="0" i="0">
                          <a:solidFill>
                            <a:srgbClr val="2B2B2B"/>
                          </a:solidFill>
                          <a:latin typeface="Arial"/>
                        </a:rPr>
                        <a:t>0,282</a:t>
                      </a:r>
                    </a:p>
                  </a:txBody>
                  <a:tcPr marL="64008" marR="64008" marT="27432" marB="27432" anchor="ctr">
                    <a:solidFill>
                      <a:srgbClr val="FFFFFF"/>
                    </a:solidFill>
                  </a:tcPr>
                </a:tc>
                <a:tc>
                  <a:txBody>
                    <a:bodyPr wrap="square"/>
                    <a:lstStyle/>
                    <a:p>
                      <a:pPr algn="ctr"/>
                      <a:r>
                        <a:rPr sz="1150" b="0" i="0">
                          <a:solidFill>
                            <a:srgbClr val="2B2B2B"/>
                          </a:solidFill>
                          <a:latin typeface="Arial"/>
                        </a:rPr>
                        <a:t>365</a:t>
                      </a:r>
                    </a:p>
                  </a:txBody>
                  <a:tcPr marL="64008" marR="64008" marT="27432" marB="27432" anchor="ctr">
                    <a:solidFill>
                      <a:srgbClr val="FFFFFF"/>
                    </a:solidFill>
                  </a:tcPr>
                </a:tc>
                <a:tc>
                  <a:txBody>
                    <a:bodyPr wrap="square"/>
                    <a:lstStyle/>
                    <a:p>
                      <a:pPr algn="ctr"/>
                      <a:r>
                        <a:rPr sz="1150" b="0" i="0">
                          <a:solidFill>
                            <a:srgbClr val="2B2B2B"/>
                          </a:solidFill>
                          <a:latin typeface="Arial"/>
                        </a:rPr>
                        <a:t>2 067</a:t>
                      </a:r>
                    </a:p>
                  </a:txBody>
                  <a:tcPr marL="64008" marR="64008" marT="27432" marB="27432" anchor="ctr">
                    <a:solidFill>
                      <a:srgbClr val="FFFFFF"/>
                    </a:solidFill>
                  </a:tcPr>
                </a:tc>
                <a:tc>
                  <a:txBody>
                    <a:bodyPr wrap="square"/>
                    <a:lstStyle/>
                    <a:p>
                      <a:pPr algn="ctr"/>
                      <a:r>
                        <a:rPr sz="1150" b="0" i="0">
                          <a:solidFill>
                            <a:srgbClr val="2B2B2B"/>
                          </a:solidFill>
                          <a:latin typeface="Arial"/>
                        </a:rPr>
                        <a:t>un grupo pequeño</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K-Means sin log, k = 2</a:t>
                      </a:r>
                    </a:p>
                  </a:txBody>
                  <a:tcPr marL="64008" marR="64008" marT="27432" marB="27432" anchor="ctr">
                    <a:solidFill>
                      <a:srgbClr val="F2F3F5"/>
                    </a:solidFill>
                  </a:tcPr>
                </a:tc>
                <a:tc>
                  <a:txBody>
                    <a:bodyPr wrap="square"/>
                    <a:lstStyle/>
                    <a:p>
                      <a:pPr algn="ctr"/>
                      <a:r>
                        <a:rPr sz="1150" b="1" i="0">
                          <a:solidFill>
                            <a:srgbClr val="D7263D"/>
                          </a:solidFill>
                          <a:latin typeface="Arial"/>
                        </a:rPr>
                        <a:t>0,469</a:t>
                      </a:r>
                    </a:p>
                  </a:txBody>
                  <a:tcPr marL="64008" marR="64008" marT="27432" marB="27432" anchor="ctr">
                    <a:solidFill>
                      <a:srgbClr val="F2F3F5"/>
                    </a:solidFill>
                  </a:tcPr>
                </a:tc>
                <a:tc>
                  <a:txBody>
                    <a:bodyPr wrap="square"/>
                    <a:lstStyle/>
                    <a:p>
                      <a:pPr algn="ctr"/>
                      <a:r>
                        <a:rPr sz="1150" b="0" i="0">
                          <a:solidFill>
                            <a:srgbClr val="2B2B2B"/>
                          </a:solidFill>
                          <a:latin typeface="Arial"/>
                        </a:rPr>
                        <a:t>1 250</a:t>
                      </a:r>
                    </a:p>
                  </a:txBody>
                  <a:tcPr marL="64008" marR="64008" marT="27432" marB="27432" anchor="ctr">
                    <a:solidFill>
                      <a:srgbClr val="F2F3F5"/>
                    </a:solidFill>
                  </a:tcPr>
                </a:tc>
                <a:tc>
                  <a:txBody>
                    <a:bodyPr wrap="square"/>
                    <a:lstStyle/>
                    <a:p>
                      <a:pPr algn="ctr"/>
                      <a:r>
                        <a:rPr sz="1150" b="0" i="0">
                          <a:solidFill>
                            <a:srgbClr val="2B2B2B"/>
                          </a:solidFill>
                          <a:latin typeface="Arial"/>
                        </a:rPr>
                        <a:t>7 699</a:t>
                      </a:r>
                    </a:p>
                  </a:txBody>
                  <a:tcPr marL="64008" marR="64008" marT="27432" marB="27432" anchor="ctr">
                    <a:solidFill>
                      <a:srgbClr val="F2F3F5"/>
                    </a:solidFill>
                  </a:tcPr>
                </a:tc>
                <a:tc>
                  <a:txBody>
                    <a:bodyPr wrap="square"/>
                    <a:lstStyle/>
                    <a:p>
                      <a:pPr algn="ctr"/>
                      <a:r>
                        <a:rPr sz="1150" b="1" i="0">
                          <a:solidFill>
                            <a:srgbClr val="D7263D"/>
                          </a:solidFill>
                          <a:latin typeface="Arial"/>
                        </a:rPr>
                        <a:t>no: grandes contra el resto</a:t>
                      </a:r>
                    </a:p>
                  </a:txBody>
                  <a:tcPr marL="64008" marR="64008" marT="27432" marB="27432" anchor="ctr">
                    <a:solidFill>
                      <a:srgbClr val="F2F3F5"/>
                    </a:solidFill>
                  </a:tcPr>
                </a:tc>
              </a:tr>
            </a:tbl>
          </a:graphicData>
        </a:graphic>
      </p:graphicFrame>
      <p:sp>
        <p:nvSpPr>
          <p:cNvPr id="4" name="Rounded Rectangle 3"/>
          <p:cNvSpPr/>
          <p:nvPr/>
        </p:nvSpPr>
        <p:spPr>
          <a:xfrm>
            <a:off x="731520" y="525780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Así se ve la tabla del proyecto final: </a:t>
            </a:r>
            <a:r>
              <a:rPr sz="1200" b="0" i="0">
                <a:solidFill>
                  <a:srgbClr val="2B2B2B"/>
                </a:solidFill>
                <a:latin typeface="Arial"/>
              </a:rPr>
              <a:t>línea base, al menos tres configuraciones y una justificación que no se quede en la métrica.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el clustering jerárquico?</a:t>
            </a:r>
          </a:p>
        </p:txBody>
      </p:sp>
      <p:sp>
        <p:nvSpPr>
          <p:cNvPr id="3" name="Rounded Rectangle 2"/>
          <p:cNvSpPr/>
          <p:nvPr/>
        </p:nvSpPr>
        <p:spPr>
          <a:xfrm>
            <a:off x="731520" y="196596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Jerárquico: </a:t>
            </a:r>
            <a:r>
              <a:rPr sz="1350" b="0" i="0">
                <a:solidFill>
                  <a:srgbClr val="FFFFFF"/>
                </a:solidFill>
                <a:latin typeface="Arial"/>
              </a:rPr>
              <a:t>construye un árbol de uniones; los grupos se eligen al cortar el árbol a cierta altura.</a:t>
            </a:r>
          </a:p>
        </p:txBody>
      </p:sp>
      <p:sp>
        <p:nvSpPr>
          <p:cNvPr id="4" name="Rounded Rectangle 3"/>
          <p:cNvSpPr/>
          <p:nvPr/>
        </p:nvSpPr>
        <p:spPr>
          <a:xfrm>
            <a:off x="731520" y="3017520"/>
            <a:ext cx="3794760" cy="16002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31272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Aglomerativo (el que usaremos)</a:t>
            </a:r>
          </a:p>
        </p:txBody>
      </p:sp>
      <p:sp>
        <p:nvSpPr>
          <p:cNvPr id="6" name="TextBox 5"/>
          <p:cNvSpPr txBox="1"/>
          <p:nvPr/>
        </p:nvSpPr>
        <p:spPr>
          <a:xfrm>
            <a:off x="868680" y="3675887"/>
            <a:ext cx="3520440" cy="8686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De abajo hacia arriba: cada fila empieza sola y se van uniendo las más parecidas.</a:t>
            </a:r>
          </a:p>
        </p:txBody>
      </p:sp>
      <p:sp>
        <p:nvSpPr>
          <p:cNvPr id="7" name="Rounded Rectangle 6"/>
          <p:cNvSpPr/>
          <p:nvPr/>
        </p:nvSpPr>
        <p:spPr>
          <a:xfrm>
            <a:off x="4709160" y="3017520"/>
            <a:ext cx="3794760" cy="16002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31272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Divisivo</a:t>
            </a:r>
          </a:p>
        </p:txBody>
      </p:sp>
      <p:sp>
        <p:nvSpPr>
          <p:cNvPr id="9" name="TextBox 8"/>
          <p:cNvSpPr txBox="1"/>
          <p:nvPr/>
        </p:nvSpPr>
        <p:spPr>
          <a:xfrm>
            <a:off x="4846320" y="3675887"/>
            <a:ext cx="3520440" cy="8686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De arriba hacia abajo: todo empieza junto y se va partiendo. Es menos común.</a:t>
            </a:r>
          </a:p>
        </p:txBody>
      </p:sp>
      <p:sp>
        <p:nvSpPr>
          <p:cNvPr id="10" name="Rounded Rectangle 9"/>
          <p:cNvSpPr/>
          <p:nvPr/>
        </p:nvSpPr>
        <p:spPr>
          <a:xfrm>
            <a:off x="731520" y="4800600"/>
            <a:ext cx="2487168" cy="8686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2A9D8F"/>
                </a:solidFill>
                <a:latin typeface="Arial"/>
              </a:rPr>
              <a:t>Sin k al inicio</a:t>
            </a:r>
          </a:p>
          <a:p>
            <a:pPr algn="ctr">
              <a:spcAft>
                <a:spcPts val="300"/>
              </a:spcAft>
            </a:pPr>
            <a:r>
              <a:rPr sz="1100" b="0" i="0">
                <a:solidFill>
                  <a:srgbClr val="2B2B2B"/>
                </a:solidFill>
                <a:latin typeface="Arial"/>
              </a:rPr>
              <a:t>se decide al cortar</a:t>
            </a:r>
          </a:p>
        </p:txBody>
      </p:sp>
      <p:sp>
        <p:nvSpPr>
          <p:cNvPr id="11" name="Rounded Rectangle 10"/>
          <p:cNvSpPr/>
          <p:nvPr/>
        </p:nvSpPr>
        <p:spPr>
          <a:xfrm>
            <a:off x="3355848" y="4800600"/>
            <a:ext cx="2487168"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242852"/>
                </a:solidFill>
                <a:latin typeface="Arial"/>
              </a:rPr>
              <a:t>Se ve el proceso</a:t>
            </a:r>
          </a:p>
          <a:p>
            <a:pPr algn="ctr">
              <a:spcAft>
                <a:spcPts val="300"/>
              </a:spcAft>
            </a:pPr>
            <a:r>
              <a:rPr sz="1100" b="0" i="0">
                <a:solidFill>
                  <a:srgbClr val="2B2B2B"/>
                </a:solidFill>
                <a:latin typeface="Arial"/>
              </a:rPr>
              <a:t>el dendrograma muestra cada unión</a:t>
            </a:r>
          </a:p>
        </p:txBody>
      </p:sp>
      <p:sp>
        <p:nvSpPr>
          <p:cNvPr id="12" name="Rounded Rectangle 11"/>
          <p:cNvSpPr/>
          <p:nvPr/>
        </p:nvSpPr>
        <p:spPr>
          <a:xfrm>
            <a:off x="5980176" y="4800600"/>
            <a:ext cx="2487168"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Lento con muchos datos</a:t>
            </a:r>
          </a:p>
          <a:p>
            <a:pPr algn="ctr">
              <a:spcAft>
                <a:spcPts val="300"/>
              </a:spcAft>
            </a:pPr>
            <a:r>
              <a:rPr sz="1100" b="0" i="0">
                <a:solidFill>
                  <a:srgbClr val="2B2B2B"/>
                </a:solidFill>
                <a:latin typeface="Arial"/>
              </a:rPr>
              <a:t>compara todos los pares</a:t>
            </a:r>
          </a:p>
        </p:txBody>
      </p:sp>
      <p:sp>
        <p:nvSpPr>
          <p:cNvPr id="13" name="Rounded Rectangle 12"/>
          <p:cNvSpPr/>
          <p:nvPr/>
        </p:nvSpPr>
        <p:spPr>
          <a:xfrm>
            <a:off x="731520" y="585216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Analogía: </a:t>
            </a:r>
            <a:r>
              <a:rPr sz="1200" b="0" i="0">
                <a:solidFill>
                  <a:srgbClr val="2B2B2B"/>
                </a:solidFill>
                <a:latin typeface="Arial"/>
              </a:rPr>
              <a:t>un árbol genealógico al revés: primero se juntan los hermanos, luego los primos, luego las familias.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Jerárquico a mano: la matriz de distancias</a:t>
            </a:r>
          </a:p>
        </p:txBody>
      </p:sp>
      <p:graphicFrame>
        <p:nvGraphicFramePr>
          <p:cNvPr id="3" name="Table 2"/>
          <p:cNvGraphicFramePr>
            <a:graphicFrameLocks noGrp="1"/>
          </p:cNvGraphicFramePr>
          <p:nvPr/>
        </p:nvGraphicFramePr>
        <p:xfrm>
          <a:off x="731520" y="1965960"/>
          <a:ext cx="4206240" cy="1920240"/>
        </p:xfrm>
        <a:graphic>
          <a:graphicData uri="http://schemas.openxmlformats.org/drawingml/2006/table">
            <a:tbl>
              <a:tblPr firstRow="1" bandRow="1">
                <a:tableStyleId>{5C22544A-7EE6-4342-B048-85BDC9FD1C3A}</a:tableStyleId>
              </a:tblPr>
              <a:tblGrid>
                <a:gridCol w="548640"/>
                <a:gridCol w="731520"/>
                <a:gridCol w="731520"/>
                <a:gridCol w="731520"/>
                <a:gridCol w="731520"/>
                <a:gridCol w="731520"/>
              </a:tblGrid>
              <a:tr h="384048">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A = 1</a:t>
                      </a:r>
                    </a:p>
                  </a:txBody>
                  <a:tcPr marL="64008" marR="64008" marT="27432" marB="27432" anchor="ctr">
                    <a:solidFill>
                      <a:srgbClr val="242852"/>
                    </a:solidFill>
                  </a:tcPr>
                </a:tc>
                <a:tc>
                  <a:txBody>
                    <a:bodyPr wrap="square"/>
                    <a:lstStyle/>
                    <a:p>
                      <a:pPr algn="ctr"/>
                      <a:r>
                        <a:rPr sz="1200" b="1" i="0">
                          <a:solidFill>
                            <a:srgbClr val="FFFFFF"/>
                          </a:solidFill>
                          <a:latin typeface="Arial"/>
                        </a:rPr>
                        <a:t>B = 2</a:t>
                      </a:r>
                    </a:p>
                  </a:txBody>
                  <a:tcPr marL="64008" marR="64008" marT="27432" marB="27432" anchor="ctr">
                    <a:solidFill>
                      <a:srgbClr val="242852"/>
                    </a:solidFill>
                  </a:tcPr>
                </a:tc>
                <a:tc>
                  <a:txBody>
                    <a:bodyPr wrap="square"/>
                    <a:lstStyle/>
                    <a:p>
                      <a:pPr algn="ctr"/>
                      <a:r>
                        <a:rPr sz="1200" b="1" i="0">
                          <a:solidFill>
                            <a:srgbClr val="FFFFFF"/>
                          </a:solidFill>
                          <a:latin typeface="Arial"/>
                        </a:rPr>
                        <a:t>C = 6</a:t>
                      </a:r>
                    </a:p>
                  </a:txBody>
                  <a:tcPr marL="64008" marR="64008" marT="27432" marB="27432" anchor="ctr">
                    <a:solidFill>
                      <a:srgbClr val="242852"/>
                    </a:solidFill>
                  </a:tcPr>
                </a:tc>
                <a:tc>
                  <a:txBody>
                    <a:bodyPr wrap="square"/>
                    <a:lstStyle/>
                    <a:p>
                      <a:pPr algn="ctr"/>
                      <a:r>
                        <a:rPr sz="1200" b="1" i="0">
                          <a:solidFill>
                            <a:srgbClr val="FFFFFF"/>
                          </a:solidFill>
                          <a:latin typeface="Arial"/>
                        </a:rPr>
                        <a:t>D = 7</a:t>
                      </a:r>
                    </a:p>
                  </a:txBody>
                  <a:tcPr marL="64008" marR="64008" marT="27432" marB="27432" anchor="ctr">
                    <a:solidFill>
                      <a:srgbClr val="242852"/>
                    </a:solidFill>
                  </a:tcPr>
                </a:tc>
                <a:tc>
                  <a:txBody>
                    <a:bodyPr wrap="square"/>
                    <a:lstStyle/>
                    <a:p>
                      <a:pPr algn="ctr"/>
                      <a:r>
                        <a:rPr sz="1200" b="1" i="0">
                          <a:solidFill>
                            <a:srgbClr val="FFFFFF"/>
                          </a:solidFill>
                          <a:latin typeface="Arial"/>
                        </a:rPr>
                        <a:t>E = 15</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A</a:t>
                      </a:r>
                    </a:p>
                  </a:txBody>
                  <a:tcPr marL="64008" marR="64008" marT="27432" marB="27432" anchor="ctr">
                    <a:solidFill>
                      <a:srgbClr val="FFFFFF"/>
                    </a:solidFill>
                  </a:tcPr>
                </a:tc>
                <a:tc>
                  <a:txBody>
                    <a:bodyPr wrap="square"/>
                    <a:lstStyle/>
                    <a:p>
                      <a:pPr algn="ctr"/>
                      <a:r>
                        <a:rPr sz="1200" b="0" i="0">
                          <a:solidFill>
                            <a:srgbClr val="2B2B2B"/>
                          </a:solidFill>
                          <a:latin typeface="Arial"/>
                        </a:rPr>
                        <a:t>—</a:t>
                      </a:r>
                    </a:p>
                  </a:txBody>
                  <a:tcPr marL="64008" marR="64008" marT="27432" marB="27432" anchor="ctr">
                    <a:solidFill>
                      <a:srgbClr val="FFFFFF"/>
                    </a:solidFill>
                  </a:tcPr>
                </a:tc>
                <a:tc>
                  <a:txBody>
                    <a:bodyPr wrap="square"/>
                    <a:lstStyle/>
                    <a:p>
                      <a:pPr algn="ctr"/>
                      <a:r>
                        <a:rPr sz="1200" b="1" i="0">
                          <a:solidFill>
                            <a:srgbClr val="D7263D"/>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5</a:t>
                      </a:r>
                    </a:p>
                  </a:txBody>
                  <a:tcPr marL="64008" marR="64008" marT="27432" marB="27432" anchor="ctr">
                    <a:solidFill>
                      <a:srgbClr val="FFFFFF"/>
                    </a:solidFill>
                  </a:tcPr>
                </a:tc>
                <a:tc>
                  <a:txBody>
                    <a:bodyPr wrap="square"/>
                    <a:lstStyle/>
                    <a:p>
                      <a:pPr algn="ctr"/>
                      <a:r>
                        <a:rPr sz="1200" b="0" i="0">
                          <a:solidFill>
                            <a:srgbClr val="2B2B2B"/>
                          </a:solidFill>
                          <a:latin typeface="Arial"/>
                        </a:rPr>
                        <a:t>6</a:t>
                      </a:r>
                    </a:p>
                  </a:txBody>
                  <a:tcPr marL="64008" marR="64008" marT="27432" marB="27432" anchor="ctr">
                    <a:solidFill>
                      <a:srgbClr val="FFFFFF"/>
                    </a:solidFill>
                  </a:tcPr>
                </a:tc>
                <a:tc>
                  <a:txBody>
                    <a:bodyPr wrap="square"/>
                    <a:lstStyle/>
                    <a:p>
                      <a:pPr algn="ctr"/>
                      <a:r>
                        <a:rPr sz="1200" b="0" i="0">
                          <a:solidFill>
                            <a:srgbClr val="2B2B2B"/>
                          </a:solidFill>
                          <a:latin typeface="Arial"/>
                        </a:rPr>
                        <a:t>14</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B</a:t>
                      </a:r>
                    </a:p>
                  </a:txBody>
                  <a:tcPr marL="64008" marR="64008" marT="27432" marB="27432" anchor="ctr">
                    <a:solidFill>
                      <a:srgbClr val="F2F3F5"/>
                    </a:solidFill>
                  </a:tcPr>
                </a:tc>
                <a:tc>
                  <a:txBody>
                    <a:bodyPr wrap="square"/>
                    <a:lstStyle/>
                    <a:p>
                      <a:pPr algn="ctr"/>
                      <a:r>
                        <a:rPr sz="1200" b="0" i="0">
                          <a:solidFill>
                            <a:srgbClr val="2B2B2B"/>
                          </a:solidFill>
                          <a:latin typeface="Arial"/>
                        </a:rPr>
                        <a:t/>
                      </a:r>
                    </a:p>
                  </a:txBody>
                  <a:tcPr marL="64008" marR="64008" marT="27432" marB="27432" anchor="ctr">
                    <a:solidFill>
                      <a:srgbClr val="F2F3F5"/>
                    </a:solidFill>
                  </a:tcPr>
                </a:tc>
                <a:tc>
                  <a:txBody>
                    <a:bodyPr wrap="square"/>
                    <a:lstStyle/>
                    <a:p>
                      <a:pPr algn="ctr"/>
                      <a:r>
                        <a:rPr sz="1200" b="0" i="0">
                          <a:solidFill>
                            <a:srgbClr val="2B2B2B"/>
                          </a:solidFill>
                          <a:latin typeface="Arial"/>
                        </a:rPr>
                        <a:t>—</a:t>
                      </a:r>
                    </a:p>
                  </a:txBody>
                  <a:tcPr marL="64008" marR="64008" marT="27432" marB="27432" anchor="ctr">
                    <a:solidFill>
                      <a:srgbClr val="F2F3F5"/>
                    </a:solidFill>
                  </a:tcPr>
                </a:tc>
                <a:tc>
                  <a:txBody>
                    <a:bodyPr wrap="square"/>
                    <a:lstStyle/>
                    <a:p>
                      <a:pPr algn="ctr"/>
                      <a:r>
                        <a:rPr sz="1200" b="0" i="0">
                          <a:solidFill>
                            <a:srgbClr val="2B2B2B"/>
                          </a:solidFill>
                          <a:latin typeface="Arial"/>
                        </a:rPr>
                        <a:t>4</a:t>
                      </a:r>
                    </a:p>
                  </a:txBody>
                  <a:tcPr marL="64008" marR="64008" marT="27432" marB="27432" anchor="ctr">
                    <a:solidFill>
                      <a:srgbClr val="F2F3F5"/>
                    </a:solidFill>
                  </a:tcPr>
                </a:tc>
                <a:tc>
                  <a:txBody>
                    <a:bodyPr wrap="square"/>
                    <a:lstStyle/>
                    <a:p>
                      <a:pPr algn="ctr"/>
                      <a:r>
                        <a:rPr sz="1200" b="0" i="0">
                          <a:solidFill>
                            <a:srgbClr val="2B2B2B"/>
                          </a:solidFill>
                          <a:latin typeface="Arial"/>
                        </a:rPr>
                        <a:t>5</a:t>
                      </a:r>
                    </a:p>
                  </a:txBody>
                  <a:tcPr marL="64008" marR="64008" marT="27432" marB="27432" anchor="ctr">
                    <a:solidFill>
                      <a:srgbClr val="F2F3F5"/>
                    </a:solidFill>
                  </a:tcPr>
                </a:tc>
                <a:tc>
                  <a:txBody>
                    <a:bodyPr wrap="square"/>
                    <a:lstStyle/>
                    <a:p>
                      <a:pPr algn="ctr"/>
                      <a:r>
                        <a:rPr sz="1200" b="0" i="0">
                          <a:solidFill>
                            <a:srgbClr val="2B2B2B"/>
                          </a:solidFill>
                          <a:latin typeface="Arial"/>
                        </a:rPr>
                        <a:t>13</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C</a:t>
                      </a:r>
                    </a:p>
                  </a:txBody>
                  <a:tcPr marL="64008" marR="64008" marT="27432" marB="27432" anchor="ctr">
                    <a:solidFill>
                      <a:srgbClr val="FFFFFF"/>
                    </a:solidFill>
                  </a:tcPr>
                </a:tc>
                <a:tc>
                  <a:txBody>
                    <a:bodyPr wrap="square"/>
                    <a:lstStyle/>
                    <a:p>
                      <a:pPr algn="ctr"/>
                      <a:r>
                        <a:rPr sz="1200" b="0" i="0">
                          <a:solidFill>
                            <a:srgbClr val="2B2B2B"/>
                          </a:solidFill>
                          <a:latin typeface="Arial"/>
                        </a:rPr>
                        <a:t/>
                      </a:r>
                    </a:p>
                  </a:txBody>
                  <a:tcPr marL="64008" marR="64008" marT="27432" marB="27432" anchor="ctr">
                    <a:solidFill>
                      <a:srgbClr val="FFFFFF"/>
                    </a:solidFill>
                  </a:tcPr>
                </a:tc>
                <a:tc>
                  <a:txBody>
                    <a:bodyPr wrap="square"/>
                    <a:lstStyle/>
                    <a:p>
                      <a:pPr algn="ctr"/>
                      <a:r>
                        <a:rPr sz="1200" b="0" i="0">
                          <a:solidFill>
                            <a:srgbClr val="2B2B2B"/>
                          </a:solidFill>
                          <a:latin typeface="Arial"/>
                        </a:rPr>
                        <a:t/>
                      </a:r>
                    </a:p>
                  </a:txBody>
                  <a:tcPr marL="64008" marR="64008" marT="27432" marB="27432" anchor="ctr">
                    <a:solidFill>
                      <a:srgbClr val="FFFFFF"/>
                    </a:solidFill>
                  </a:tcPr>
                </a:tc>
                <a:tc>
                  <a:txBody>
                    <a:bodyPr wrap="square"/>
                    <a:lstStyle/>
                    <a:p>
                      <a:pPr algn="ctr"/>
                      <a:r>
                        <a:rPr sz="1200" b="0" i="0">
                          <a:solidFill>
                            <a:srgbClr val="2B2B2B"/>
                          </a:solidFill>
                          <a:latin typeface="Arial"/>
                        </a:rPr>
                        <a:t>—</a:t>
                      </a:r>
                    </a:p>
                  </a:txBody>
                  <a:tcPr marL="64008" marR="64008" marT="27432" marB="27432" anchor="ctr">
                    <a:solidFill>
                      <a:srgbClr val="FFFFFF"/>
                    </a:solidFill>
                  </a:tcPr>
                </a:tc>
                <a:tc>
                  <a:txBody>
                    <a:bodyPr wrap="square"/>
                    <a:lstStyle/>
                    <a:p>
                      <a:pPr algn="ctr"/>
                      <a:r>
                        <a:rPr sz="1200" b="1" i="0">
                          <a:solidFill>
                            <a:srgbClr val="D7263D"/>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9</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D</a:t>
                      </a:r>
                    </a:p>
                  </a:txBody>
                  <a:tcPr marL="64008" marR="64008" marT="27432" marB="27432" anchor="ctr">
                    <a:solidFill>
                      <a:srgbClr val="F2F3F5"/>
                    </a:solidFill>
                  </a:tcPr>
                </a:tc>
                <a:tc>
                  <a:txBody>
                    <a:bodyPr wrap="square"/>
                    <a:lstStyle/>
                    <a:p>
                      <a:pPr algn="ctr"/>
                      <a:r>
                        <a:rPr sz="1200" b="0" i="0">
                          <a:solidFill>
                            <a:srgbClr val="2B2B2B"/>
                          </a:solidFill>
                          <a:latin typeface="Arial"/>
                        </a:rPr>
                        <a:t/>
                      </a:r>
                    </a:p>
                  </a:txBody>
                  <a:tcPr marL="64008" marR="64008" marT="27432" marB="27432" anchor="ctr">
                    <a:solidFill>
                      <a:srgbClr val="F2F3F5"/>
                    </a:solidFill>
                  </a:tcPr>
                </a:tc>
                <a:tc>
                  <a:txBody>
                    <a:bodyPr wrap="square"/>
                    <a:lstStyle/>
                    <a:p>
                      <a:pPr algn="ctr"/>
                      <a:r>
                        <a:rPr sz="1200" b="0" i="0">
                          <a:solidFill>
                            <a:srgbClr val="2B2B2B"/>
                          </a:solidFill>
                          <a:latin typeface="Arial"/>
                        </a:rPr>
                        <a:t/>
                      </a:r>
                    </a:p>
                  </a:txBody>
                  <a:tcPr marL="64008" marR="64008" marT="27432" marB="27432" anchor="ctr">
                    <a:solidFill>
                      <a:srgbClr val="F2F3F5"/>
                    </a:solidFill>
                  </a:tcPr>
                </a:tc>
                <a:tc>
                  <a:txBody>
                    <a:bodyPr wrap="square"/>
                    <a:lstStyle/>
                    <a:p>
                      <a:pPr algn="ctr"/>
                      <a:r>
                        <a:rPr sz="1200" b="0" i="0">
                          <a:solidFill>
                            <a:srgbClr val="2B2B2B"/>
                          </a:solidFill>
                          <a:latin typeface="Arial"/>
                        </a:rPr>
                        <a:t/>
                      </a:r>
                    </a:p>
                  </a:txBody>
                  <a:tcPr marL="64008" marR="64008" marT="27432" marB="27432" anchor="ctr">
                    <a:solidFill>
                      <a:srgbClr val="F2F3F5"/>
                    </a:solidFill>
                  </a:tcPr>
                </a:tc>
                <a:tc>
                  <a:txBody>
                    <a:bodyPr wrap="square"/>
                    <a:lstStyle/>
                    <a:p>
                      <a:pPr algn="ctr"/>
                      <a:r>
                        <a:rPr sz="1200" b="0" i="0">
                          <a:solidFill>
                            <a:srgbClr val="2B2B2B"/>
                          </a:solidFill>
                          <a:latin typeface="Arial"/>
                        </a:rPr>
                        <a:t>—</a:t>
                      </a:r>
                    </a:p>
                  </a:txBody>
                  <a:tcPr marL="64008" marR="64008" marT="27432" marB="27432" anchor="ctr">
                    <a:solidFill>
                      <a:srgbClr val="F2F3F5"/>
                    </a:solidFill>
                  </a:tcPr>
                </a:tc>
                <a:tc>
                  <a:txBody>
                    <a:bodyPr wrap="square"/>
                    <a:lstStyle/>
                    <a:p>
                      <a:pPr algn="ctr"/>
                      <a:r>
                        <a:rPr sz="1200" b="0" i="0">
                          <a:solidFill>
                            <a:srgbClr val="2B2B2B"/>
                          </a:solidFill>
                          <a:latin typeface="Arial"/>
                        </a:rPr>
                        <a:t>8</a:t>
                      </a:r>
                    </a:p>
                  </a:txBody>
                  <a:tcPr marL="64008" marR="64008" marT="27432" marB="27432" anchor="ctr">
                    <a:solidFill>
                      <a:srgbClr val="F2F3F5"/>
                    </a:solidFill>
                  </a:tcPr>
                </a:tc>
              </a:tr>
            </a:tbl>
          </a:graphicData>
        </a:graphic>
      </p:graphicFrame>
      <p:sp>
        <p:nvSpPr>
          <p:cNvPr id="4" name="TextBox 3"/>
          <p:cNvSpPr txBox="1"/>
          <p:nvPr/>
        </p:nvSpPr>
        <p:spPr>
          <a:xfrm>
            <a:off x="731520" y="3931920"/>
            <a:ext cx="4206240" cy="320040"/>
          </a:xfrm>
          <a:prstGeom prst="rect">
            <a:avLst/>
          </a:prstGeom>
          <a:noFill/>
        </p:spPr>
        <p:txBody>
          <a:bodyPr wrap="square" anchor="t" lIns="36576" rIns="36576" tIns="36576" bIns="36576">
            <a:spAutoFit/>
          </a:bodyPr>
          <a:lstStyle/>
          <a:p>
            <a:pPr algn="ctr">
              <a:spcAft>
                <a:spcPts val="400"/>
              </a:spcAft>
            </a:pPr>
            <a:r>
              <a:rPr sz="1050" b="0" i="1">
                <a:solidFill>
                  <a:srgbClr val="5F6368"/>
                </a:solidFill>
                <a:latin typeface="Arial"/>
              </a:rPr>
              <a:t>Matriz inicial: distancia entre cada par de puntos</a:t>
            </a:r>
          </a:p>
        </p:txBody>
      </p:sp>
      <p:graphicFrame>
        <p:nvGraphicFramePr>
          <p:cNvPr id="5" name="Table 4"/>
          <p:cNvGraphicFramePr>
            <a:graphicFrameLocks noGrp="1"/>
          </p:cNvGraphicFramePr>
          <p:nvPr/>
        </p:nvGraphicFramePr>
        <p:xfrm>
          <a:off x="5074920" y="1965960"/>
          <a:ext cx="3429000" cy="1920240"/>
        </p:xfrm>
        <a:graphic>
          <a:graphicData uri="http://schemas.openxmlformats.org/drawingml/2006/table">
            <a:tbl>
              <a:tblPr firstRow="1" bandRow="1">
                <a:tableStyleId>{5C22544A-7EE6-4342-B048-85BDC9FD1C3A}</a:tableStyleId>
              </a:tblPr>
              <a:tblGrid>
                <a:gridCol w="548640"/>
                <a:gridCol w="1051560"/>
                <a:gridCol w="1234440"/>
                <a:gridCol w="594360"/>
              </a:tblGrid>
              <a:tr h="384048">
                <a:tc>
                  <a:txBody>
                    <a:bodyPr wrap="square"/>
                    <a:lstStyle/>
                    <a:p>
                      <a:pPr algn="l"/>
                      <a:r>
                        <a:rPr sz="1050" b="1" i="0">
                          <a:solidFill>
                            <a:srgbClr val="FFFFFF"/>
                          </a:solidFill>
                          <a:latin typeface="Arial"/>
                        </a:rPr>
                        <a:t>Paso</a:t>
                      </a:r>
                    </a:p>
                  </a:txBody>
                  <a:tcPr marL="64008" marR="64008" marT="27432" marB="27432" anchor="ctr">
                    <a:solidFill>
                      <a:srgbClr val="242852"/>
                    </a:solidFill>
                  </a:tcPr>
                </a:tc>
                <a:tc>
                  <a:txBody>
                    <a:bodyPr wrap="square"/>
                    <a:lstStyle/>
                    <a:p>
                      <a:pPr algn="ctr"/>
                      <a:r>
                        <a:rPr sz="1050" b="1" i="0">
                          <a:solidFill>
                            <a:srgbClr val="FFFFFF"/>
                          </a:solidFill>
                          <a:latin typeface="Arial"/>
                        </a:rPr>
                        <a:t>Distancia menor</a:t>
                      </a:r>
                    </a:p>
                  </a:txBody>
                  <a:tcPr marL="64008" marR="64008" marT="27432" marB="27432" anchor="ctr">
                    <a:solidFill>
                      <a:srgbClr val="242852"/>
                    </a:solidFill>
                  </a:tcPr>
                </a:tc>
                <a:tc>
                  <a:txBody>
                    <a:bodyPr wrap="square"/>
                    <a:lstStyle/>
                    <a:p>
                      <a:pPr algn="ctr"/>
                      <a:r>
                        <a:rPr sz="1050" b="1" i="0">
                          <a:solidFill>
                            <a:srgbClr val="FFFFFF"/>
                          </a:solidFill>
                          <a:latin typeface="Arial"/>
                        </a:rPr>
                        <a:t>Se unen</a:t>
                      </a:r>
                    </a:p>
                  </a:txBody>
                  <a:tcPr marL="64008" marR="64008" marT="27432" marB="27432" anchor="ctr">
                    <a:solidFill>
                      <a:srgbClr val="242852"/>
                    </a:solidFill>
                  </a:tcPr>
                </a:tc>
                <a:tc>
                  <a:txBody>
                    <a:bodyPr wrap="square"/>
                    <a:lstStyle/>
                    <a:p>
                      <a:pPr algn="ctr"/>
                      <a:r>
                        <a:rPr sz="1050" b="1" i="0">
                          <a:solidFill>
                            <a:srgbClr val="FFFFFF"/>
                          </a:solidFill>
                          <a:latin typeface="Arial"/>
                        </a:rPr>
                        <a:t>Nuevo centro</a:t>
                      </a:r>
                    </a:p>
                  </a:txBody>
                  <a:tcPr marL="64008" marR="64008" marT="27432" marB="27432" anchor="ctr">
                    <a:solidFill>
                      <a:srgbClr val="242852"/>
                    </a:solidFill>
                  </a:tcPr>
                </a:tc>
              </a:tr>
              <a:tr h="384048">
                <a:tc>
                  <a:txBody>
                    <a:bodyPr wrap="square"/>
                    <a:lstStyle/>
                    <a:p>
                      <a:pPr algn="l"/>
                      <a:r>
                        <a:rPr sz="1050" b="1" i="0">
                          <a:solidFill>
                            <a:srgbClr val="2B2B2B"/>
                          </a:solidFill>
                          <a:latin typeface="Arial"/>
                        </a:rPr>
                        <a:t>1</a:t>
                      </a:r>
                    </a:p>
                  </a:txBody>
                  <a:tcPr marL="64008" marR="64008" marT="27432" marB="27432" anchor="ctr">
                    <a:solidFill>
                      <a:srgbClr val="FFFFFF"/>
                    </a:solidFill>
                  </a:tcPr>
                </a:tc>
                <a:tc>
                  <a:txBody>
                    <a:bodyPr wrap="square"/>
                    <a:lstStyle/>
                    <a:p>
                      <a:pPr algn="ctr"/>
                      <a:r>
                        <a:rPr sz="1050" b="0" i="0">
                          <a:solidFill>
                            <a:srgbClr val="2B2B2B"/>
                          </a:solidFill>
                          <a:latin typeface="Arial"/>
                        </a:rPr>
                        <a:t>1 (A-B)</a:t>
                      </a:r>
                    </a:p>
                  </a:txBody>
                  <a:tcPr marL="64008" marR="64008" marT="27432" marB="27432" anchor="ctr">
                    <a:solidFill>
                      <a:srgbClr val="FFFFFF"/>
                    </a:solidFill>
                  </a:tcPr>
                </a:tc>
                <a:tc>
                  <a:txBody>
                    <a:bodyPr wrap="square"/>
                    <a:lstStyle/>
                    <a:p>
                      <a:pPr algn="ctr"/>
                      <a:r>
                        <a:rPr sz="1050" b="0" i="0">
                          <a:solidFill>
                            <a:srgbClr val="2B2B2B"/>
                          </a:solidFill>
                          <a:latin typeface="Arial"/>
                        </a:rPr>
                        <a:t>A y B</a:t>
                      </a:r>
                    </a:p>
                  </a:txBody>
                  <a:tcPr marL="64008" marR="64008" marT="27432" marB="27432" anchor="ctr">
                    <a:solidFill>
                      <a:srgbClr val="FFFFFF"/>
                    </a:solidFill>
                  </a:tcPr>
                </a:tc>
                <a:tc>
                  <a:txBody>
                    <a:bodyPr wrap="square"/>
                    <a:lstStyle/>
                    <a:p>
                      <a:pPr algn="ctr"/>
                      <a:r>
                        <a:rPr sz="1050" b="0" i="0">
                          <a:solidFill>
                            <a:srgbClr val="2B2B2B"/>
                          </a:solidFill>
                          <a:latin typeface="Arial"/>
                        </a:rPr>
                        <a:t>1,5</a:t>
                      </a:r>
                    </a:p>
                  </a:txBody>
                  <a:tcPr marL="64008" marR="64008" marT="27432" marB="27432" anchor="ctr">
                    <a:solidFill>
                      <a:srgbClr val="FFFFFF"/>
                    </a:solidFill>
                  </a:tcPr>
                </a:tc>
              </a:tr>
              <a:tr h="384048">
                <a:tc>
                  <a:txBody>
                    <a:bodyPr wrap="square"/>
                    <a:lstStyle/>
                    <a:p>
                      <a:pPr algn="l"/>
                      <a:r>
                        <a:rPr sz="1050" b="1" i="0">
                          <a:solidFill>
                            <a:srgbClr val="2B2B2B"/>
                          </a:solidFill>
                          <a:latin typeface="Arial"/>
                        </a:rPr>
                        <a:t>2</a:t>
                      </a:r>
                    </a:p>
                  </a:txBody>
                  <a:tcPr marL="64008" marR="64008" marT="27432" marB="27432" anchor="ctr">
                    <a:solidFill>
                      <a:srgbClr val="F2F3F5"/>
                    </a:solidFill>
                  </a:tcPr>
                </a:tc>
                <a:tc>
                  <a:txBody>
                    <a:bodyPr wrap="square"/>
                    <a:lstStyle/>
                    <a:p>
                      <a:pPr algn="ctr"/>
                      <a:r>
                        <a:rPr sz="1050" b="0" i="0">
                          <a:solidFill>
                            <a:srgbClr val="2B2B2B"/>
                          </a:solidFill>
                          <a:latin typeface="Arial"/>
                        </a:rPr>
                        <a:t>1 (C-D)</a:t>
                      </a:r>
                    </a:p>
                  </a:txBody>
                  <a:tcPr marL="64008" marR="64008" marT="27432" marB="27432" anchor="ctr">
                    <a:solidFill>
                      <a:srgbClr val="F2F3F5"/>
                    </a:solidFill>
                  </a:tcPr>
                </a:tc>
                <a:tc>
                  <a:txBody>
                    <a:bodyPr wrap="square"/>
                    <a:lstStyle/>
                    <a:p>
                      <a:pPr algn="ctr"/>
                      <a:r>
                        <a:rPr sz="1050" b="0" i="0">
                          <a:solidFill>
                            <a:srgbClr val="2B2B2B"/>
                          </a:solidFill>
                          <a:latin typeface="Arial"/>
                        </a:rPr>
                        <a:t>C y D</a:t>
                      </a:r>
                    </a:p>
                  </a:txBody>
                  <a:tcPr marL="64008" marR="64008" marT="27432" marB="27432" anchor="ctr">
                    <a:solidFill>
                      <a:srgbClr val="F2F3F5"/>
                    </a:solidFill>
                  </a:tcPr>
                </a:tc>
                <a:tc>
                  <a:txBody>
                    <a:bodyPr wrap="square"/>
                    <a:lstStyle/>
                    <a:p>
                      <a:pPr algn="ctr"/>
                      <a:r>
                        <a:rPr sz="1050" b="0" i="0">
                          <a:solidFill>
                            <a:srgbClr val="2B2B2B"/>
                          </a:solidFill>
                          <a:latin typeface="Arial"/>
                        </a:rPr>
                        <a:t>6,5</a:t>
                      </a:r>
                    </a:p>
                  </a:txBody>
                  <a:tcPr marL="64008" marR="64008" marT="27432" marB="27432" anchor="ctr">
                    <a:solidFill>
                      <a:srgbClr val="F2F3F5"/>
                    </a:solidFill>
                  </a:tcPr>
                </a:tc>
              </a:tr>
              <a:tr h="384048">
                <a:tc>
                  <a:txBody>
                    <a:bodyPr wrap="square"/>
                    <a:lstStyle/>
                    <a:p>
                      <a:pPr algn="l"/>
                      <a:r>
                        <a:rPr sz="1050" b="1" i="0">
                          <a:solidFill>
                            <a:srgbClr val="2B2B2B"/>
                          </a:solidFill>
                          <a:latin typeface="Arial"/>
                        </a:rPr>
                        <a:t>3</a:t>
                      </a:r>
                    </a:p>
                  </a:txBody>
                  <a:tcPr marL="64008" marR="64008" marT="27432" marB="27432" anchor="ctr">
                    <a:solidFill>
                      <a:srgbClr val="FFFFFF"/>
                    </a:solidFill>
                  </a:tcPr>
                </a:tc>
                <a:tc>
                  <a:txBody>
                    <a:bodyPr wrap="square"/>
                    <a:lstStyle/>
                    <a:p>
                      <a:pPr algn="ctr"/>
                      <a:r>
                        <a:rPr sz="1050" b="0" i="0">
                          <a:solidFill>
                            <a:srgbClr val="2B2B2B"/>
                          </a:solidFill>
                          <a:latin typeface="Arial"/>
                        </a:rPr>
                        <a:t>6,5 − 1,5 = 5</a:t>
                      </a:r>
                    </a:p>
                  </a:txBody>
                  <a:tcPr marL="64008" marR="64008" marT="27432" marB="27432" anchor="ctr">
                    <a:solidFill>
                      <a:srgbClr val="FFFFFF"/>
                    </a:solidFill>
                  </a:tcPr>
                </a:tc>
                <a:tc>
                  <a:txBody>
                    <a:bodyPr wrap="square"/>
                    <a:lstStyle/>
                    <a:p>
                      <a:pPr algn="ctr"/>
                      <a:r>
                        <a:rPr sz="1050" b="0" i="0">
                          <a:solidFill>
                            <a:srgbClr val="2B2B2B"/>
                          </a:solidFill>
                          <a:latin typeface="Arial"/>
                        </a:rPr>
                        <a:t>{A, B} y {C, D}</a:t>
                      </a:r>
                    </a:p>
                  </a:txBody>
                  <a:tcPr marL="64008" marR="64008" marT="27432" marB="27432" anchor="ctr">
                    <a:solidFill>
                      <a:srgbClr val="FFFFFF"/>
                    </a:solidFill>
                  </a:tcPr>
                </a:tc>
                <a:tc>
                  <a:txBody>
                    <a:bodyPr wrap="square"/>
                    <a:lstStyle/>
                    <a:p>
                      <a:pPr algn="ctr"/>
                      <a:r>
                        <a:rPr sz="1050" b="0" i="0">
                          <a:solidFill>
                            <a:srgbClr val="2B2B2B"/>
                          </a:solidFill>
                          <a:latin typeface="Arial"/>
                        </a:rPr>
                        <a:t>4</a:t>
                      </a:r>
                    </a:p>
                  </a:txBody>
                  <a:tcPr marL="64008" marR="64008" marT="27432" marB="27432" anchor="ctr">
                    <a:solidFill>
                      <a:srgbClr val="FFFFFF"/>
                    </a:solidFill>
                  </a:tcPr>
                </a:tc>
              </a:tr>
              <a:tr h="384048">
                <a:tc>
                  <a:txBody>
                    <a:bodyPr wrap="square"/>
                    <a:lstStyle/>
                    <a:p>
                      <a:pPr algn="l"/>
                      <a:r>
                        <a:rPr sz="1050" b="1" i="0">
                          <a:solidFill>
                            <a:srgbClr val="2B2B2B"/>
                          </a:solidFill>
                          <a:latin typeface="Arial"/>
                        </a:rPr>
                        <a:t>4</a:t>
                      </a:r>
                    </a:p>
                  </a:txBody>
                  <a:tcPr marL="64008" marR="64008" marT="27432" marB="27432" anchor="ctr">
                    <a:solidFill>
                      <a:srgbClr val="F2F3F5"/>
                    </a:solidFill>
                  </a:tcPr>
                </a:tc>
                <a:tc>
                  <a:txBody>
                    <a:bodyPr wrap="square"/>
                    <a:lstStyle/>
                    <a:p>
                      <a:pPr algn="ctr"/>
                      <a:r>
                        <a:rPr sz="1050" b="0" i="0">
                          <a:solidFill>
                            <a:srgbClr val="2B2B2B"/>
                          </a:solidFill>
                          <a:latin typeface="Arial"/>
                        </a:rPr>
                        <a:t>15 − 4 = 11</a:t>
                      </a:r>
                    </a:p>
                  </a:txBody>
                  <a:tcPr marL="64008" marR="64008" marT="27432" marB="27432" anchor="ctr">
                    <a:solidFill>
                      <a:srgbClr val="F2F3F5"/>
                    </a:solidFill>
                  </a:tcPr>
                </a:tc>
                <a:tc>
                  <a:txBody>
                    <a:bodyPr wrap="square"/>
                    <a:lstStyle/>
                    <a:p>
                      <a:pPr algn="ctr"/>
                      <a:r>
                        <a:rPr sz="1050" b="0" i="0">
                          <a:solidFill>
                            <a:srgbClr val="2B2B2B"/>
                          </a:solidFill>
                          <a:latin typeface="Arial"/>
                        </a:rPr>
                        <a:t>{A, B, C, D} y E</a:t>
                      </a:r>
                    </a:p>
                  </a:txBody>
                  <a:tcPr marL="64008" marR="64008" marT="27432" marB="27432" anchor="ctr">
                    <a:solidFill>
                      <a:srgbClr val="F2F3F5"/>
                    </a:solidFill>
                  </a:tcPr>
                </a:tc>
                <a:tc>
                  <a:txBody>
                    <a:bodyPr wrap="square"/>
                    <a:lstStyle/>
                    <a:p>
                      <a:pPr algn="ctr"/>
                      <a:r>
                        <a:rPr sz="1050" b="0" i="0">
                          <a:solidFill>
                            <a:srgbClr val="2B2B2B"/>
                          </a:solidFill>
                          <a:latin typeface="Arial"/>
                        </a:rPr>
                        <a:t>—</a:t>
                      </a:r>
                    </a:p>
                  </a:txBody>
                  <a:tcPr marL="64008" marR="64008" marT="27432" marB="27432" anchor="ctr">
                    <a:solidFill>
                      <a:srgbClr val="F2F3F5"/>
                    </a:solidFill>
                  </a:tcPr>
                </a:tc>
              </a:tr>
            </a:tbl>
          </a:graphicData>
        </a:graphic>
      </p:graphicFrame>
      <p:sp>
        <p:nvSpPr>
          <p:cNvPr id="6" name="Rounded Rectangle 5"/>
          <p:cNvSpPr/>
          <p:nvPr/>
        </p:nvSpPr>
        <p:spPr>
          <a:xfrm>
            <a:off x="731520" y="4389120"/>
            <a:ext cx="7772400" cy="8686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Regla de cada paso: </a:t>
            </a:r>
            <a:r>
              <a:rPr sz="1250" b="0" i="0">
                <a:solidFill>
                  <a:srgbClr val="2B2B2B"/>
                </a:solidFill>
                <a:latin typeface="Arial"/>
              </a:rPr>
              <a:t>buscar la menor distancia de la tabla, unir esos dos grupos, recalcular las distancias del grupo nuevo y repetir.</a:t>
            </a:r>
          </a:p>
        </p:txBody>
      </p:sp>
      <p:sp>
        <p:nvSpPr>
          <p:cNvPr id="7" name="Rounded Rectangle 6"/>
          <p:cNvSpPr/>
          <p:nvPr/>
        </p:nvSpPr>
        <p:spPr>
          <a:xfrm>
            <a:off x="731520" y="548640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Aquí medimos entre grupos por sus centros. </a:t>
            </a:r>
            <a:r>
              <a:rPr sz="1200" b="0" i="0">
                <a:solidFill>
                  <a:srgbClr val="2B2B2B"/>
                </a:solidFill>
                <a:latin typeface="Arial"/>
              </a:rPr>
              <a:t>Esa elección se llama linkage; Ward, complete, average y single son otras formas.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Leer y cortar un dendrograma</a:t>
            </a:r>
          </a:p>
        </p:txBody>
      </p:sp>
      <p:pic>
        <p:nvPicPr>
          <p:cNvPr id="3" name="Picture 2" descr="dendro_toy.png"/>
          <p:cNvPicPr>
            <a:picLocks noChangeAspect="1"/>
          </p:cNvPicPr>
          <p:nvPr/>
        </p:nvPicPr>
        <p:blipFill>
          <a:blip r:embed="rId3"/>
          <a:stretch>
            <a:fillRect/>
          </a:stretch>
        </p:blipFill>
        <p:spPr>
          <a:xfrm>
            <a:off x="731520" y="1957217"/>
            <a:ext cx="4206240" cy="2760684"/>
          </a:xfrm>
          <a:prstGeom prst="rect">
            <a:avLst/>
          </a:prstGeom>
        </p:spPr>
      </p:pic>
      <p:graphicFrame>
        <p:nvGraphicFramePr>
          <p:cNvPr id="4" name="Table 3"/>
          <p:cNvGraphicFramePr>
            <a:graphicFrameLocks noGrp="1"/>
          </p:cNvGraphicFramePr>
          <p:nvPr/>
        </p:nvGraphicFramePr>
        <p:xfrm>
          <a:off x="5120640" y="1965960"/>
          <a:ext cx="3383280" cy="2057400"/>
        </p:xfrm>
        <a:graphic>
          <a:graphicData uri="http://schemas.openxmlformats.org/drawingml/2006/table">
            <a:tbl>
              <a:tblPr firstRow="1" bandRow="1">
                <a:tableStyleId>{5C22544A-7EE6-4342-B048-85BDC9FD1C3A}</a:tableStyleId>
              </a:tblPr>
              <a:tblGrid>
                <a:gridCol w="1097280"/>
                <a:gridCol w="731520"/>
                <a:gridCol w="1554480"/>
              </a:tblGrid>
              <a:tr h="411480">
                <a:tc>
                  <a:txBody>
                    <a:bodyPr wrap="square"/>
                    <a:lstStyle/>
                    <a:p>
                      <a:pPr algn="l"/>
                      <a:r>
                        <a:rPr sz="1150" b="1" i="0">
                          <a:solidFill>
                            <a:srgbClr val="FFFFFF"/>
                          </a:solidFill>
                          <a:latin typeface="Arial"/>
                        </a:rPr>
                        <a:t>Cortar a altura…</a:t>
                      </a:r>
                    </a:p>
                  </a:txBody>
                  <a:tcPr marL="64008" marR="64008" marT="27432" marB="27432" anchor="ctr">
                    <a:solidFill>
                      <a:srgbClr val="242852"/>
                    </a:solidFill>
                  </a:tcPr>
                </a:tc>
                <a:tc>
                  <a:txBody>
                    <a:bodyPr wrap="square"/>
                    <a:lstStyle/>
                    <a:p>
                      <a:pPr algn="ctr"/>
                      <a:r>
                        <a:rPr sz="1150" b="1" i="0">
                          <a:solidFill>
                            <a:srgbClr val="FFFFFF"/>
                          </a:solidFill>
                          <a:latin typeface="Arial"/>
                        </a:rPr>
                        <a:t>Grupos</a:t>
                      </a:r>
                    </a:p>
                  </a:txBody>
                  <a:tcPr marL="64008" marR="64008" marT="27432" marB="27432" anchor="ctr">
                    <a:solidFill>
                      <a:srgbClr val="242852"/>
                    </a:solidFill>
                  </a:tcPr>
                </a:tc>
                <a:tc>
                  <a:txBody>
                    <a:bodyPr wrap="square"/>
                    <a:lstStyle/>
                    <a:p>
                      <a:pPr algn="ctr"/>
                      <a:r>
                        <a:rPr sz="1150" b="1" i="0">
                          <a:solidFill>
                            <a:srgbClr val="FFFFFF"/>
                          </a:solidFill>
                          <a:latin typeface="Arial"/>
                        </a:rPr>
                        <a:t>Cuáles</a:t>
                      </a:r>
                    </a:p>
                  </a:txBody>
                  <a:tcPr marL="64008" marR="64008" marT="27432" marB="27432" anchor="ctr">
                    <a:solidFill>
                      <a:srgbClr val="242852"/>
                    </a:solidFill>
                  </a:tcPr>
                </a:tc>
              </a:tr>
              <a:tr h="411480">
                <a:tc>
                  <a:txBody>
                    <a:bodyPr wrap="square"/>
                    <a:lstStyle/>
                    <a:p>
                      <a:pPr algn="l"/>
                      <a:r>
                        <a:rPr sz="1150" b="1" i="0">
                          <a:solidFill>
                            <a:srgbClr val="2B2B2B"/>
                          </a:solidFill>
                          <a:latin typeface="Arial"/>
                        </a:rPr>
                        <a:t>0,5</a:t>
                      </a:r>
                    </a:p>
                  </a:txBody>
                  <a:tcPr marL="64008" marR="64008" marT="27432" marB="27432" anchor="ctr">
                    <a:solidFill>
                      <a:srgbClr val="FFFFFF"/>
                    </a:solidFill>
                  </a:tcPr>
                </a:tc>
                <a:tc>
                  <a:txBody>
                    <a:bodyPr wrap="square"/>
                    <a:lstStyle/>
                    <a:p>
                      <a:pPr algn="ctr"/>
                      <a:r>
                        <a:rPr sz="1150" b="0" i="0">
                          <a:solidFill>
                            <a:srgbClr val="2B2B2B"/>
                          </a:solidFill>
                          <a:latin typeface="Arial"/>
                        </a:rPr>
                        <a:t>5</a:t>
                      </a:r>
                    </a:p>
                  </a:txBody>
                  <a:tcPr marL="64008" marR="64008" marT="27432" marB="27432" anchor="ctr">
                    <a:solidFill>
                      <a:srgbClr val="FFFFFF"/>
                    </a:solidFill>
                  </a:tcPr>
                </a:tc>
                <a:tc>
                  <a:txBody>
                    <a:bodyPr wrap="square"/>
                    <a:lstStyle/>
                    <a:p>
                      <a:pPr algn="ctr"/>
                      <a:r>
                        <a:rPr sz="1150" b="0" i="0">
                          <a:solidFill>
                            <a:srgbClr val="2B2B2B"/>
                          </a:solidFill>
                          <a:latin typeface="Arial"/>
                        </a:rPr>
                        <a:t>cada punto solo</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3</a:t>
                      </a:r>
                    </a:p>
                  </a:txBody>
                  <a:tcPr marL="64008" marR="64008" marT="27432" marB="27432" anchor="ctr">
                    <a:solidFill>
                      <a:srgbClr val="F2F3F5"/>
                    </a:solidFill>
                  </a:tcPr>
                </a:tc>
                <a:tc>
                  <a:txBody>
                    <a:bodyPr wrap="square"/>
                    <a:lstStyle/>
                    <a:p>
                      <a:pPr algn="ctr"/>
                      <a:r>
                        <a:rPr sz="1150" b="0" i="0">
                          <a:solidFill>
                            <a:srgbClr val="2B2B2B"/>
                          </a:solidFill>
                          <a:latin typeface="Arial"/>
                        </a:rPr>
                        <a:t>3</a:t>
                      </a:r>
                    </a:p>
                  </a:txBody>
                  <a:tcPr marL="64008" marR="64008" marT="27432" marB="27432" anchor="ctr">
                    <a:solidFill>
                      <a:srgbClr val="F2F3F5"/>
                    </a:solidFill>
                  </a:tcPr>
                </a:tc>
                <a:tc>
                  <a:txBody>
                    <a:bodyPr wrap="square"/>
                    <a:lstStyle/>
                    <a:p>
                      <a:pPr algn="ctr"/>
                      <a:r>
                        <a:rPr sz="1150" b="0" i="0">
                          <a:solidFill>
                            <a:srgbClr val="2B2B2B"/>
                          </a:solidFill>
                          <a:latin typeface="Arial"/>
                        </a:rPr>
                        <a:t>{A, B} · {C, D} · {E}</a:t>
                      </a:r>
                    </a:p>
                  </a:txBody>
                  <a:tcPr marL="64008" marR="64008" marT="27432" marB="27432" anchor="ctr">
                    <a:solidFill>
                      <a:srgbClr val="F2F3F5"/>
                    </a:solidFill>
                  </a:tcPr>
                </a:tc>
              </a:tr>
              <a:tr h="411480">
                <a:tc>
                  <a:txBody>
                    <a:bodyPr wrap="square"/>
                    <a:lstStyle/>
                    <a:p>
                      <a:pPr algn="l"/>
                      <a:r>
                        <a:rPr sz="1150" b="1" i="0">
                          <a:solidFill>
                            <a:srgbClr val="2B2B2B"/>
                          </a:solidFill>
                          <a:latin typeface="Arial"/>
                        </a:rPr>
                        <a:t>8</a:t>
                      </a:r>
                    </a:p>
                  </a:txBody>
                  <a:tcPr marL="64008" marR="64008" marT="27432" marB="27432" anchor="ctr">
                    <a:solidFill>
                      <a:srgbClr val="FFFFFF"/>
                    </a:solidFill>
                  </a:tcPr>
                </a:tc>
                <a:tc>
                  <a:txBody>
                    <a:bodyPr wrap="square"/>
                    <a:lstStyle/>
                    <a:p>
                      <a:pPr algn="ctr"/>
                      <a:r>
                        <a:rPr sz="1150" b="0" i="0">
                          <a:solidFill>
                            <a:srgbClr val="2B2B2B"/>
                          </a:solidFill>
                          <a:latin typeface="Arial"/>
                        </a:rPr>
                        <a:t>2</a:t>
                      </a:r>
                    </a:p>
                  </a:txBody>
                  <a:tcPr marL="64008" marR="64008" marT="27432" marB="27432" anchor="ctr">
                    <a:solidFill>
                      <a:srgbClr val="FFFFFF"/>
                    </a:solidFill>
                  </a:tcPr>
                </a:tc>
                <a:tc>
                  <a:txBody>
                    <a:bodyPr wrap="square"/>
                    <a:lstStyle/>
                    <a:p>
                      <a:pPr algn="ctr"/>
                      <a:r>
                        <a:rPr sz="1150" b="0" i="0">
                          <a:solidFill>
                            <a:srgbClr val="2B2B2B"/>
                          </a:solidFill>
                          <a:latin typeface="Arial"/>
                        </a:rPr>
                        <a:t>{A, B, C, D} · {E}</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12</a:t>
                      </a:r>
                    </a:p>
                  </a:txBody>
                  <a:tcPr marL="64008" marR="64008" marT="27432" marB="27432" anchor="ctr">
                    <a:solidFill>
                      <a:srgbClr val="F2F3F5"/>
                    </a:solidFill>
                  </a:tcPr>
                </a:tc>
                <a:tc>
                  <a:txBody>
                    <a:bodyPr wrap="square"/>
                    <a:lstStyle/>
                    <a:p>
                      <a:pPr algn="ctr"/>
                      <a:r>
                        <a:rPr sz="1150" b="0" i="0">
                          <a:solidFill>
                            <a:srgbClr val="2B2B2B"/>
                          </a:solidFill>
                          <a:latin typeface="Arial"/>
                        </a:rPr>
                        <a:t>1</a:t>
                      </a:r>
                    </a:p>
                  </a:txBody>
                  <a:tcPr marL="64008" marR="64008" marT="27432" marB="27432" anchor="ctr">
                    <a:solidFill>
                      <a:srgbClr val="F2F3F5"/>
                    </a:solidFill>
                  </a:tcPr>
                </a:tc>
                <a:tc>
                  <a:txBody>
                    <a:bodyPr wrap="square"/>
                    <a:lstStyle/>
                    <a:p>
                      <a:pPr algn="ctr"/>
                      <a:r>
                        <a:rPr sz="1150" b="0" i="0">
                          <a:solidFill>
                            <a:srgbClr val="2B2B2B"/>
                          </a:solidFill>
                          <a:latin typeface="Arial"/>
                        </a:rPr>
                        <a:t>todos juntos</a:t>
                      </a:r>
                    </a:p>
                  </a:txBody>
                  <a:tcPr marL="64008" marR="64008" marT="27432" marB="27432" anchor="ctr">
                    <a:solidFill>
                      <a:srgbClr val="F2F3F5"/>
                    </a:solidFill>
                  </a:tcPr>
                </a:tc>
              </a:tr>
            </a:tbl>
          </a:graphicData>
        </a:graphic>
      </p:graphicFrame>
      <p:sp>
        <p:nvSpPr>
          <p:cNvPr id="5" name="Rounded Rectangle 4"/>
          <p:cNvSpPr/>
          <p:nvPr/>
        </p:nvSpPr>
        <p:spPr>
          <a:xfrm>
            <a:off x="5120640" y="4160520"/>
            <a:ext cx="3383280" cy="7315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A9D8F"/>
                </a:solidFill>
                <a:latin typeface="Arial"/>
              </a:rPr>
              <a:t>Buen corte:</a:t>
            </a:r>
          </a:p>
          <a:p>
            <a:pPr algn="ctr">
              <a:spcAft>
                <a:spcPts val="300"/>
              </a:spcAft>
            </a:pPr>
            <a:r>
              <a:rPr sz="1150" b="0" i="0">
                <a:solidFill>
                  <a:srgbClr val="2B2B2B"/>
                </a:solidFill>
                <a:latin typeface="Arial"/>
              </a:rPr>
              <a:t>justo antes de un salto grande de altura</a:t>
            </a:r>
          </a:p>
        </p:txBody>
      </p:sp>
      <p:sp>
        <p:nvSpPr>
          <p:cNvPr id="6" name="Rounded Rectangle 5"/>
          <p:cNvSpPr/>
          <p:nvPr/>
        </p:nvSpPr>
        <p:spPr>
          <a:xfrm>
            <a:off x="731520" y="512064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La altura = qué tan distintos eran </a:t>
            </a:r>
            <a:r>
              <a:rPr sz="1200" b="0" i="0">
                <a:solidFill>
                  <a:srgbClr val="2B2B2B"/>
                </a:solidFill>
                <a:latin typeface="Arial"/>
              </a:rPr>
              <a:t>los grupos al unirse. Uniones bajas: grupos parecidos. Uniones altas: grupos muy distintos.</a:t>
            </a:r>
          </a:p>
        </p:txBody>
      </p:sp>
      <p:sp>
        <p:nvSpPr>
          <p:cNvPr id="7" name="Rounded Rectangle 6"/>
          <p:cNvSpPr/>
          <p:nvPr/>
        </p:nvSpPr>
        <p:spPr>
          <a:xfrm>
            <a:off x="731520" y="5833872"/>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No es el árbol de decisión del Día 3: </a:t>
            </a:r>
            <a:r>
              <a:rPr sz="1200" b="0" i="0">
                <a:solidFill>
                  <a:srgbClr val="2B2B2B"/>
                </a:solidFill>
                <a:latin typeface="Arial"/>
              </a:rPr>
              <a:t>aquí las ramas son uniones de puntos, no preguntas para predecir.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Reglas de unión: el linkage</a:t>
            </a:r>
          </a:p>
        </p:txBody>
      </p:sp>
      <p:sp>
        <p:nvSpPr>
          <p:cNvPr id="3" name="Rounded Rectangle 2"/>
          <p:cNvSpPr/>
          <p:nvPr/>
        </p:nvSpPr>
        <p:spPr>
          <a:xfrm>
            <a:off x="731520" y="1965960"/>
            <a:ext cx="3794760" cy="14173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2A9D8F"/>
                </a:solidFill>
                <a:latin typeface="Arial"/>
              </a:rPr>
              <a:t>Ward</a:t>
            </a:r>
          </a:p>
        </p:txBody>
      </p:sp>
      <p:sp>
        <p:nvSpPr>
          <p:cNvPr id="5" name="TextBox 4"/>
          <p:cNvSpPr txBox="1"/>
          <p:nvPr/>
        </p:nvSpPr>
        <p:spPr>
          <a:xfrm>
            <a:off x="868680" y="2624328"/>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la unión que menos aumenta la variación interna</a:t>
            </a:r>
          </a:p>
        </p:txBody>
      </p:sp>
      <p:sp>
        <p:nvSpPr>
          <p:cNvPr id="6" name="Rounded Rectangle 5"/>
          <p:cNvSpPr/>
          <p:nvPr/>
        </p:nvSpPr>
        <p:spPr>
          <a:xfrm>
            <a:off x="4663440" y="1965960"/>
            <a:ext cx="3794760" cy="14173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00600" y="207568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242852"/>
                </a:solidFill>
                <a:latin typeface="Arial"/>
              </a:rPr>
              <a:t>Complete</a:t>
            </a:r>
          </a:p>
        </p:txBody>
      </p:sp>
      <p:sp>
        <p:nvSpPr>
          <p:cNvPr id="8" name="TextBox 7"/>
          <p:cNvSpPr txBox="1"/>
          <p:nvPr/>
        </p:nvSpPr>
        <p:spPr>
          <a:xfrm>
            <a:off x="4800600" y="2624328"/>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distancia entre los puntos más lejanos</a:t>
            </a:r>
          </a:p>
        </p:txBody>
      </p:sp>
      <p:sp>
        <p:nvSpPr>
          <p:cNvPr id="9" name="Rounded Rectangle 8"/>
          <p:cNvSpPr/>
          <p:nvPr/>
        </p:nvSpPr>
        <p:spPr>
          <a:xfrm>
            <a:off x="731520" y="3520439"/>
            <a:ext cx="3794760" cy="14173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868680" y="363016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242852"/>
                </a:solidFill>
                <a:latin typeface="Arial"/>
              </a:rPr>
              <a:t>Average</a:t>
            </a:r>
          </a:p>
        </p:txBody>
      </p:sp>
      <p:sp>
        <p:nvSpPr>
          <p:cNvPr id="11" name="TextBox 10"/>
          <p:cNvSpPr txBox="1"/>
          <p:nvPr/>
        </p:nvSpPr>
        <p:spPr>
          <a:xfrm>
            <a:off x="868680" y="4178807"/>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promedio de todas las distancias</a:t>
            </a:r>
          </a:p>
        </p:txBody>
      </p:sp>
      <p:sp>
        <p:nvSpPr>
          <p:cNvPr id="12" name="Rounded Rectangle 11"/>
          <p:cNvSpPr/>
          <p:nvPr/>
        </p:nvSpPr>
        <p:spPr>
          <a:xfrm>
            <a:off x="4663440" y="3520439"/>
            <a:ext cx="379476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4800600" y="363016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D7263D"/>
                </a:solidFill>
                <a:latin typeface="Arial"/>
              </a:rPr>
              <a:t>Single</a:t>
            </a:r>
          </a:p>
        </p:txBody>
      </p:sp>
      <p:sp>
        <p:nvSpPr>
          <p:cNvPr id="14" name="TextBox 13"/>
          <p:cNvSpPr txBox="1"/>
          <p:nvPr/>
        </p:nvSpPr>
        <p:spPr>
          <a:xfrm>
            <a:off x="4800600" y="4178807"/>
            <a:ext cx="3520440" cy="6858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distancia entre los puntos más cercanos</a:t>
            </a:r>
          </a:p>
        </p:txBody>
      </p:sp>
      <p:sp>
        <p:nvSpPr>
          <p:cNvPr id="15" name="Rounded Rectangle 14"/>
          <p:cNvSpPr/>
          <p:nvPr/>
        </p:nvSpPr>
        <p:spPr>
          <a:xfrm>
            <a:off x="731520" y="525780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usamos Ward </a:t>
            </a:r>
            <a:r>
              <a:rPr sz="1200" b="0" i="0">
                <a:solidFill>
                  <a:srgbClr val="2B2B2B"/>
                </a:solidFill>
                <a:latin typeface="Arial"/>
              </a:rPr>
              <a:t>porque, como K-Means, busca grupos compactos. Las otras reglas sirven para otros problemas, como detectar casos aislados.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Dendrograma de 2 000 clientes</a:t>
            </a:r>
          </a:p>
        </p:txBody>
      </p:sp>
      <p:pic>
        <p:nvPicPr>
          <p:cNvPr id="3" name="Picture 2" descr="dendro_cc.png"/>
          <p:cNvPicPr>
            <a:picLocks noChangeAspect="1"/>
          </p:cNvPicPr>
          <p:nvPr/>
        </p:nvPicPr>
        <p:blipFill>
          <a:blip r:embed="rId3"/>
          <a:stretch>
            <a:fillRect/>
          </a:stretch>
        </p:blipFill>
        <p:spPr>
          <a:xfrm>
            <a:off x="731520" y="1888589"/>
            <a:ext cx="7772400" cy="3172261"/>
          </a:xfrm>
          <a:prstGeom prst="rect">
            <a:avLst/>
          </a:prstGeom>
        </p:spPr>
      </p:pic>
      <p:sp>
        <p:nvSpPr>
          <p:cNvPr id="4" name="Rounded Rectangle 3"/>
          <p:cNvSpPr/>
          <p:nvPr/>
        </p:nvSpPr>
        <p:spPr>
          <a:xfrm>
            <a:off x="731520" y="53035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Lectura: </a:t>
            </a:r>
            <a:r>
              <a:rPr sz="1200" b="0" i="0">
                <a:solidFill>
                  <a:srgbClr val="2B2B2B"/>
                </a:solidFill>
                <a:latin typeface="Arial"/>
              </a:rPr>
              <a:t>uniones bajas = grupos parecidos; un salto grande en la altura sugiere un buen lugar para cortar.</a:t>
            </a:r>
          </a:p>
        </p:txBody>
      </p:sp>
      <p:sp>
        <p:nvSpPr>
          <p:cNvPr id="5" name="Rounded Rectangle 4"/>
          <p:cNvSpPr/>
          <p:nvPr/>
        </p:nvSpPr>
        <p:spPr>
          <a:xfrm>
            <a:off x="731520" y="5897880"/>
            <a:ext cx="7772400" cy="4572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La altura </a:t>
            </a:r>
            <a:r>
              <a:rPr sz="1200" b="0" i="0">
                <a:solidFill>
                  <a:srgbClr val="2B2B2B"/>
                </a:solidFill>
                <a:latin typeface="Arial"/>
              </a:rPr>
              <a:t>no es una probabilidad ni una prueba estadística: es la distancia de fusión de Ward.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Ward, complete, average y single: el mismo engaño</a:t>
            </a:r>
          </a:p>
        </p:txBody>
      </p:sp>
      <p:graphicFrame>
        <p:nvGraphicFramePr>
          <p:cNvPr id="3" name="Table 2"/>
          <p:cNvGraphicFramePr>
            <a:graphicFrameLocks noGrp="1"/>
          </p:cNvGraphicFramePr>
          <p:nvPr/>
        </p:nvGraphicFramePr>
        <p:xfrm>
          <a:off x="731520" y="2011680"/>
          <a:ext cx="7772400" cy="2377440"/>
        </p:xfrm>
        <a:graphic>
          <a:graphicData uri="http://schemas.openxmlformats.org/drawingml/2006/table">
            <a:tbl>
              <a:tblPr firstRow="1" bandRow="1">
                <a:tableStyleId>{5C22544A-7EE6-4342-B048-85BDC9FD1C3A}</a:tableStyleId>
              </a:tblPr>
              <a:tblGrid>
                <a:gridCol w="1554480"/>
                <a:gridCol w="2926080"/>
                <a:gridCol w="1463040"/>
                <a:gridCol w="1828800"/>
              </a:tblGrid>
              <a:tr h="475488">
                <a:tc>
                  <a:txBody>
                    <a:bodyPr wrap="square"/>
                    <a:lstStyle/>
                    <a:p>
                      <a:pPr algn="l"/>
                      <a:r>
                        <a:rPr sz="1250" b="1" i="0">
                          <a:solidFill>
                            <a:srgbClr val="FFFFFF"/>
                          </a:solidFill>
                          <a:latin typeface="Arial"/>
                        </a:rPr>
                        <a:t>Linkage</a:t>
                      </a:r>
                    </a:p>
                  </a:txBody>
                  <a:tcPr marL="64008" marR="64008" marT="27432" marB="27432" anchor="ctr">
                    <a:solidFill>
                      <a:srgbClr val="242852"/>
                    </a:solidFill>
                  </a:tcPr>
                </a:tc>
                <a:tc>
                  <a:txBody>
                    <a:bodyPr wrap="square"/>
                    <a:lstStyle/>
                    <a:p>
                      <a:pPr algn="ctr"/>
                      <a:r>
                        <a:rPr sz="1250" b="1" i="0">
                          <a:solidFill>
                            <a:srgbClr val="FFFFFF"/>
                          </a:solidFill>
                          <a:latin typeface="Arial"/>
                        </a:rPr>
                        <a:t>Tamaños de los 4 grupos</a:t>
                      </a:r>
                    </a:p>
                  </a:txBody>
                  <a:tcPr marL="64008" marR="64008" marT="27432" marB="27432" anchor="ctr">
                    <a:solidFill>
                      <a:srgbClr val="242852"/>
                    </a:solidFill>
                  </a:tcPr>
                </a:tc>
                <a:tc>
                  <a:txBody>
                    <a:bodyPr wrap="square"/>
                    <a:lstStyle/>
                    <a:p>
                      <a:pPr algn="ctr"/>
                      <a:r>
                        <a:rPr sz="1250" b="1" i="0">
                          <a:solidFill>
                            <a:srgbClr val="FFFFFF"/>
                          </a:solidFill>
                          <a:latin typeface="Arial"/>
                        </a:rPr>
                        <a:t>Silhouette</a:t>
                      </a:r>
                    </a:p>
                  </a:txBody>
                  <a:tcPr marL="64008" marR="64008" marT="27432" marB="27432" anchor="ctr">
                    <a:solidFill>
                      <a:srgbClr val="242852"/>
                    </a:solidFill>
                  </a:tcPr>
                </a:tc>
                <a:tc>
                  <a:txBody>
                    <a:bodyPr wrap="square"/>
                    <a:lstStyle/>
                    <a:p>
                      <a:pPr algn="ctr"/>
                      <a:r>
                        <a:rPr sz="1250" b="1" i="0">
                          <a:solidFill>
                            <a:srgbClr val="FFFFFF"/>
                          </a:solidFill>
                          <a:latin typeface="Arial"/>
                        </a:rPr>
                        <a:t>ARI frente a K-Means</a:t>
                      </a:r>
                    </a:p>
                  </a:txBody>
                  <a:tcPr marL="64008" marR="64008" marT="27432" marB="27432" anchor="ctr">
                    <a:solidFill>
                      <a:srgbClr val="242852"/>
                    </a:solidFill>
                  </a:tcPr>
                </a:tc>
              </a:tr>
              <a:tr h="475488">
                <a:tc>
                  <a:txBody>
                    <a:bodyPr wrap="square"/>
                    <a:lstStyle/>
                    <a:p>
                      <a:pPr algn="l"/>
                      <a:r>
                        <a:rPr sz="1250" b="1" i="0">
                          <a:solidFill>
                            <a:srgbClr val="2A9D8F"/>
                          </a:solidFill>
                          <a:latin typeface="Arial"/>
                        </a:rPr>
                        <a:t>Ward</a:t>
                      </a:r>
                    </a:p>
                  </a:txBody>
                  <a:tcPr marL="64008" marR="64008" marT="27432" marB="27432" anchor="ctr">
                    <a:solidFill>
                      <a:srgbClr val="E3F3F1"/>
                    </a:solidFill>
                  </a:tcPr>
                </a:tc>
                <a:tc>
                  <a:txBody>
                    <a:bodyPr wrap="square"/>
                    <a:lstStyle/>
                    <a:p>
                      <a:pPr algn="ctr"/>
                      <a:r>
                        <a:rPr sz="1250" b="0" i="0">
                          <a:solidFill>
                            <a:srgbClr val="2B2B2B"/>
                          </a:solidFill>
                          <a:latin typeface="Arial"/>
                        </a:rPr>
                        <a:t>705 · 578 · 419 · 298</a:t>
                      </a:r>
                    </a:p>
                  </a:txBody>
                  <a:tcPr marL="64008" marR="64008" marT="27432" marB="27432" anchor="ctr">
                    <a:solidFill>
                      <a:srgbClr val="E3F3F1"/>
                    </a:solidFill>
                  </a:tcPr>
                </a:tc>
                <a:tc>
                  <a:txBody>
                    <a:bodyPr wrap="square"/>
                    <a:lstStyle/>
                    <a:p>
                      <a:pPr algn="ctr"/>
                      <a:r>
                        <a:rPr sz="1250" b="0" i="0">
                          <a:solidFill>
                            <a:srgbClr val="2B2B2B"/>
                          </a:solidFill>
                          <a:latin typeface="Arial"/>
                        </a:rPr>
                        <a:t>0,233</a:t>
                      </a:r>
                    </a:p>
                  </a:txBody>
                  <a:tcPr marL="64008" marR="64008" marT="27432" marB="27432" anchor="ctr">
                    <a:solidFill>
                      <a:srgbClr val="E3F3F1"/>
                    </a:solidFill>
                  </a:tcPr>
                </a:tc>
                <a:tc>
                  <a:txBody>
                    <a:bodyPr wrap="square"/>
                    <a:lstStyle/>
                    <a:p>
                      <a:pPr algn="ctr"/>
                      <a:r>
                        <a:rPr sz="1250" b="1" i="0">
                          <a:solidFill>
                            <a:srgbClr val="2A9D8F"/>
                          </a:solidFill>
                          <a:latin typeface="Arial"/>
                        </a:rPr>
                        <a:t>0,53</a:t>
                      </a:r>
                    </a:p>
                  </a:txBody>
                  <a:tcPr marL="64008" marR="64008" marT="27432" marB="27432" anchor="ctr">
                    <a:solidFill>
                      <a:srgbClr val="E3F3F1"/>
                    </a:solidFill>
                  </a:tcPr>
                </a:tc>
              </a:tr>
              <a:tr h="475488">
                <a:tc>
                  <a:txBody>
                    <a:bodyPr wrap="square"/>
                    <a:lstStyle/>
                    <a:p>
                      <a:pPr algn="l"/>
                      <a:r>
                        <a:rPr sz="1250" b="1" i="0">
                          <a:solidFill>
                            <a:srgbClr val="2B2B2B"/>
                          </a:solidFill>
                          <a:latin typeface="Arial"/>
                        </a:rPr>
                        <a:t>Complete</a:t>
                      </a:r>
                    </a:p>
                  </a:txBody>
                  <a:tcPr marL="64008" marR="64008" marT="27432" marB="27432" anchor="ctr">
                    <a:solidFill>
                      <a:srgbClr val="F2F3F5"/>
                    </a:solidFill>
                  </a:tcPr>
                </a:tc>
                <a:tc>
                  <a:txBody>
                    <a:bodyPr wrap="square"/>
                    <a:lstStyle/>
                    <a:p>
                      <a:pPr algn="ctr"/>
                      <a:r>
                        <a:rPr sz="1250" b="0" i="0">
                          <a:solidFill>
                            <a:srgbClr val="2B2B2B"/>
                          </a:solidFill>
                          <a:latin typeface="Arial"/>
                        </a:rPr>
                        <a:t>928 · 588 · 434 · 50</a:t>
                      </a:r>
                    </a:p>
                  </a:txBody>
                  <a:tcPr marL="64008" marR="64008" marT="27432" marB="27432" anchor="ctr">
                    <a:solidFill>
                      <a:srgbClr val="F2F3F5"/>
                    </a:solidFill>
                  </a:tcPr>
                </a:tc>
                <a:tc>
                  <a:txBody>
                    <a:bodyPr wrap="square"/>
                    <a:lstStyle/>
                    <a:p>
                      <a:pPr algn="ctr"/>
                      <a:r>
                        <a:rPr sz="1250" b="0" i="0">
                          <a:solidFill>
                            <a:srgbClr val="2B2B2B"/>
                          </a:solidFill>
                          <a:latin typeface="Arial"/>
                        </a:rPr>
                        <a:t>0,182</a:t>
                      </a:r>
                    </a:p>
                  </a:txBody>
                  <a:tcPr marL="64008" marR="64008" marT="27432" marB="27432" anchor="ctr">
                    <a:solidFill>
                      <a:srgbClr val="F2F3F5"/>
                    </a:solidFill>
                  </a:tcPr>
                </a:tc>
                <a:tc>
                  <a:txBody>
                    <a:bodyPr wrap="square"/>
                    <a:lstStyle/>
                    <a:p>
                      <a:pPr algn="ctr"/>
                      <a:r>
                        <a:rPr sz="1250" b="0" i="0">
                          <a:solidFill>
                            <a:srgbClr val="2B2B2B"/>
                          </a:solidFill>
                          <a:latin typeface="Arial"/>
                        </a:rPr>
                        <a:t>0,28</a:t>
                      </a:r>
                    </a:p>
                  </a:txBody>
                  <a:tcPr marL="64008" marR="64008" marT="27432" marB="27432" anchor="ctr">
                    <a:solidFill>
                      <a:srgbClr val="F2F3F5"/>
                    </a:solidFill>
                  </a:tcPr>
                </a:tc>
              </a:tr>
              <a:tr h="475488">
                <a:tc>
                  <a:txBody>
                    <a:bodyPr wrap="square"/>
                    <a:lstStyle/>
                    <a:p>
                      <a:pPr algn="l"/>
                      <a:r>
                        <a:rPr sz="1250" b="1" i="0">
                          <a:solidFill>
                            <a:srgbClr val="2B2B2B"/>
                          </a:solidFill>
                          <a:latin typeface="Arial"/>
                        </a:rPr>
                        <a:t>Average</a:t>
                      </a:r>
                    </a:p>
                  </a:txBody>
                  <a:tcPr marL="64008" marR="64008" marT="27432" marB="27432" anchor="ctr">
                    <a:solidFill>
                      <a:srgbClr val="FFFFFF"/>
                    </a:solidFill>
                  </a:tcPr>
                </a:tc>
                <a:tc>
                  <a:txBody>
                    <a:bodyPr wrap="square"/>
                    <a:lstStyle/>
                    <a:p>
                      <a:pPr algn="ctr"/>
                      <a:r>
                        <a:rPr sz="1250" b="1" i="0">
                          <a:solidFill>
                            <a:srgbClr val="D7263D"/>
                          </a:solidFill>
                          <a:latin typeface="Arial"/>
                        </a:rPr>
                        <a:t>1 942 · 51 · 6 · 1</a:t>
                      </a:r>
                    </a:p>
                  </a:txBody>
                  <a:tcPr marL="64008" marR="64008" marT="27432" marB="27432" anchor="ctr">
                    <a:solidFill>
                      <a:srgbClr val="FFFFFF"/>
                    </a:solidFill>
                  </a:tcPr>
                </a:tc>
                <a:tc>
                  <a:txBody>
                    <a:bodyPr wrap="square"/>
                    <a:lstStyle/>
                    <a:p>
                      <a:pPr algn="ctr"/>
                      <a:r>
                        <a:rPr sz="1250" b="1" i="0">
                          <a:solidFill>
                            <a:srgbClr val="D7263D"/>
                          </a:solidFill>
                          <a:latin typeface="Arial"/>
                        </a:rPr>
                        <a:t>0,248</a:t>
                      </a:r>
                    </a:p>
                  </a:txBody>
                  <a:tcPr marL="64008" marR="64008" marT="27432" marB="27432" anchor="ctr">
                    <a:solidFill>
                      <a:srgbClr val="FFFFFF"/>
                    </a:solidFill>
                  </a:tcPr>
                </a:tc>
                <a:tc>
                  <a:txBody>
                    <a:bodyPr wrap="square"/>
                    <a:lstStyle/>
                    <a:p>
                      <a:pPr algn="ctr"/>
                      <a:r>
                        <a:rPr sz="1250" b="0" i="0">
                          <a:solidFill>
                            <a:srgbClr val="2B2B2B"/>
                          </a:solidFill>
                          <a:latin typeface="Arial"/>
                        </a:rPr>
                        <a:t>0,00</a:t>
                      </a:r>
                    </a:p>
                  </a:txBody>
                  <a:tcPr marL="64008" marR="64008" marT="27432" marB="27432" anchor="ctr">
                    <a:solidFill>
                      <a:srgbClr val="FFFFFF"/>
                    </a:solidFill>
                  </a:tcPr>
                </a:tc>
              </a:tr>
              <a:tr h="475488">
                <a:tc>
                  <a:txBody>
                    <a:bodyPr wrap="square"/>
                    <a:lstStyle/>
                    <a:p>
                      <a:pPr algn="l"/>
                      <a:r>
                        <a:rPr sz="1250" b="1" i="0">
                          <a:solidFill>
                            <a:srgbClr val="2B2B2B"/>
                          </a:solidFill>
                          <a:latin typeface="Arial"/>
                        </a:rPr>
                        <a:t>Single</a:t>
                      </a:r>
                    </a:p>
                  </a:txBody>
                  <a:tcPr marL="64008" marR="64008" marT="27432" marB="27432" anchor="ctr">
                    <a:solidFill>
                      <a:srgbClr val="F2F3F5"/>
                    </a:solidFill>
                  </a:tcPr>
                </a:tc>
                <a:tc>
                  <a:txBody>
                    <a:bodyPr wrap="square"/>
                    <a:lstStyle/>
                    <a:p>
                      <a:pPr algn="ctr"/>
                      <a:r>
                        <a:rPr sz="1250" b="1" i="0">
                          <a:solidFill>
                            <a:srgbClr val="D7263D"/>
                          </a:solidFill>
                          <a:latin typeface="Arial"/>
                        </a:rPr>
                        <a:t>1 997 · 1 · 1 · 1</a:t>
                      </a:r>
                    </a:p>
                  </a:txBody>
                  <a:tcPr marL="64008" marR="64008" marT="27432" marB="27432" anchor="ctr">
                    <a:solidFill>
                      <a:srgbClr val="F2F3F5"/>
                    </a:solidFill>
                  </a:tcPr>
                </a:tc>
                <a:tc>
                  <a:txBody>
                    <a:bodyPr wrap="square"/>
                    <a:lstStyle/>
                    <a:p>
                      <a:pPr algn="ctr"/>
                      <a:r>
                        <a:rPr sz="1250" b="0" i="0">
                          <a:solidFill>
                            <a:srgbClr val="2B2B2B"/>
                          </a:solidFill>
                          <a:latin typeface="Arial"/>
                        </a:rPr>
                        <a:t>0,224</a:t>
                      </a:r>
                    </a:p>
                  </a:txBody>
                  <a:tcPr marL="64008" marR="64008" marT="27432" marB="27432" anchor="ctr">
                    <a:solidFill>
                      <a:srgbClr val="F2F3F5"/>
                    </a:solidFill>
                  </a:tcPr>
                </a:tc>
                <a:tc>
                  <a:txBody>
                    <a:bodyPr wrap="square"/>
                    <a:lstStyle/>
                    <a:p>
                      <a:pPr algn="ctr"/>
                      <a:r>
                        <a:rPr sz="1250" b="0" i="0">
                          <a:solidFill>
                            <a:srgbClr val="2B2B2B"/>
                          </a:solidFill>
                          <a:latin typeface="Arial"/>
                        </a:rPr>
                        <a:t>0,00</a:t>
                      </a:r>
                    </a:p>
                  </a:txBody>
                  <a:tcPr marL="64008" marR="64008" marT="27432" marB="27432" anchor="ctr">
                    <a:solidFill>
                      <a:srgbClr val="F2F3F5"/>
                    </a:solidFill>
                  </a:tcPr>
                </a:tc>
              </a:tr>
            </a:tbl>
          </a:graphicData>
        </a:graphic>
      </p:graphicFrame>
      <p:sp>
        <p:nvSpPr>
          <p:cNvPr id="4" name="Rounded Rectangle 3"/>
          <p:cNvSpPr/>
          <p:nvPr/>
        </p:nvSpPr>
        <p:spPr>
          <a:xfrm>
            <a:off x="731520" y="4526280"/>
            <a:ext cx="379476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63600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K-Means</a:t>
            </a:r>
          </a:p>
        </p:txBody>
      </p:sp>
      <p:sp>
        <p:nvSpPr>
          <p:cNvPr id="6" name="TextBox 5"/>
          <p:cNvSpPr txBox="1"/>
          <p:nvPr/>
        </p:nvSpPr>
        <p:spPr>
          <a:xfrm>
            <a:off x="868680" y="5184648"/>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Muchos datos; grupos compactos; hay que fijar k antes.</a:t>
            </a:r>
          </a:p>
        </p:txBody>
      </p:sp>
      <p:sp>
        <p:nvSpPr>
          <p:cNvPr id="7" name="Rounded Rectangle 6"/>
          <p:cNvSpPr/>
          <p:nvPr/>
        </p:nvSpPr>
        <p:spPr>
          <a:xfrm>
            <a:off x="4709160" y="4526280"/>
            <a:ext cx="3794760" cy="12344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63600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Jerárquico</a:t>
            </a:r>
          </a:p>
        </p:txBody>
      </p:sp>
      <p:sp>
        <p:nvSpPr>
          <p:cNvPr id="9" name="TextBox 8"/>
          <p:cNvSpPr txBox="1"/>
          <p:nvPr/>
        </p:nvSpPr>
        <p:spPr>
          <a:xfrm>
            <a:off x="4846320" y="5184648"/>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Cientos o pocos miles de filas; permite ver las uniones antes de elegir k.</a:t>
            </a:r>
          </a:p>
        </p:txBody>
      </p:sp>
      <p:sp>
        <p:nvSpPr>
          <p:cNvPr id="10" name="Rounded Rectangle 9"/>
          <p:cNvSpPr/>
          <p:nvPr/>
        </p:nvSpPr>
        <p:spPr>
          <a:xfrm>
            <a:off x="731520" y="589788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Igual que con k = 2 sin log: </a:t>
            </a:r>
            <a:r>
              <a:rPr sz="1200" b="0" i="0">
                <a:solidFill>
                  <a:srgbClr val="2B2B2B"/>
                </a:solidFill>
                <a:latin typeface="Arial"/>
              </a:rPr>
              <a:t>un Silhouette alto con un grupo gigante no es una buena segmentación.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K-Means o jerárquico: ¿cuándo usar cada uno?</a:t>
            </a:r>
          </a:p>
        </p:txBody>
      </p:sp>
      <p:graphicFrame>
        <p:nvGraphicFramePr>
          <p:cNvPr id="3" name="Table 2"/>
          <p:cNvGraphicFramePr>
            <a:graphicFrameLocks noGrp="1"/>
          </p:cNvGraphicFramePr>
          <p:nvPr/>
        </p:nvGraphicFramePr>
        <p:xfrm>
          <a:off x="731520" y="1965960"/>
          <a:ext cx="7772400" cy="3438144"/>
        </p:xfrm>
        <a:graphic>
          <a:graphicData uri="http://schemas.openxmlformats.org/drawingml/2006/table">
            <a:tbl>
              <a:tblPr firstRow="1" bandRow="1">
                <a:tableStyleId>{5C22544A-7EE6-4342-B048-85BDC9FD1C3A}</a:tableStyleId>
              </a:tblPr>
              <a:tblGrid>
                <a:gridCol w="2103120"/>
                <a:gridCol w="2743200"/>
                <a:gridCol w="2926080"/>
              </a:tblGrid>
              <a:tr h="429768">
                <a:tc>
                  <a:txBody>
                    <a:bodyPr wrap="square"/>
                    <a:lstStyle/>
                    <a:p>
                      <a:pPr algn="l"/>
                      <a:r>
                        <a:rPr sz="1150" b="1" i="0">
                          <a:solidFill>
                            <a:srgbClr val="FFFFFF"/>
                          </a:solidFill>
                          <a:latin typeface="Arial"/>
                        </a:rPr>
                        <a:t/>
                      </a:r>
                    </a:p>
                  </a:txBody>
                  <a:tcPr marL="64008" marR="64008" marT="27432" marB="27432" anchor="ctr">
                    <a:solidFill>
                      <a:srgbClr val="242852"/>
                    </a:solidFill>
                  </a:tcPr>
                </a:tc>
                <a:tc>
                  <a:txBody>
                    <a:bodyPr wrap="square"/>
                    <a:lstStyle/>
                    <a:p>
                      <a:pPr algn="ctr"/>
                      <a:r>
                        <a:rPr sz="1150" b="1" i="0">
                          <a:solidFill>
                            <a:srgbClr val="FFFFFF"/>
                          </a:solidFill>
                          <a:latin typeface="Arial"/>
                        </a:rPr>
                        <a:t>K-Means</a:t>
                      </a:r>
                    </a:p>
                  </a:txBody>
                  <a:tcPr marL="64008" marR="64008" marT="27432" marB="27432" anchor="ctr">
                    <a:solidFill>
                      <a:srgbClr val="242852"/>
                    </a:solidFill>
                  </a:tcPr>
                </a:tc>
                <a:tc>
                  <a:txBody>
                    <a:bodyPr wrap="square"/>
                    <a:lstStyle/>
                    <a:p>
                      <a:pPr algn="ctr"/>
                      <a:r>
                        <a:rPr sz="1150" b="1" i="0">
                          <a:solidFill>
                            <a:srgbClr val="FFFFFF"/>
                          </a:solidFill>
                          <a:latin typeface="Arial"/>
                        </a:rPr>
                        <a:t>Jerárquico (aglomerativo)</a:t>
                      </a:r>
                    </a:p>
                  </a:txBody>
                  <a:tcPr marL="64008" marR="64008" marT="27432" marB="27432" anchor="ctr">
                    <a:solidFill>
                      <a:srgbClr val="242852"/>
                    </a:solidFill>
                  </a:tcPr>
                </a:tc>
              </a:tr>
              <a:tr h="429768">
                <a:tc>
                  <a:txBody>
                    <a:bodyPr wrap="square"/>
                    <a:lstStyle/>
                    <a:p>
                      <a:pPr algn="l"/>
                      <a:r>
                        <a:rPr sz="1150" b="1" i="0">
                          <a:solidFill>
                            <a:srgbClr val="2B2B2B"/>
                          </a:solidFill>
                          <a:latin typeface="Arial"/>
                        </a:rPr>
                        <a:t>¿Cómo agrupa?</a:t>
                      </a:r>
                    </a:p>
                  </a:txBody>
                  <a:tcPr marL="64008" marR="64008" marT="27432" marB="27432" anchor="ctr">
                    <a:solidFill>
                      <a:srgbClr val="FFFFFF"/>
                    </a:solidFill>
                  </a:tcPr>
                </a:tc>
                <a:tc>
                  <a:txBody>
                    <a:bodyPr wrap="square"/>
                    <a:lstStyle/>
                    <a:p>
                      <a:pPr algn="ctr"/>
                      <a:r>
                        <a:rPr sz="1150" b="0" i="0">
                          <a:solidFill>
                            <a:srgbClr val="2B2B2B"/>
                          </a:solidFill>
                          <a:latin typeface="Arial"/>
                        </a:rPr>
                        <a:t>Alrededor de k centros</a:t>
                      </a:r>
                    </a:p>
                  </a:txBody>
                  <a:tcPr marL="64008" marR="64008" marT="27432" marB="27432" anchor="ctr">
                    <a:solidFill>
                      <a:srgbClr val="FFFFFF"/>
                    </a:solidFill>
                  </a:tcPr>
                </a:tc>
                <a:tc>
                  <a:txBody>
                    <a:bodyPr wrap="square"/>
                    <a:lstStyle/>
                    <a:p>
                      <a:pPr algn="ctr"/>
                      <a:r>
                        <a:rPr sz="1150" b="0" i="0">
                          <a:solidFill>
                            <a:srgbClr val="2B2B2B"/>
                          </a:solidFill>
                          <a:latin typeface="Arial"/>
                        </a:rPr>
                        <a:t>Uniendo los grupos más cercanos</a:t>
                      </a:r>
                    </a:p>
                  </a:txBody>
                  <a:tcPr marL="64008" marR="64008" marT="27432" marB="27432" anchor="ctr">
                    <a:solidFill>
                      <a:srgbClr val="FFFFFF"/>
                    </a:solidFill>
                  </a:tcPr>
                </a:tc>
              </a:tr>
              <a:tr h="429768">
                <a:tc>
                  <a:txBody>
                    <a:bodyPr wrap="square"/>
                    <a:lstStyle/>
                    <a:p>
                      <a:pPr algn="l"/>
                      <a:r>
                        <a:rPr sz="1150" b="1" i="0">
                          <a:solidFill>
                            <a:srgbClr val="2B2B2B"/>
                          </a:solidFill>
                          <a:latin typeface="Arial"/>
                        </a:rPr>
                        <a:t>¿Cuándo se elige k?</a:t>
                      </a:r>
                    </a:p>
                  </a:txBody>
                  <a:tcPr marL="64008" marR="64008" marT="27432" marB="27432" anchor="ctr">
                    <a:solidFill>
                      <a:srgbClr val="F2F3F5"/>
                    </a:solidFill>
                  </a:tcPr>
                </a:tc>
                <a:tc>
                  <a:txBody>
                    <a:bodyPr wrap="square"/>
                    <a:lstStyle/>
                    <a:p>
                      <a:pPr algn="ctr"/>
                      <a:r>
                        <a:rPr sz="1150" b="0" i="0">
                          <a:solidFill>
                            <a:srgbClr val="2B2B2B"/>
                          </a:solidFill>
                          <a:latin typeface="Arial"/>
                        </a:rPr>
                        <a:t>Antes de empezar</a:t>
                      </a:r>
                    </a:p>
                  </a:txBody>
                  <a:tcPr marL="64008" marR="64008" marT="27432" marB="27432" anchor="ctr">
                    <a:solidFill>
                      <a:srgbClr val="F2F3F5"/>
                    </a:solidFill>
                  </a:tcPr>
                </a:tc>
                <a:tc>
                  <a:txBody>
                    <a:bodyPr wrap="square"/>
                    <a:lstStyle/>
                    <a:p>
                      <a:pPr algn="ctr"/>
                      <a:r>
                        <a:rPr sz="1150" b="0" i="0">
                          <a:solidFill>
                            <a:srgbClr val="2B2B2B"/>
                          </a:solidFill>
                          <a:latin typeface="Arial"/>
                        </a:rPr>
                        <a:t>Después, al cortar el árbol</a:t>
                      </a:r>
                    </a:p>
                  </a:txBody>
                  <a:tcPr marL="64008" marR="64008" marT="27432" marB="27432" anchor="ctr">
                    <a:solidFill>
                      <a:srgbClr val="F2F3F5"/>
                    </a:solidFill>
                  </a:tcPr>
                </a:tc>
              </a:tr>
              <a:tr h="429768">
                <a:tc>
                  <a:txBody>
                    <a:bodyPr wrap="square"/>
                    <a:lstStyle/>
                    <a:p>
                      <a:pPr algn="l"/>
                      <a:r>
                        <a:rPr sz="1150" b="1" i="0">
                          <a:solidFill>
                            <a:srgbClr val="2B2B2B"/>
                          </a:solidFill>
                          <a:latin typeface="Arial"/>
                        </a:rPr>
                        <a:t>Tamaño de datos</a:t>
                      </a:r>
                    </a:p>
                  </a:txBody>
                  <a:tcPr marL="64008" marR="64008" marT="27432" marB="27432" anchor="ctr">
                    <a:solidFill>
                      <a:srgbClr val="FFFFFF"/>
                    </a:solidFill>
                  </a:tcPr>
                </a:tc>
                <a:tc>
                  <a:txBody>
                    <a:bodyPr wrap="square"/>
                    <a:lstStyle/>
                    <a:p>
                      <a:pPr algn="ctr"/>
                      <a:r>
                        <a:rPr sz="1150" b="0" i="0">
                          <a:solidFill>
                            <a:srgbClr val="2B2B2B"/>
                          </a:solidFill>
                          <a:latin typeface="Arial"/>
                        </a:rPr>
                        <a:t>Millones de filas</a:t>
                      </a:r>
                    </a:p>
                  </a:txBody>
                  <a:tcPr marL="64008" marR="64008" marT="27432" marB="27432" anchor="ctr">
                    <a:solidFill>
                      <a:srgbClr val="FFFFFF"/>
                    </a:solidFill>
                  </a:tcPr>
                </a:tc>
                <a:tc>
                  <a:txBody>
                    <a:bodyPr wrap="square"/>
                    <a:lstStyle/>
                    <a:p>
                      <a:pPr algn="ctr"/>
                      <a:r>
                        <a:rPr sz="1150" b="0" i="0">
                          <a:solidFill>
                            <a:srgbClr val="2B2B2B"/>
                          </a:solidFill>
                          <a:latin typeface="Arial"/>
                        </a:rPr>
                        <a:t>Cientos o pocos miles</a:t>
                      </a:r>
                    </a:p>
                  </a:txBody>
                  <a:tcPr marL="64008" marR="64008" marT="27432" marB="27432" anchor="ctr">
                    <a:solidFill>
                      <a:srgbClr val="FFFFFF"/>
                    </a:solidFill>
                  </a:tcPr>
                </a:tc>
              </a:tr>
              <a:tr h="429768">
                <a:tc>
                  <a:txBody>
                    <a:bodyPr wrap="square"/>
                    <a:lstStyle/>
                    <a:p>
                      <a:pPr algn="l"/>
                      <a:r>
                        <a:rPr sz="1150" b="1" i="0">
                          <a:solidFill>
                            <a:srgbClr val="2B2B2B"/>
                          </a:solidFill>
                          <a:latin typeface="Arial"/>
                        </a:rPr>
                        <a:t>¿Mismo resultado siempre?</a:t>
                      </a:r>
                    </a:p>
                  </a:txBody>
                  <a:tcPr marL="64008" marR="64008" marT="27432" marB="27432" anchor="ctr">
                    <a:solidFill>
                      <a:srgbClr val="F2F3F5"/>
                    </a:solidFill>
                  </a:tcPr>
                </a:tc>
                <a:tc>
                  <a:txBody>
                    <a:bodyPr wrap="square"/>
                    <a:lstStyle/>
                    <a:p>
                      <a:pPr algn="ctr"/>
                      <a:r>
                        <a:rPr sz="1150" b="0" i="0">
                          <a:solidFill>
                            <a:srgbClr val="2B2B2B"/>
                          </a:solidFill>
                          <a:latin typeface="Arial"/>
                        </a:rPr>
                        <a:t>Depende del inicio (usar n_init)</a:t>
                      </a:r>
                    </a:p>
                  </a:txBody>
                  <a:tcPr marL="64008" marR="64008" marT="27432" marB="27432" anchor="ctr">
                    <a:solidFill>
                      <a:srgbClr val="F2F3F5"/>
                    </a:solidFill>
                  </a:tcPr>
                </a:tc>
                <a:tc>
                  <a:txBody>
                    <a:bodyPr wrap="square"/>
                    <a:lstStyle/>
                    <a:p>
                      <a:pPr algn="ctr"/>
                      <a:r>
                        <a:rPr sz="1150" b="0" i="0">
                          <a:solidFill>
                            <a:srgbClr val="2B2B2B"/>
                          </a:solidFill>
                          <a:latin typeface="Arial"/>
                        </a:rPr>
                        <a:t>Sí, es determinista</a:t>
                      </a:r>
                    </a:p>
                  </a:txBody>
                  <a:tcPr marL="64008" marR="64008" marT="27432" marB="27432" anchor="ctr">
                    <a:solidFill>
                      <a:srgbClr val="F2F3F5"/>
                    </a:solidFill>
                  </a:tcPr>
                </a:tc>
              </a:tr>
              <a:tr h="429768">
                <a:tc>
                  <a:txBody>
                    <a:bodyPr wrap="square"/>
                    <a:lstStyle/>
                    <a:p>
                      <a:pPr algn="l"/>
                      <a:r>
                        <a:rPr sz="1150" b="1" i="0">
                          <a:solidFill>
                            <a:srgbClr val="2B2B2B"/>
                          </a:solidFill>
                          <a:latin typeface="Arial"/>
                        </a:rPr>
                        <a:t>Forma de los grupos</a:t>
                      </a:r>
                    </a:p>
                  </a:txBody>
                  <a:tcPr marL="64008" marR="64008" marT="27432" marB="27432" anchor="ctr">
                    <a:solidFill>
                      <a:srgbClr val="FFFFFF"/>
                    </a:solidFill>
                  </a:tcPr>
                </a:tc>
                <a:tc>
                  <a:txBody>
                    <a:bodyPr wrap="square"/>
                    <a:lstStyle/>
                    <a:p>
                      <a:pPr algn="ctr"/>
                      <a:r>
                        <a:rPr sz="1150" b="0" i="0">
                          <a:solidFill>
                            <a:srgbClr val="2B2B2B"/>
                          </a:solidFill>
                          <a:latin typeface="Arial"/>
                        </a:rPr>
                        <a:t>Redondos y de tamaño parecido</a:t>
                      </a:r>
                    </a:p>
                  </a:txBody>
                  <a:tcPr marL="64008" marR="64008" marT="27432" marB="27432" anchor="ctr">
                    <a:solidFill>
                      <a:srgbClr val="FFFFFF"/>
                    </a:solidFill>
                  </a:tcPr>
                </a:tc>
                <a:tc>
                  <a:txBody>
                    <a:bodyPr wrap="square"/>
                    <a:lstStyle/>
                    <a:p>
                      <a:pPr algn="ctr"/>
                      <a:r>
                        <a:rPr sz="1150" b="0" i="0">
                          <a:solidFill>
                            <a:srgbClr val="2B2B2B"/>
                          </a:solidFill>
                          <a:latin typeface="Arial"/>
                        </a:rPr>
                        <a:t>Depende del linkage</a:t>
                      </a:r>
                    </a:p>
                  </a:txBody>
                  <a:tcPr marL="64008" marR="64008" marT="27432" marB="27432" anchor="ctr">
                    <a:solidFill>
                      <a:srgbClr val="FFFFFF"/>
                    </a:solidFill>
                  </a:tcPr>
                </a:tc>
              </a:tr>
              <a:tr h="429768">
                <a:tc>
                  <a:txBody>
                    <a:bodyPr wrap="square"/>
                    <a:lstStyle/>
                    <a:p>
                      <a:pPr algn="l"/>
                      <a:r>
                        <a:rPr sz="1150" b="1" i="0">
                          <a:solidFill>
                            <a:srgbClr val="2B2B2B"/>
                          </a:solidFill>
                          <a:latin typeface="Arial"/>
                        </a:rPr>
                        <a:t>Qué entrega</a:t>
                      </a:r>
                    </a:p>
                  </a:txBody>
                  <a:tcPr marL="64008" marR="64008" marT="27432" marB="27432" anchor="ctr">
                    <a:solidFill>
                      <a:srgbClr val="F2F3F5"/>
                    </a:solidFill>
                  </a:tcPr>
                </a:tc>
                <a:tc>
                  <a:txBody>
                    <a:bodyPr wrap="square"/>
                    <a:lstStyle/>
                    <a:p>
                      <a:pPr algn="ctr"/>
                      <a:r>
                        <a:rPr sz="1150" b="0" i="0">
                          <a:solidFill>
                            <a:srgbClr val="2B2B2B"/>
                          </a:solidFill>
                          <a:latin typeface="Arial"/>
                        </a:rPr>
                        <a:t>Grupos y centros</a:t>
                      </a:r>
                    </a:p>
                  </a:txBody>
                  <a:tcPr marL="64008" marR="64008" marT="27432" marB="27432" anchor="ctr">
                    <a:solidFill>
                      <a:srgbClr val="F2F3F5"/>
                    </a:solidFill>
                  </a:tcPr>
                </a:tc>
                <a:tc>
                  <a:txBody>
                    <a:bodyPr wrap="square"/>
                    <a:lstStyle/>
                    <a:p>
                      <a:pPr algn="ctr"/>
                      <a:r>
                        <a:rPr sz="1150" b="0" i="0">
                          <a:solidFill>
                            <a:srgbClr val="2B2B2B"/>
                          </a:solidFill>
                          <a:latin typeface="Arial"/>
                        </a:rPr>
                        <a:t>Dendrograma y grupos al cortar</a:t>
                      </a:r>
                    </a:p>
                  </a:txBody>
                  <a:tcPr marL="64008" marR="64008" marT="27432" marB="27432" anchor="ctr">
                    <a:solidFill>
                      <a:srgbClr val="F2F3F5"/>
                    </a:solidFill>
                  </a:tcPr>
                </a:tc>
              </a:tr>
              <a:tr h="429768">
                <a:tc>
                  <a:txBody>
                    <a:bodyPr wrap="square"/>
                    <a:lstStyle/>
                    <a:p>
                      <a:pPr algn="l"/>
                      <a:r>
                        <a:rPr sz="1150" b="1" i="0">
                          <a:solidFill>
                            <a:srgbClr val="2B2B2B"/>
                          </a:solidFill>
                          <a:latin typeface="Arial"/>
                        </a:rPr>
                        <a:t>Ejemplo</a:t>
                      </a:r>
                    </a:p>
                  </a:txBody>
                  <a:tcPr marL="64008" marR="64008" marT="27432" marB="27432" anchor="ctr">
                    <a:solidFill>
                      <a:srgbClr val="FFFFFF"/>
                    </a:solidFill>
                  </a:tcPr>
                </a:tc>
                <a:tc>
                  <a:txBody>
                    <a:bodyPr wrap="square"/>
                    <a:lstStyle/>
                    <a:p>
                      <a:pPr algn="ctr"/>
                      <a:r>
                        <a:rPr sz="1150" b="0" i="0">
                          <a:solidFill>
                            <a:srgbClr val="2B2B2B"/>
                          </a:solidFill>
                          <a:latin typeface="Arial"/>
                        </a:rPr>
                        <a:t>Segmentar 8 950 clientes</a:t>
                      </a:r>
                    </a:p>
                  </a:txBody>
                  <a:tcPr marL="64008" marR="64008" marT="27432" marB="27432" anchor="ctr">
                    <a:solidFill>
                      <a:srgbClr val="FFFFFF"/>
                    </a:solidFill>
                  </a:tcPr>
                </a:tc>
                <a:tc>
                  <a:txBody>
                    <a:bodyPr wrap="square"/>
                    <a:lstStyle/>
                    <a:p>
                      <a:pPr algn="ctr"/>
                      <a:r>
                        <a:rPr sz="1150" b="0" i="0">
                          <a:solidFill>
                            <a:srgbClr val="2B2B2B"/>
                          </a:solidFill>
                          <a:latin typeface="Arial"/>
                        </a:rPr>
                        <a:t>Agrupar 24 provincias o 30 países</a:t>
                      </a:r>
                    </a:p>
                  </a:txBody>
                  <a:tcPr marL="64008" marR="64008" marT="27432" marB="27432" anchor="ctr">
                    <a:solidFill>
                      <a:srgbClr val="FFFFFF"/>
                    </a:solidFill>
                  </a:tcPr>
                </a:tc>
              </a:tr>
            </a:tbl>
          </a:graphicData>
        </a:graphic>
      </p:graphicFrame>
      <p:sp>
        <p:nvSpPr>
          <p:cNvPr id="4" name="Rounded Rectangle 3"/>
          <p:cNvSpPr/>
          <p:nvPr/>
        </p:nvSpPr>
        <p:spPr>
          <a:xfrm>
            <a:off x="731520" y="55321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a:t>
            </a:r>
            <a:r>
              <a:rPr sz="1200" b="0" i="0">
                <a:solidFill>
                  <a:srgbClr val="2B2B2B"/>
                </a:solidFill>
                <a:latin typeface="Arial"/>
              </a:rPr>
              <a:t>K-Means para los 8 950 clientes; jerárquico en una muestra de 2 000 para comparar.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Checklist</a:t>
            </a:r>
          </a:p>
        </p:txBody>
      </p:sp>
      <p:sp>
        <p:nvSpPr>
          <p:cNvPr id="4" name="Rounded Rectangle 3"/>
          <p:cNvSpPr/>
          <p:nvPr/>
        </p:nvSpPr>
        <p:spPr>
          <a:xfrm>
            <a:off x="3489960" y="4937760"/>
            <a:ext cx="243840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Proyecto final</a:t>
            </a:r>
          </a:p>
        </p:txBody>
      </p:sp>
      <p:sp>
        <p:nvSpPr>
          <p:cNvPr id="5" name="Rounded Rectangle 4"/>
          <p:cNvSpPr/>
          <p:nvPr/>
        </p:nvSpPr>
        <p:spPr>
          <a:xfrm>
            <a:off x="6065520" y="4937760"/>
            <a:ext cx="243840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Ideas clave</a:t>
            </a:r>
          </a:p>
        </p:txBody>
      </p:sp>
      <p:sp>
        <p:nvSpPr>
          <p:cNvPr id="6" name="Oval 5"/>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7</a:t>
            </a:r>
          </a:p>
        </p:txBody>
      </p:sp>
      <p:sp>
        <p:nvSpPr>
          <p:cNvPr id="7" name="TextBox 6"/>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Cierre</a:t>
            </a:r>
          </a:p>
        </p:txBody>
      </p:sp>
      <p:sp>
        <p:nvSpPr>
          <p:cNvPr id="8" name="TextBox 7"/>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Cómo defender un clustering y llevarlo al proyecto final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defender un clustering</a:t>
            </a:r>
          </a:p>
        </p:txBody>
      </p:sp>
      <p:sp>
        <p:nvSpPr>
          <p:cNvPr id="3" name="Rounded Rectangle 2"/>
          <p:cNvSpPr/>
          <p:nvPr/>
        </p:nvSpPr>
        <p:spPr>
          <a:xfrm>
            <a:off x="731520" y="1965960"/>
            <a:ext cx="1828800"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22960" y="2057400"/>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1</a:t>
            </a:r>
          </a:p>
        </p:txBody>
      </p:sp>
      <p:sp>
        <p:nvSpPr>
          <p:cNvPr id="5" name="TextBox 4"/>
          <p:cNvSpPr txBox="1"/>
          <p:nvPr/>
        </p:nvSpPr>
        <p:spPr>
          <a:xfrm>
            <a:off x="1234440" y="203911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Pregunta</a:t>
            </a:r>
          </a:p>
        </p:txBody>
      </p:sp>
      <p:sp>
        <p:nvSpPr>
          <p:cNvPr id="6" name="TextBox 5"/>
          <p:cNvSpPr txBox="1"/>
          <p:nvPr/>
        </p:nvSpPr>
        <p:spPr>
          <a:xfrm>
            <a:off x="841248" y="2514600"/>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¿para qué quiero los grupos?</a:t>
            </a:r>
          </a:p>
        </p:txBody>
      </p:sp>
      <p:sp>
        <p:nvSpPr>
          <p:cNvPr id="7" name="Rounded Rectangle 6"/>
          <p:cNvSpPr/>
          <p:nvPr/>
        </p:nvSpPr>
        <p:spPr>
          <a:xfrm>
            <a:off x="2697480" y="1965960"/>
            <a:ext cx="1828800"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Oval 7"/>
          <p:cNvSpPr/>
          <p:nvPr/>
        </p:nvSpPr>
        <p:spPr>
          <a:xfrm>
            <a:off x="2788920" y="2057400"/>
            <a:ext cx="365760" cy="3657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2</a:t>
            </a:r>
          </a:p>
        </p:txBody>
      </p:sp>
      <p:sp>
        <p:nvSpPr>
          <p:cNvPr id="9" name="TextBox 8"/>
          <p:cNvSpPr txBox="1"/>
          <p:nvPr/>
        </p:nvSpPr>
        <p:spPr>
          <a:xfrm>
            <a:off x="3200400" y="203911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D7263D"/>
                </a:solidFill>
                <a:latin typeface="Arial"/>
              </a:rPr>
              <a:t>Preparación</a:t>
            </a:r>
          </a:p>
        </p:txBody>
      </p:sp>
      <p:sp>
        <p:nvSpPr>
          <p:cNvPr id="10" name="TextBox 9"/>
          <p:cNvSpPr txBox="1"/>
          <p:nvPr/>
        </p:nvSpPr>
        <p:spPr>
          <a:xfrm>
            <a:off x="2807208" y="2514600"/>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variables, faltantes, log, escala</a:t>
            </a:r>
          </a:p>
        </p:txBody>
      </p:sp>
      <p:sp>
        <p:nvSpPr>
          <p:cNvPr id="11" name="Rounded Rectangle 10"/>
          <p:cNvSpPr/>
          <p:nvPr/>
        </p:nvSpPr>
        <p:spPr>
          <a:xfrm>
            <a:off x="4663440" y="1965960"/>
            <a:ext cx="1828800"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4754879" y="2057400"/>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3</a:t>
            </a:r>
          </a:p>
        </p:txBody>
      </p:sp>
      <p:sp>
        <p:nvSpPr>
          <p:cNvPr id="13" name="TextBox 12"/>
          <p:cNvSpPr txBox="1"/>
          <p:nvPr/>
        </p:nvSpPr>
        <p:spPr>
          <a:xfrm>
            <a:off x="5166359" y="203911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Elegir k</a:t>
            </a:r>
          </a:p>
        </p:txBody>
      </p:sp>
      <p:sp>
        <p:nvSpPr>
          <p:cNvPr id="14" name="TextBox 13"/>
          <p:cNvSpPr txBox="1"/>
          <p:nvPr/>
        </p:nvSpPr>
        <p:spPr>
          <a:xfrm>
            <a:off x="4773168" y="2514600"/>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codo, Silhouette, tamaños, sentido</a:t>
            </a:r>
          </a:p>
        </p:txBody>
      </p:sp>
      <p:sp>
        <p:nvSpPr>
          <p:cNvPr id="15" name="Rounded Rectangle 14"/>
          <p:cNvSpPr/>
          <p:nvPr/>
        </p:nvSpPr>
        <p:spPr>
          <a:xfrm>
            <a:off x="6629399" y="1965960"/>
            <a:ext cx="1828800"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6720839" y="2057400"/>
            <a:ext cx="365760" cy="3657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4</a:t>
            </a:r>
          </a:p>
        </p:txBody>
      </p:sp>
      <p:sp>
        <p:nvSpPr>
          <p:cNvPr id="17" name="TextBox 16"/>
          <p:cNvSpPr txBox="1"/>
          <p:nvPr/>
        </p:nvSpPr>
        <p:spPr>
          <a:xfrm>
            <a:off x="7132319" y="203911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D7263D"/>
                </a:solidFill>
                <a:latin typeface="Arial"/>
              </a:rPr>
              <a:t>Comparar</a:t>
            </a:r>
          </a:p>
        </p:txBody>
      </p:sp>
      <p:sp>
        <p:nvSpPr>
          <p:cNvPr id="18" name="TextBox 17"/>
          <p:cNvSpPr txBox="1"/>
          <p:nvPr/>
        </p:nvSpPr>
        <p:spPr>
          <a:xfrm>
            <a:off x="6739127" y="2514600"/>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línea base y otras configuraciones</a:t>
            </a:r>
          </a:p>
        </p:txBody>
      </p:sp>
      <p:sp>
        <p:nvSpPr>
          <p:cNvPr id="19" name="Rounded Rectangle 18"/>
          <p:cNvSpPr/>
          <p:nvPr/>
        </p:nvSpPr>
        <p:spPr>
          <a:xfrm>
            <a:off x="731520" y="3429000"/>
            <a:ext cx="1828800"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Oval 19"/>
          <p:cNvSpPr/>
          <p:nvPr/>
        </p:nvSpPr>
        <p:spPr>
          <a:xfrm>
            <a:off x="822960" y="3520440"/>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5</a:t>
            </a:r>
          </a:p>
        </p:txBody>
      </p:sp>
      <p:sp>
        <p:nvSpPr>
          <p:cNvPr id="21" name="TextBox 20"/>
          <p:cNvSpPr txBox="1"/>
          <p:nvPr/>
        </p:nvSpPr>
        <p:spPr>
          <a:xfrm>
            <a:off x="1234440" y="350215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Estabilidad</a:t>
            </a:r>
          </a:p>
        </p:txBody>
      </p:sp>
      <p:sp>
        <p:nvSpPr>
          <p:cNvPr id="22" name="TextBox 21"/>
          <p:cNvSpPr txBox="1"/>
          <p:nvPr/>
        </p:nvSpPr>
        <p:spPr>
          <a:xfrm>
            <a:off x="841248" y="3977639"/>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n_init alto, otras semillas</a:t>
            </a:r>
          </a:p>
        </p:txBody>
      </p:sp>
      <p:sp>
        <p:nvSpPr>
          <p:cNvPr id="23" name="Rounded Rectangle 22"/>
          <p:cNvSpPr/>
          <p:nvPr/>
        </p:nvSpPr>
        <p:spPr>
          <a:xfrm>
            <a:off x="2697480" y="3429000"/>
            <a:ext cx="1828800"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Oval 23"/>
          <p:cNvSpPr/>
          <p:nvPr/>
        </p:nvSpPr>
        <p:spPr>
          <a:xfrm>
            <a:off x="2788920" y="3520440"/>
            <a:ext cx="365760" cy="3657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6</a:t>
            </a:r>
          </a:p>
        </p:txBody>
      </p:sp>
      <p:sp>
        <p:nvSpPr>
          <p:cNvPr id="25" name="TextBox 24"/>
          <p:cNvSpPr txBox="1"/>
          <p:nvPr/>
        </p:nvSpPr>
        <p:spPr>
          <a:xfrm>
            <a:off x="3200400" y="350215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D7263D"/>
                </a:solidFill>
                <a:latin typeface="Arial"/>
              </a:rPr>
              <a:t>Perfiles</a:t>
            </a:r>
          </a:p>
        </p:txBody>
      </p:sp>
      <p:sp>
        <p:nvSpPr>
          <p:cNvPr id="26" name="TextBox 25"/>
          <p:cNvSpPr txBox="1"/>
          <p:nvPr/>
        </p:nvSpPr>
        <p:spPr>
          <a:xfrm>
            <a:off x="2807208" y="3977639"/>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unidades originales y nombres</a:t>
            </a:r>
          </a:p>
        </p:txBody>
      </p:sp>
      <p:sp>
        <p:nvSpPr>
          <p:cNvPr id="27" name="Rounded Rectangle 26"/>
          <p:cNvSpPr/>
          <p:nvPr/>
        </p:nvSpPr>
        <p:spPr>
          <a:xfrm>
            <a:off x="4663440" y="3429000"/>
            <a:ext cx="1828800"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Oval 27"/>
          <p:cNvSpPr/>
          <p:nvPr/>
        </p:nvSpPr>
        <p:spPr>
          <a:xfrm>
            <a:off x="4754879" y="3520440"/>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7</a:t>
            </a:r>
          </a:p>
        </p:txBody>
      </p:sp>
      <p:sp>
        <p:nvSpPr>
          <p:cNvPr id="29" name="TextBox 28"/>
          <p:cNvSpPr txBox="1"/>
          <p:nvPr/>
        </p:nvSpPr>
        <p:spPr>
          <a:xfrm>
            <a:off x="5166359" y="3502152"/>
            <a:ext cx="1280160" cy="41148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Limitaciones</a:t>
            </a:r>
          </a:p>
        </p:txBody>
      </p:sp>
      <p:sp>
        <p:nvSpPr>
          <p:cNvPr id="30" name="TextBox 29"/>
          <p:cNvSpPr txBox="1"/>
          <p:nvPr/>
        </p:nvSpPr>
        <p:spPr>
          <a:xfrm>
            <a:off x="4773168" y="3977639"/>
            <a:ext cx="1645920" cy="73152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no prueban causas</a:t>
            </a:r>
          </a:p>
        </p:txBody>
      </p:sp>
      <p:sp>
        <p:nvSpPr>
          <p:cNvPr id="31" name="Rounded Rectangle 30"/>
          <p:cNvSpPr/>
          <p:nvPr/>
        </p:nvSpPr>
        <p:spPr>
          <a:xfrm>
            <a:off x="6629400" y="3429000"/>
            <a:ext cx="1874519" cy="13258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Resultado</a:t>
            </a:r>
          </a:p>
          <a:p>
            <a:pPr algn="ctr">
              <a:spcAft>
                <a:spcPts val="300"/>
              </a:spcAft>
            </a:pPr>
            <a:r>
              <a:rPr sz="1100" b="0" i="0">
                <a:solidFill>
                  <a:srgbClr val="C9D2E8"/>
                </a:solidFill>
                <a:latin typeface="Arial"/>
              </a:rPr>
              <a:t>grupos que se pueden explicar y usar</a:t>
            </a:r>
          </a:p>
        </p:txBody>
      </p:sp>
      <p:sp>
        <p:nvSpPr>
          <p:cNvPr id="32" name="Rounded Rectangle 31"/>
          <p:cNvSpPr/>
          <p:nvPr/>
        </p:nvSpPr>
        <p:spPr>
          <a:xfrm>
            <a:off x="731520" y="51206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Válido: </a:t>
            </a:r>
            <a:r>
              <a:rPr sz="1200" b="0" i="0">
                <a:solidFill>
                  <a:srgbClr val="2B2B2B"/>
                </a:solidFill>
                <a:latin typeface="Arial"/>
              </a:rPr>
              <a:t>concluir que no hay grupos claros. Lo inválido es esconderlo detrás de un número.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Clustering en el proyecto final</a:t>
            </a:r>
          </a:p>
        </p:txBody>
      </p:sp>
      <p:graphicFrame>
        <p:nvGraphicFramePr>
          <p:cNvPr id="3" name="Table 2"/>
          <p:cNvGraphicFramePr>
            <a:graphicFrameLocks noGrp="1"/>
          </p:cNvGraphicFramePr>
          <p:nvPr/>
        </p:nvGraphicFramePr>
        <p:xfrm>
          <a:off x="731520" y="1965960"/>
          <a:ext cx="7772400" cy="2743200"/>
        </p:xfrm>
        <a:graphic>
          <a:graphicData uri="http://schemas.openxmlformats.org/drawingml/2006/table">
            <a:tbl>
              <a:tblPr firstRow="1" bandRow="1">
                <a:tableStyleId>{5C22544A-7EE6-4342-B048-85BDC9FD1C3A}</a:tableStyleId>
              </a:tblPr>
              <a:tblGrid>
                <a:gridCol w="3657600"/>
                <a:gridCol w="4114800"/>
              </a:tblGrid>
              <a:tr h="457200">
                <a:tc>
                  <a:txBody>
                    <a:bodyPr wrap="square"/>
                    <a:lstStyle/>
                    <a:p>
                      <a:pPr algn="l"/>
                      <a:r>
                        <a:rPr sz="1200" b="1" i="0">
                          <a:solidFill>
                            <a:srgbClr val="FFFFFF"/>
                          </a:solidFill>
                          <a:latin typeface="Arial"/>
                        </a:rPr>
                        <a:t>Lo que vimos hoy</a:t>
                      </a:r>
                    </a:p>
                  </a:txBody>
                  <a:tcPr marL="64008" marR="64008" marT="27432" marB="27432" anchor="ctr">
                    <a:solidFill>
                      <a:srgbClr val="242852"/>
                    </a:solidFill>
                  </a:tcPr>
                </a:tc>
                <a:tc>
                  <a:txBody>
                    <a:bodyPr wrap="square"/>
                    <a:lstStyle/>
                    <a:p>
                      <a:pPr algn="ctr"/>
                      <a:r>
                        <a:rPr sz="1200" b="1" i="0">
                          <a:solidFill>
                            <a:srgbClr val="FFFFFF"/>
                          </a:solidFill>
                          <a:latin typeface="Arial"/>
                        </a:rPr>
                        <a:t>En su proyecto</a:t>
                      </a:r>
                    </a:p>
                  </a:txBody>
                  <a:tcPr marL="64008" marR="64008" marT="27432" marB="27432" anchor="ctr">
                    <a:solidFill>
                      <a:srgbClr val="242852"/>
                    </a:solidFill>
                  </a:tcPr>
                </a:tc>
              </a:tr>
              <a:tr h="457200">
                <a:tc>
                  <a:txBody>
                    <a:bodyPr wrap="square"/>
                    <a:lstStyle/>
                    <a:p>
                      <a:pPr algn="l"/>
                      <a:r>
                        <a:rPr sz="1200" b="1" i="0">
                          <a:solidFill>
                            <a:srgbClr val="2B2B2B"/>
                          </a:solidFill>
                          <a:latin typeface="Arial"/>
                        </a:rPr>
                        <a:t>Tabla de limpieza con decisiones</a:t>
                      </a:r>
                    </a:p>
                  </a:txBody>
                  <a:tcPr marL="64008" marR="64008" marT="27432" marB="27432" anchor="ctr">
                    <a:solidFill>
                      <a:srgbClr val="FFFFFF"/>
                    </a:solidFill>
                  </a:tcPr>
                </a:tc>
                <a:tc>
                  <a:txBody>
                    <a:bodyPr wrap="square"/>
                    <a:lstStyle/>
                    <a:p>
                      <a:pPr algn="ctr"/>
                      <a:r>
                        <a:rPr sz="1200" b="0" i="0">
                          <a:solidFill>
                            <a:srgbClr val="2B2B2B"/>
                          </a:solidFill>
                          <a:latin typeface="Arial"/>
                        </a:rPr>
                        <a:t>Sección 2 del informe</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Logaritmo y escala, con su motivo</a:t>
                      </a:r>
                    </a:p>
                  </a:txBody>
                  <a:tcPr marL="64008" marR="64008" marT="27432" marB="27432" anchor="ctr">
                    <a:solidFill>
                      <a:srgbClr val="F2F3F5"/>
                    </a:solidFill>
                  </a:tcPr>
                </a:tc>
                <a:tc>
                  <a:txBody>
                    <a:bodyPr wrap="square"/>
                    <a:lstStyle/>
                    <a:p>
                      <a:pPr algn="ctr"/>
                      <a:r>
                        <a:rPr sz="1200" b="0" i="0">
                          <a:solidFill>
                            <a:srgbClr val="2B2B2B"/>
                          </a:solidFill>
                          <a:latin typeface="Arial"/>
                        </a:rPr>
                        <a:t>Secciones 2 y 4</a:t>
                      </a:r>
                    </a:p>
                  </a:txBody>
                  <a:tcPr marL="64008" marR="64008" marT="27432" marB="27432" anchor="ctr">
                    <a:solidFill>
                      <a:srgbClr val="F2F3F5"/>
                    </a:solidFill>
                  </a:tcPr>
                </a:tc>
              </a:tr>
              <a:tr h="457200">
                <a:tc>
                  <a:txBody>
                    <a:bodyPr wrap="square"/>
                    <a:lstStyle/>
                    <a:p>
                      <a:pPr algn="l"/>
                      <a:r>
                        <a:rPr sz="1200" b="1" i="0">
                          <a:solidFill>
                            <a:srgbClr val="2B2B2B"/>
                          </a:solidFill>
                          <a:latin typeface="Arial"/>
                        </a:rPr>
                        <a:t>Línea base: cuartiles de una variable</a:t>
                      </a:r>
                    </a:p>
                  </a:txBody>
                  <a:tcPr marL="64008" marR="64008" marT="27432" marB="27432" anchor="ctr">
                    <a:solidFill>
                      <a:srgbClr val="FFFFFF"/>
                    </a:solidFill>
                  </a:tcPr>
                </a:tc>
                <a:tc>
                  <a:txBody>
                    <a:bodyPr wrap="square"/>
                    <a:lstStyle/>
                    <a:p>
                      <a:pPr algn="ctr"/>
                      <a:r>
                        <a:rPr sz="1200" b="0" i="0">
                          <a:solidFill>
                            <a:srgbClr val="2B2B2B"/>
                          </a:solidFill>
                          <a:latin typeface="Arial"/>
                        </a:rPr>
                        <a:t>Obligatoria: por ejemplo, cuartiles o Channel (Wholesale)</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Tabla de configuraciones con Silhouette y tamaños</a:t>
                      </a:r>
                    </a:p>
                  </a:txBody>
                  <a:tcPr marL="64008" marR="64008" marT="27432" marB="27432" anchor="ctr">
                    <a:solidFill>
                      <a:srgbClr val="F2F3F5"/>
                    </a:solidFill>
                  </a:tcPr>
                </a:tc>
                <a:tc>
                  <a:txBody>
                    <a:bodyPr wrap="square"/>
                    <a:lstStyle/>
                    <a:p>
                      <a:pPr algn="ctr"/>
                      <a:r>
                        <a:rPr sz="1200" b="0" i="0">
                          <a:solidFill>
                            <a:srgbClr val="2B2B2B"/>
                          </a:solidFill>
                          <a:latin typeface="Arial"/>
                        </a:rPr>
                        <a:t>Sección 5: al menos tres configuraciones</a:t>
                      </a:r>
                    </a:p>
                  </a:txBody>
                  <a:tcPr marL="64008" marR="64008" marT="27432" marB="27432" anchor="ctr">
                    <a:solidFill>
                      <a:srgbClr val="F2F3F5"/>
                    </a:solidFill>
                  </a:tcPr>
                </a:tc>
              </a:tr>
              <a:tr h="457200">
                <a:tc>
                  <a:txBody>
                    <a:bodyPr wrap="square"/>
                    <a:lstStyle/>
                    <a:p>
                      <a:pPr algn="l"/>
                      <a:r>
                        <a:rPr sz="1200" b="1" i="0">
                          <a:solidFill>
                            <a:srgbClr val="2B2B2B"/>
                          </a:solidFill>
                          <a:latin typeface="Arial"/>
                        </a:rPr>
                        <a:t>Perfiles en medianas y nombres</a:t>
                      </a:r>
                    </a:p>
                  </a:txBody>
                  <a:tcPr marL="64008" marR="64008" marT="27432" marB="27432" anchor="ctr">
                    <a:solidFill>
                      <a:srgbClr val="FFFFFF"/>
                    </a:solidFill>
                  </a:tcPr>
                </a:tc>
                <a:tc>
                  <a:txBody>
                    <a:bodyPr wrap="square"/>
                    <a:lstStyle/>
                    <a:p>
                      <a:pPr algn="ctr"/>
                      <a:r>
                        <a:rPr sz="1200" b="0" i="0">
                          <a:solidFill>
                            <a:srgbClr val="2B2B2B"/>
                          </a:solidFill>
                          <a:latin typeface="Arial"/>
                        </a:rPr>
                        <a:t>Secciones 6 y 7: elección y conclusiones</a:t>
                      </a:r>
                    </a:p>
                  </a:txBody>
                  <a:tcPr marL="64008" marR="64008" marT="27432" marB="27432" anchor="ctr">
                    <a:solidFill>
                      <a:srgbClr val="FFFFFF"/>
                    </a:solidFill>
                  </a:tcPr>
                </a:tc>
              </a:tr>
            </a:tbl>
          </a:graphicData>
        </a:graphic>
      </p:graphicFrame>
      <p:sp>
        <p:nvSpPr>
          <p:cNvPr id="4" name="Rounded Rectangle 3"/>
          <p:cNvSpPr/>
          <p:nvPr/>
        </p:nvSpPr>
        <p:spPr>
          <a:xfrm>
            <a:off x="731520" y="493776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Recuerden: </a:t>
            </a:r>
            <a:r>
              <a:rPr sz="1200" b="0" i="0">
                <a:solidFill>
                  <a:srgbClr val="2B2B2B"/>
                </a:solidFill>
                <a:latin typeface="Arial"/>
              </a:rPr>
              <a:t>no gana el Silhouette más alto; gana el grupo mejor explicado y mejor justificado.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Ideas clave del día</a:t>
            </a:r>
          </a:p>
        </p:txBody>
      </p:sp>
      <p:sp>
        <p:nvSpPr>
          <p:cNvPr id="3" name="Rounded Rectangle 2"/>
          <p:cNvSpPr/>
          <p:nvPr/>
        </p:nvSpPr>
        <p:spPr>
          <a:xfrm>
            <a:off x="731520" y="1965960"/>
            <a:ext cx="379476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2331720"/>
            <a:ext cx="502920" cy="50292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1</a:t>
            </a:r>
          </a:p>
        </p:txBody>
      </p:sp>
      <p:sp>
        <p:nvSpPr>
          <p:cNvPr id="5" name="TextBox 4"/>
          <p:cNvSpPr txBox="1"/>
          <p:nvPr/>
        </p:nvSpPr>
        <p:spPr>
          <a:xfrm>
            <a:off x="1508760" y="20756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Sin respuesta</a:t>
            </a:r>
          </a:p>
          <a:p>
            <a:pPr algn="l">
              <a:spcAft>
                <a:spcPts val="400"/>
              </a:spcAft>
            </a:pPr>
            <a:r>
              <a:rPr sz="1150" b="0" i="0">
                <a:solidFill>
                  <a:srgbClr val="2B2B2B"/>
                </a:solidFill>
                <a:latin typeface="Arial"/>
              </a:rPr>
              <a:t>Clustering no tiene y: propone grupos según nuestras variables.</a:t>
            </a:r>
          </a:p>
        </p:txBody>
      </p:sp>
      <p:sp>
        <p:nvSpPr>
          <p:cNvPr id="6" name="Rounded Rectangle 5"/>
          <p:cNvSpPr/>
          <p:nvPr/>
        </p:nvSpPr>
        <p:spPr>
          <a:xfrm>
            <a:off x="4663440" y="196596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4800600" y="233172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2</a:t>
            </a:r>
          </a:p>
        </p:txBody>
      </p:sp>
      <p:sp>
        <p:nvSpPr>
          <p:cNvPr id="8" name="TextBox 7"/>
          <p:cNvSpPr txBox="1"/>
          <p:nvPr/>
        </p:nvSpPr>
        <p:spPr>
          <a:xfrm>
            <a:off x="5440679" y="20756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Preparar</a:t>
            </a:r>
          </a:p>
          <a:p>
            <a:pPr algn="l">
              <a:spcAft>
                <a:spcPts val="400"/>
              </a:spcAft>
            </a:pPr>
            <a:r>
              <a:rPr sz="1150" b="0" i="0">
                <a:solidFill>
                  <a:srgbClr val="2B2B2B"/>
                </a:solidFill>
                <a:latin typeface="Arial"/>
              </a:rPr>
              <a:t>Faltantes, logaritmo en montos asimétricos y escalado antes de medir distancias.</a:t>
            </a:r>
          </a:p>
        </p:txBody>
      </p:sp>
      <p:sp>
        <p:nvSpPr>
          <p:cNvPr id="9" name="Rounded Rectangle 8"/>
          <p:cNvSpPr/>
          <p:nvPr/>
        </p:nvSpPr>
        <p:spPr>
          <a:xfrm>
            <a:off x="731520" y="333756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868680" y="370332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3</a:t>
            </a:r>
          </a:p>
        </p:txBody>
      </p:sp>
      <p:sp>
        <p:nvSpPr>
          <p:cNvPr id="11" name="TextBox 10"/>
          <p:cNvSpPr txBox="1"/>
          <p:nvPr/>
        </p:nvSpPr>
        <p:spPr>
          <a:xfrm>
            <a:off x="1508760" y="34472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K-Means</a:t>
            </a:r>
          </a:p>
          <a:p>
            <a:pPr algn="l">
              <a:spcAft>
                <a:spcPts val="400"/>
              </a:spcAft>
            </a:pPr>
            <a:r>
              <a:rPr sz="1150" b="0" i="0">
                <a:solidFill>
                  <a:srgbClr val="2B2B2B"/>
                </a:solidFill>
                <a:latin typeface="Arial"/>
              </a:rPr>
              <a:t>Asignar al centro más cercano y promediar; usar n_init alto.</a:t>
            </a:r>
          </a:p>
        </p:txBody>
      </p:sp>
      <p:sp>
        <p:nvSpPr>
          <p:cNvPr id="12" name="Rounded Rectangle 11"/>
          <p:cNvSpPr/>
          <p:nvPr/>
        </p:nvSpPr>
        <p:spPr>
          <a:xfrm>
            <a:off x="4663440" y="3337560"/>
            <a:ext cx="379476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4800600" y="3703320"/>
            <a:ext cx="502920" cy="50292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4</a:t>
            </a:r>
          </a:p>
        </p:txBody>
      </p:sp>
      <p:sp>
        <p:nvSpPr>
          <p:cNvPr id="14" name="TextBox 13"/>
          <p:cNvSpPr txBox="1"/>
          <p:nvPr/>
        </p:nvSpPr>
        <p:spPr>
          <a:xfrm>
            <a:off x="5440679" y="34472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Elegir k</a:t>
            </a:r>
          </a:p>
          <a:p>
            <a:pPr algn="l">
              <a:spcAft>
                <a:spcPts val="400"/>
              </a:spcAft>
            </a:pPr>
            <a:r>
              <a:rPr sz="1150" b="0" i="0">
                <a:solidFill>
                  <a:srgbClr val="2B2B2B"/>
                </a:solidFill>
                <a:latin typeface="Arial"/>
              </a:rPr>
              <a:t>Codo, Silhouette, tamaños e interpretación, juntos.</a:t>
            </a:r>
          </a:p>
        </p:txBody>
      </p:sp>
      <p:sp>
        <p:nvSpPr>
          <p:cNvPr id="15" name="Rounded Rectangle 14"/>
          <p:cNvSpPr/>
          <p:nvPr/>
        </p:nvSpPr>
        <p:spPr>
          <a:xfrm>
            <a:off x="731520" y="4709160"/>
            <a:ext cx="379476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68680" y="5074920"/>
            <a:ext cx="502920" cy="50292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5</a:t>
            </a:r>
          </a:p>
        </p:txBody>
      </p:sp>
      <p:sp>
        <p:nvSpPr>
          <p:cNvPr id="17" name="TextBox 16"/>
          <p:cNvSpPr txBox="1"/>
          <p:nvPr/>
        </p:nvSpPr>
        <p:spPr>
          <a:xfrm>
            <a:off x="1508760" y="48188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La trampa</a:t>
            </a:r>
          </a:p>
          <a:p>
            <a:pPr algn="l">
              <a:spcAft>
                <a:spcPts val="400"/>
              </a:spcAft>
            </a:pPr>
            <a:r>
              <a:rPr sz="1150" b="0" i="0">
                <a:solidFill>
                  <a:srgbClr val="2B2B2B"/>
                </a:solidFill>
                <a:latin typeface="Arial"/>
              </a:rPr>
              <a:t>Un Silhouette alto con un grupo gigante no sirve.</a:t>
            </a:r>
          </a:p>
        </p:txBody>
      </p:sp>
      <p:sp>
        <p:nvSpPr>
          <p:cNvPr id="18" name="Rounded Rectangle 17"/>
          <p:cNvSpPr/>
          <p:nvPr/>
        </p:nvSpPr>
        <p:spPr>
          <a:xfrm>
            <a:off x="4663440" y="470916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Oval 18"/>
          <p:cNvSpPr/>
          <p:nvPr/>
        </p:nvSpPr>
        <p:spPr>
          <a:xfrm>
            <a:off x="4800600" y="507492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00" b="1" i="0">
                <a:solidFill>
                  <a:srgbClr val="FFFFFF"/>
                </a:solidFill>
                <a:latin typeface="Arial"/>
              </a:rPr>
              <a:t>6</a:t>
            </a:r>
          </a:p>
        </p:txBody>
      </p:sp>
      <p:sp>
        <p:nvSpPr>
          <p:cNvPr id="20" name="TextBox 19"/>
          <p:cNvSpPr txBox="1"/>
          <p:nvPr/>
        </p:nvSpPr>
        <p:spPr>
          <a:xfrm>
            <a:off x="5440679" y="4818888"/>
            <a:ext cx="2926080" cy="105156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Perfiles</a:t>
            </a:r>
          </a:p>
          <a:p>
            <a:pPr algn="l">
              <a:spcAft>
                <a:spcPts val="400"/>
              </a:spcAft>
            </a:pPr>
            <a:r>
              <a:rPr sz="1150" b="0" i="0">
                <a:solidFill>
                  <a:srgbClr val="2B2B2B"/>
                </a:solidFill>
                <a:latin typeface="Arial"/>
              </a:rPr>
              <a:t>Medianas en unidades originales, nombres y acciones; no prueban causas.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Del papel al notebook</a:t>
            </a:r>
          </a:p>
        </p:txBody>
      </p:sp>
      <p:graphicFrame>
        <p:nvGraphicFramePr>
          <p:cNvPr id="3" name="Table 2"/>
          <p:cNvGraphicFramePr>
            <a:graphicFrameLocks noGrp="1"/>
          </p:cNvGraphicFramePr>
          <p:nvPr/>
        </p:nvGraphicFramePr>
        <p:xfrm>
          <a:off x="731520" y="1920240"/>
          <a:ext cx="7772400" cy="2926080"/>
        </p:xfrm>
        <a:graphic>
          <a:graphicData uri="http://schemas.openxmlformats.org/drawingml/2006/table">
            <a:tbl>
              <a:tblPr firstRow="1" bandRow="1">
                <a:tableStyleId>{5C22544A-7EE6-4342-B048-85BDC9FD1C3A}</a:tableStyleId>
              </a:tblPr>
              <a:tblGrid>
                <a:gridCol w="2377440"/>
                <a:gridCol w="2743200"/>
                <a:gridCol w="2651760"/>
              </a:tblGrid>
              <a:tr h="365760">
                <a:tc>
                  <a:txBody>
                    <a:bodyPr wrap="square"/>
                    <a:lstStyle/>
                    <a:p>
                      <a:pPr algn="l"/>
                      <a:r>
                        <a:rPr sz="1100" b="1" i="0">
                          <a:solidFill>
                            <a:srgbClr val="FFFFFF"/>
                          </a:solidFill>
                          <a:latin typeface="Arial"/>
                        </a:rPr>
                        <a:t>Lo que hicimos a mano</a:t>
                      </a:r>
                    </a:p>
                  </a:txBody>
                  <a:tcPr marL="64008" marR="64008" marT="27432" marB="27432" anchor="ctr">
                    <a:solidFill>
                      <a:srgbClr val="242852"/>
                    </a:solidFill>
                  </a:tcPr>
                </a:tc>
                <a:tc>
                  <a:txBody>
                    <a:bodyPr wrap="square"/>
                    <a:lstStyle/>
                    <a:p>
                      <a:pPr algn="ctr"/>
                      <a:r>
                        <a:rPr sz="1100" b="1" i="0">
                          <a:solidFill>
                            <a:srgbClr val="FFFFFF"/>
                          </a:solidFill>
                          <a:latin typeface="Arial"/>
                        </a:rPr>
                        <a:t>Lo que verán en el notebook</a:t>
                      </a:r>
                    </a:p>
                  </a:txBody>
                  <a:tcPr marL="64008" marR="64008" marT="27432" marB="27432" anchor="ctr">
                    <a:solidFill>
                      <a:srgbClr val="242852"/>
                    </a:solidFill>
                  </a:tcPr>
                </a:tc>
                <a:tc>
                  <a:txBody>
                    <a:bodyPr wrap="square"/>
                    <a:lstStyle/>
                    <a:p>
                      <a:pPr algn="ctr"/>
                      <a:r>
                        <a:rPr sz="1100" b="1" i="0">
                          <a:solidFill>
                            <a:srgbClr val="FFFFFF"/>
                          </a:solidFill>
                          <a:latin typeface="Arial"/>
                        </a:rPr>
                        <a:t>Debe dar…</a:t>
                      </a:r>
                    </a:p>
                  </a:txBody>
                  <a:tcPr marL="64008" marR="64008" marT="27432" marB="27432" anchor="ctr">
                    <a:solidFill>
                      <a:srgbClr val="242852"/>
                    </a:solidFill>
                  </a:tcPr>
                </a:tc>
              </a:tr>
              <a:tr h="365760">
                <a:tc>
                  <a:txBody>
                    <a:bodyPr wrap="square"/>
                    <a:lstStyle/>
                    <a:p>
                      <a:pPr algn="l"/>
                      <a:r>
                        <a:rPr sz="1100" b="1" i="0">
                          <a:solidFill>
                            <a:srgbClr val="2B2B2B"/>
                          </a:solidFill>
                          <a:latin typeface="Arial"/>
                        </a:rPr>
                        <a:t>Escalar dos clientes</a:t>
                      </a:r>
                    </a:p>
                  </a:txBody>
                  <a:tcPr marL="64008" marR="64008" marT="27432" marB="27432" anchor="ctr">
                    <a:solidFill>
                      <a:srgbClr val="FFFFFF"/>
                    </a:solidFill>
                  </a:tcPr>
                </a:tc>
                <a:tc>
                  <a:txBody>
                    <a:bodyPr wrap="square"/>
                    <a:lstStyle/>
                    <a:p>
                      <a:pPr algn="ctr"/>
                      <a:r>
                        <a:rPr sz="1100" b="0" i="0">
                          <a:solidFill>
                            <a:srgbClr val="2B2B2B"/>
                          </a:solidFill>
                          <a:latin typeface="Arial"/>
                        </a:rPr>
                        <a:t>Diferencias en desviaciones</a:t>
                      </a:r>
                    </a:p>
                  </a:txBody>
                  <a:tcPr marL="64008" marR="64008" marT="27432" marB="27432" anchor="ctr">
                    <a:solidFill>
                      <a:srgbClr val="FFFFFF"/>
                    </a:solidFill>
                  </a:tcPr>
                </a:tc>
                <a:tc>
                  <a:txBody>
                    <a:bodyPr wrap="square"/>
                    <a:lstStyle/>
                    <a:p>
                      <a:pPr algn="ctr"/>
                      <a:r>
                        <a:rPr sz="1100" b="0" i="0">
                          <a:solidFill>
                            <a:srgbClr val="2B2B2B"/>
                          </a:solidFill>
                          <a:latin typeface="Arial"/>
                        </a:rPr>
                        <a:t>0,05 · 1,65 · 1,99</a:t>
                      </a:r>
                    </a:p>
                  </a:txBody>
                  <a:tcPr marL="64008" marR="64008" marT="27432" marB="27432" anchor="ctr">
                    <a:solidFill>
                      <a:srgbClr val="FFFFFF"/>
                    </a:solidFill>
                  </a:tcPr>
                </a:tc>
              </a:tr>
              <a:tr h="365760">
                <a:tc>
                  <a:txBody>
                    <a:bodyPr wrap="square"/>
                    <a:lstStyle/>
                    <a:p>
                      <a:pPr algn="l"/>
                      <a:r>
                        <a:rPr sz="1100" b="1" i="0">
                          <a:solidFill>
                            <a:srgbClr val="2B2B2B"/>
                          </a:solidFill>
                          <a:latin typeface="Arial"/>
                        </a:rPr>
                        <a:t>K-Means con seis puntos</a:t>
                      </a:r>
                    </a:p>
                  </a:txBody>
                  <a:tcPr marL="64008" marR="64008" marT="27432" marB="27432" anchor="ctr">
                    <a:solidFill>
                      <a:srgbClr val="F2F3F5"/>
                    </a:solidFill>
                  </a:tcPr>
                </a:tc>
                <a:tc>
                  <a:txBody>
                    <a:bodyPr wrap="square"/>
                    <a:lstStyle/>
                    <a:p>
                      <a:pPr algn="ctr"/>
                      <a:r>
                        <a:rPr sz="1100" b="0" i="0">
                          <a:solidFill>
                            <a:srgbClr val="2B2B2B"/>
                          </a:solidFill>
                          <a:latin typeface="Arial"/>
                        </a:rPr>
                        <a:t>Tres vueltas impresas</a:t>
                      </a:r>
                    </a:p>
                  </a:txBody>
                  <a:tcPr marL="64008" marR="64008" marT="27432" marB="27432" anchor="ctr">
                    <a:solidFill>
                      <a:srgbClr val="F2F3F5"/>
                    </a:solidFill>
                  </a:tcPr>
                </a:tc>
                <a:tc>
                  <a:txBody>
                    <a:bodyPr wrap="square"/>
                    <a:lstStyle/>
                    <a:p>
                      <a:pPr algn="ctr"/>
                      <a:r>
                        <a:rPr sz="1100" b="0" i="0">
                          <a:solidFill>
                            <a:srgbClr val="2B2B2B"/>
                          </a:solidFill>
                          <a:latin typeface="Arial"/>
                        </a:rPr>
                        <a:t>centros (1,5; 1,33) y (5,5; 5)</a:t>
                      </a:r>
                    </a:p>
                  </a:txBody>
                  <a:tcPr marL="64008" marR="64008" marT="27432" marB="27432" anchor="ctr">
                    <a:solidFill>
                      <a:srgbClr val="F2F3F5"/>
                    </a:solidFill>
                  </a:tcPr>
                </a:tc>
              </a:tr>
              <a:tr h="365760">
                <a:tc>
                  <a:txBody>
                    <a:bodyPr wrap="square"/>
                    <a:lstStyle/>
                    <a:p>
                      <a:pPr algn="l"/>
                      <a:r>
                        <a:rPr sz="1100" b="1" i="0">
                          <a:solidFill>
                            <a:srgbClr val="2B2B2B"/>
                          </a:solidFill>
                          <a:latin typeface="Arial"/>
                        </a:rPr>
                        <a:t>n_init con seis semillas</a:t>
                      </a:r>
                    </a:p>
                  </a:txBody>
                  <a:tcPr marL="64008" marR="64008" marT="27432" marB="27432" anchor="ctr">
                    <a:solidFill>
                      <a:srgbClr val="FFFFFF"/>
                    </a:solidFill>
                  </a:tcPr>
                </a:tc>
                <a:tc>
                  <a:txBody>
                    <a:bodyPr wrap="square"/>
                    <a:lstStyle/>
                    <a:p>
                      <a:pPr algn="ctr"/>
                      <a:r>
                        <a:rPr sz="1100" b="0" i="0">
                          <a:solidFill>
                            <a:srgbClr val="2B2B2B"/>
                          </a:solidFill>
                          <a:latin typeface="Arial"/>
                        </a:rPr>
                        <a:t>Tabla de inercias y ARI</a:t>
                      </a:r>
                    </a:p>
                  </a:txBody>
                  <a:tcPr marL="64008" marR="64008" marT="27432" marB="27432" anchor="ctr">
                    <a:solidFill>
                      <a:srgbClr val="FFFFFF"/>
                    </a:solidFill>
                  </a:tcPr>
                </a:tc>
                <a:tc>
                  <a:txBody>
                    <a:bodyPr wrap="square"/>
                    <a:lstStyle/>
                    <a:p>
                      <a:pPr algn="ctr"/>
                      <a:r>
                        <a:rPr sz="1100" b="0" i="0">
                          <a:solidFill>
                            <a:srgbClr val="2B2B2B"/>
                          </a:solidFill>
                          <a:latin typeface="Arial"/>
                        </a:rPr>
                        <a:t>41 171 frente a 41 825</a:t>
                      </a:r>
                    </a:p>
                  </a:txBody>
                  <a:tcPr marL="64008" marR="64008" marT="27432" marB="27432" anchor="ctr">
                    <a:solidFill>
                      <a:srgbClr val="FFFFFF"/>
                    </a:solidFill>
                  </a:tcPr>
                </a:tc>
              </a:tr>
              <a:tr h="365760">
                <a:tc>
                  <a:txBody>
                    <a:bodyPr wrap="square"/>
                    <a:lstStyle/>
                    <a:p>
                      <a:pPr algn="l"/>
                      <a:r>
                        <a:rPr sz="1100" b="1" i="0">
                          <a:solidFill>
                            <a:srgbClr val="2B2B2B"/>
                          </a:solidFill>
                          <a:latin typeface="Arial"/>
                        </a:rPr>
                        <a:t>Silhouette del punto 3</a:t>
                      </a:r>
                    </a:p>
                  </a:txBody>
                  <a:tcPr marL="64008" marR="64008" marT="27432" marB="27432" anchor="ctr">
                    <a:solidFill>
                      <a:srgbClr val="F2F3F5"/>
                    </a:solidFill>
                  </a:tcPr>
                </a:tc>
                <a:tc>
                  <a:txBody>
                    <a:bodyPr wrap="square"/>
                    <a:lstStyle/>
                    <a:p>
                      <a:pPr algn="ctr"/>
                      <a:r>
                        <a:rPr sz="1100" b="0" i="0">
                          <a:solidFill>
                            <a:srgbClr val="2B2B2B"/>
                          </a:solidFill>
                          <a:latin typeface="Arial"/>
                        </a:rPr>
                        <a:t>silhouette_samples</a:t>
                      </a:r>
                    </a:p>
                  </a:txBody>
                  <a:tcPr marL="64008" marR="64008" marT="27432" marB="27432" anchor="ctr">
                    <a:solidFill>
                      <a:srgbClr val="F2F3F5"/>
                    </a:solidFill>
                  </a:tcPr>
                </a:tc>
                <a:tc>
                  <a:txBody>
                    <a:bodyPr wrap="square"/>
                    <a:lstStyle/>
                    <a:p>
                      <a:pPr algn="ctr"/>
                      <a:r>
                        <a:rPr sz="1100" b="0" i="0">
                          <a:solidFill>
                            <a:srgbClr val="2B2B2B"/>
                          </a:solidFill>
                          <a:latin typeface="Arial"/>
                        </a:rPr>
                        <a:t>0,73</a:t>
                      </a:r>
                    </a:p>
                  </a:txBody>
                  <a:tcPr marL="64008" marR="64008" marT="27432" marB="27432" anchor="ctr">
                    <a:solidFill>
                      <a:srgbClr val="F2F3F5"/>
                    </a:solidFill>
                  </a:tcPr>
                </a:tc>
              </a:tr>
              <a:tr h="365760">
                <a:tc>
                  <a:txBody>
                    <a:bodyPr wrap="square"/>
                    <a:lstStyle/>
                    <a:p>
                      <a:pPr algn="l"/>
                      <a:r>
                        <a:rPr sz="1100" b="1" i="0">
                          <a:solidFill>
                            <a:srgbClr val="2B2B2B"/>
                          </a:solidFill>
                          <a:latin typeface="Arial"/>
                        </a:rPr>
                        <a:t>Codo y Silhouette</a:t>
                      </a:r>
                    </a:p>
                  </a:txBody>
                  <a:tcPr marL="64008" marR="64008" marT="27432" marB="27432" anchor="ctr">
                    <a:solidFill>
                      <a:srgbClr val="FFFFFF"/>
                    </a:solidFill>
                  </a:tcPr>
                </a:tc>
                <a:tc>
                  <a:txBody>
                    <a:bodyPr wrap="square"/>
                    <a:lstStyle/>
                    <a:p>
                      <a:pPr algn="ctr"/>
                      <a:r>
                        <a:rPr sz="1100" b="0" i="0">
                          <a:solidFill>
                            <a:srgbClr val="2B2B2B"/>
                          </a:solidFill>
                          <a:latin typeface="Arial"/>
                        </a:rPr>
                        <a:t>Tabla con y sin log, k = 2 a 8</a:t>
                      </a:r>
                    </a:p>
                  </a:txBody>
                  <a:tcPr marL="64008" marR="64008" marT="27432" marB="27432" anchor="ctr">
                    <a:solidFill>
                      <a:srgbClr val="FFFFFF"/>
                    </a:solidFill>
                  </a:tcPr>
                </a:tc>
                <a:tc>
                  <a:txBody>
                    <a:bodyPr wrap="square"/>
                    <a:lstStyle/>
                    <a:p>
                      <a:pPr algn="ctr"/>
                      <a:r>
                        <a:rPr sz="1100" b="0" i="0">
                          <a:solidFill>
                            <a:srgbClr val="2B2B2B"/>
                          </a:solidFill>
                          <a:latin typeface="Arial"/>
                        </a:rPr>
                        <a:t>0,469 sin log; 0,27 con log</a:t>
                      </a:r>
                    </a:p>
                  </a:txBody>
                  <a:tcPr marL="64008" marR="64008" marT="27432" marB="27432" anchor="ctr">
                    <a:solidFill>
                      <a:srgbClr val="FFFFFF"/>
                    </a:solidFill>
                  </a:tcPr>
                </a:tc>
              </a:tr>
              <a:tr h="365760">
                <a:tc>
                  <a:txBody>
                    <a:bodyPr wrap="square"/>
                    <a:lstStyle/>
                    <a:p>
                      <a:pPr algn="l"/>
                      <a:r>
                        <a:rPr sz="1100" b="1" i="0">
                          <a:solidFill>
                            <a:srgbClr val="2B2B2B"/>
                          </a:solidFill>
                          <a:latin typeface="Arial"/>
                        </a:rPr>
                        <a:t>Cuatro segmentos</a:t>
                      </a:r>
                    </a:p>
                  </a:txBody>
                  <a:tcPr marL="64008" marR="64008" marT="27432" marB="27432" anchor="ctr">
                    <a:solidFill>
                      <a:srgbClr val="F2F3F5"/>
                    </a:solidFill>
                  </a:tcPr>
                </a:tc>
                <a:tc>
                  <a:txBody>
                    <a:bodyPr wrap="square"/>
                    <a:lstStyle/>
                    <a:p>
                      <a:pPr algn="ctr"/>
                      <a:r>
                        <a:rPr sz="1100" b="0" i="0">
                          <a:solidFill>
                            <a:srgbClr val="2B2B2B"/>
                          </a:solidFill>
                          <a:latin typeface="Arial"/>
                        </a:rPr>
                        <a:t>Medianas y mapa de calor</a:t>
                      </a:r>
                    </a:p>
                  </a:txBody>
                  <a:tcPr marL="64008" marR="64008" marT="27432" marB="27432" anchor="ctr">
                    <a:solidFill>
                      <a:srgbClr val="F2F3F5"/>
                    </a:solidFill>
                  </a:tcPr>
                </a:tc>
                <a:tc>
                  <a:txBody>
                    <a:bodyPr wrap="square"/>
                    <a:lstStyle/>
                    <a:p>
                      <a:pPr algn="ctr"/>
                      <a:r>
                        <a:rPr sz="1100" b="0" i="0">
                          <a:solidFill>
                            <a:srgbClr val="2B2B2B"/>
                          </a:solidFill>
                          <a:latin typeface="Arial"/>
                        </a:rPr>
                        <a:t>2 770 · 1 297 · 2 438 · 2 444</a:t>
                      </a:r>
                    </a:p>
                  </a:txBody>
                  <a:tcPr marL="64008" marR="64008" marT="27432" marB="27432" anchor="ctr">
                    <a:solidFill>
                      <a:srgbClr val="F2F3F5"/>
                    </a:solidFill>
                  </a:tcPr>
                </a:tc>
              </a:tr>
              <a:tr h="365760">
                <a:tc>
                  <a:txBody>
                    <a:bodyPr wrap="square"/>
                    <a:lstStyle/>
                    <a:p>
                      <a:pPr algn="l"/>
                      <a:r>
                        <a:rPr sz="1100" b="1" i="0">
                          <a:solidFill>
                            <a:srgbClr val="2B2B2B"/>
                          </a:solidFill>
                          <a:latin typeface="Arial"/>
                        </a:rPr>
                        <a:t>Línea base y linkage</a:t>
                      </a:r>
                    </a:p>
                  </a:txBody>
                  <a:tcPr marL="64008" marR="64008" marT="27432" marB="27432" anchor="ctr">
                    <a:solidFill>
                      <a:srgbClr val="FFFFFF"/>
                    </a:solidFill>
                  </a:tcPr>
                </a:tc>
                <a:tc>
                  <a:txBody>
                    <a:bodyPr wrap="square"/>
                    <a:lstStyle/>
                    <a:p>
                      <a:pPr algn="ctr"/>
                      <a:r>
                        <a:rPr sz="1100" b="0" i="0">
                          <a:solidFill>
                            <a:srgbClr val="2B2B2B"/>
                          </a:solidFill>
                          <a:latin typeface="Arial"/>
                        </a:rPr>
                        <a:t>Dos tablas de comparación</a:t>
                      </a:r>
                    </a:p>
                  </a:txBody>
                  <a:tcPr marL="64008" marR="64008" marT="27432" marB="27432" anchor="ctr">
                    <a:solidFill>
                      <a:srgbClr val="FFFFFF"/>
                    </a:solidFill>
                  </a:tcPr>
                </a:tc>
                <a:tc>
                  <a:txBody>
                    <a:bodyPr wrap="square"/>
                    <a:lstStyle/>
                    <a:p>
                      <a:pPr algn="ctr"/>
                      <a:r>
                        <a:rPr sz="1100" b="0" i="0">
                          <a:solidFill>
                            <a:srgbClr val="2B2B2B"/>
                          </a:solidFill>
                          <a:latin typeface="Arial"/>
                        </a:rPr>
                        <a:t>0,135 · Ward ARI 0,53</a:t>
                      </a:r>
                    </a:p>
                  </a:txBody>
                  <a:tcPr marL="64008" marR="64008" marT="27432" marB="27432" anchor="ctr">
                    <a:solidFill>
                      <a:srgbClr val="FFFFFF"/>
                    </a:solidFill>
                  </a:tcPr>
                </a:tc>
              </a:tr>
            </a:tbl>
          </a:graphicData>
        </a:graphic>
      </p:graphicFrame>
      <p:sp>
        <p:nvSpPr>
          <p:cNvPr id="4" name="Rounded Rectangle 3"/>
          <p:cNvSpPr/>
          <p:nvPr/>
        </p:nvSpPr>
        <p:spPr>
          <a:xfrm>
            <a:off x="731520" y="502920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Su rol con el agente de IA</a:t>
            </a:r>
          </a:p>
          <a:p>
            <a:pPr algn="ctr">
              <a:spcAft>
                <a:spcPts val="300"/>
              </a:spcAft>
            </a:pPr>
            <a:r>
              <a:rPr sz="1150" b="0" i="0">
                <a:solidFill>
                  <a:srgbClr val="FFFFFF"/>
                </a:solidFill>
                <a:latin typeface="Arial"/>
              </a:rPr>
              <a:t>Pidan que explique cada línea y verifiquen los números. Si un resultado no coincide con lo calculado a mano, pregunten por qué.</a:t>
            </a:r>
          </a:p>
        </p:txBody>
      </p:sp>
    </p:spTree>
  </p:cSld>
  <p:clrMapOvr>
    <a:masterClrMapping/>
  </p:clrMapOvr>
</p:sld>
</file>

<file path=ppt/theme/theme1.xml><?xml version="1.0" encoding="utf-8"?>
<a:theme xmlns:a="http://schemas.openxmlformats.org/drawingml/2006/main" name="Tema de Office">
  <a:themeElements>
    <a:clrScheme name="Elemental">
      <a:dk1>
        <a:srgbClr val="000000"/>
      </a:dk1>
      <a:lt1>
        <a:srgbClr val="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45</Words>
  <Application>Microsoft Office PowerPoint</Application>
  <PresentationFormat>Presentación en pantalla (4:3)</PresentationFormat>
  <Paragraphs>4</Paragraphs>
  <Slides>3</Slides>
  <Notes>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vt:i4>
      </vt:variant>
    </vt:vector>
  </HeadingPairs>
  <TitlesOfParts>
    <vt:vector size="6" baseType="lpstr">
      <vt:lpstr>Arial</vt:lpstr>
      <vt:lpstr>Verdana</vt:lpstr>
      <vt:lpstr>Tema de Office</vt:lpstr>
      <vt:lpstr>Nombre del curso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CURSO</dc:title>
  <dc:creator>Cristhian Castillo</dc:creator>
  <cp:lastModifiedBy>CRISTHIAN PATRICIO CASTILLO MARTINEZ</cp:lastModifiedBy>
  <cp:revision>20</cp:revision>
  <dcterms:created xsi:type="dcterms:W3CDTF">2016-01-08T19:37:53Z</dcterms:created>
  <dcterms:modified xsi:type="dcterms:W3CDTF">2025-06-20T21:34:20Z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9D330DD4-BC3D-40FB-B4DD-0656CB3809F6</vt:lpwstr>
  </property>
  <property fmtid="{D5CDD505-2E9C-101B-9397-08002B2CF9AE}" pid="3" name="ArticulatePath">
    <vt:lpwstr>Presentación1</vt:lpwstr>
  </property>
</Properties>
</file>