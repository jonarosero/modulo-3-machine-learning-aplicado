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handoutMasters/handoutMaster1.xml" ContentType="application/vnd.openxmlformats-officedocument.presentationml.handoutMaster+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
  </p:notesMasterIdLst>
  <p:handoutMasterIdLst>
    <p:handoutMasterId r:id="rId6"/>
  </p:handoutMasterIdLst>
  <p:sldIdLst>
    <p:sldId id="256" r:id="rId2"/>
    <p:sldId id="257" r:id="rId8"/>
    <p:sldId id="258" r:id="rId7"/>
    <p:sldId id="259" r:id="rId4"/>
    <p:sldId id="260" r:id="rId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 roundtripDataSignature="AMtx7mj3cbRC9Ql1GxZ1vbtqfmyQYJzC9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22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1746" y="96"/>
      </p:cViewPr>
      <p:guideLst>
        <p:guide orient="horz" pos="2160"/>
        <p:guide pos="2880"/>
      </p:guideLst>
    </p:cSldViewPr>
  </p:slideViewPr>
  <p:notesTextViewPr>
    <p:cViewPr>
      <p:scale>
        <a:sx n="1" d="1"/>
        <a:sy n="1" d="1"/>
      </p:scale>
      <p:origin x="0" y="0"/>
    </p:cViewPr>
  </p:notesTextViewPr>
  <p:notesViewPr>
    <p:cSldViewPr snapToGrid="0">
      <p:cViewPr varScale="1">
        <p:scale>
          <a:sx n="86" d="100"/>
          <a:sy n="86" d="100"/>
        </p:scale>
        <p:origin x="3864"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5.xml"/><Relationship Id="rId4"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slide" Target="slides/slide3.xml"/><Relationship Id="rId8" Type="http://schemas.openxmlformats.org/officeDocument/2006/relationships/slide" Target="slides/slide2.xml"/><Relationship Id="rId9" Type="http://customschemas.google.com/relationships/presentationmetadata" Target="metadata"/><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242852"/>
                </a:solidFill>
              </a:rPr>
              <a:t>Filas completas por país (127 en total)</a:t>
            </a:r>
          </a:p>
        </c:rich>
      </c:tx>
      <c:layout/>
      <c:overlay val="0"/>
    </c:title>
    <c:autoTitleDeleted val="0"/>
    <c:plotArea>
      <c:barChart>
        <c:barDir val="bar"/>
        <c:grouping val="clustered"/>
        <c:varyColors val="0"/>
        <c:ser>
          <c:idx val="0"/>
          <c:order val="0"/>
          <c:tx>
            <c:strRef>
              <c:f>Sheet1!$B$1</c:f>
              <c:strCache>
                <c:ptCount val="1"/>
                <c:pt idx="0">
                  <c:v>serie</c:v>
                </c:pt>
              </c:strCache>
            </c:strRef>
          </c:tx>
          <c:spPr>
            <a:solidFill>
              <a:srgbClr val="3D5A99"/>
            </a:solidFill>
          </c:spPr>
          <c:dPt>
            <c:idx val="0"/>
            <c:spPr>
              <a:solidFill>
                <a:srgbClr val="D7263D"/>
              </a:solidFill>
            </c:spPr>
          </c:dPt>
          <c:dPt>
            <c:idx val="1"/>
            <c:spPr>
              <a:solidFill>
                <a:srgbClr val="3D5A99"/>
              </a:solidFill>
            </c:spPr>
          </c:dPt>
          <c:dPt>
            <c:idx val="2"/>
            <c:spPr>
              <a:solidFill>
                <a:srgbClr val="3D5A99"/>
              </a:solidFill>
            </c:spPr>
          </c:dPt>
          <c:dPt>
            <c:idx val="3"/>
            <c:spPr>
              <a:solidFill>
                <a:srgbClr val="3D5A99"/>
              </a:solidFill>
            </c:spPr>
          </c:dPt>
          <c:dPt>
            <c:idx val="4"/>
            <c:spPr>
              <a:solidFill>
                <a:srgbClr val="3D5A99"/>
              </a:solidFill>
            </c:spPr>
          </c:dPt>
          <c:dPt>
            <c:idx val="5"/>
            <c:spPr>
              <a:solidFill>
                <a:srgbClr val="3D5A99"/>
              </a:solidFill>
            </c:spPr>
          </c:dPt>
          <c:dPt>
            <c:idx val="6"/>
            <c:spPr>
              <a:solidFill>
                <a:srgbClr val="3D5A99"/>
              </a:solidFill>
            </c:spPr>
          </c:dPt>
          <c:cat>
            <c:strRef>
              <c:f>Sheet1!$A$2:$A$8</c:f>
              <c:strCache>
                <c:ptCount val="7"/>
                <c:pt idx="0">
                  <c:v>Argentina</c:v>
                </c:pt>
                <c:pt idx="1">
                  <c:v>Perú</c:v>
                </c:pt>
                <c:pt idx="2">
                  <c:v>México</c:v>
                </c:pt>
                <c:pt idx="3">
                  <c:v>Ecuador</c:v>
                </c:pt>
                <c:pt idx="4">
                  <c:v>Colombia</c:v>
                </c:pt>
                <c:pt idx="5">
                  <c:v>Chile</c:v>
                </c:pt>
                <c:pt idx="6">
                  <c:v>Brasil</c:v>
                </c:pt>
              </c:strCache>
            </c:strRef>
          </c:cat>
          <c:val>
            <c:numRef>
              <c:f>Sheet1!$B$2:$B$8</c:f>
              <c:numCache>
                <c:formatCode>General</c:formatCode>
                <c:ptCount val="7"/>
                <c:pt idx="0">
                  <c:v>7</c:v>
                </c:pt>
                <c:pt idx="1">
                  <c:v>20</c:v>
                </c:pt>
                <c:pt idx="2">
                  <c:v>20</c:v>
                </c:pt>
                <c:pt idx="3">
                  <c:v>20</c:v>
                </c:pt>
                <c:pt idx="4">
                  <c:v>20</c:v>
                </c:pt>
                <c:pt idx="5">
                  <c:v>20</c:v>
                </c:pt>
                <c:pt idx="6">
                  <c:v>20</c:v>
                </c:pt>
              </c:numCache>
            </c:numRef>
          </c:val>
        </c:ser>
        <c:dLbls>
          <c:numFmt formatCode="0" sourceLinked="0"/>
          <c:txPr>
            <a:bodyPr/>
            <a:lstStyle/>
            <a:p>
              <a:pPr>
                <a:defRPr sz="1100">
                  <a:solidFill>
                    <a:srgbClr val="2B2B2B"/>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low"/>
        <c:spPr>
          <a:ln>
            <a:solidFill>
              <a:srgbClr val="BFC3C9"/>
            </a:solidFill>
          </a:ln>
        </c:spPr>
        <c:txPr>
          <a:bodyPr/>
          <a:lstStyle/>
          <a:p>
            <a:pPr>
              <a:defRPr sz="1100"/>
            </a:pPr>
          </a:p>
        </c:txPr>
        <c:crossAx val="-2113994440"/>
        <c:crosses val="autoZero"/>
        <c:auto val="1"/>
        <c:lblAlgn val="ctr"/>
        <c:lblOffset val="100"/>
        <c:noMultiLvlLbl val="0"/>
      </c:catAx>
      <c:valAx>
        <c:axId val="-2113994440"/>
        <c:scaling>
          <c:max val="25.0"/>
          <c:min val="0.0"/>
        </c:scaling>
        <c:delete val="0"/>
        <c:axPos val="b"/>
        <c:majorGridlines>
          <c:spPr>
            <a:ln>
              <a:solidFill>
                <a:srgbClr val="E3E5E8"/>
              </a:solidFill>
            </a:ln>
          </c:spPr>
        </c:majorGridlines>
        <c:majorTickMark val="out"/>
        <c:minorTickMark val="none"/>
        <c:tickLblPos val="nextTo"/>
        <c:spPr>
          <a:ln>
            <a:noFill/>
          </a:ln>
        </c:spPr>
        <c:txPr>
          <a:bodyPr/>
          <a:lstStyle/>
          <a:p>
            <a:pPr>
              <a:defRPr sz="1000">
                <a:solidFill>
                  <a:srgbClr val="5F6368"/>
                </a:solidFill>
              </a:defRPr>
            </a:pPr>
          </a:p>
        </c:txPr>
        <c:crossAx val="-2068027336"/>
        <c:crosses val="autoZero"/>
      </c:valAx>
    </c:plotArea>
    <c:dispBlanksAs val="gap"/>
  </c:chart>
  <c:txPr>
    <a:bodyPr/>
    <a:lstStyle/>
    <a:p>
      <a:pPr>
        <a:defRPr sz="1100">
          <a:solidFill>
            <a:srgbClr val="2B2B2B"/>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242852"/>
                </a:solidFill>
              </a:rPr>
              <a:t>MAE en cada vuelta (puntos porcentuales)</a:t>
            </a:r>
          </a:p>
        </c:rich>
      </c:tx>
      <c:layout/>
      <c:overlay val="0"/>
    </c:title>
    <c:autoTitleDeleted val="0"/>
    <c:plotArea>
      <c:barChart>
        <c:barDir val="col"/>
        <c:grouping val="clustered"/>
        <c:varyColors val="0"/>
        <c:ser>
          <c:idx val="0"/>
          <c:order val="0"/>
          <c:tx>
            <c:strRef>
              <c:f>Sheet1!$B$1</c:f>
              <c:strCache>
                <c:ptCount val="1"/>
                <c:pt idx="0">
                  <c:v>serie</c:v>
                </c:pt>
              </c:strCache>
            </c:strRef>
          </c:tx>
          <c:spPr>
            <a:solidFill>
              <a:srgbClr val="3D5A99"/>
            </a:solidFill>
          </c:spPr>
          <c:dPt>
            <c:idx val="0"/>
            <c:spPr>
              <a:solidFill>
                <a:srgbClr val="3D5A99"/>
              </a:solidFill>
            </c:spPr>
          </c:dPt>
          <c:dPt>
            <c:idx val="1"/>
            <c:spPr>
              <a:solidFill>
                <a:srgbClr val="3D5A99"/>
              </a:solidFill>
            </c:spPr>
          </c:dPt>
          <c:dPt>
            <c:idx val="2"/>
            <c:spPr>
              <a:solidFill>
                <a:srgbClr val="3D5A99"/>
              </a:solidFill>
            </c:spPr>
          </c:dPt>
          <c:dPt>
            <c:idx val="3"/>
            <c:spPr>
              <a:solidFill>
                <a:srgbClr val="3D5A99"/>
              </a:solidFill>
            </c:spPr>
          </c:dPt>
          <c:dPt>
            <c:idx val="4"/>
            <c:spPr>
              <a:solidFill>
                <a:srgbClr val="3D5A99"/>
              </a:solidFill>
            </c:spPr>
          </c:dPt>
          <c:cat>
            <c:strRef>
              <c:f>Sheet1!$A$2:$A$6</c:f>
              <c:strCache>
                <c:ptCount val="5"/>
                <c:pt idx="0">
                  <c:v>Vuelta 1</c:v>
                </c:pt>
                <c:pt idx="1">
                  <c:v>Vuelta 2</c:v>
                </c:pt>
                <c:pt idx="2">
                  <c:v>Vuelta 3</c:v>
                </c:pt>
                <c:pt idx="3">
                  <c:v>Vuelta 4</c:v>
                </c:pt>
                <c:pt idx="4">
                  <c:v>Vuelta 5</c:v>
                </c:pt>
              </c:strCache>
            </c:strRef>
          </c:cat>
          <c:val>
            <c:numRef>
              <c:f>Sheet1!$B$2:$B$6</c:f>
              <c:numCache>
                <c:formatCode>General</c:formatCode>
                <c:ptCount val="5"/>
                <c:pt idx="0">
                  <c:v>2.735</c:v>
                </c:pt>
                <c:pt idx="1">
                  <c:v>3.466</c:v>
                </c:pt>
                <c:pt idx="2">
                  <c:v>2.704</c:v>
                </c:pt>
                <c:pt idx="3">
                  <c:v>3.586</c:v>
                </c:pt>
                <c:pt idx="4">
                  <c:v>3.051</c:v>
                </c:pt>
              </c:numCache>
            </c:numRef>
          </c:val>
        </c:ser>
        <c:dLbls>
          <c:numFmt formatCode="0.00" sourceLinked="0"/>
          <c:txPr>
            <a:bodyPr/>
            <a:lstStyle/>
            <a:p>
              <a:pPr>
                <a:defRPr sz="1100">
                  <a:solidFill>
                    <a:srgbClr val="2B2B2B"/>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FC3C9"/>
            </a:solidFill>
          </a:ln>
        </c:spPr>
        <c:txPr>
          <a:bodyPr/>
          <a:lstStyle/>
          <a:p>
            <a:pPr>
              <a:defRPr sz="1100"/>
            </a:pPr>
          </a:p>
        </c:txPr>
        <c:crossAx val="-2113994440"/>
        <c:crosses val="autoZero"/>
        <c:auto val="1"/>
        <c:lblAlgn val="ctr"/>
        <c:lblOffset val="100"/>
        <c:noMultiLvlLbl val="0"/>
      </c:catAx>
      <c:valAx>
        <c:axId val="-2113994440"/>
        <c:scaling>
          <c:max val="4.5"/>
          <c:min val="0.0"/>
        </c:scaling>
        <c:delete val="0"/>
        <c:axPos val="l"/>
        <c:majorGridlines>
          <c:spPr>
            <a:ln>
              <a:solidFill>
                <a:srgbClr val="E3E5E8"/>
              </a:solidFill>
            </a:ln>
          </c:spPr>
        </c:majorGridlines>
        <c:majorTickMark val="out"/>
        <c:minorTickMark val="none"/>
        <c:tickLblPos val="nextTo"/>
        <c:spPr>
          <a:ln>
            <a:noFill/>
          </a:ln>
        </c:spPr>
        <c:txPr>
          <a:bodyPr/>
          <a:lstStyle/>
          <a:p>
            <a:pPr>
              <a:defRPr sz="1000">
                <a:solidFill>
                  <a:srgbClr val="5F6368"/>
                </a:solidFill>
              </a:defRPr>
            </a:pPr>
          </a:p>
        </c:txPr>
        <c:crossAx val="-2068027336"/>
        <c:crosses val="autoZero"/>
      </c:valAx>
    </c:plotArea>
    <c:dispBlanksAs val="gap"/>
  </c:chart>
  <c:txPr>
    <a:bodyPr/>
    <a:lstStyle/>
    <a:p>
      <a:pPr>
        <a:defRPr sz="1100">
          <a:solidFill>
            <a:srgbClr val="2B2B2B"/>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242852"/>
                </a:solidFill>
              </a:rPr>
              <a:t>MAE promedio en K-Fold (USD, menor es mejor)</a:t>
            </a:r>
          </a:p>
        </c:rich>
      </c:tx>
      <c:layout/>
      <c:overlay val="0"/>
    </c:title>
    <c:autoTitleDeleted val="0"/>
    <c:plotArea>
      <c:barChart>
        <c:barDir val="bar"/>
        <c:grouping val="clustered"/>
        <c:varyColors val="0"/>
        <c:ser>
          <c:idx val="0"/>
          <c:order val="0"/>
          <c:tx>
            <c:strRef>
              <c:f>Sheet1!$B$1</c:f>
              <c:strCache>
                <c:ptCount val="1"/>
                <c:pt idx="0">
                  <c:v>serie</c:v>
                </c:pt>
              </c:strCache>
            </c:strRef>
          </c:tx>
          <c:spPr>
            <a:solidFill>
              <a:srgbClr val="3D5A99"/>
            </a:solidFill>
          </c:spPr>
          <c:dPt>
            <c:idx val="0"/>
            <c:spPr>
              <a:solidFill>
                <a:srgbClr val="2A9D8F"/>
              </a:solidFill>
            </c:spPr>
          </c:dPt>
          <c:dPt>
            <c:idx val="1"/>
            <c:spPr>
              <a:solidFill>
                <a:srgbClr val="242852"/>
              </a:solidFill>
            </c:spPr>
          </c:dPt>
          <c:cat>
            <c:strRef>
              <c:f>Sheet1!$A$2:$A$3</c:f>
              <c:strCache>
                <c:ptCount val="2"/>
                <c:pt idx="0">
                  <c:v>Árbol (prof. 4)</c:v>
                </c:pt>
                <c:pt idx="1">
                  <c:v>Regresión lineal</c:v>
                </c:pt>
              </c:strCache>
            </c:strRef>
          </c:cat>
          <c:val>
            <c:numRef>
              <c:f>Sheet1!$B$2:$B$3</c:f>
              <c:numCache>
                <c:formatCode>General</c:formatCode>
                <c:ptCount val="2"/>
                <c:pt idx="0">
                  <c:v>760</c:v>
                </c:pt>
                <c:pt idx="1">
                  <c:v>1400</c:v>
                </c:pt>
              </c:numCache>
            </c:numRef>
          </c:val>
        </c:ser>
        <c:dLbls>
          <c:numFmt formatCode="0" sourceLinked="0"/>
          <c:txPr>
            <a:bodyPr/>
            <a:lstStyle/>
            <a:p>
              <a:pPr>
                <a:defRPr sz="1100">
                  <a:solidFill>
                    <a:srgbClr val="2B2B2B"/>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low"/>
        <c:spPr>
          <a:ln>
            <a:solidFill>
              <a:srgbClr val="BFC3C9"/>
            </a:solidFill>
          </a:ln>
        </c:spPr>
        <c:txPr>
          <a:bodyPr/>
          <a:lstStyle/>
          <a:p>
            <a:pPr>
              <a:defRPr sz="1100"/>
            </a:pPr>
          </a:p>
        </c:txPr>
        <c:crossAx val="-2113994440"/>
        <c:crosses val="autoZero"/>
        <c:auto val="1"/>
        <c:lblAlgn val="ctr"/>
        <c:lblOffset val="100"/>
        <c:noMultiLvlLbl val="0"/>
      </c:catAx>
      <c:valAx>
        <c:axId val="-2113994440"/>
        <c:scaling>
          <c:max val="1700.0"/>
          <c:min val="0.0"/>
        </c:scaling>
        <c:delete val="0"/>
        <c:axPos val="b"/>
        <c:majorGridlines>
          <c:spPr>
            <a:ln>
              <a:solidFill>
                <a:srgbClr val="E3E5E8"/>
              </a:solidFill>
            </a:ln>
          </c:spPr>
        </c:majorGridlines>
        <c:majorTickMark val="out"/>
        <c:minorTickMark val="none"/>
        <c:tickLblPos val="nextTo"/>
        <c:spPr>
          <a:ln>
            <a:noFill/>
          </a:ln>
        </c:spPr>
        <c:txPr>
          <a:bodyPr/>
          <a:lstStyle/>
          <a:p>
            <a:pPr>
              <a:defRPr sz="1000">
                <a:solidFill>
                  <a:srgbClr val="5F6368"/>
                </a:solidFill>
              </a:defRPr>
            </a:pPr>
          </a:p>
        </c:txPr>
        <c:crossAx val="-2068027336"/>
        <c:crosses val="autoZero"/>
      </c:valAx>
    </c:plotArea>
    <c:dispBlanksAs val="gap"/>
  </c:chart>
  <c:txPr>
    <a:bodyPr/>
    <a:lstStyle/>
    <a:p>
      <a:pPr>
        <a:defRPr sz="1100">
          <a:solidFill>
            <a:srgbClr val="2B2B2B"/>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242852"/>
                </a:solidFill>
              </a:rPr>
              <a:t>R² promedio en K-Fold</a:t>
            </a:r>
          </a:p>
        </c:rich>
      </c:tx>
      <c:layout/>
      <c:overlay val="0"/>
    </c:title>
    <c:autoTitleDeleted val="0"/>
    <c:plotArea>
      <c:barChart>
        <c:barDir val="bar"/>
        <c:grouping val="clustered"/>
        <c:varyColors val="0"/>
        <c:ser>
          <c:idx val="0"/>
          <c:order val="0"/>
          <c:tx>
            <c:strRef>
              <c:f>Sheet1!$B$1</c:f>
              <c:strCache>
                <c:ptCount val="1"/>
                <c:pt idx="0">
                  <c:v>serie</c:v>
                </c:pt>
              </c:strCache>
            </c:strRef>
          </c:tx>
          <c:spPr>
            <a:solidFill>
              <a:srgbClr val="3D5A99"/>
            </a:solidFill>
          </c:spPr>
          <c:dPt>
            <c:idx val="0"/>
            <c:spPr>
              <a:solidFill>
                <a:srgbClr val="2A9D8F"/>
              </a:solidFill>
            </c:spPr>
          </c:dPt>
          <c:dPt>
            <c:idx val="1"/>
            <c:spPr>
              <a:solidFill>
                <a:srgbClr val="242852"/>
              </a:solidFill>
            </c:spPr>
          </c:dPt>
          <c:cat>
            <c:strRef>
              <c:f>Sheet1!$A$2:$A$3</c:f>
              <c:strCache>
                <c:ptCount val="2"/>
                <c:pt idx="0">
                  <c:v>Árbol (prof. 4)</c:v>
                </c:pt>
                <c:pt idx="1">
                  <c:v>Regresión lineal</c:v>
                </c:pt>
              </c:strCache>
            </c:strRef>
          </c:cat>
          <c:val>
            <c:numRef>
              <c:f>Sheet1!$B$2:$B$3</c:f>
              <c:numCache>
                <c:formatCode>General</c:formatCode>
                <c:ptCount val="2"/>
                <c:pt idx="0">
                  <c:v>0.856</c:v>
                </c:pt>
                <c:pt idx="1">
                  <c:v>0.688</c:v>
                </c:pt>
              </c:numCache>
            </c:numRef>
          </c:val>
        </c:ser>
        <c:dLbls>
          <c:numFmt formatCode="0.000" sourceLinked="0"/>
          <c:txPr>
            <a:bodyPr/>
            <a:lstStyle/>
            <a:p>
              <a:pPr>
                <a:defRPr sz="1100">
                  <a:solidFill>
                    <a:srgbClr val="2B2B2B"/>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low"/>
        <c:spPr>
          <a:ln>
            <a:solidFill>
              <a:srgbClr val="BFC3C9"/>
            </a:solidFill>
          </a:ln>
        </c:spPr>
        <c:txPr>
          <a:bodyPr/>
          <a:lstStyle/>
          <a:p>
            <a:pPr>
              <a:defRPr sz="1100"/>
            </a:pPr>
          </a:p>
        </c:txPr>
        <c:crossAx val="-2113994440"/>
        <c:crosses val="autoZero"/>
        <c:auto val="1"/>
        <c:lblAlgn val="ctr"/>
        <c:lblOffset val="100"/>
        <c:noMultiLvlLbl val="0"/>
      </c:catAx>
      <c:valAx>
        <c:axId val="-2113994440"/>
        <c:scaling>
          <c:max val="1.0"/>
          <c:min val="0.0"/>
        </c:scaling>
        <c:delete val="0"/>
        <c:axPos val="b"/>
        <c:majorGridlines>
          <c:spPr>
            <a:ln>
              <a:solidFill>
                <a:srgbClr val="E3E5E8"/>
              </a:solidFill>
            </a:ln>
          </c:spPr>
        </c:majorGridlines>
        <c:majorTickMark val="out"/>
        <c:minorTickMark val="none"/>
        <c:tickLblPos val="nextTo"/>
        <c:spPr>
          <a:ln>
            <a:noFill/>
          </a:ln>
        </c:spPr>
        <c:txPr>
          <a:bodyPr/>
          <a:lstStyle/>
          <a:p>
            <a:pPr>
              <a:defRPr sz="1000">
                <a:solidFill>
                  <a:srgbClr val="5F6368"/>
                </a:solidFill>
              </a:defRPr>
            </a:pPr>
          </a:p>
        </c:txPr>
        <c:crossAx val="-2068027336"/>
        <c:crosses val="autoZero"/>
      </c:valAx>
    </c:plotArea>
    <c:dispBlanksAs val="gap"/>
  </c:chart>
  <c:txPr>
    <a:bodyPr/>
    <a:lstStyle/>
    <a:p>
      <a:pPr>
        <a:defRPr sz="1100">
          <a:solidFill>
            <a:srgbClr val="2B2B2B"/>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242852"/>
                </a:solidFill>
              </a:rPr>
              <a:t>MAE en Validation (USD, menor es mejor)</a:t>
            </a:r>
          </a:p>
        </c:rich>
      </c:tx>
      <c:layout/>
      <c:overlay val="0"/>
    </c:title>
    <c:autoTitleDeleted val="0"/>
    <c:plotArea>
      <c:barChart>
        <c:barDir val="bar"/>
        <c:grouping val="clustered"/>
        <c:varyColors val="0"/>
        <c:ser>
          <c:idx val="0"/>
          <c:order val="0"/>
          <c:tx>
            <c:strRef>
              <c:f>Sheet1!$B$1</c:f>
              <c:strCache>
                <c:ptCount val="1"/>
                <c:pt idx="0">
                  <c:v>serie</c:v>
                </c:pt>
              </c:strCache>
            </c:strRef>
          </c:tx>
          <c:spPr>
            <a:solidFill>
              <a:srgbClr val="3D5A99"/>
            </a:solidFill>
          </c:spPr>
          <c:dPt>
            <c:idx val="0"/>
            <c:spPr>
              <a:solidFill>
                <a:srgbClr val="242852"/>
              </a:solidFill>
            </c:spPr>
          </c:dPt>
          <c:dPt>
            <c:idx val="1"/>
            <c:spPr>
              <a:solidFill>
                <a:srgbClr val="2A9D8F"/>
              </a:solidFill>
            </c:spPr>
          </c:dPt>
          <c:dPt>
            <c:idx val="2"/>
            <c:spPr>
              <a:solidFill>
                <a:srgbClr val="3D5A99"/>
              </a:solidFill>
            </c:spPr>
          </c:dPt>
          <c:cat>
            <c:strRef>
              <c:f>Sheet1!$A$2:$A$4</c:f>
              <c:strCache>
                <c:ptCount val="3"/>
                <c:pt idx="0">
                  <c:v>Regresión lineal</c:v>
                </c:pt>
                <c:pt idx="1">
                  <c:v>Árbol prof. 4</c:v>
                </c:pt>
                <c:pt idx="2">
                  <c:v>Random Forest</c:v>
                </c:pt>
              </c:strCache>
            </c:strRef>
          </c:cat>
          <c:val>
            <c:numRef>
              <c:f>Sheet1!$B$2:$B$4</c:f>
              <c:numCache>
                <c:formatCode>General</c:formatCode>
                <c:ptCount val="3"/>
                <c:pt idx="0">
                  <c:v>1347</c:v>
                </c:pt>
                <c:pt idx="1">
                  <c:v>772</c:v>
                </c:pt>
                <c:pt idx="2">
                  <c:v>710</c:v>
                </c:pt>
              </c:numCache>
            </c:numRef>
          </c:val>
        </c:ser>
        <c:dLbls>
          <c:numFmt formatCode="0" sourceLinked="0"/>
          <c:txPr>
            <a:bodyPr/>
            <a:lstStyle/>
            <a:p>
              <a:pPr>
                <a:defRPr sz="1100">
                  <a:solidFill>
                    <a:srgbClr val="2B2B2B"/>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low"/>
        <c:spPr>
          <a:ln>
            <a:solidFill>
              <a:srgbClr val="BFC3C9"/>
            </a:solidFill>
          </a:ln>
        </c:spPr>
        <c:txPr>
          <a:bodyPr/>
          <a:lstStyle/>
          <a:p>
            <a:pPr>
              <a:defRPr sz="1100"/>
            </a:pPr>
          </a:p>
        </c:txPr>
        <c:crossAx val="-2113994440"/>
        <c:crosses val="autoZero"/>
        <c:auto val="1"/>
        <c:lblAlgn val="ctr"/>
        <c:lblOffset val="100"/>
        <c:noMultiLvlLbl val="0"/>
      </c:catAx>
      <c:valAx>
        <c:axId val="-2113994440"/>
        <c:scaling>
          <c:max val="1600.0"/>
          <c:min val="0.0"/>
        </c:scaling>
        <c:delete val="0"/>
        <c:axPos val="b"/>
        <c:majorGridlines>
          <c:spPr>
            <a:ln>
              <a:solidFill>
                <a:srgbClr val="E3E5E8"/>
              </a:solidFill>
            </a:ln>
          </c:spPr>
        </c:majorGridlines>
        <c:majorTickMark val="out"/>
        <c:minorTickMark val="none"/>
        <c:tickLblPos val="nextTo"/>
        <c:spPr>
          <a:ln>
            <a:noFill/>
          </a:ln>
        </c:spPr>
        <c:txPr>
          <a:bodyPr/>
          <a:lstStyle/>
          <a:p>
            <a:pPr>
              <a:defRPr sz="1000">
                <a:solidFill>
                  <a:srgbClr val="5F6368"/>
                </a:solidFill>
              </a:defRPr>
            </a:pPr>
          </a:p>
        </c:txPr>
        <c:crossAx val="-2068027336"/>
        <c:crosses val="autoZero"/>
      </c:valAx>
    </c:plotArea>
    <c:dispBlanksAs val="gap"/>
  </c:chart>
  <c:txPr>
    <a:bodyPr/>
    <a:lstStyle/>
    <a:p>
      <a:pPr>
        <a:defRPr sz="1100">
          <a:solidFill>
            <a:srgbClr val="2B2B2B"/>
          </a:solidFill>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242852"/>
                </a:solidFill>
              </a:rPr>
              <a:t>Importancia en el Random Forest (suma 100 %)</a:t>
            </a:r>
          </a:p>
        </c:rich>
      </c:tx>
      <c:layout/>
      <c:overlay val="0"/>
    </c:title>
    <c:autoTitleDeleted val="0"/>
    <c:plotArea>
      <c:barChart>
        <c:barDir val="bar"/>
        <c:grouping val="clustered"/>
        <c:varyColors val="0"/>
        <c:ser>
          <c:idx val="0"/>
          <c:order val="0"/>
          <c:tx>
            <c:strRef>
              <c:f>Sheet1!$B$1</c:f>
              <c:strCache>
                <c:ptCount val="1"/>
                <c:pt idx="0">
                  <c:v>serie</c:v>
                </c:pt>
              </c:strCache>
            </c:strRef>
          </c:tx>
          <c:spPr>
            <a:solidFill>
              <a:srgbClr val="3D5A99"/>
            </a:solidFill>
          </c:spPr>
          <c:dPt>
            <c:idx val="0"/>
            <c:spPr>
              <a:solidFill>
                <a:srgbClr val="3D5A99"/>
              </a:solidFill>
            </c:spPr>
          </c:dPt>
          <c:dPt>
            <c:idx val="1"/>
            <c:spPr>
              <a:solidFill>
                <a:srgbClr val="3D5A99"/>
              </a:solidFill>
            </c:spPr>
          </c:dPt>
          <c:dPt>
            <c:idx val="2"/>
            <c:spPr>
              <a:solidFill>
                <a:srgbClr val="3D5A99"/>
              </a:solidFill>
            </c:spPr>
          </c:dPt>
          <c:dPt>
            <c:idx val="3"/>
            <c:spPr>
              <a:solidFill>
                <a:srgbClr val="3D5A99"/>
              </a:solidFill>
            </c:spPr>
          </c:dPt>
          <c:dPt>
            <c:idx val="4"/>
            <c:spPr>
              <a:solidFill>
                <a:srgbClr val="242852"/>
              </a:solidFill>
            </c:spPr>
          </c:dPt>
          <c:cat>
            <c:strRef>
              <c:f>Sheet1!$A$2:$A$6</c:f>
              <c:strCache>
                <c:ptCount val="5"/>
                <c:pt idx="0">
                  <c:v>Edad</c:v>
                </c:pt>
                <c:pt idx="1">
                  <c:v>Cambio Q4/Q1</c:v>
                </c:pt>
                <c:pt idx="2">
                  <c:v>Límite</c:v>
                </c:pt>
                <c:pt idx="3">
                  <c:v>Productos</c:v>
                </c:pt>
                <c:pt idx="4">
                  <c:v>Transacciones</c:v>
                </c:pt>
              </c:strCache>
            </c:strRef>
          </c:cat>
          <c:val>
            <c:numRef>
              <c:f>Sheet1!$B$2:$B$6</c:f>
              <c:numCache>
                <c:formatCode>General</c:formatCode>
                <c:ptCount val="5"/>
                <c:pt idx="0">
                  <c:v>0.009</c:v>
                </c:pt>
                <c:pt idx="1">
                  <c:v>0.019</c:v>
                </c:pt>
                <c:pt idx="2">
                  <c:v>0.028</c:v>
                </c:pt>
                <c:pt idx="3">
                  <c:v>0.031</c:v>
                </c:pt>
                <c:pt idx="4">
                  <c:v>0.913</c:v>
                </c:pt>
              </c:numCache>
            </c:numRef>
          </c:val>
        </c:ser>
        <c:dLbls>
          <c:numFmt formatCode="0.0%" sourceLinked="0"/>
          <c:txPr>
            <a:bodyPr/>
            <a:lstStyle/>
            <a:p>
              <a:pPr>
                <a:defRPr sz="1100">
                  <a:solidFill>
                    <a:srgbClr val="2B2B2B"/>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low"/>
        <c:spPr>
          <a:ln>
            <a:solidFill>
              <a:srgbClr val="BFC3C9"/>
            </a:solidFill>
          </a:ln>
        </c:spPr>
        <c:txPr>
          <a:bodyPr/>
          <a:lstStyle/>
          <a:p>
            <a:pPr>
              <a:defRPr sz="1100"/>
            </a:pPr>
          </a:p>
        </c:txPr>
        <c:crossAx val="-2113994440"/>
        <c:crosses val="autoZero"/>
        <c:auto val="1"/>
        <c:lblAlgn val="ctr"/>
        <c:lblOffset val="100"/>
        <c:noMultiLvlLbl val="0"/>
      </c:catAx>
      <c:valAx>
        <c:axId val="-2113994440"/>
        <c:scaling>
          <c:max val="1.05"/>
          <c:min val="0.0"/>
        </c:scaling>
        <c:delete val="0"/>
        <c:axPos val="b"/>
        <c:majorGridlines>
          <c:spPr>
            <a:ln>
              <a:solidFill>
                <a:srgbClr val="E3E5E8"/>
              </a:solidFill>
            </a:ln>
          </c:spPr>
        </c:majorGridlines>
        <c:majorTickMark val="out"/>
        <c:minorTickMark val="none"/>
        <c:tickLblPos val="nextTo"/>
        <c:spPr>
          <a:ln>
            <a:noFill/>
          </a:ln>
        </c:spPr>
        <c:txPr>
          <a:bodyPr/>
          <a:lstStyle/>
          <a:p>
            <a:pPr>
              <a:defRPr sz="1000">
                <a:solidFill>
                  <a:srgbClr val="5F6368"/>
                </a:solidFill>
              </a:defRPr>
            </a:pPr>
          </a:p>
        </c:txPr>
        <c:crossAx val="-2068027336"/>
        <c:crosses val="autoZero"/>
      </c:valAx>
    </c:plotArea>
    <c:dispBlanksAs val="gap"/>
  </c:chart>
  <c:txPr>
    <a:bodyPr/>
    <a:lstStyle/>
    <a:p>
      <a:pPr>
        <a:defRPr sz="1100">
          <a:solidFill>
            <a:srgbClr val="2B2B2B"/>
          </a:solidFill>
          <a:latin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1324507C-30A5-4F04-9BA9-BE73D73F195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a:extLst>
              <a:ext uri="{FF2B5EF4-FFF2-40B4-BE49-F238E27FC236}">
                <a16:creationId xmlns:a16="http://schemas.microsoft.com/office/drawing/2014/main" id="{12170012-4F66-4FAC-9ADB-574DFAC324C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EB90910-41EB-476D-8DC1-6DEA0FD5ECF8}" type="datetimeFigureOut">
              <a:rPr lang="es-419" smtClean="0"/>
              <a:t>20/6/2025</a:t>
            </a:fld>
            <a:endParaRPr lang="es-419"/>
          </a:p>
        </p:txBody>
      </p:sp>
      <p:sp>
        <p:nvSpPr>
          <p:cNvPr id="4" name="Marcador de pie de página 3">
            <a:extLst>
              <a:ext uri="{FF2B5EF4-FFF2-40B4-BE49-F238E27FC236}">
                <a16:creationId xmlns:a16="http://schemas.microsoft.com/office/drawing/2014/main" id="{6102F0BF-DE86-4431-9CB3-63269E04BD3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5" name="Marcador de número de diapositiva 4">
            <a:extLst>
              <a:ext uri="{FF2B5EF4-FFF2-40B4-BE49-F238E27FC236}">
                <a16:creationId xmlns:a16="http://schemas.microsoft.com/office/drawing/2014/main" id="{3B70F7B2-1CA3-4D60-817B-D850DB8F89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7AEBE30-BF0C-4669-8247-869FC8EEE18D}" type="slidenum">
              <a:rPr lang="es-419" smtClean="0"/>
              <a:t>‹Nº›</a:t>
            </a:fld>
            <a:endParaRPr lang="es-419"/>
          </a:p>
        </p:txBody>
      </p:sp>
    </p:spTree>
    <p:extLst>
      <p:ext uri="{BB962C8B-B14F-4D97-AF65-F5344CB8AC3E}">
        <p14:creationId xmlns:p14="http://schemas.microsoft.com/office/powerpoint/2010/main" val="33939461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Igual que el Día 1: todo se entiende a mano, sin código. En el notebook la computadora repetirá estas mismas cuentas con miles de operaciones.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Repaso rápido: la recta minimiza el SSE; las métricas miden el error; Train, Validation y Test separan aprender de evaluar; y un modelo puede subajustar o sobreajustar. Hoy aplicamos estas mismas ideas a modelos nuevos.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Datos reales de World Development Indicators, descargados previamente. Cada fila es un país en un año (país-año). Queremos predecir el crecimiento anual del PIB a partir de 5 indicadores. Es una práctica predictiva, no un pronóstico del futuro ni una afirmación causal.</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Hay 13 valores faltantes, todos en inflación y todos de Argentina entre 2005 y 2017. Rellenarlos con cero inventaría información (inflación 0 % en Argentina no es creíble). Decisión: conservar solo filas completas. Quedan 127 filas, pero Argentina queda con apenas 7 años: la muestra ya no representa igual a todos los países.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En un panel país-año las filas no son independientes: Ecuador 2019 se parece a Ecuador 2020. Si las repartimos al azar en Train y Validation, el modelo ve años vecinos del mismo país. Eso sirve para aprender el método, pero no mide el desempeño en un año futuro ni en un país nuevo.</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Partición 70/15/15: 88 Train, 19 Validation, 20 Test. Baseline: predecir siempre la media de Train (3.34 %). La regresión lineal múltiple casi no mejora al baseline en Validation: R² de −0.12 en ambos. Crecer o caer depende de crisis y shocks (2009, la pandemia de 2020) que una recta no captura bien.</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Con 19 filas de Validation, el resultado depende mucho de qué país-años cayeron ahí por azar. Si cae un 2020 (pandemia), el error sube; si no, baja. Es como evaluar a un estudiante con una sola pregunta: puede tener suerte o mala suerte.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Dividimos los datos de desarrollo (Train + Validation = 107 filas) en 5 bloques A–E. En cada vuelta, 4 bloques entrenan y 1 valida. Cada fila valida exactamente una vez y nunca entrena el modelo con el que se valida. Test sigue guardado y no participa.</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MAE por vuelta: 2.74, 3.47, 2.70, 3.59, 3.05. Promedio = 3.11 y desviación estándar = 0.41. La variación entre vueltas muestra cuánto depende el resultado de qué filas validan. El R² va de −0.38 a 0.17: según la vuelta, la recta es peor o un poco mejor que la media.</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Holdout: una sola Validation (19 filas). K-Fold: predicción fuera de muestra para las 107 filas de desarrollo. Después de evaluar, se reentrena el modelo con todo el desarrollo y se mide UNA vez en Test. K-Fold no es otro modelo: es otra forma de evaluar la misma regresión lineal.</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Un árbol hace preguntas del tipo ¿variable ≤ umbral? Cada respuesta lleva a una rama, hasta llegar a una hoja. En regresión, la hoja predice el PROMEDIO de y de las filas de Train que llegaron ahí. Es como un médico que hace preguntas para clasificar a un paciente.</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Datos didácticos de 8 observaciones con una sola variable para poder calcular todo. Sin ninguna pregunta, el árbol predice lo mismo para todos: la media 2.0. Su error total SST = Σ(y − ȳ)² = 9 + 4 + 1 + 4 + 4 + 9 + 1 + 4 = 36.</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Probamos el corte X ≤ 19.5. Izquierda: A, B, C, D con y = −1, 0, 1, 0 → promedio 0, SSE = 1 + 0 + 1 + 0 = 2. Derecha: E, F, G, H con y = 4, 5, 3, 4 → promedio 4, SSE = 0 + 1 + 1 + 0 = 2. SSE total = 4. Bajamos de 36 a 4: el corte explica 89 % de la variación.</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árbol prueba todos los umbrales candidatos: los puntos medios entre valores consecutivos de X. Para cada uno calcula el SSE izquierdo + derecho, como en la diapositiva anterior. Gana el corte con el menor SSE: X ≤ 19.5. Con varias variables, repite esto para cada variable y elige la mejor combinación variable-umbral.</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Repetimos el mismo procedimiento dentro de cada lado. Izquierda (A–D): el mejor corte con al menos 2 filas por hoja es X ≤ 16.5, con promedios −0.5 y 0.5. Derecha (E–H): X ≤ 22.5, con 4.5 y 3.5. SSE total = 1 + 1 = 2. Si seguimos hasta tener una fila por hoja, el SSE es 0: el árbol memorizó los datos.</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Con el panel del Banco Mundial (127 filas) un árbol termina creando hojas para un solo país-año. Para ver bien cómo trabaja un árbol necesitamos más observaciones. Usamos BankChurners: 10 127 clientes de tarjeta de crédito (Kaggle, a partir de LEAPS Analyttica) con su actividad transaccional, límite de crédito y relación con el banco. Objetivo: el monto que el cliente transó en 12 meses.</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Con una sola variable, el número de transacciones. La nube no es una recta: hasta unas 90 transacciones el monto sube despacio y luego salta a otro nivel. La recta pasa por el medio y se equivoca en ambos grupos (R² en Validation 0,64). El árbol de profundidad 3 forma 8 escalones que siguen los saltos (R² 0,80).</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Con dos variables podemos ver lo que hace el árbol: cada pregunta traza una línea vertical u horizontal y cada hoja es un rectángulo pintado con su promedio. Profundidad 1: una línea. 2 y 3: más líneas, todas verticales, porque el árbol prefiere preguntar por transacciones. Profundidad 6: 61 rectángulos, algunos muy estrechos alrededor de pocos clientes: así se ve el sobreajuste.</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Árbol entrenado con los 7 088 clientes de Train y las cinco variables. Raíz: ¿transacciones ≤ 93,5? En el segundo nivel vuelve a preguntar por transacciones; en el tercero aparecen productos y cambio Q4/Q1. Debajo de cada hoja: cuántos clientes llegaron y su promedio. La hoja más grande (3 102 clientes) predice 4 232 USD. Edad y límite no aparecen: no fueron las mejores preguntas.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Cliente de Validation: 34 transacciones, cambio Q4/Q1 0,31, 4 productos, 40 años, límite 23 981 USD. Ruta: ¿34 ≤ 93,5? sí. ¿34 ≤ 57,5? sí. ¿34 ≤ 38,5? sí. Llega a la hoja de 1 160 clientes: ŷ = 1 525 USD. Real: 1 421 USD. La recta predijo 1 466. Aquí los dos aciertan bastante; la diferencia está en los clientes con muchas transacciones.</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Mismo Train y misma Validation, las mismas cinco variables. El árbol de profundidad 3 baja el MAE de 1 347 a 840 USD en Validation y sube el R² de 0,68 a 0,82. Además, Train y Validation se parecen en ambos modelos: no hay brecha grande. Con muchos datos y una relación con saltos, las preguntas del árbol funcionan mejor que una sola fórmula.</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Parámetros: lo que el modelo aprende de los datos (en la recta b0 y b1; en el árbol, las preguntas, los umbrales y los promedios de las hojas). Hiperparámetros: lo que decidimos nosotros ANTES de entrenar. El árbol tiene tres que controlan cuánto puede crecer. Se eligen comparando en Validation o con K-Fold, nunca con Test.</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min_samples_split actúa ANTES del corte: decide si un nodo puede preguntar. min_samples_leaf actúa DESPUÉS: decide qué cortes son aceptables. Ejemplo: un nodo con 100 clientes. Con min_samples_split = 100 puede dividirse, incluso en 99 y 1. Con min_samples_leaf = 50, el corte 99 / 1 queda prohibido porque una hoja tendría menos de 50; solo valen cortes como 60 / 40.</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Árboles de profundidad 1 a 20, mismo Train y Validation. En Train el R² sube sin parar hasta 0,997. En Validation mejora hasta profundidad 5 (0,842) y luego empeora: con profundidad 20 baja a 0,718. Las hojas crecen muy rápido: 32 con profundidad 5 y 5 321 con profundidad 20.</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Ahora sin límite de profundidad y con un mínimo de clientes por hoja. Con 1 (por defecto) el árbol crea 7 080 hojas: casi una por cliente, R² Train 1,00 y Validation 0,724. Con 20 clientes por hoja quedan 272 hojas y Validation sube a 0,848, el mejor. Con 1 000 por hoja solo caben 5 hojas: subajuste, Validation 0,660.</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Sin límite de profundidad y con un mínimo de clientes para que un nodo pueda preguntar. Con 2 (por defecto) obtenemos el mismo árbol que memoriza (7 080 hojas). Con 100 quedan 166 hojas y Validation llega a 0,847. Con 2 000 solo quedan 6 hojas y vuelve a caer (0,791). El efecto se parece al de min_samples_leaf, pero los números no coinciden: uno actúa antes del corte y el otro después.</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Tres árboles con max_depth = 3. A: sin otros límites, 8 hojas, algunas pequeñas (80 clientes). B: además min_samples_leaf = 600: desaparecen los cortes que dejaban hojas pequeñas; quedan 5 hojas, todas con al menos 600 clientes. C: además min_samples_split = 4 000: los nodos con menos de 4 000 clientes ya no preguntan; el árbol se detiene en profundidad 2 con 3 hojas.</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Resumen con las cinco variables. Profundidad 1: errores altos en Train y Validation (subajuste). Profundidad 4: mejora en ambos y la brecha es pequeña. Sin límite: MAE de Train 0,7 USD (memoriza 7 080 hojas), pero en Validation es peor que el de profundidad 4: sobreajuste.</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Mismas 5 vueltas para ambos, sobre los 8 607 clientes de desarrollo (sin Test). Árbol con profundidad 4 y al menos 20 clientes por hoja. Recta: MAE promedio 1 400 ± 26 USD, R² 0,69. Árbol: MAE 760 ± 23 USD, R² 0,86. El árbol gana en las cinco vueltas, no solo en una Validation afortunada.</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Un árbol solo cambia mucho si cambian unas pocas filas de Train: es inestable (alta varianza). Random Forest entrena muchos árboles, cada uno con datos y variables un poco distintos, y promedia sus predicciones. Los errores individuales se compensan, como cuando promediamos las estimaciones de muchas personas.</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Para cada árbol sorteamos 8 filas de las 8 originales CON reemplazo: algunas salen repetidas y otras no salen. Las que no salen se llaman out-of-bag (OOB) y sirven para evaluar ese árbol. En promedio, cada muestra bootstrap deja fuera cerca de un tercio de las filas.</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Con cada muestra bootstrap repetimos el cálculo a mano (aquí, árboles de un solo corte). Árbol 1: corte en 19.5, hojas −0.25 y 4.0. Árbol 2: corte en 19.5, hojas 0.5 y 3.75. Árbol 3: como no tiene a C ni a E, su corte queda en 20.0, con hojas −0.33 y 4.2. Pequeños cambios en los datos cambian el árbol.</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Para X = 17, los tres árboles coinciden: −0.25, 0.50 y −0.33, promedio −0.03. Para X = 20, que está justo en la frontera, discrepan: el árbol 3 dice −0.33 (20 ≤ 20) y los otros dicen 4.0 y 3.75; el promedio es 2.47. Un árbol solo salta de 0 a 4; el bosque da una transición más suave cerca de la frontera.</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Además del bootstrap de filas, en cada corte cada árbol solo puede elegir entre un subconjunto aleatorio de variables. Así no todos los árboles empiezan preguntando por el número de transacciones, la variable más fuerte. Árboles más distintos entre sí = promedio más útil (menos correlación entre sus errores).</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n_estimators: cuántos árboles se promedian (100 en el notebook). max_depth y min_samples_leaf: los mismos controles del árbol, aplicados a cada árbol (8 y 5). Cada árbol puede ser más profundo que el árbol solo, porque el promedio compensa parte de su variabilidad. max_features: cuántas variables puede considerar cada corte. Más árboles casi nunca empeoran el resultado, solo tardan más.</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En Validation: regresión lineal MAE 1 347 USD, árbol de profundidad 4: 772, Random Forest: 710. El bosque mejora al árbol solo y a la recta, con una brecha pequeña: R² 0,912 en Train y 0,863 en Validation. Con muchos datos y una relación con saltos, la flexibilidad de árboles y bosques rinde.</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 importancia mide cuánto reduce el SSE cada variable, sumado en todos los cortes de todos los árboles, en proporción. El número de transacciones concentra 91 % de la reducción; productos (3,1 %), límite (2,8 %), cambio Q4/Q1 (1,9 %) y edad (0,9 %) aportan poco. Importancia predictiva no es causalidad ni dice la dirección del efecto.</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Resumen para cerrar la jornada.</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Todo lo que hicimos a mano lo repetiremos en el notebook del Día 2. Pidan al agente de IA que explique cada paso, y comprueben que los números coincidan con los de la presentación.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bg>
      <p:bgPr>
        <a:blipFill dpi="0" rotWithShape="1">
          <a:blip r:embed="rId2">
            <a:lum/>
          </a:blip>
          <a:srcRect/>
          <a:stretch>
            <a:fillRect/>
          </a:stretch>
        </a:blipFill>
        <a:effectLst/>
      </p:bgPr>
    </p:bg>
    <p:spTree>
      <p:nvGrpSpPr>
        <p:cNvPr id="1" name="Shape 8"/>
        <p:cNvGrpSpPr/>
        <p:nvPr/>
      </p:nvGrpSpPr>
      <p:grpSpPr>
        <a:xfrm>
          <a:off x="0" y="0"/>
          <a:ext cx="0" cy="0"/>
          <a:chOff x="0" y="0"/>
          <a:chExt cx="0" cy="0"/>
        </a:xfrm>
      </p:grpSpPr>
      <p:sp>
        <p:nvSpPr>
          <p:cNvPr id="9" name="Google Shape;9;p5"/>
          <p:cNvSpPr txBox="1">
            <a:spLocks noGrp="1"/>
          </p:cNvSpPr>
          <p:nvPr>
            <p:ph type="ctrTitle"/>
          </p:nvPr>
        </p:nvSpPr>
        <p:spPr>
          <a:xfrm>
            <a:off x="1187624" y="5013176"/>
            <a:ext cx="6768752" cy="864095"/>
          </a:xfrm>
          <a:prstGeom prst="rect">
            <a:avLst/>
          </a:prstGeom>
          <a:solidFill>
            <a:srgbClr val="1B1E3E">
              <a:alpha val="49019"/>
            </a:srgbClr>
          </a:solidFill>
          <a:ln>
            <a:noFill/>
          </a:ln>
        </p:spPr>
        <p:txBody>
          <a:bodyPr spcFirstLastPara="1" wrap="square" lIns="91425" tIns="45700" rIns="91425" bIns="45700" anchor="ctr" anchorCtr="0">
            <a:normAutofit/>
          </a:bodyPr>
          <a:lstStyle>
            <a:lvl1pPr lvl="0" algn="ctr">
              <a:spcBef>
                <a:spcPts val="0"/>
              </a:spcBef>
              <a:spcAft>
                <a:spcPts val="0"/>
              </a:spcAft>
              <a:buClr>
                <a:schemeClr val="lt1"/>
              </a:buClr>
              <a:buSzPts val="2400"/>
              <a:buFont typeface="Verdana"/>
              <a:buNone/>
              <a:defRPr sz="2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 name="Google Shape;10;p5"/>
          <p:cNvSpPr txBox="1">
            <a:spLocks noGrp="1"/>
          </p:cNvSpPr>
          <p:nvPr>
            <p:ph type="subTitle" idx="1"/>
          </p:nvPr>
        </p:nvSpPr>
        <p:spPr>
          <a:xfrm>
            <a:off x="0" y="5949280"/>
            <a:ext cx="3707904" cy="360040"/>
          </a:xfrm>
          <a:prstGeom prst="rect">
            <a:avLst/>
          </a:prstGeom>
          <a:noFill/>
          <a:ln>
            <a:noFill/>
          </a:ln>
        </p:spPr>
        <p:txBody>
          <a:bodyPr spcFirstLastPara="1" wrap="square" lIns="91425" tIns="45700" rIns="91425" bIns="45700" anchor="t" anchorCtr="0">
            <a:noAutofit/>
          </a:bodyPr>
          <a:lstStyle>
            <a:lvl1pPr lvl="0" algn="l">
              <a:spcBef>
                <a:spcPts val="240"/>
              </a:spcBef>
              <a:spcAft>
                <a:spcPts val="0"/>
              </a:spcAft>
              <a:buClr>
                <a:srgbClr val="D8D8D8"/>
              </a:buClr>
              <a:buSzPts val="1200"/>
              <a:buNone/>
              <a:defRPr sz="1200">
                <a:solidFill>
                  <a:srgbClr val="D8D8D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bg>
      <p:bgPr>
        <a:blipFill dpi="0" rotWithShape="1">
          <a:blip r:embed="rId2">
            <a:lum/>
          </a:blip>
          <a:srcRect/>
          <a:stretch>
            <a:fillRect/>
          </a:stretch>
        </a:blipFill>
        <a:effectLst/>
      </p:bgPr>
    </p:bg>
    <p:spTree>
      <p:nvGrpSpPr>
        <p:cNvPr id="1" name="Shape 11"/>
        <p:cNvGrpSpPr/>
        <p:nvPr/>
      </p:nvGrpSpPr>
      <p:grpSpPr>
        <a:xfrm>
          <a:off x="0" y="0"/>
          <a:ext cx="0" cy="0"/>
          <a:chOff x="0" y="0"/>
          <a:chExt cx="0" cy="0"/>
        </a:xfrm>
      </p:grpSpPr>
      <p:sp>
        <p:nvSpPr>
          <p:cNvPr id="12" name="Google Shape;12;p6"/>
          <p:cNvSpPr txBox="1">
            <a:spLocks noGrp="1"/>
          </p:cNvSpPr>
          <p:nvPr>
            <p:ph type="title"/>
          </p:nvPr>
        </p:nvSpPr>
        <p:spPr>
          <a:xfrm>
            <a:off x="467544" y="908720"/>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6"/>
          <p:cNvSpPr txBox="1">
            <a:spLocks noGrp="1"/>
          </p:cNvSpPr>
          <p:nvPr>
            <p:ph type="body" idx="1"/>
          </p:nvPr>
        </p:nvSpPr>
        <p:spPr>
          <a:xfrm>
            <a:off x="457200" y="2132856"/>
            <a:ext cx="8229600" cy="3993307"/>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os objetos" type="twoObj">
  <p:cSld name="TWO_OBJECTS">
    <p:bg>
      <p:bgPr>
        <a:blipFill dpi="0" rotWithShape="1">
          <a:blip r:embed="rId2">
            <a:lum/>
          </a:blip>
          <a:srcRect/>
          <a:stretch>
            <a:fillRect/>
          </a:stretch>
        </a:blipFill>
        <a:effectLst/>
      </p:bgPr>
    </p:bg>
    <p:spTree>
      <p:nvGrpSpPr>
        <p:cNvPr id="1" name="Shape 14"/>
        <p:cNvGrpSpPr/>
        <p:nvPr/>
      </p:nvGrpSpPr>
      <p:grpSpPr>
        <a:xfrm>
          <a:off x="0" y="0"/>
          <a:ext cx="0" cy="0"/>
          <a:chOff x="0" y="0"/>
          <a:chExt cx="0" cy="0"/>
        </a:xfrm>
      </p:grpSpPr>
      <p:sp>
        <p:nvSpPr>
          <p:cNvPr id="15" name="Google Shape;15;p7"/>
          <p:cNvSpPr txBox="1">
            <a:spLocks noGrp="1"/>
          </p:cNvSpPr>
          <p:nvPr>
            <p:ph type="title"/>
          </p:nvPr>
        </p:nvSpPr>
        <p:spPr>
          <a:xfrm>
            <a:off x="467544" y="908720"/>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7"/>
          <p:cNvSpPr txBox="1">
            <a:spLocks noGrp="1"/>
          </p:cNvSpPr>
          <p:nvPr>
            <p:ph type="body" idx="1"/>
          </p:nvPr>
        </p:nvSpPr>
        <p:spPr>
          <a:xfrm>
            <a:off x="457200" y="2060848"/>
            <a:ext cx="4038600" cy="4065315"/>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7" name="Google Shape;17;p7"/>
          <p:cNvSpPr txBox="1">
            <a:spLocks noGrp="1"/>
          </p:cNvSpPr>
          <p:nvPr>
            <p:ph type="body" idx="2"/>
          </p:nvPr>
        </p:nvSpPr>
        <p:spPr>
          <a:xfrm>
            <a:off x="4648200" y="2060848"/>
            <a:ext cx="4038600" cy="4065315"/>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bg>
      <p:bgPr>
        <a:blipFill dpi="0" rotWithShape="1">
          <a:blip r:embed="rId2">
            <a:lum/>
          </a:blip>
          <a:srcRect/>
          <a:stretch>
            <a:fillRect/>
          </a:stretch>
        </a:blipFill>
        <a:effectLst/>
      </p:bgPr>
    </p:bg>
    <p:spTree>
      <p:nvGrpSpPr>
        <p:cNvPr id="1" name="Shape 18"/>
        <p:cNvGrpSpPr/>
        <p:nvPr/>
      </p:nvGrpSpPr>
      <p:grpSpPr>
        <a:xfrm>
          <a:off x="0" y="0"/>
          <a:ext cx="0" cy="0"/>
          <a:chOff x="0" y="0"/>
          <a:chExt cx="0" cy="0"/>
        </a:xfrm>
      </p:grpSpPr>
      <p:sp>
        <p:nvSpPr>
          <p:cNvPr id="19" name="Google Shape;19;p8"/>
          <p:cNvSpPr txBox="1">
            <a:spLocks noGrp="1"/>
          </p:cNvSpPr>
          <p:nvPr>
            <p:ph type="title"/>
          </p:nvPr>
        </p:nvSpPr>
        <p:spPr>
          <a:xfrm>
            <a:off x="722313" y="4443189"/>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dk1"/>
              </a:buClr>
              <a:buSzPts val="3200"/>
              <a:buFont typeface="Verdana"/>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8"/>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bg>
      <p:bgPr>
        <a:blipFill dpi="0" rotWithShape="1">
          <a:blip r:embed="rId2">
            <a:lum/>
          </a:blip>
          <a:srcRect/>
          <a:stretch>
            <a:fillRect/>
          </a:stretch>
        </a:blipFill>
        <a:effectLst/>
      </p:bgPr>
    </p:bg>
    <p:spTree>
      <p:nvGrpSpPr>
        <p:cNvPr id="1" name="Shape 21"/>
        <p:cNvGrpSpPr/>
        <p:nvPr/>
      </p:nvGrpSpPr>
      <p:grpSpPr>
        <a:xfrm>
          <a:off x="0" y="0"/>
          <a:ext cx="0" cy="0"/>
          <a:chOff x="0" y="0"/>
          <a:chExt cx="0" cy="0"/>
        </a:xfrm>
      </p:grpSpPr>
      <p:sp>
        <p:nvSpPr>
          <p:cNvPr id="22" name="Google Shape;22;p9"/>
          <p:cNvSpPr txBox="1">
            <a:spLocks noGrp="1"/>
          </p:cNvSpPr>
          <p:nvPr>
            <p:ph type="title"/>
          </p:nvPr>
        </p:nvSpPr>
        <p:spPr>
          <a:xfrm>
            <a:off x="467544" y="908720"/>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3200"/>
              <a:buFont typeface="Verdana"/>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9"/>
          <p:cNvSpPr txBox="1">
            <a:spLocks noGrp="1"/>
          </p:cNvSpPr>
          <p:nvPr>
            <p:ph type="body" idx="1"/>
          </p:nvPr>
        </p:nvSpPr>
        <p:spPr>
          <a:xfrm>
            <a:off x="457200" y="2060848"/>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chemeClr val="dk1"/>
              </a:buClr>
              <a:buSzPts val="2000"/>
              <a:buNone/>
              <a:defRPr sz="20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24" name="Google Shape;24;p9"/>
          <p:cNvSpPr txBox="1">
            <a:spLocks noGrp="1"/>
          </p:cNvSpPr>
          <p:nvPr>
            <p:ph type="body" idx="2"/>
          </p:nvPr>
        </p:nvSpPr>
        <p:spPr>
          <a:xfrm>
            <a:off x="457200" y="2708919"/>
            <a:ext cx="4040188" cy="3417243"/>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25" name="Google Shape;25;p9"/>
          <p:cNvSpPr txBox="1">
            <a:spLocks noGrp="1"/>
          </p:cNvSpPr>
          <p:nvPr>
            <p:ph type="body" idx="3"/>
          </p:nvPr>
        </p:nvSpPr>
        <p:spPr>
          <a:xfrm>
            <a:off x="4645025" y="2060848"/>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chemeClr val="dk1"/>
              </a:buClr>
              <a:buSzPts val="2000"/>
              <a:buNone/>
              <a:defRPr sz="20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26" name="Google Shape;26;p9"/>
          <p:cNvSpPr txBox="1">
            <a:spLocks noGrp="1"/>
          </p:cNvSpPr>
          <p:nvPr>
            <p:ph type="body" idx="4"/>
          </p:nvPr>
        </p:nvSpPr>
        <p:spPr>
          <a:xfrm>
            <a:off x="4645025" y="2708919"/>
            <a:ext cx="4041775" cy="3417243"/>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ólo el título" type="titleOnly">
  <p:cSld name="TITLE_ONLY">
    <p:bg>
      <p:bgPr>
        <a:blipFill dpi="0" rotWithShape="1">
          <a:blip r:embed="rId2">
            <a:lum/>
          </a:blip>
          <a:srcRect/>
          <a:stretch>
            <a:fillRect/>
          </a:stretch>
        </a:blipFill>
        <a:effectLst/>
      </p:bgPr>
    </p:bg>
    <p:spTree>
      <p:nvGrpSpPr>
        <p:cNvPr id="1" name="Shape 27"/>
        <p:cNvGrpSpPr/>
        <p:nvPr/>
      </p:nvGrpSpPr>
      <p:grpSpPr>
        <a:xfrm>
          <a:off x="0" y="0"/>
          <a:ext cx="0" cy="0"/>
          <a:chOff x="0" y="0"/>
          <a:chExt cx="0" cy="0"/>
        </a:xfrm>
      </p:grpSpPr>
      <p:sp>
        <p:nvSpPr>
          <p:cNvPr id="28" name="Google Shape;28;p10"/>
          <p:cNvSpPr txBox="1">
            <a:spLocks noGrp="1"/>
          </p:cNvSpPr>
          <p:nvPr>
            <p:ph type="title"/>
          </p:nvPr>
        </p:nvSpPr>
        <p:spPr>
          <a:xfrm>
            <a:off x="467544" y="908720"/>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bg>
      <p:bgPr>
        <a:blipFill dpi="0" rotWithShape="1">
          <a:blip r:embed="rId2">
            <a:lum/>
          </a:blip>
          <a:srcRect/>
          <a:stretch>
            <a:fillRect/>
          </a:stretch>
        </a:blipFill>
        <a:effectLst/>
      </p:bgPr>
    </p:bg>
    <p:spTree>
      <p:nvGrpSpPr>
        <p:cNvPr id="1" name="Shape 2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bg>
      <p:bgPr>
        <a:blipFill dpi="0" rotWithShape="1">
          <a:blip r:embed="rId2">
            <a:lum/>
          </a:blip>
          <a:srcRect/>
          <a:stretch>
            <a:fillRect/>
          </a:stretch>
        </a:blipFill>
        <a:effectLst/>
      </p:bgPr>
    </p:bg>
    <p:spTree>
      <p:nvGrpSpPr>
        <p:cNvPr id="1" name="Shape 30"/>
        <p:cNvGrpSpPr/>
        <p:nvPr/>
      </p:nvGrpSpPr>
      <p:grpSpPr>
        <a:xfrm>
          <a:off x="0" y="0"/>
          <a:ext cx="0" cy="0"/>
          <a:chOff x="0" y="0"/>
          <a:chExt cx="0" cy="0"/>
        </a:xfrm>
      </p:grpSpPr>
      <p:sp>
        <p:nvSpPr>
          <p:cNvPr id="31" name="Google Shape;31;p12"/>
          <p:cNvSpPr txBox="1">
            <a:spLocks noGrp="1"/>
          </p:cNvSpPr>
          <p:nvPr>
            <p:ph type="title"/>
          </p:nvPr>
        </p:nvSpPr>
        <p:spPr>
          <a:xfrm>
            <a:off x="457200" y="980728"/>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2000"/>
              <a:buFont typeface="Verdana"/>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2"/>
          <p:cNvSpPr txBox="1">
            <a:spLocks noGrp="1"/>
          </p:cNvSpPr>
          <p:nvPr>
            <p:ph type="body" idx="1"/>
          </p:nvPr>
        </p:nvSpPr>
        <p:spPr>
          <a:xfrm>
            <a:off x="3575050" y="980728"/>
            <a:ext cx="5111750" cy="5145435"/>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33" name="Google Shape;33;p12"/>
          <p:cNvSpPr txBox="1">
            <a:spLocks noGrp="1"/>
          </p:cNvSpPr>
          <p:nvPr>
            <p:ph type="body" idx="2"/>
          </p:nvPr>
        </p:nvSpPr>
        <p:spPr>
          <a:xfrm>
            <a:off x="457200" y="2132856"/>
            <a:ext cx="3008313" cy="3993307"/>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bg>
      <p:bgPr>
        <a:blipFill dpi="0" rotWithShape="1">
          <a:blip r:embed="rId2">
            <a:lum/>
          </a:blip>
          <a:srcRect/>
          <a:stretch>
            <a:fillRect/>
          </a:stretch>
        </a:blipFill>
        <a:effectLst/>
      </p:bgPr>
    </p:bg>
    <p:spTree>
      <p:nvGrpSpPr>
        <p:cNvPr id="1" name="Shape 34"/>
        <p:cNvGrpSpPr/>
        <p:nvPr/>
      </p:nvGrpSpPr>
      <p:grpSpPr>
        <a:xfrm>
          <a:off x="0" y="0"/>
          <a:ext cx="0" cy="0"/>
          <a:chOff x="0" y="0"/>
          <a:chExt cx="0" cy="0"/>
        </a:xfrm>
      </p:grpSpPr>
      <p:sp>
        <p:nvSpPr>
          <p:cNvPr id="35" name="Google Shape;35;p13"/>
          <p:cNvSpPr txBox="1">
            <a:spLocks noGrp="1"/>
          </p:cNvSpPr>
          <p:nvPr>
            <p:ph type="title"/>
          </p:nvPr>
        </p:nvSpPr>
        <p:spPr>
          <a:xfrm>
            <a:off x="1792288" y="486916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1800"/>
              <a:buFont typeface="Verdana"/>
              <a:buNone/>
              <a:defRPr sz="18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3"/>
          <p:cNvSpPr>
            <a:spLocks noGrp="1"/>
          </p:cNvSpPr>
          <p:nvPr>
            <p:ph type="pic" idx="2"/>
          </p:nvPr>
        </p:nvSpPr>
        <p:spPr>
          <a:xfrm>
            <a:off x="1792288" y="908720"/>
            <a:ext cx="5486400" cy="3888432"/>
          </a:xfrm>
          <a:prstGeom prst="rect">
            <a:avLst/>
          </a:prstGeom>
          <a:noFill/>
          <a:ln>
            <a:noFill/>
          </a:ln>
        </p:spPr>
        <p:txBody>
          <a:bodyPr spcFirstLastPara="1" wrap="square" lIns="91425" tIns="45700" rIns="91425" bIns="45700" anchor="t" anchorCtr="0">
            <a:normAutofit/>
          </a:bodyPr>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Verdana"/>
                <a:ea typeface="Verdana"/>
                <a:cs typeface="Verdana"/>
                <a:sym typeface="Verdana"/>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Verdana"/>
                <a:ea typeface="Verdana"/>
                <a:cs typeface="Verdana"/>
                <a:sym typeface="Verdana"/>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Verdana"/>
                <a:ea typeface="Verdana"/>
                <a:cs typeface="Verdana"/>
                <a:sym typeface="Verdana"/>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Verdana"/>
                <a:ea typeface="Verdana"/>
                <a:cs typeface="Verdana"/>
                <a:sym typeface="Verdana"/>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Verdana"/>
                <a:ea typeface="Verdana"/>
                <a:cs typeface="Verdana"/>
                <a:sym typeface="Verdana"/>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Verdana"/>
                <a:ea typeface="Verdana"/>
                <a:cs typeface="Verdana"/>
                <a:sym typeface="Verdana"/>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Verdana"/>
                <a:ea typeface="Verdana"/>
                <a:cs typeface="Verdana"/>
                <a:sym typeface="Verdana"/>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Verdana"/>
                <a:ea typeface="Verdana"/>
                <a:cs typeface="Verdana"/>
                <a:sym typeface="Verdana"/>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Verdana"/>
                <a:ea typeface="Verdana"/>
                <a:cs typeface="Verdana"/>
                <a:sym typeface="Verdana"/>
              </a:defRPr>
            </a:lvl9pPr>
          </a:lstStyle>
          <a:p>
            <a:endParaRPr/>
          </a:p>
        </p:txBody>
      </p:sp>
      <p:sp>
        <p:nvSpPr>
          <p:cNvPr id="37" name="Google Shape;37;p13"/>
          <p:cNvSpPr txBox="1">
            <a:spLocks noGrp="1"/>
          </p:cNvSpPr>
          <p:nvPr>
            <p:ph type="body" idx="1"/>
          </p:nvPr>
        </p:nvSpPr>
        <p:spPr>
          <a:xfrm>
            <a:off x="1792288" y="5432450"/>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bg>
      <p:bgPr>
        <a:blipFill dpi="0" rotWithShape="1">
          <a:blip r:embed="rId2">
            <a:lum/>
          </a:blip>
          <a:srcRect/>
          <a:stretch>
            <a:fillRect/>
          </a:stretch>
        </a:blipFill>
        <a:effectLst/>
      </p:bgPr>
    </p:bg>
    <p:spTree>
      <p:nvGrpSpPr>
        <p:cNvPr id="1" name="Shape 38"/>
        <p:cNvGrpSpPr/>
        <p:nvPr/>
      </p:nvGrpSpPr>
      <p:grpSpPr>
        <a:xfrm>
          <a:off x="0" y="0"/>
          <a:ext cx="0" cy="0"/>
          <a:chOff x="0" y="0"/>
          <a:chExt cx="0" cy="0"/>
        </a:xfrm>
      </p:grpSpPr>
      <p:sp>
        <p:nvSpPr>
          <p:cNvPr id="39" name="Google Shape;39;p14"/>
          <p:cNvSpPr txBox="1">
            <a:spLocks noGrp="1"/>
          </p:cNvSpPr>
          <p:nvPr>
            <p:ph type="title"/>
          </p:nvPr>
        </p:nvSpPr>
        <p:spPr>
          <a:xfrm>
            <a:off x="467544" y="908720"/>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14"/>
          <p:cNvSpPr txBox="1">
            <a:spLocks noGrp="1"/>
          </p:cNvSpPr>
          <p:nvPr>
            <p:ph type="body" idx="1"/>
          </p:nvPr>
        </p:nvSpPr>
        <p:spPr>
          <a:xfrm rot="5400000">
            <a:off x="2575346" y="14710"/>
            <a:ext cx="3993307"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1" name="Google Shape;41;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bg>
      <p:bgPr>
        <a:blipFill dpi="0" rotWithShape="1">
          <a:blip r:embed="rId2">
            <a:lum/>
          </a:blip>
          <a:srcRect/>
          <a:stretch>
            <a:fillRect/>
          </a:stretch>
        </a:blipFill>
        <a:effectLst/>
      </p:bgPr>
    </p:bg>
    <p:spTree>
      <p:nvGrpSpPr>
        <p:cNvPr id="1" name="Shape 42"/>
        <p:cNvGrpSpPr/>
        <p:nvPr/>
      </p:nvGrpSpPr>
      <p:grpSpPr>
        <a:xfrm>
          <a:off x="0" y="0"/>
          <a:ext cx="0" cy="0"/>
          <a:chOff x="0" y="0"/>
          <a:chExt cx="0" cy="0"/>
        </a:xfrm>
      </p:grpSpPr>
      <p:sp>
        <p:nvSpPr>
          <p:cNvPr id="43" name="Google Shape;43;p15"/>
          <p:cNvSpPr txBox="1">
            <a:spLocks noGrp="1"/>
          </p:cNvSpPr>
          <p:nvPr>
            <p:ph type="title"/>
          </p:nvPr>
        </p:nvSpPr>
        <p:spPr>
          <a:xfrm rot="5400000">
            <a:off x="5085382" y="2524745"/>
            <a:ext cx="514543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15"/>
          <p:cNvSpPr txBox="1">
            <a:spLocks noGrp="1"/>
          </p:cNvSpPr>
          <p:nvPr>
            <p:ph type="body" idx="1"/>
          </p:nvPr>
        </p:nvSpPr>
        <p:spPr>
          <a:xfrm rot="5400000">
            <a:off x="894383" y="543546"/>
            <a:ext cx="514543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Shape 5"/>
        <p:cNvGrpSpPr/>
        <p:nvPr/>
      </p:nvGrpSpPr>
      <p:grpSpPr>
        <a:xfrm>
          <a:off x="0" y="0"/>
          <a:ext cx="0" cy="0"/>
          <a:chOff x="0" y="0"/>
          <a:chExt cx="0" cy="0"/>
        </a:xfrm>
      </p:grpSpPr>
      <p:sp>
        <p:nvSpPr>
          <p:cNvPr id="6" name="Google Shape;6;p4"/>
          <p:cNvSpPr txBox="1">
            <a:spLocks noGrp="1"/>
          </p:cNvSpPr>
          <p:nvPr>
            <p:ph type="title"/>
          </p:nvPr>
        </p:nvSpPr>
        <p:spPr>
          <a:xfrm>
            <a:off x="467544" y="908720"/>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3600"/>
              <a:buFont typeface="Verdana"/>
              <a:buNone/>
              <a:defRPr sz="3600" b="1" i="0" u="none" strike="noStrike" cap="none">
                <a:solidFill>
                  <a:schemeClr val="dk1"/>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4"/>
          <p:cNvSpPr txBox="1">
            <a:spLocks noGrp="1"/>
          </p:cNvSpPr>
          <p:nvPr>
            <p:ph type="body" idx="1"/>
          </p:nvPr>
        </p:nvSpPr>
        <p:spPr>
          <a:xfrm>
            <a:off x="457200" y="2132856"/>
            <a:ext cx="8229600" cy="3993307"/>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Verdana"/>
                <a:ea typeface="Verdana"/>
                <a:cs typeface="Verdana"/>
                <a:sym typeface="Verdana"/>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Verdana"/>
                <a:ea typeface="Verdana"/>
                <a:cs typeface="Verdana"/>
                <a:sym typeface="Verdana"/>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chart" Target="../charts/char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13.png"/><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chart" Target="../charts/chart3.xml"/><Relationship Id="rId4" Type="http://schemas.openxmlformats.org/officeDocument/2006/relationships/chart" Target="../charts/char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chart" Target="../charts/char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chart" Target="../charts/char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8"/>
        <p:cNvGrpSpPr/>
        <p:nvPr/>
      </p:nvGrpSpPr>
      <p:grpSpPr>
        <a:xfrm>
          <a:off x="0" y="0"/>
          <a:ext cx="0" cy="0"/>
          <a:chOff x="0" y="0"/>
          <a:chExt cx="0" cy="0"/>
        </a:xfrm>
      </p:grpSpPr>
      <p:sp>
        <p:nvSpPr>
          <p:cNvPr id="49" name="Google Shape;49;p1"/>
          <p:cNvSpPr txBox="1">
            <a:spLocks noGrp="1"/>
          </p:cNvSpPr>
          <p:nvPr>
            <p:ph type="ctrTitle"/>
          </p:nvPr>
        </p:nvSpPr>
        <p:spPr>
          <a:xfrm>
            <a:off x="368850" y="1972369"/>
            <a:ext cx="2957730" cy="223799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lt1"/>
              </a:buClr>
              <a:buSzPts val="2400"/>
              <a:buFont typeface="Verdana"/>
              <a:buNone/>
            </a:pPr>
            <a:r>
              <a:rPr lang="es-EC" sz="2600" dirty="0">
                <a:solidFill>
                  <a:srgbClr val="092240"/>
                </a:solidFill>
              </a:rPr>
              <a:t>Día 2 — Árboles de Regresión y Random Forest</a:t>
            </a:r>
            <a:endParaRPr sz="3600" dirty="0">
              <a:solidFill>
                <a:srgbClr val="092240"/>
              </a:solidFill>
            </a:endParaRPr>
          </a:p>
        </p:txBody>
      </p:sp>
      <p:sp>
        <p:nvSpPr>
          <p:cNvPr id="50" name="Google Shape;50;p1"/>
          <p:cNvSpPr txBox="1">
            <a:spLocks noGrp="1"/>
          </p:cNvSpPr>
          <p:nvPr>
            <p:ph type="subTitle" idx="1"/>
          </p:nvPr>
        </p:nvSpPr>
        <p:spPr>
          <a:xfrm>
            <a:off x="1472580" y="5451377"/>
            <a:ext cx="5000000" cy="85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D8D8D8"/>
              </a:buClr>
              <a:buSzPts val="1200"/>
              <a:buNone/>
            </a:pPr>
            <a:r>
              <a:rPr lang="es-EC" sz="2000" dirty="0">
                <a:solidFill>
                  <a:srgbClr val="595959"/>
                </a:solidFill>
              </a:rPr>
              <a:t>Módulo 3: Machine Learning Aplicado</a:t>
            </a:r>
          </a:p>
          <a:p>
            <a:r>
              <a:rPr sz="1800">
                <a:solidFill>
                  <a:srgbClr val="595959"/>
                </a:solidFill>
              </a:rPr>
              <a:t>14-10-2026 · Jonathan Rosero Soto</a:t>
            </a:r>
          </a:p>
        </p:txBody>
      </p:sp>
      <p:sp>
        <p:nvSpPr>
          <p:cNvPr id="2" name="Google Shape;49;p1">
            <a:extLst>
              <a:ext uri="{FF2B5EF4-FFF2-40B4-BE49-F238E27FC236}">
                <a16:creationId xmlns:a16="http://schemas.microsoft.com/office/drawing/2014/main" id="{A44FCFBF-4A46-52F2-39D4-3FA0ED93B6E0}"/>
              </a:ext>
            </a:extLst>
          </p:cNvPr>
          <p:cNvSpPr txBox="1">
            <a:spLocks/>
          </p:cNvSpPr>
          <p:nvPr/>
        </p:nvSpPr>
        <p:spPr>
          <a:xfrm>
            <a:off x="1402651" y="6219245"/>
            <a:ext cx="7192708" cy="47026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400"/>
              <a:buFont typeface="Verdana"/>
              <a:buNone/>
              <a:defRPr sz="2400" b="1" i="0" u="none" strike="noStrike" cap="none">
                <a:solidFill>
                  <a:schemeClr val="lt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s-ES" sz="1300" b="0" dirty="0">
                <a:solidFill>
                  <a:schemeClr val="bg1">
                    <a:lumMod val="50000"/>
                  </a:schemeClr>
                </a:solidFill>
              </a:rPr>
              <a:t>Edificio Aulas y Relación con el Medio Externo, Av. Toledo N23-55 y Madrid </a:t>
            </a:r>
          </a:p>
          <a:p>
            <a:r>
              <a:rPr lang="es-ES" sz="1300" b="0" dirty="0">
                <a:solidFill>
                  <a:schemeClr val="bg1">
                    <a:lumMod val="50000"/>
                  </a:schemeClr>
                </a:solidFill>
              </a:rPr>
              <a:t>Telf.: +593 2 2525766 - </a:t>
            </a:r>
            <a:r>
              <a:rPr lang="en-US" sz="1300" b="0" dirty="0">
                <a:solidFill>
                  <a:schemeClr val="bg1">
                    <a:lumMod val="50000"/>
                  </a:schemeClr>
                </a:solidFill>
              </a:rPr>
              <a:t>Ext: 102 / 125 / 143 / 120 / 127 -</a:t>
            </a:r>
            <a:r>
              <a:rPr lang="es-ES" sz="1300" b="0" dirty="0">
                <a:solidFill>
                  <a:schemeClr val="bg1">
                    <a:lumMod val="50000"/>
                  </a:schemeClr>
                </a:solidFill>
              </a:rPr>
              <a:t> www.cec-epn.edu.ec</a:t>
            </a:r>
            <a:endParaRPr lang="es-EC" sz="1300" b="0" dirty="0">
              <a:solidFill>
                <a:schemeClr val="bg1">
                  <a:lumMod val="50000"/>
                </a:schemeClr>
              </a:solidFill>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Ruta de la jornada</a:t>
            </a:r>
          </a:p>
        </p:txBody>
      </p:sp>
      <p:sp>
        <p:nvSpPr>
          <p:cNvPr id="3" name="Rounded Rectangle 2"/>
          <p:cNvSpPr/>
          <p:nvPr/>
        </p:nvSpPr>
        <p:spPr>
          <a:xfrm>
            <a:off x="731520" y="1965960"/>
            <a:ext cx="7772400" cy="713232"/>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Oval 3"/>
          <p:cNvSpPr/>
          <p:nvPr/>
        </p:nvSpPr>
        <p:spPr>
          <a:xfrm>
            <a:off x="868680" y="2093976"/>
            <a:ext cx="457200" cy="45720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500" b="1" i="0">
                <a:solidFill>
                  <a:srgbClr val="FFFFFF"/>
                </a:solidFill>
                <a:latin typeface="Arial"/>
              </a:rPr>
              <a:t>1</a:t>
            </a:r>
          </a:p>
        </p:txBody>
      </p:sp>
      <p:sp>
        <p:nvSpPr>
          <p:cNvPr id="5" name="TextBox 4"/>
          <p:cNvSpPr txBox="1"/>
          <p:nvPr/>
        </p:nvSpPr>
        <p:spPr>
          <a:xfrm>
            <a:off x="1463040" y="2011679"/>
            <a:ext cx="2926080" cy="621792"/>
          </a:xfrm>
          <a:prstGeom prst="rect">
            <a:avLst/>
          </a:prstGeom>
          <a:noFill/>
        </p:spPr>
        <p:txBody>
          <a:bodyPr wrap="square" anchor="ctr" lIns="36576" rIns="36576" tIns="36576" bIns="36576">
            <a:spAutoFit/>
          </a:bodyPr>
          <a:lstStyle/>
          <a:p>
            <a:pPr algn="l">
              <a:spcAft>
                <a:spcPts val="400"/>
              </a:spcAft>
            </a:pPr>
            <a:r>
              <a:rPr sz="1500" b="1" i="0">
                <a:solidFill>
                  <a:srgbClr val="242852"/>
                </a:solidFill>
                <a:latin typeface="Arial"/>
              </a:rPr>
              <a:t>Nuevo dataset y repaso</a:t>
            </a:r>
          </a:p>
        </p:txBody>
      </p:sp>
      <p:sp>
        <p:nvSpPr>
          <p:cNvPr id="6" name="TextBox 5"/>
          <p:cNvSpPr txBox="1"/>
          <p:nvPr/>
        </p:nvSpPr>
        <p:spPr>
          <a:xfrm>
            <a:off x="4389120" y="2011679"/>
            <a:ext cx="4023360" cy="621792"/>
          </a:xfrm>
          <a:prstGeom prst="rect">
            <a:avLst/>
          </a:prstGeom>
          <a:noFill/>
        </p:spPr>
        <p:txBody>
          <a:bodyPr wrap="square" anchor="ctr" lIns="36576" rIns="36576" tIns="36576" bIns="36576">
            <a:spAutoFit/>
          </a:bodyPr>
          <a:lstStyle/>
          <a:p>
            <a:pPr algn="l">
              <a:spcAft>
                <a:spcPts val="400"/>
              </a:spcAft>
            </a:pPr>
            <a:r>
              <a:rPr sz="1300" b="0" i="0">
                <a:solidFill>
                  <a:srgbClr val="2B2B2B"/>
                </a:solidFill>
                <a:latin typeface="Arial"/>
              </a:rPr>
              <a:t>Indicadores del Banco Mundial; limpieza y primer modelo lineal</a:t>
            </a:r>
          </a:p>
        </p:txBody>
      </p:sp>
      <p:sp>
        <p:nvSpPr>
          <p:cNvPr id="7" name="Rounded Rectangle 6"/>
          <p:cNvSpPr/>
          <p:nvPr/>
        </p:nvSpPr>
        <p:spPr>
          <a:xfrm>
            <a:off x="731520" y="2788920"/>
            <a:ext cx="7772400" cy="713232"/>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Oval 7"/>
          <p:cNvSpPr/>
          <p:nvPr/>
        </p:nvSpPr>
        <p:spPr>
          <a:xfrm>
            <a:off x="868680" y="2916936"/>
            <a:ext cx="457200" cy="45720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500" b="1" i="0">
                <a:solidFill>
                  <a:srgbClr val="FFFFFF"/>
                </a:solidFill>
                <a:latin typeface="Arial"/>
              </a:rPr>
              <a:t>2</a:t>
            </a:r>
          </a:p>
        </p:txBody>
      </p:sp>
      <p:sp>
        <p:nvSpPr>
          <p:cNvPr id="9" name="TextBox 8"/>
          <p:cNvSpPr txBox="1"/>
          <p:nvPr/>
        </p:nvSpPr>
        <p:spPr>
          <a:xfrm>
            <a:off x="1463040" y="2834639"/>
            <a:ext cx="2926080" cy="621792"/>
          </a:xfrm>
          <a:prstGeom prst="rect">
            <a:avLst/>
          </a:prstGeom>
          <a:noFill/>
        </p:spPr>
        <p:txBody>
          <a:bodyPr wrap="square" anchor="ctr" lIns="36576" rIns="36576" tIns="36576" bIns="36576">
            <a:spAutoFit/>
          </a:bodyPr>
          <a:lstStyle/>
          <a:p>
            <a:pPr algn="l">
              <a:spcAft>
                <a:spcPts val="400"/>
              </a:spcAft>
            </a:pPr>
            <a:r>
              <a:rPr sz="1500" b="1" i="0">
                <a:solidFill>
                  <a:srgbClr val="D7263D"/>
                </a:solidFill>
                <a:latin typeface="Arial"/>
              </a:rPr>
              <a:t>Validación cruzada (K-Fold)</a:t>
            </a:r>
          </a:p>
        </p:txBody>
      </p:sp>
      <p:sp>
        <p:nvSpPr>
          <p:cNvPr id="10" name="TextBox 9"/>
          <p:cNvSpPr txBox="1"/>
          <p:nvPr/>
        </p:nvSpPr>
        <p:spPr>
          <a:xfrm>
            <a:off x="4389120" y="2834639"/>
            <a:ext cx="4023360" cy="621792"/>
          </a:xfrm>
          <a:prstGeom prst="rect">
            <a:avLst/>
          </a:prstGeom>
          <a:noFill/>
        </p:spPr>
        <p:txBody>
          <a:bodyPr wrap="square" anchor="ctr" lIns="36576" rIns="36576" tIns="36576" bIns="36576">
            <a:spAutoFit/>
          </a:bodyPr>
          <a:lstStyle/>
          <a:p>
            <a:pPr algn="l">
              <a:spcAft>
                <a:spcPts val="400"/>
              </a:spcAft>
            </a:pPr>
            <a:r>
              <a:rPr sz="1300" b="0" i="0">
                <a:solidFill>
                  <a:srgbClr val="2B2B2B"/>
                </a:solidFill>
                <a:latin typeface="Arial"/>
              </a:rPr>
              <a:t>Evaluar varias veces en lugar de confiar en una sola Validation</a:t>
            </a:r>
          </a:p>
        </p:txBody>
      </p:sp>
      <p:sp>
        <p:nvSpPr>
          <p:cNvPr id="11" name="Rounded Rectangle 10"/>
          <p:cNvSpPr/>
          <p:nvPr/>
        </p:nvSpPr>
        <p:spPr>
          <a:xfrm>
            <a:off x="731520" y="3611880"/>
            <a:ext cx="7772400" cy="713232"/>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 name="Oval 11"/>
          <p:cNvSpPr/>
          <p:nvPr/>
        </p:nvSpPr>
        <p:spPr>
          <a:xfrm>
            <a:off x="868680" y="3739896"/>
            <a:ext cx="457200" cy="45720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500" b="1" i="0">
                <a:solidFill>
                  <a:srgbClr val="FFFFFF"/>
                </a:solidFill>
                <a:latin typeface="Arial"/>
              </a:rPr>
              <a:t>3</a:t>
            </a:r>
          </a:p>
        </p:txBody>
      </p:sp>
      <p:sp>
        <p:nvSpPr>
          <p:cNvPr id="13" name="TextBox 12"/>
          <p:cNvSpPr txBox="1"/>
          <p:nvPr/>
        </p:nvSpPr>
        <p:spPr>
          <a:xfrm>
            <a:off x="1463040" y="3657600"/>
            <a:ext cx="2926080" cy="621792"/>
          </a:xfrm>
          <a:prstGeom prst="rect">
            <a:avLst/>
          </a:prstGeom>
          <a:noFill/>
        </p:spPr>
        <p:txBody>
          <a:bodyPr wrap="square" anchor="ctr" lIns="36576" rIns="36576" tIns="36576" bIns="36576">
            <a:spAutoFit/>
          </a:bodyPr>
          <a:lstStyle/>
          <a:p>
            <a:pPr algn="l">
              <a:spcAft>
                <a:spcPts val="400"/>
              </a:spcAft>
            </a:pPr>
            <a:r>
              <a:rPr sz="1500" b="1" i="0">
                <a:solidFill>
                  <a:srgbClr val="242852"/>
                </a:solidFill>
                <a:latin typeface="Arial"/>
              </a:rPr>
              <a:t>Árbol de regresión</a:t>
            </a:r>
          </a:p>
        </p:txBody>
      </p:sp>
      <p:sp>
        <p:nvSpPr>
          <p:cNvPr id="14" name="TextBox 13"/>
          <p:cNvSpPr txBox="1"/>
          <p:nvPr/>
        </p:nvSpPr>
        <p:spPr>
          <a:xfrm>
            <a:off x="4389120" y="3657600"/>
            <a:ext cx="4023360" cy="621792"/>
          </a:xfrm>
          <a:prstGeom prst="rect">
            <a:avLst/>
          </a:prstGeom>
          <a:noFill/>
        </p:spPr>
        <p:txBody>
          <a:bodyPr wrap="square" anchor="ctr" lIns="36576" rIns="36576" tIns="36576" bIns="36576">
            <a:spAutoFit/>
          </a:bodyPr>
          <a:lstStyle/>
          <a:p>
            <a:pPr algn="l">
              <a:spcAft>
                <a:spcPts val="400"/>
              </a:spcAft>
            </a:pPr>
            <a:r>
              <a:rPr sz="1300" b="0" i="0">
                <a:solidFill>
                  <a:srgbClr val="2B2B2B"/>
                </a:solidFill>
                <a:latin typeface="Arial"/>
              </a:rPr>
              <a:t>A mano con 8 filas y luego con 10 127 clientes de tarjeta</a:t>
            </a:r>
          </a:p>
        </p:txBody>
      </p:sp>
      <p:sp>
        <p:nvSpPr>
          <p:cNvPr id="15" name="Rounded Rectangle 14"/>
          <p:cNvSpPr/>
          <p:nvPr/>
        </p:nvSpPr>
        <p:spPr>
          <a:xfrm>
            <a:off x="731520" y="4434840"/>
            <a:ext cx="7772400" cy="713232"/>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Oval 15"/>
          <p:cNvSpPr/>
          <p:nvPr/>
        </p:nvSpPr>
        <p:spPr>
          <a:xfrm>
            <a:off x="868680" y="4562855"/>
            <a:ext cx="457200" cy="45720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500" b="1" i="0">
                <a:solidFill>
                  <a:srgbClr val="FFFFFF"/>
                </a:solidFill>
                <a:latin typeface="Arial"/>
              </a:rPr>
              <a:t>4</a:t>
            </a:r>
          </a:p>
        </p:txBody>
      </p:sp>
      <p:sp>
        <p:nvSpPr>
          <p:cNvPr id="17" name="TextBox 16"/>
          <p:cNvSpPr txBox="1"/>
          <p:nvPr/>
        </p:nvSpPr>
        <p:spPr>
          <a:xfrm>
            <a:off x="1463040" y="4480559"/>
            <a:ext cx="2926080" cy="621792"/>
          </a:xfrm>
          <a:prstGeom prst="rect">
            <a:avLst/>
          </a:prstGeom>
          <a:noFill/>
        </p:spPr>
        <p:txBody>
          <a:bodyPr wrap="square" anchor="ctr" lIns="36576" rIns="36576" tIns="36576" bIns="36576">
            <a:spAutoFit/>
          </a:bodyPr>
          <a:lstStyle/>
          <a:p>
            <a:pPr algn="l">
              <a:spcAft>
                <a:spcPts val="400"/>
              </a:spcAft>
            </a:pPr>
            <a:r>
              <a:rPr sz="1500" b="1" i="0">
                <a:solidFill>
                  <a:srgbClr val="D7263D"/>
                </a:solidFill>
                <a:latin typeface="Arial"/>
              </a:rPr>
              <a:t>Controlar la complejidad</a:t>
            </a:r>
          </a:p>
        </p:txBody>
      </p:sp>
      <p:sp>
        <p:nvSpPr>
          <p:cNvPr id="18" name="TextBox 17"/>
          <p:cNvSpPr txBox="1"/>
          <p:nvPr/>
        </p:nvSpPr>
        <p:spPr>
          <a:xfrm>
            <a:off x="4389120" y="4480559"/>
            <a:ext cx="4023360" cy="621792"/>
          </a:xfrm>
          <a:prstGeom prst="rect">
            <a:avLst/>
          </a:prstGeom>
          <a:noFill/>
        </p:spPr>
        <p:txBody>
          <a:bodyPr wrap="square" anchor="ctr" lIns="36576" rIns="36576" tIns="36576" bIns="36576">
            <a:spAutoFit/>
          </a:bodyPr>
          <a:lstStyle/>
          <a:p>
            <a:pPr algn="l">
              <a:spcAft>
                <a:spcPts val="400"/>
              </a:spcAft>
            </a:pPr>
            <a:r>
              <a:rPr sz="1300" b="0" i="0">
                <a:solidFill>
                  <a:srgbClr val="2B2B2B"/>
                </a:solidFill>
                <a:latin typeface="Arial"/>
              </a:rPr>
              <a:t>Jugar con max_depth, min_samples_split y min_samples_leaf</a:t>
            </a:r>
          </a:p>
        </p:txBody>
      </p:sp>
      <p:sp>
        <p:nvSpPr>
          <p:cNvPr id="19" name="Rounded Rectangle 18"/>
          <p:cNvSpPr/>
          <p:nvPr/>
        </p:nvSpPr>
        <p:spPr>
          <a:xfrm>
            <a:off x="731520" y="5257800"/>
            <a:ext cx="7772400" cy="713232"/>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0" name="Oval 19"/>
          <p:cNvSpPr/>
          <p:nvPr/>
        </p:nvSpPr>
        <p:spPr>
          <a:xfrm>
            <a:off x="868680" y="5385816"/>
            <a:ext cx="457200" cy="45720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500" b="1" i="0">
                <a:solidFill>
                  <a:srgbClr val="FFFFFF"/>
                </a:solidFill>
                <a:latin typeface="Arial"/>
              </a:rPr>
              <a:t>5</a:t>
            </a:r>
          </a:p>
        </p:txBody>
      </p:sp>
      <p:sp>
        <p:nvSpPr>
          <p:cNvPr id="21" name="TextBox 20"/>
          <p:cNvSpPr txBox="1"/>
          <p:nvPr/>
        </p:nvSpPr>
        <p:spPr>
          <a:xfrm>
            <a:off x="1463040" y="5303520"/>
            <a:ext cx="2926080" cy="621792"/>
          </a:xfrm>
          <a:prstGeom prst="rect">
            <a:avLst/>
          </a:prstGeom>
          <a:noFill/>
        </p:spPr>
        <p:txBody>
          <a:bodyPr wrap="square" anchor="ctr" lIns="36576" rIns="36576" tIns="36576" bIns="36576">
            <a:spAutoFit/>
          </a:bodyPr>
          <a:lstStyle/>
          <a:p>
            <a:pPr algn="l">
              <a:spcAft>
                <a:spcPts val="400"/>
              </a:spcAft>
            </a:pPr>
            <a:r>
              <a:rPr sz="1500" b="1" i="0">
                <a:solidFill>
                  <a:srgbClr val="242852"/>
                </a:solidFill>
                <a:latin typeface="Arial"/>
              </a:rPr>
              <a:t>Random Forest</a:t>
            </a:r>
          </a:p>
        </p:txBody>
      </p:sp>
      <p:sp>
        <p:nvSpPr>
          <p:cNvPr id="22" name="TextBox 21"/>
          <p:cNvSpPr txBox="1"/>
          <p:nvPr/>
        </p:nvSpPr>
        <p:spPr>
          <a:xfrm>
            <a:off x="4389120" y="5303520"/>
            <a:ext cx="4023360" cy="621792"/>
          </a:xfrm>
          <a:prstGeom prst="rect">
            <a:avLst/>
          </a:prstGeom>
          <a:noFill/>
        </p:spPr>
        <p:txBody>
          <a:bodyPr wrap="square" anchor="ctr" lIns="36576" rIns="36576" tIns="36576" bIns="36576">
            <a:spAutoFit/>
          </a:bodyPr>
          <a:lstStyle/>
          <a:p>
            <a:pPr algn="l">
              <a:spcAft>
                <a:spcPts val="400"/>
              </a:spcAft>
            </a:pPr>
            <a:r>
              <a:rPr sz="1300" b="0" i="0">
                <a:solidFill>
                  <a:srgbClr val="2B2B2B"/>
                </a:solidFill>
                <a:latin typeface="Arial"/>
              </a:rPr>
              <a:t>Muchos árboles distintos y un promedio: calculado a mano</a:t>
            </a:r>
          </a:p>
        </p:txBody>
      </p:sp>
      <p:sp>
        <p:nvSpPr>
          <p:cNvPr id="23" name="Rounded Rectangle 22"/>
          <p:cNvSpPr/>
          <p:nvPr/>
        </p:nvSpPr>
        <p:spPr>
          <a:xfrm>
            <a:off x="731520" y="6016752"/>
            <a:ext cx="7772400" cy="36576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Regla del día: </a:t>
            </a:r>
            <a:r>
              <a:rPr sz="1200" b="0" i="1">
                <a:solidFill>
                  <a:srgbClr val="5F6368"/>
                </a:solidFill>
                <a:latin typeface="Arial"/>
              </a:rPr>
              <a:t>un modelo más complejo no siempre predice mejor.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Lo que ya sabemos del Día 1</a:t>
            </a:r>
          </a:p>
        </p:txBody>
      </p:sp>
      <p:sp>
        <p:nvSpPr>
          <p:cNvPr id="3" name="Rounded Rectangle 2"/>
          <p:cNvSpPr/>
          <p:nvPr/>
        </p:nvSpPr>
        <p:spPr>
          <a:xfrm>
            <a:off x="731520" y="2011680"/>
            <a:ext cx="3794760" cy="146304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Oval 3"/>
          <p:cNvSpPr/>
          <p:nvPr/>
        </p:nvSpPr>
        <p:spPr>
          <a:xfrm>
            <a:off x="868680" y="2377440"/>
            <a:ext cx="685800" cy="68580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800" b="1" i="0">
                <a:solidFill>
                  <a:srgbClr val="FFFFFF"/>
                </a:solidFill>
                <a:latin typeface="Arial"/>
              </a:rPr>
              <a:t>1</a:t>
            </a:r>
          </a:p>
        </p:txBody>
      </p:sp>
      <p:sp>
        <p:nvSpPr>
          <p:cNvPr id="5" name="TextBox 4"/>
          <p:cNvSpPr txBox="1"/>
          <p:nvPr/>
        </p:nvSpPr>
        <p:spPr>
          <a:xfrm>
            <a:off x="1691640" y="2121408"/>
            <a:ext cx="2743200" cy="1280160"/>
          </a:xfrm>
          <a:prstGeom prst="rect">
            <a:avLst/>
          </a:prstGeom>
          <a:noFill/>
        </p:spPr>
        <p:txBody>
          <a:bodyPr wrap="square" anchor="ctr" lIns="36576" rIns="36576" tIns="36576" bIns="36576">
            <a:spAutoFit/>
          </a:bodyPr>
          <a:lstStyle/>
          <a:p>
            <a:pPr algn="l">
              <a:spcAft>
                <a:spcPts val="400"/>
              </a:spcAft>
            </a:pPr>
            <a:r>
              <a:rPr sz="1400" b="1" i="0">
                <a:solidFill>
                  <a:srgbClr val="242852"/>
                </a:solidFill>
                <a:latin typeface="Arial"/>
              </a:rPr>
              <a:t>La recta</a:t>
            </a:r>
          </a:p>
          <a:p>
            <a:pPr algn="l">
              <a:spcAft>
                <a:spcPts val="400"/>
              </a:spcAft>
            </a:pPr>
            <a:r>
              <a:rPr sz="1200" b="0" i="0">
                <a:solidFill>
                  <a:srgbClr val="2B2B2B"/>
                </a:solidFill>
                <a:latin typeface="Arial"/>
              </a:rPr>
              <a:t>ŷ = b₀ + b₁X, elegida para que el SSE sea el menor posible.</a:t>
            </a:r>
          </a:p>
        </p:txBody>
      </p:sp>
      <p:sp>
        <p:nvSpPr>
          <p:cNvPr id="6" name="Rounded Rectangle 5"/>
          <p:cNvSpPr/>
          <p:nvPr/>
        </p:nvSpPr>
        <p:spPr>
          <a:xfrm>
            <a:off x="4663440" y="2011680"/>
            <a:ext cx="3794760" cy="146304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Oval 6"/>
          <p:cNvSpPr/>
          <p:nvPr/>
        </p:nvSpPr>
        <p:spPr>
          <a:xfrm>
            <a:off x="4800600" y="2377440"/>
            <a:ext cx="685800" cy="68580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800" b="1" i="0">
                <a:solidFill>
                  <a:srgbClr val="FFFFFF"/>
                </a:solidFill>
                <a:latin typeface="Arial"/>
              </a:rPr>
              <a:t>2</a:t>
            </a:r>
          </a:p>
        </p:txBody>
      </p:sp>
      <p:sp>
        <p:nvSpPr>
          <p:cNvPr id="8" name="TextBox 7"/>
          <p:cNvSpPr txBox="1"/>
          <p:nvPr/>
        </p:nvSpPr>
        <p:spPr>
          <a:xfrm>
            <a:off x="5623559" y="2121408"/>
            <a:ext cx="2743200" cy="1280160"/>
          </a:xfrm>
          <a:prstGeom prst="rect">
            <a:avLst/>
          </a:prstGeom>
          <a:noFill/>
        </p:spPr>
        <p:txBody>
          <a:bodyPr wrap="square" anchor="ctr" lIns="36576" rIns="36576" tIns="36576" bIns="36576">
            <a:spAutoFit/>
          </a:bodyPr>
          <a:lstStyle/>
          <a:p>
            <a:pPr algn="l">
              <a:spcAft>
                <a:spcPts val="400"/>
              </a:spcAft>
            </a:pPr>
            <a:r>
              <a:rPr sz="1400" b="1" i="0">
                <a:solidFill>
                  <a:srgbClr val="D7263D"/>
                </a:solidFill>
                <a:latin typeface="Arial"/>
              </a:rPr>
              <a:t>Las métricas</a:t>
            </a:r>
          </a:p>
          <a:p>
            <a:pPr algn="l">
              <a:spcAft>
                <a:spcPts val="400"/>
              </a:spcAft>
            </a:pPr>
            <a:r>
              <a:rPr sz="1200" b="0" i="0">
                <a:solidFill>
                  <a:srgbClr val="2B2B2B"/>
                </a:solidFill>
                <a:latin typeface="Arial"/>
              </a:rPr>
              <a:t>MAE, MSE, RMSE, Bias y R²: cada una responde una pregunta distinta.</a:t>
            </a:r>
          </a:p>
        </p:txBody>
      </p:sp>
      <p:sp>
        <p:nvSpPr>
          <p:cNvPr id="9" name="Rounded Rectangle 8"/>
          <p:cNvSpPr/>
          <p:nvPr/>
        </p:nvSpPr>
        <p:spPr>
          <a:xfrm>
            <a:off x="731520" y="3611880"/>
            <a:ext cx="3794760" cy="146304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Oval 9"/>
          <p:cNvSpPr/>
          <p:nvPr/>
        </p:nvSpPr>
        <p:spPr>
          <a:xfrm>
            <a:off x="868680" y="3977640"/>
            <a:ext cx="685800" cy="68580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800" b="1" i="0">
                <a:solidFill>
                  <a:srgbClr val="FFFFFF"/>
                </a:solidFill>
                <a:latin typeface="Arial"/>
              </a:rPr>
              <a:t>3</a:t>
            </a:r>
          </a:p>
        </p:txBody>
      </p:sp>
      <p:sp>
        <p:nvSpPr>
          <p:cNvPr id="11" name="TextBox 10"/>
          <p:cNvSpPr txBox="1"/>
          <p:nvPr/>
        </p:nvSpPr>
        <p:spPr>
          <a:xfrm>
            <a:off x="1691640" y="3721608"/>
            <a:ext cx="2743200" cy="1280160"/>
          </a:xfrm>
          <a:prstGeom prst="rect">
            <a:avLst/>
          </a:prstGeom>
          <a:noFill/>
        </p:spPr>
        <p:txBody>
          <a:bodyPr wrap="square" anchor="ctr" lIns="36576" rIns="36576" tIns="36576" bIns="36576">
            <a:spAutoFit/>
          </a:bodyPr>
          <a:lstStyle/>
          <a:p>
            <a:pPr algn="l">
              <a:spcAft>
                <a:spcPts val="400"/>
              </a:spcAft>
            </a:pPr>
            <a:r>
              <a:rPr sz="1400" b="1" i="0">
                <a:solidFill>
                  <a:srgbClr val="D7263D"/>
                </a:solidFill>
                <a:latin typeface="Arial"/>
              </a:rPr>
              <a:t>Train / Validation / Test</a:t>
            </a:r>
          </a:p>
          <a:p>
            <a:pPr algn="l">
              <a:spcAft>
                <a:spcPts val="400"/>
              </a:spcAft>
            </a:pPr>
            <a:r>
              <a:rPr sz="1200" b="0" i="0">
                <a:solidFill>
                  <a:srgbClr val="2B2B2B"/>
                </a:solidFill>
                <a:latin typeface="Arial"/>
              </a:rPr>
              <a:t>Aprender con unos datos y medir con otros que el modelo no vio.</a:t>
            </a:r>
          </a:p>
        </p:txBody>
      </p:sp>
      <p:sp>
        <p:nvSpPr>
          <p:cNvPr id="12" name="Rounded Rectangle 11"/>
          <p:cNvSpPr/>
          <p:nvPr/>
        </p:nvSpPr>
        <p:spPr>
          <a:xfrm>
            <a:off x="4663440" y="3611880"/>
            <a:ext cx="3794760" cy="146304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Oval 12"/>
          <p:cNvSpPr/>
          <p:nvPr/>
        </p:nvSpPr>
        <p:spPr>
          <a:xfrm>
            <a:off x="4800600" y="3977640"/>
            <a:ext cx="685800" cy="68580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800" b="1" i="0">
                <a:solidFill>
                  <a:srgbClr val="FFFFFF"/>
                </a:solidFill>
                <a:latin typeface="Arial"/>
              </a:rPr>
              <a:t>4</a:t>
            </a:r>
          </a:p>
        </p:txBody>
      </p:sp>
      <p:sp>
        <p:nvSpPr>
          <p:cNvPr id="14" name="TextBox 13"/>
          <p:cNvSpPr txBox="1"/>
          <p:nvPr/>
        </p:nvSpPr>
        <p:spPr>
          <a:xfrm>
            <a:off x="5623559" y="3721608"/>
            <a:ext cx="2743200" cy="1280160"/>
          </a:xfrm>
          <a:prstGeom prst="rect">
            <a:avLst/>
          </a:prstGeom>
          <a:noFill/>
        </p:spPr>
        <p:txBody>
          <a:bodyPr wrap="square" anchor="ctr" lIns="36576" rIns="36576" tIns="36576" bIns="36576">
            <a:spAutoFit/>
          </a:bodyPr>
          <a:lstStyle/>
          <a:p>
            <a:pPr algn="l">
              <a:spcAft>
                <a:spcPts val="400"/>
              </a:spcAft>
            </a:pPr>
            <a:r>
              <a:rPr sz="1400" b="1" i="0">
                <a:solidFill>
                  <a:srgbClr val="242852"/>
                </a:solidFill>
                <a:latin typeface="Arial"/>
              </a:rPr>
              <a:t>Sub y sobreajuste</a:t>
            </a:r>
          </a:p>
          <a:p>
            <a:pPr algn="l">
              <a:spcAft>
                <a:spcPts val="400"/>
              </a:spcAft>
            </a:pPr>
            <a:r>
              <a:rPr sz="1200" b="0" i="0">
                <a:solidFill>
                  <a:srgbClr val="2B2B2B"/>
                </a:solidFill>
                <a:latin typeface="Arial"/>
              </a:rPr>
              <a:t>Muy simple falla en todo; muy complejo memoriza Train y falla en datos nuevos.</a:t>
            </a:r>
          </a:p>
        </p:txBody>
      </p:sp>
      <p:sp>
        <p:nvSpPr>
          <p:cNvPr id="15" name="Rounded Rectangle 14"/>
          <p:cNvSpPr/>
          <p:nvPr/>
        </p:nvSpPr>
        <p:spPr>
          <a:xfrm>
            <a:off x="731520" y="5349240"/>
            <a:ext cx="7772400" cy="86868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300" b="1" i="0">
                <a:solidFill>
                  <a:srgbClr val="242852"/>
                </a:solidFill>
                <a:latin typeface="Arial"/>
              </a:rPr>
              <a:t>Hoy: </a:t>
            </a:r>
            <a:r>
              <a:rPr sz="1300" b="0" i="0">
                <a:solidFill>
                  <a:srgbClr val="2B2B2B"/>
                </a:solidFill>
                <a:latin typeface="Arial"/>
              </a:rPr>
              <a:t>¿y si la relación no es una recta? Los árboles responden con preguntas en lugar de una ecuación.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26280"/>
            <a:ext cx="7589520" cy="365760"/>
          </a:xfrm>
          <a:prstGeom prst="rect">
            <a:avLst/>
          </a:prstGeom>
          <a:noFill/>
        </p:spPr>
        <p:txBody>
          <a:bodyPr wrap="square" anchor="t" lIns="36576" rIns="36576" tIns="36576" bIns="36576">
            <a:spAutoFit/>
          </a:bodyPr>
          <a:lstStyle/>
          <a:p>
            <a:pPr algn="l">
              <a:spcAft>
                <a:spcPts val="400"/>
              </a:spcAft>
            </a:pPr>
            <a:r>
              <a:rPr sz="1300" b="1" i="0">
                <a:solidFill>
                  <a:srgbClr val="5F6368"/>
                </a:solidFill>
                <a:latin typeface="Arial"/>
              </a:rPr>
              <a:t>En esta sección</a:t>
            </a:r>
          </a:p>
        </p:txBody>
      </p:sp>
      <p:sp>
        <p:nvSpPr>
          <p:cNvPr id="3" name="Rounded Rectangle 2"/>
          <p:cNvSpPr/>
          <p:nvPr/>
        </p:nvSpPr>
        <p:spPr>
          <a:xfrm>
            <a:off x="914400" y="4937760"/>
            <a:ext cx="2438400"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Qué es una fila</a:t>
            </a:r>
          </a:p>
        </p:txBody>
      </p:sp>
      <p:sp>
        <p:nvSpPr>
          <p:cNvPr id="4" name="Rounded Rectangle 3"/>
          <p:cNvSpPr/>
          <p:nvPr/>
        </p:nvSpPr>
        <p:spPr>
          <a:xfrm>
            <a:off x="3489960" y="4937760"/>
            <a:ext cx="2438400"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Faltantes</a:t>
            </a:r>
          </a:p>
        </p:txBody>
      </p:sp>
      <p:sp>
        <p:nvSpPr>
          <p:cNvPr id="5" name="Rounded Rectangle 4"/>
          <p:cNvSpPr/>
          <p:nvPr/>
        </p:nvSpPr>
        <p:spPr>
          <a:xfrm>
            <a:off x="6065520" y="4937760"/>
            <a:ext cx="2438400"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Primer modelo</a:t>
            </a:r>
          </a:p>
        </p:txBody>
      </p:sp>
      <p:sp>
        <p:nvSpPr>
          <p:cNvPr id="6" name="Oval 5"/>
          <p:cNvSpPr/>
          <p:nvPr/>
        </p:nvSpPr>
        <p:spPr>
          <a:xfrm>
            <a:off x="914400" y="2148840"/>
            <a:ext cx="1463040" cy="146304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5400" b="1" i="0">
                <a:solidFill>
                  <a:srgbClr val="FFFFFF"/>
                </a:solidFill>
                <a:latin typeface="Arial"/>
              </a:rPr>
              <a:t>1</a:t>
            </a:r>
          </a:p>
        </p:txBody>
      </p:sp>
      <p:sp>
        <p:nvSpPr>
          <p:cNvPr id="7" name="TextBox 6"/>
          <p:cNvSpPr txBox="1"/>
          <p:nvPr/>
        </p:nvSpPr>
        <p:spPr>
          <a:xfrm>
            <a:off x="2651760" y="1828800"/>
            <a:ext cx="5852160" cy="1371600"/>
          </a:xfrm>
          <a:prstGeom prst="rect">
            <a:avLst/>
          </a:prstGeom>
          <a:noFill/>
        </p:spPr>
        <p:txBody>
          <a:bodyPr wrap="square" anchor="b" lIns="36576" rIns="36576" tIns="36576" bIns="36576">
            <a:spAutoFit/>
          </a:bodyPr>
          <a:lstStyle/>
          <a:p>
            <a:pPr algn="l">
              <a:spcAft>
                <a:spcPts val="400"/>
              </a:spcAft>
            </a:pPr>
            <a:r>
              <a:rPr sz="3200" b="1" i="0">
                <a:solidFill>
                  <a:srgbClr val="242852"/>
                </a:solidFill>
                <a:latin typeface="Arial"/>
              </a:rPr>
              <a:t>Nuevo dataset y repaso</a:t>
            </a:r>
          </a:p>
        </p:txBody>
      </p:sp>
      <p:sp>
        <p:nvSpPr>
          <p:cNvPr id="8" name="TextBox 7"/>
          <p:cNvSpPr txBox="1"/>
          <p:nvPr/>
        </p:nvSpPr>
        <p:spPr>
          <a:xfrm>
            <a:off x="2651760" y="3291840"/>
            <a:ext cx="5852160" cy="1097280"/>
          </a:xfrm>
          <a:prstGeom prst="rect">
            <a:avLst/>
          </a:prstGeom>
          <a:noFill/>
        </p:spPr>
        <p:txBody>
          <a:bodyPr wrap="square" anchor="t" lIns="36576" rIns="36576" tIns="36576" bIns="36576">
            <a:spAutoFit/>
          </a:bodyPr>
          <a:lstStyle/>
          <a:p>
            <a:pPr algn="l">
              <a:spcAft>
                <a:spcPts val="400"/>
              </a:spcAft>
            </a:pPr>
            <a:r>
              <a:rPr sz="1600" b="0" i="0">
                <a:solidFill>
                  <a:srgbClr val="5F6368"/>
                </a:solidFill>
                <a:latin typeface="Arial"/>
              </a:rPr>
              <a:t>Indicadores macroeconómicos del Banco Mundial: 7 países de América Latina, 2005–2024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El dataset: indicadores del Banco Mundial</a:t>
            </a:r>
          </a:p>
        </p:txBody>
      </p:sp>
      <p:sp>
        <p:nvSpPr>
          <p:cNvPr id="3" name="Rounded Rectangle 2"/>
          <p:cNvSpPr/>
          <p:nvPr/>
        </p:nvSpPr>
        <p:spPr>
          <a:xfrm>
            <a:off x="731520" y="1965960"/>
            <a:ext cx="1828800" cy="123444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TextBox 3"/>
          <p:cNvSpPr txBox="1"/>
          <p:nvPr/>
        </p:nvSpPr>
        <p:spPr>
          <a:xfrm>
            <a:off x="731520" y="2011680"/>
            <a:ext cx="1828800" cy="594360"/>
          </a:xfrm>
          <a:prstGeom prst="rect">
            <a:avLst/>
          </a:prstGeom>
          <a:noFill/>
        </p:spPr>
        <p:txBody>
          <a:bodyPr wrap="square" anchor="t" lIns="36576" rIns="36576" tIns="36576" bIns="36576">
            <a:spAutoFit/>
          </a:bodyPr>
          <a:lstStyle/>
          <a:p>
            <a:pPr algn="ctr">
              <a:spcAft>
                <a:spcPts val="400"/>
              </a:spcAft>
            </a:pPr>
            <a:r>
              <a:rPr sz="3000" b="1" i="0">
                <a:solidFill>
                  <a:srgbClr val="242852"/>
                </a:solidFill>
                <a:latin typeface="Arial"/>
              </a:rPr>
              <a:t>140</a:t>
            </a:r>
          </a:p>
        </p:txBody>
      </p:sp>
      <p:sp>
        <p:nvSpPr>
          <p:cNvPr id="5" name="TextBox 4"/>
          <p:cNvSpPr txBox="1"/>
          <p:nvPr/>
        </p:nvSpPr>
        <p:spPr>
          <a:xfrm>
            <a:off x="731520" y="2606040"/>
            <a:ext cx="1828800" cy="548640"/>
          </a:xfrm>
          <a:prstGeom prst="rect">
            <a:avLst/>
          </a:prstGeom>
          <a:noFill/>
        </p:spPr>
        <p:txBody>
          <a:bodyPr wrap="square" anchor="t" lIns="36576" rIns="36576" tIns="36576" bIns="36576">
            <a:spAutoFit/>
          </a:bodyPr>
          <a:lstStyle/>
          <a:p>
            <a:pPr algn="ctr">
              <a:spcAft>
                <a:spcPts val="0"/>
              </a:spcAft>
            </a:pPr>
            <a:r>
              <a:rPr sz="1300" b="1" i="0">
                <a:solidFill>
                  <a:srgbClr val="2B2B2B"/>
                </a:solidFill>
                <a:latin typeface="Arial"/>
              </a:rPr>
              <a:t>filas</a:t>
            </a:r>
          </a:p>
          <a:p>
            <a:pPr algn="ctr">
              <a:spcAft>
                <a:spcPts val="0"/>
              </a:spcAft>
            </a:pPr>
            <a:r>
              <a:rPr sz="1050" b="0" i="0">
                <a:solidFill>
                  <a:srgbClr val="5F6368"/>
                </a:solidFill>
                <a:latin typeface="Arial"/>
              </a:rPr>
              <a:t>país-año</a:t>
            </a:r>
          </a:p>
        </p:txBody>
      </p:sp>
      <p:sp>
        <p:nvSpPr>
          <p:cNvPr id="6" name="Rounded Rectangle 5"/>
          <p:cNvSpPr/>
          <p:nvPr/>
        </p:nvSpPr>
        <p:spPr>
          <a:xfrm>
            <a:off x="2697480" y="1965960"/>
            <a:ext cx="1828800" cy="123444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TextBox 6"/>
          <p:cNvSpPr txBox="1"/>
          <p:nvPr/>
        </p:nvSpPr>
        <p:spPr>
          <a:xfrm>
            <a:off x="2697480" y="2011680"/>
            <a:ext cx="1828800" cy="594360"/>
          </a:xfrm>
          <a:prstGeom prst="rect">
            <a:avLst/>
          </a:prstGeom>
          <a:noFill/>
        </p:spPr>
        <p:txBody>
          <a:bodyPr wrap="square" anchor="t" lIns="36576" rIns="36576" tIns="36576" bIns="36576">
            <a:spAutoFit/>
          </a:bodyPr>
          <a:lstStyle/>
          <a:p>
            <a:pPr algn="ctr">
              <a:spcAft>
                <a:spcPts val="400"/>
              </a:spcAft>
            </a:pPr>
            <a:r>
              <a:rPr sz="3000" b="1" i="0">
                <a:solidFill>
                  <a:srgbClr val="242852"/>
                </a:solidFill>
                <a:latin typeface="Arial"/>
              </a:rPr>
              <a:t>7</a:t>
            </a:r>
          </a:p>
        </p:txBody>
      </p:sp>
      <p:sp>
        <p:nvSpPr>
          <p:cNvPr id="8" name="TextBox 7"/>
          <p:cNvSpPr txBox="1"/>
          <p:nvPr/>
        </p:nvSpPr>
        <p:spPr>
          <a:xfrm>
            <a:off x="2697480" y="2606040"/>
            <a:ext cx="1828800" cy="548640"/>
          </a:xfrm>
          <a:prstGeom prst="rect">
            <a:avLst/>
          </a:prstGeom>
          <a:noFill/>
        </p:spPr>
        <p:txBody>
          <a:bodyPr wrap="square" anchor="t" lIns="36576" rIns="36576" tIns="36576" bIns="36576">
            <a:spAutoFit/>
          </a:bodyPr>
          <a:lstStyle/>
          <a:p>
            <a:pPr algn="ctr">
              <a:spcAft>
                <a:spcPts val="0"/>
              </a:spcAft>
            </a:pPr>
            <a:r>
              <a:rPr sz="1300" b="1" i="0">
                <a:solidFill>
                  <a:srgbClr val="2B2B2B"/>
                </a:solidFill>
                <a:latin typeface="Arial"/>
              </a:rPr>
              <a:t>países</a:t>
            </a:r>
          </a:p>
          <a:p>
            <a:pPr algn="ctr">
              <a:spcAft>
                <a:spcPts val="0"/>
              </a:spcAft>
            </a:pPr>
            <a:r>
              <a:rPr sz="1050" b="0" i="0">
                <a:solidFill>
                  <a:srgbClr val="5F6368"/>
                </a:solidFill>
                <a:latin typeface="Arial"/>
              </a:rPr>
              <a:t>América Latina</a:t>
            </a:r>
          </a:p>
        </p:txBody>
      </p:sp>
      <p:sp>
        <p:nvSpPr>
          <p:cNvPr id="9" name="Rounded Rectangle 8"/>
          <p:cNvSpPr/>
          <p:nvPr/>
        </p:nvSpPr>
        <p:spPr>
          <a:xfrm>
            <a:off x="4663440" y="1965960"/>
            <a:ext cx="1828800" cy="123444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TextBox 9"/>
          <p:cNvSpPr txBox="1"/>
          <p:nvPr/>
        </p:nvSpPr>
        <p:spPr>
          <a:xfrm>
            <a:off x="4663440" y="2011680"/>
            <a:ext cx="1828800" cy="594360"/>
          </a:xfrm>
          <a:prstGeom prst="rect">
            <a:avLst/>
          </a:prstGeom>
          <a:noFill/>
        </p:spPr>
        <p:txBody>
          <a:bodyPr wrap="square" anchor="t" lIns="36576" rIns="36576" tIns="36576" bIns="36576">
            <a:spAutoFit/>
          </a:bodyPr>
          <a:lstStyle/>
          <a:p>
            <a:pPr algn="ctr">
              <a:spcAft>
                <a:spcPts val="400"/>
              </a:spcAft>
            </a:pPr>
            <a:r>
              <a:rPr sz="3000" b="1" i="0">
                <a:solidFill>
                  <a:srgbClr val="242852"/>
                </a:solidFill>
                <a:latin typeface="Arial"/>
              </a:rPr>
              <a:t>20</a:t>
            </a:r>
          </a:p>
        </p:txBody>
      </p:sp>
      <p:sp>
        <p:nvSpPr>
          <p:cNvPr id="11" name="TextBox 10"/>
          <p:cNvSpPr txBox="1"/>
          <p:nvPr/>
        </p:nvSpPr>
        <p:spPr>
          <a:xfrm>
            <a:off x="4663440" y="2606040"/>
            <a:ext cx="1828800" cy="548640"/>
          </a:xfrm>
          <a:prstGeom prst="rect">
            <a:avLst/>
          </a:prstGeom>
          <a:noFill/>
        </p:spPr>
        <p:txBody>
          <a:bodyPr wrap="square" anchor="t" lIns="36576" rIns="36576" tIns="36576" bIns="36576">
            <a:spAutoFit/>
          </a:bodyPr>
          <a:lstStyle/>
          <a:p>
            <a:pPr algn="ctr">
              <a:spcAft>
                <a:spcPts val="0"/>
              </a:spcAft>
            </a:pPr>
            <a:r>
              <a:rPr sz="1300" b="1" i="0">
                <a:solidFill>
                  <a:srgbClr val="2B2B2B"/>
                </a:solidFill>
                <a:latin typeface="Arial"/>
              </a:rPr>
              <a:t>años</a:t>
            </a:r>
          </a:p>
          <a:p>
            <a:pPr algn="ctr">
              <a:spcAft>
                <a:spcPts val="0"/>
              </a:spcAft>
            </a:pPr>
            <a:r>
              <a:rPr sz="1050" b="0" i="0">
                <a:solidFill>
                  <a:srgbClr val="5F6368"/>
                </a:solidFill>
                <a:latin typeface="Arial"/>
              </a:rPr>
              <a:t>2005 a 2024</a:t>
            </a:r>
          </a:p>
        </p:txBody>
      </p:sp>
      <p:sp>
        <p:nvSpPr>
          <p:cNvPr id="12" name="Rounded Rectangle 11"/>
          <p:cNvSpPr/>
          <p:nvPr/>
        </p:nvSpPr>
        <p:spPr>
          <a:xfrm>
            <a:off x="6629399" y="1965960"/>
            <a:ext cx="1828800" cy="123444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TextBox 12"/>
          <p:cNvSpPr txBox="1"/>
          <p:nvPr/>
        </p:nvSpPr>
        <p:spPr>
          <a:xfrm>
            <a:off x="6629399" y="2011680"/>
            <a:ext cx="1828800" cy="594360"/>
          </a:xfrm>
          <a:prstGeom prst="rect">
            <a:avLst/>
          </a:prstGeom>
          <a:noFill/>
        </p:spPr>
        <p:txBody>
          <a:bodyPr wrap="square" anchor="t" lIns="36576" rIns="36576" tIns="36576" bIns="36576">
            <a:spAutoFit/>
          </a:bodyPr>
          <a:lstStyle/>
          <a:p>
            <a:pPr algn="ctr">
              <a:spcAft>
                <a:spcPts val="400"/>
              </a:spcAft>
            </a:pPr>
            <a:r>
              <a:rPr sz="3000" b="1" i="0">
                <a:solidFill>
                  <a:srgbClr val="242852"/>
                </a:solidFill>
                <a:latin typeface="Arial"/>
              </a:rPr>
              <a:t>5</a:t>
            </a:r>
          </a:p>
        </p:txBody>
      </p:sp>
      <p:sp>
        <p:nvSpPr>
          <p:cNvPr id="14" name="TextBox 13"/>
          <p:cNvSpPr txBox="1"/>
          <p:nvPr/>
        </p:nvSpPr>
        <p:spPr>
          <a:xfrm>
            <a:off x="6629399" y="2606040"/>
            <a:ext cx="1828800" cy="548640"/>
          </a:xfrm>
          <a:prstGeom prst="rect">
            <a:avLst/>
          </a:prstGeom>
          <a:noFill/>
        </p:spPr>
        <p:txBody>
          <a:bodyPr wrap="square" anchor="t" lIns="36576" rIns="36576" tIns="36576" bIns="36576">
            <a:spAutoFit/>
          </a:bodyPr>
          <a:lstStyle/>
          <a:p>
            <a:pPr algn="ctr">
              <a:spcAft>
                <a:spcPts val="0"/>
              </a:spcAft>
            </a:pPr>
            <a:r>
              <a:rPr sz="1300" b="1" i="0">
                <a:solidFill>
                  <a:srgbClr val="2B2B2B"/>
                </a:solidFill>
                <a:latin typeface="Arial"/>
              </a:rPr>
              <a:t>predictores</a:t>
            </a:r>
          </a:p>
          <a:p>
            <a:pPr algn="ctr">
              <a:spcAft>
                <a:spcPts val="0"/>
              </a:spcAft>
            </a:pPr>
            <a:r>
              <a:rPr sz="1050" b="0" i="0">
                <a:solidFill>
                  <a:srgbClr val="5F6368"/>
                </a:solidFill>
                <a:latin typeface="Arial"/>
              </a:rPr>
              <a:t>indicadores X</a:t>
            </a:r>
          </a:p>
        </p:txBody>
      </p:sp>
      <p:graphicFrame>
        <p:nvGraphicFramePr>
          <p:cNvPr id="15" name="Table 14"/>
          <p:cNvGraphicFramePr>
            <a:graphicFrameLocks noGrp="1"/>
          </p:cNvGraphicFramePr>
          <p:nvPr/>
        </p:nvGraphicFramePr>
        <p:xfrm>
          <a:off x="731520" y="3383280"/>
          <a:ext cx="7772400" cy="2926080"/>
        </p:xfrm>
        <a:graphic>
          <a:graphicData uri="http://schemas.openxmlformats.org/drawingml/2006/table">
            <a:tbl>
              <a:tblPr firstRow="1" bandRow="1">
                <a:tableStyleId>{5C22544A-7EE6-4342-B048-85BDC9FD1C3A}</a:tableStyleId>
              </a:tblPr>
              <a:tblGrid>
                <a:gridCol w="2651760"/>
                <a:gridCol w="3474720"/>
                <a:gridCol w="1645920"/>
              </a:tblGrid>
              <a:tr h="365760">
                <a:tc>
                  <a:txBody>
                    <a:bodyPr wrap="square"/>
                    <a:lstStyle/>
                    <a:p>
                      <a:pPr algn="l"/>
                      <a:r>
                        <a:rPr sz="1150" b="1" i="0">
                          <a:solidFill>
                            <a:srgbClr val="FFFFFF"/>
                          </a:solidFill>
                          <a:latin typeface="Arial"/>
                        </a:rPr>
                        <a:t>Variable</a:t>
                      </a:r>
                    </a:p>
                  </a:txBody>
                  <a:tcPr marL="64008" marR="64008" marT="27432" marB="27432" anchor="ctr">
                    <a:solidFill>
                      <a:srgbClr val="242852"/>
                    </a:solidFill>
                  </a:tcPr>
                </a:tc>
                <a:tc>
                  <a:txBody>
                    <a:bodyPr wrap="square"/>
                    <a:lstStyle/>
                    <a:p>
                      <a:pPr algn="l"/>
                      <a:r>
                        <a:rPr sz="1150" b="1" i="0">
                          <a:solidFill>
                            <a:srgbClr val="FFFFFF"/>
                          </a:solidFill>
                          <a:latin typeface="Arial"/>
                        </a:rPr>
                        <a:t>Significado</a:t>
                      </a:r>
                    </a:p>
                  </a:txBody>
                  <a:tcPr marL="64008" marR="64008" marT="27432" marB="27432" anchor="ctr">
                    <a:solidFill>
                      <a:srgbClr val="242852"/>
                    </a:solidFill>
                  </a:tcPr>
                </a:tc>
                <a:tc>
                  <a:txBody>
                    <a:bodyPr wrap="square"/>
                    <a:lstStyle/>
                    <a:p>
                      <a:pPr algn="l"/>
                      <a:r>
                        <a:rPr sz="1150" b="1" i="0">
                          <a:solidFill>
                            <a:srgbClr val="FFFFFF"/>
                          </a:solidFill>
                          <a:latin typeface="Arial"/>
                        </a:rPr>
                        <a:t>Rol</a:t>
                      </a:r>
                    </a:p>
                  </a:txBody>
                  <a:tcPr marL="64008" marR="64008" marT="27432" marB="27432" anchor="ctr">
                    <a:solidFill>
                      <a:srgbClr val="242852"/>
                    </a:solidFill>
                  </a:tcPr>
                </a:tc>
              </a:tr>
              <a:tr h="365760">
                <a:tc>
                  <a:txBody>
                    <a:bodyPr wrap="square"/>
                    <a:lstStyle/>
                    <a:p>
                      <a:pPr algn="l"/>
                      <a:r>
                        <a:rPr sz="1150" b="0" i="0">
                          <a:solidFill>
                            <a:srgbClr val="2B2B2B"/>
                          </a:solidFill>
                          <a:latin typeface="Arial"/>
                        </a:rPr>
                        <a:t>crecimiento_pib_pct</a:t>
                      </a:r>
                    </a:p>
                  </a:txBody>
                  <a:tcPr marL="64008" marR="64008" marT="27432" marB="27432" anchor="ctr">
                    <a:solidFill>
                      <a:srgbClr val="FBE8EA"/>
                    </a:solidFill>
                  </a:tcPr>
                </a:tc>
                <a:tc>
                  <a:txBody>
                    <a:bodyPr wrap="square"/>
                    <a:lstStyle/>
                    <a:p>
                      <a:pPr algn="l"/>
                      <a:r>
                        <a:rPr sz="1150" b="0" i="0">
                          <a:solidFill>
                            <a:srgbClr val="2B2B2B"/>
                          </a:solidFill>
                          <a:latin typeface="Arial"/>
                        </a:rPr>
                        <a:t>Variación anual del PIB (%)</a:t>
                      </a:r>
                    </a:p>
                  </a:txBody>
                  <a:tcPr marL="64008" marR="64008" marT="27432" marB="27432" anchor="ctr">
                    <a:solidFill>
                      <a:srgbClr val="FBE8EA"/>
                    </a:solidFill>
                  </a:tcPr>
                </a:tc>
                <a:tc>
                  <a:txBody>
                    <a:bodyPr wrap="square"/>
                    <a:lstStyle/>
                    <a:p>
                      <a:pPr algn="l"/>
                      <a:r>
                        <a:rPr sz="1150" b="1" i="0">
                          <a:solidFill>
                            <a:srgbClr val="D7263D"/>
                          </a:solidFill>
                          <a:latin typeface="Arial"/>
                        </a:rPr>
                        <a:t>Objetivo (y)</a:t>
                      </a:r>
                    </a:p>
                  </a:txBody>
                  <a:tcPr marL="64008" marR="64008" marT="27432" marB="27432" anchor="ctr">
                    <a:solidFill>
                      <a:srgbClr val="FBE8EA"/>
                    </a:solidFill>
                  </a:tcPr>
                </a:tc>
              </a:tr>
              <a:tr h="365760">
                <a:tc>
                  <a:txBody>
                    <a:bodyPr wrap="square"/>
                    <a:lstStyle/>
                    <a:p>
                      <a:pPr algn="l"/>
                      <a:r>
                        <a:rPr sz="1150" b="0" i="0">
                          <a:solidFill>
                            <a:srgbClr val="2B2B2B"/>
                          </a:solidFill>
                          <a:latin typeface="Arial"/>
                        </a:rPr>
                        <a:t>inflacion_pct</a:t>
                      </a:r>
                    </a:p>
                  </a:txBody>
                  <a:tcPr marL="64008" marR="64008" marT="27432" marB="27432" anchor="ctr">
                    <a:solidFill>
                      <a:srgbClr val="F2F3F5"/>
                    </a:solidFill>
                  </a:tcPr>
                </a:tc>
                <a:tc>
                  <a:txBody>
                    <a:bodyPr wrap="square"/>
                    <a:lstStyle/>
                    <a:p>
                      <a:pPr algn="l"/>
                      <a:r>
                        <a:rPr sz="1150" b="0" i="0">
                          <a:solidFill>
                            <a:srgbClr val="2B2B2B"/>
                          </a:solidFill>
                          <a:latin typeface="Arial"/>
                        </a:rPr>
                        <a:t>Inflación anual (%)</a:t>
                      </a:r>
                    </a:p>
                  </a:txBody>
                  <a:tcPr marL="64008" marR="64008" marT="27432" marB="27432" anchor="ctr">
                    <a:solidFill>
                      <a:srgbClr val="F2F3F5"/>
                    </a:solidFill>
                  </a:tcPr>
                </a:tc>
                <a:tc>
                  <a:txBody>
                    <a:bodyPr wrap="square"/>
                    <a:lstStyle/>
                    <a:p>
                      <a:pPr algn="l"/>
                      <a:r>
                        <a:rPr sz="1150" b="0" i="0">
                          <a:solidFill>
                            <a:srgbClr val="2B2B2B"/>
                          </a:solidFill>
                          <a:latin typeface="Arial"/>
                        </a:rPr>
                        <a:t>Predictor (X)</a:t>
                      </a:r>
                    </a:p>
                  </a:txBody>
                  <a:tcPr marL="64008" marR="64008" marT="27432" marB="27432" anchor="ctr">
                    <a:solidFill>
                      <a:srgbClr val="F2F3F5"/>
                    </a:solidFill>
                  </a:tcPr>
                </a:tc>
              </a:tr>
              <a:tr h="365760">
                <a:tc>
                  <a:txBody>
                    <a:bodyPr wrap="square"/>
                    <a:lstStyle/>
                    <a:p>
                      <a:pPr algn="l"/>
                      <a:r>
                        <a:rPr sz="1150" b="0" i="0">
                          <a:solidFill>
                            <a:srgbClr val="2B2B2B"/>
                          </a:solidFill>
                          <a:latin typeface="Arial"/>
                        </a:rPr>
                        <a:t>desempleo_pct</a:t>
                      </a:r>
                    </a:p>
                  </a:txBody>
                  <a:tcPr marL="64008" marR="64008" marT="27432" marB="27432" anchor="ctr">
                    <a:solidFill>
                      <a:srgbClr val="FFFFFF"/>
                    </a:solidFill>
                  </a:tcPr>
                </a:tc>
                <a:tc>
                  <a:txBody>
                    <a:bodyPr wrap="square"/>
                    <a:lstStyle/>
                    <a:p>
                      <a:pPr algn="l"/>
                      <a:r>
                        <a:rPr sz="1150" b="0" i="0">
                          <a:solidFill>
                            <a:srgbClr val="2B2B2B"/>
                          </a:solidFill>
                          <a:latin typeface="Arial"/>
                        </a:rPr>
                        <a:t>Desempleo (%)</a:t>
                      </a:r>
                    </a:p>
                  </a:txBody>
                  <a:tcPr marL="64008" marR="64008" marT="27432" marB="27432" anchor="ctr">
                    <a:solidFill>
                      <a:srgbClr val="FFFFFF"/>
                    </a:solidFill>
                  </a:tcPr>
                </a:tc>
                <a:tc>
                  <a:txBody>
                    <a:bodyPr wrap="square"/>
                    <a:lstStyle/>
                    <a:p>
                      <a:pPr algn="l"/>
                      <a:r>
                        <a:rPr sz="1150" b="0" i="0">
                          <a:solidFill>
                            <a:srgbClr val="2B2B2B"/>
                          </a:solidFill>
                          <a:latin typeface="Arial"/>
                        </a:rPr>
                        <a:t>Predictor (X)</a:t>
                      </a:r>
                    </a:p>
                  </a:txBody>
                  <a:tcPr marL="64008" marR="64008" marT="27432" marB="27432" anchor="ctr">
                    <a:solidFill>
                      <a:srgbClr val="FFFFFF"/>
                    </a:solidFill>
                  </a:tcPr>
                </a:tc>
              </a:tr>
              <a:tr h="365760">
                <a:tc>
                  <a:txBody>
                    <a:bodyPr wrap="square"/>
                    <a:lstStyle/>
                    <a:p>
                      <a:pPr algn="l"/>
                      <a:r>
                        <a:rPr sz="1150" b="0" i="0">
                          <a:solidFill>
                            <a:srgbClr val="2B2B2B"/>
                          </a:solidFill>
                          <a:latin typeface="Arial"/>
                        </a:rPr>
                        <a:t>exportaciones_pct_pib</a:t>
                      </a:r>
                    </a:p>
                  </a:txBody>
                  <a:tcPr marL="64008" marR="64008" marT="27432" marB="27432" anchor="ctr">
                    <a:solidFill>
                      <a:srgbClr val="F2F3F5"/>
                    </a:solidFill>
                  </a:tcPr>
                </a:tc>
                <a:tc>
                  <a:txBody>
                    <a:bodyPr wrap="square"/>
                    <a:lstStyle/>
                    <a:p>
                      <a:pPr algn="l"/>
                      <a:r>
                        <a:rPr sz="1150" b="0" i="0">
                          <a:solidFill>
                            <a:srgbClr val="2B2B2B"/>
                          </a:solidFill>
                          <a:latin typeface="Arial"/>
                        </a:rPr>
                        <a:t>Exportaciones (% del PIB)</a:t>
                      </a:r>
                    </a:p>
                  </a:txBody>
                  <a:tcPr marL="64008" marR="64008" marT="27432" marB="27432" anchor="ctr">
                    <a:solidFill>
                      <a:srgbClr val="F2F3F5"/>
                    </a:solidFill>
                  </a:tcPr>
                </a:tc>
                <a:tc>
                  <a:txBody>
                    <a:bodyPr wrap="square"/>
                    <a:lstStyle/>
                    <a:p>
                      <a:pPr algn="l"/>
                      <a:r>
                        <a:rPr sz="1150" b="0" i="0">
                          <a:solidFill>
                            <a:srgbClr val="2B2B2B"/>
                          </a:solidFill>
                          <a:latin typeface="Arial"/>
                        </a:rPr>
                        <a:t>Predictor (X)</a:t>
                      </a:r>
                    </a:p>
                  </a:txBody>
                  <a:tcPr marL="64008" marR="64008" marT="27432" marB="27432" anchor="ctr">
                    <a:solidFill>
                      <a:srgbClr val="F2F3F5"/>
                    </a:solidFill>
                  </a:tcPr>
                </a:tc>
              </a:tr>
              <a:tr h="365760">
                <a:tc>
                  <a:txBody>
                    <a:bodyPr wrap="square"/>
                    <a:lstStyle/>
                    <a:p>
                      <a:pPr algn="l"/>
                      <a:r>
                        <a:rPr sz="1150" b="0" i="0">
                          <a:solidFill>
                            <a:srgbClr val="2B2B2B"/>
                          </a:solidFill>
                          <a:latin typeface="Arial"/>
                        </a:rPr>
                        <a:t>inversion_pct_pib</a:t>
                      </a:r>
                    </a:p>
                  </a:txBody>
                  <a:tcPr marL="64008" marR="64008" marT="27432" marB="27432" anchor="ctr">
                    <a:solidFill>
                      <a:srgbClr val="FFFFFF"/>
                    </a:solidFill>
                  </a:tcPr>
                </a:tc>
                <a:tc>
                  <a:txBody>
                    <a:bodyPr wrap="square"/>
                    <a:lstStyle/>
                    <a:p>
                      <a:pPr algn="l"/>
                      <a:r>
                        <a:rPr sz="1150" b="0" i="0">
                          <a:solidFill>
                            <a:srgbClr val="2B2B2B"/>
                          </a:solidFill>
                          <a:latin typeface="Arial"/>
                        </a:rPr>
                        <a:t>Formación bruta de capital (% del PIB)</a:t>
                      </a:r>
                    </a:p>
                  </a:txBody>
                  <a:tcPr marL="64008" marR="64008" marT="27432" marB="27432" anchor="ctr">
                    <a:solidFill>
                      <a:srgbClr val="FFFFFF"/>
                    </a:solidFill>
                  </a:tcPr>
                </a:tc>
                <a:tc>
                  <a:txBody>
                    <a:bodyPr wrap="square"/>
                    <a:lstStyle/>
                    <a:p>
                      <a:pPr algn="l"/>
                      <a:r>
                        <a:rPr sz="1150" b="0" i="0">
                          <a:solidFill>
                            <a:srgbClr val="2B2B2B"/>
                          </a:solidFill>
                          <a:latin typeface="Arial"/>
                        </a:rPr>
                        <a:t>Predictor (X)</a:t>
                      </a:r>
                    </a:p>
                  </a:txBody>
                  <a:tcPr marL="64008" marR="64008" marT="27432" marB="27432" anchor="ctr">
                    <a:solidFill>
                      <a:srgbClr val="FFFFFF"/>
                    </a:solidFill>
                  </a:tcPr>
                </a:tc>
              </a:tr>
              <a:tr h="365760">
                <a:tc>
                  <a:txBody>
                    <a:bodyPr wrap="square"/>
                    <a:lstStyle/>
                    <a:p>
                      <a:pPr algn="l"/>
                      <a:r>
                        <a:rPr sz="1150" b="0" i="0">
                          <a:solidFill>
                            <a:srgbClr val="2B2B2B"/>
                          </a:solidFill>
                          <a:latin typeface="Arial"/>
                        </a:rPr>
                        <a:t>crecimiento_poblacion_pct</a:t>
                      </a:r>
                    </a:p>
                  </a:txBody>
                  <a:tcPr marL="64008" marR="64008" marT="27432" marB="27432" anchor="ctr">
                    <a:solidFill>
                      <a:srgbClr val="F2F3F5"/>
                    </a:solidFill>
                  </a:tcPr>
                </a:tc>
                <a:tc>
                  <a:txBody>
                    <a:bodyPr wrap="square"/>
                    <a:lstStyle/>
                    <a:p>
                      <a:pPr algn="l"/>
                      <a:r>
                        <a:rPr sz="1150" b="0" i="0">
                          <a:solidFill>
                            <a:srgbClr val="2B2B2B"/>
                          </a:solidFill>
                          <a:latin typeface="Arial"/>
                        </a:rPr>
                        <a:t>Crecimiento de la población (%)</a:t>
                      </a:r>
                    </a:p>
                  </a:txBody>
                  <a:tcPr marL="64008" marR="64008" marT="27432" marB="27432" anchor="ctr">
                    <a:solidFill>
                      <a:srgbClr val="F2F3F5"/>
                    </a:solidFill>
                  </a:tcPr>
                </a:tc>
                <a:tc>
                  <a:txBody>
                    <a:bodyPr wrap="square"/>
                    <a:lstStyle/>
                    <a:p>
                      <a:pPr algn="l"/>
                      <a:r>
                        <a:rPr sz="1150" b="0" i="0">
                          <a:solidFill>
                            <a:srgbClr val="2B2B2B"/>
                          </a:solidFill>
                          <a:latin typeface="Arial"/>
                        </a:rPr>
                        <a:t>Predictor (X)</a:t>
                      </a:r>
                    </a:p>
                  </a:txBody>
                  <a:tcPr marL="64008" marR="64008" marT="27432" marB="27432" anchor="ctr">
                    <a:solidFill>
                      <a:srgbClr val="F2F3F5"/>
                    </a:solidFill>
                  </a:tcPr>
                </a:tc>
              </a:tr>
              <a:tr h="365760">
                <a:tc>
                  <a:txBody>
                    <a:bodyPr wrap="square"/>
                    <a:lstStyle/>
                    <a:p>
                      <a:pPr algn="l"/>
                      <a:r>
                        <a:rPr sz="1150" b="0" i="0">
                          <a:solidFill>
                            <a:srgbClr val="2B2B2B"/>
                          </a:solidFill>
                          <a:latin typeface="Arial"/>
                        </a:rPr>
                        <a:t>país, año</a:t>
                      </a:r>
                    </a:p>
                  </a:txBody>
                  <a:tcPr marL="64008" marR="64008" marT="27432" marB="27432" anchor="ctr">
                    <a:solidFill>
                      <a:srgbClr val="FFFFFF"/>
                    </a:solidFill>
                  </a:tcPr>
                </a:tc>
                <a:tc>
                  <a:txBody>
                    <a:bodyPr wrap="square"/>
                    <a:lstStyle/>
                    <a:p>
                      <a:pPr algn="l"/>
                      <a:r>
                        <a:rPr sz="1150" b="0" i="0">
                          <a:solidFill>
                            <a:srgbClr val="2B2B2B"/>
                          </a:solidFill>
                          <a:latin typeface="Arial"/>
                        </a:rPr>
                        <a:t>Identifican la fila</a:t>
                      </a:r>
                    </a:p>
                  </a:txBody>
                  <a:tcPr marL="64008" marR="64008" marT="27432" marB="27432" anchor="ctr">
                    <a:solidFill>
                      <a:srgbClr val="FFFFFF"/>
                    </a:solidFill>
                  </a:tcPr>
                </a:tc>
                <a:tc>
                  <a:txBody>
                    <a:bodyPr wrap="square"/>
                    <a:lstStyle/>
                    <a:p>
                      <a:pPr algn="l"/>
                      <a:r>
                        <a:rPr sz="1150" b="0" i="0">
                          <a:solidFill>
                            <a:srgbClr val="2B2B2B"/>
                          </a:solidFill>
                          <a:latin typeface="Arial"/>
                        </a:rPr>
                        <a:t>No entran al modelo</a:t>
                      </a:r>
                    </a:p>
                  </a:txBody>
                  <a:tcPr marL="64008" marR="64008" marT="27432" marB="27432"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Limpieza: los faltantes no son ceros</a:t>
            </a:r>
          </a:p>
        </p:txBody>
      </p:sp>
      <p:graphicFrame>
        <p:nvGraphicFramePr>
          <p:cNvPr id="3" name="Chart 2"/>
          <p:cNvGraphicFramePr>
            <a:graphicFrameLocks noGrp="1"/>
          </p:cNvGraphicFramePr>
          <p:nvPr/>
        </p:nvGraphicFramePr>
        <p:xfrm>
          <a:off x="731520" y="1920240"/>
          <a:ext cx="4206240" cy="3291840"/>
        </p:xfrm>
        <a:graphic>
          <a:graphicData uri="http://schemas.openxmlformats.org/drawingml/2006/chart">
            <c:chart xmlns:c="http://schemas.openxmlformats.org/drawingml/2006/chart" r:id="rId3"/>
          </a:graphicData>
        </a:graphic>
      </p:graphicFrame>
      <p:sp>
        <p:nvSpPr>
          <p:cNvPr id="4" name="Rounded Rectangle 3"/>
          <p:cNvSpPr/>
          <p:nvPr/>
        </p:nvSpPr>
        <p:spPr>
          <a:xfrm>
            <a:off x="5120640" y="2011680"/>
            <a:ext cx="3383280" cy="118872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2000" b="1" i="0">
                <a:solidFill>
                  <a:srgbClr val="D7263D"/>
                </a:solidFill>
                <a:latin typeface="Arial"/>
              </a:rPr>
              <a:t>13 faltantes</a:t>
            </a:r>
          </a:p>
          <a:p>
            <a:pPr algn="ctr">
              <a:spcAft>
                <a:spcPts val="300"/>
              </a:spcAft>
            </a:pPr>
            <a:r>
              <a:rPr sz="1200" b="0" i="0">
                <a:solidFill>
                  <a:srgbClr val="2B2B2B"/>
                </a:solidFill>
                <a:latin typeface="Arial"/>
              </a:rPr>
              <a:t>inflación de Argentina, 2005–2017</a:t>
            </a:r>
          </a:p>
        </p:txBody>
      </p:sp>
      <p:sp>
        <p:nvSpPr>
          <p:cNvPr id="5" name="Rounded Rectangle 4"/>
          <p:cNvSpPr/>
          <p:nvPr/>
        </p:nvSpPr>
        <p:spPr>
          <a:xfrm>
            <a:off x="5120640" y="3337560"/>
            <a:ext cx="3383280" cy="118872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0" i="0">
                <a:solidFill>
                  <a:srgbClr val="2B2B2B"/>
                </a:solidFill>
                <a:latin typeface="Arial"/>
              </a:rPr>
              <a:t>140 filas  →  </a:t>
            </a:r>
            <a:r>
              <a:rPr sz="1800" b="1" i="0">
                <a:solidFill>
                  <a:srgbClr val="242852"/>
                </a:solidFill>
                <a:latin typeface="Arial"/>
              </a:rPr>
              <a:t>127 completas</a:t>
            </a:r>
          </a:p>
          <a:p>
            <a:pPr algn="ctr">
              <a:spcAft>
                <a:spcPts val="300"/>
              </a:spcAft>
            </a:pPr>
            <a:r>
              <a:rPr sz="1100" b="0" i="0">
                <a:solidFill>
                  <a:srgbClr val="5F6368"/>
                </a:solidFill>
                <a:latin typeface="Arial"/>
              </a:rPr>
              <a:t>eliminando las filas con faltantes</a:t>
            </a:r>
          </a:p>
        </p:txBody>
      </p:sp>
      <p:sp>
        <p:nvSpPr>
          <p:cNvPr id="6" name="Rounded Rectangle 5"/>
          <p:cNvSpPr/>
          <p:nvPr/>
        </p:nvSpPr>
        <p:spPr>
          <a:xfrm>
            <a:off x="5120640" y="4663440"/>
            <a:ext cx="3383280" cy="59436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¿Imputar con 0? </a:t>
            </a:r>
            <a:r>
              <a:rPr sz="1200" b="0" i="0">
                <a:solidFill>
                  <a:srgbClr val="2B2B2B"/>
                </a:solidFill>
                <a:latin typeface="Arial"/>
              </a:rPr>
              <a:t>No: inventaría datos</a:t>
            </a:r>
          </a:p>
        </p:txBody>
      </p:sp>
      <p:sp>
        <p:nvSpPr>
          <p:cNvPr id="7" name="Rounded Rectangle 6"/>
          <p:cNvSpPr/>
          <p:nvPr/>
        </p:nvSpPr>
        <p:spPr>
          <a:xfrm>
            <a:off x="731520" y="5486400"/>
            <a:ext cx="7772400" cy="7772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Consecuencia: </a:t>
            </a:r>
            <a:r>
              <a:rPr sz="1200" b="0" i="0">
                <a:solidFill>
                  <a:srgbClr val="2B2B2B"/>
                </a:solidFill>
                <a:latin typeface="Arial"/>
              </a:rPr>
              <a:t>al eliminar filas cambia la muestra. Siempre hay que reportar cuántas filas se perdieron y de dónde.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200" b="1">
                <a:solidFill>
                  <a:srgbClr val="242852"/>
                </a:solidFill>
              </a:rPr>
              <a:t>Cuidado: los años de un mismo país se parecen</a:t>
            </a:r>
          </a:p>
        </p:txBody>
      </p:sp>
      <p:sp>
        <p:nvSpPr>
          <p:cNvPr id="3" name="TextBox 2"/>
          <p:cNvSpPr txBox="1"/>
          <p:nvPr/>
        </p:nvSpPr>
        <p:spPr>
          <a:xfrm>
            <a:off x="731520" y="2148839"/>
            <a:ext cx="1188720" cy="457200"/>
          </a:xfrm>
          <a:prstGeom prst="rect">
            <a:avLst/>
          </a:prstGeom>
          <a:noFill/>
        </p:spPr>
        <p:txBody>
          <a:bodyPr wrap="square" anchor="t" lIns="36576" rIns="36576" tIns="36576" bIns="36576">
            <a:spAutoFit/>
          </a:bodyPr>
          <a:lstStyle/>
          <a:p>
            <a:pPr algn="l">
              <a:spcAft>
                <a:spcPts val="400"/>
              </a:spcAft>
            </a:pPr>
            <a:r>
              <a:rPr sz="1300" b="1" i="0">
                <a:solidFill>
                  <a:srgbClr val="242852"/>
                </a:solidFill>
                <a:latin typeface="Arial"/>
              </a:rPr>
              <a:t>Ecuador</a:t>
            </a:r>
          </a:p>
        </p:txBody>
      </p:sp>
      <p:sp>
        <p:nvSpPr>
          <p:cNvPr id="4" name="Rectangle 3"/>
          <p:cNvSpPr/>
          <p:nvPr/>
        </p:nvSpPr>
        <p:spPr>
          <a:xfrm>
            <a:off x="1920240" y="2103120"/>
            <a:ext cx="731520" cy="50292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050" b="1" i="0">
                <a:solidFill>
                  <a:srgbClr val="FFFFFF"/>
                </a:solidFill>
                <a:latin typeface="Arial"/>
              </a:rPr>
              <a:t>2016</a:t>
            </a:r>
          </a:p>
        </p:txBody>
      </p:sp>
      <p:sp>
        <p:nvSpPr>
          <p:cNvPr id="5" name="Rectangle 4"/>
          <p:cNvSpPr/>
          <p:nvPr/>
        </p:nvSpPr>
        <p:spPr>
          <a:xfrm>
            <a:off x="2724912" y="2103120"/>
            <a:ext cx="731520" cy="50292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050" b="1" i="0">
                <a:solidFill>
                  <a:srgbClr val="FFFFFF"/>
                </a:solidFill>
                <a:latin typeface="Arial"/>
              </a:rPr>
              <a:t>2017</a:t>
            </a:r>
          </a:p>
        </p:txBody>
      </p:sp>
      <p:sp>
        <p:nvSpPr>
          <p:cNvPr id="6" name="Rectangle 5"/>
          <p:cNvSpPr/>
          <p:nvPr/>
        </p:nvSpPr>
        <p:spPr>
          <a:xfrm>
            <a:off x="3529584" y="2103120"/>
            <a:ext cx="731520" cy="50292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050" b="1" i="0">
                <a:solidFill>
                  <a:srgbClr val="FFFFFF"/>
                </a:solidFill>
                <a:latin typeface="Arial"/>
              </a:rPr>
              <a:t>2018</a:t>
            </a:r>
          </a:p>
        </p:txBody>
      </p:sp>
      <p:sp>
        <p:nvSpPr>
          <p:cNvPr id="7" name="Rectangle 6"/>
          <p:cNvSpPr/>
          <p:nvPr/>
        </p:nvSpPr>
        <p:spPr>
          <a:xfrm>
            <a:off x="4334256" y="2103120"/>
            <a:ext cx="731520" cy="50292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050" b="1" i="0">
                <a:solidFill>
                  <a:srgbClr val="FFFFFF"/>
                </a:solidFill>
                <a:latin typeface="Arial"/>
              </a:rPr>
              <a:t>2019</a:t>
            </a:r>
          </a:p>
        </p:txBody>
      </p:sp>
      <p:sp>
        <p:nvSpPr>
          <p:cNvPr id="8" name="Rectangle 7"/>
          <p:cNvSpPr/>
          <p:nvPr/>
        </p:nvSpPr>
        <p:spPr>
          <a:xfrm>
            <a:off x="5138928" y="2103120"/>
            <a:ext cx="731520" cy="50292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050" b="1" i="0">
                <a:solidFill>
                  <a:srgbClr val="FFFFFF"/>
                </a:solidFill>
                <a:latin typeface="Arial"/>
              </a:rPr>
              <a:t>2020</a:t>
            </a:r>
          </a:p>
        </p:txBody>
      </p:sp>
      <p:sp>
        <p:nvSpPr>
          <p:cNvPr id="9" name="Rectangle 8"/>
          <p:cNvSpPr/>
          <p:nvPr/>
        </p:nvSpPr>
        <p:spPr>
          <a:xfrm>
            <a:off x="5943600" y="2103120"/>
            <a:ext cx="731520" cy="50292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050" b="1" i="0">
                <a:solidFill>
                  <a:srgbClr val="FFFFFF"/>
                </a:solidFill>
                <a:latin typeface="Arial"/>
              </a:rPr>
              <a:t>2021</a:t>
            </a:r>
          </a:p>
        </p:txBody>
      </p:sp>
      <p:sp>
        <p:nvSpPr>
          <p:cNvPr id="10" name="Rectangle 9"/>
          <p:cNvSpPr/>
          <p:nvPr/>
        </p:nvSpPr>
        <p:spPr>
          <a:xfrm>
            <a:off x="6748272" y="2103120"/>
            <a:ext cx="731520" cy="50292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050" b="1" i="0">
                <a:solidFill>
                  <a:srgbClr val="FFFFFF"/>
                </a:solidFill>
                <a:latin typeface="Arial"/>
              </a:rPr>
              <a:t>2022</a:t>
            </a:r>
          </a:p>
        </p:txBody>
      </p:sp>
      <p:sp>
        <p:nvSpPr>
          <p:cNvPr id="11" name="Rectangle 10"/>
          <p:cNvSpPr/>
          <p:nvPr/>
        </p:nvSpPr>
        <p:spPr>
          <a:xfrm>
            <a:off x="7552944" y="2103120"/>
            <a:ext cx="731520" cy="50292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050" b="1" i="0">
                <a:solidFill>
                  <a:srgbClr val="FFFFFF"/>
                </a:solidFill>
                <a:latin typeface="Arial"/>
              </a:rPr>
              <a:t>2023</a:t>
            </a:r>
          </a:p>
        </p:txBody>
      </p:sp>
      <p:sp>
        <p:nvSpPr>
          <p:cNvPr id="12" name="TextBox 11"/>
          <p:cNvSpPr txBox="1"/>
          <p:nvPr/>
        </p:nvSpPr>
        <p:spPr>
          <a:xfrm>
            <a:off x="731520" y="2926079"/>
            <a:ext cx="1188720" cy="457200"/>
          </a:xfrm>
          <a:prstGeom prst="rect">
            <a:avLst/>
          </a:prstGeom>
          <a:noFill/>
        </p:spPr>
        <p:txBody>
          <a:bodyPr wrap="square" anchor="t" lIns="36576" rIns="36576" tIns="36576" bIns="36576">
            <a:spAutoFit/>
          </a:bodyPr>
          <a:lstStyle/>
          <a:p>
            <a:pPr algn="l">
              <a:spcAft>
                <a:spcPts val="400"/>
              </a:spcAft>
            </a:pPr>
            <a:r>
              <a:rPr sz="1300" b="1" i="0">
                <a:solidFill>
                  <a:srgbClr val="D7263D"/>
                </a:solidFill>
                <a:latin typeface="Arial"/>
              </a:rPr>
              <a:t>Perú</a:t>
            </a:r>
          </a:p>
        </p:txBody>
      </p:sp>
      <p:sp>
        <p:nvSpPr>
          <p:cNvPr id="13" name="Rectangle 12"/>
          <p:cNvSpPr/>
          <p:nvPr/>
        </p:nvSpPr>
        <p:spPr>
          <a:xfrm>
            <a:off x="1920240" y="2880360"/>
            <a:ext cx="731520" cy="50292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050" b="1" i="0">
                <a:solidFill>
                  <a:srgbClr val="FFFFFF"/>
                </a:solidFill>
                <a:latin typeface="Arial"/>
              </a:rPr>
              <a:t>2016</a:t>
            </a:r>
          </a:p>
        </p:txBody>
      </p:sp>
      <p:sp>
        <p:nvSpPr>
          <p:cNvPr id="14" name="Rectangle 13"/>
          <p:cNvSpPr/>
          <p:nvPr/>
        </p:nvSpPr>
        <p:spPr>
          <a:xfrm>
            <a:off x="2724912" y="2880360"/>
            <a:ext cx="731520" cy="50292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050" b="1" i="0">
                <a:solidFill>
                  <a:srgbClr val="FFFFFF"/>
                </a:solidFill>
                <a:latin typeface="Arial"/>
              </a:rPr>
              <a:t>2017</a:t>
            </a:r>
          </a:p>
        </p:txBody>
      </p:sp>
      <p:sp>
        <p:nvSpPr>
          <p:cNvPr id="15" name="Rectangle 14"/>
          <p:cNvSpPr/>
          <p:nvPr/>
        </p:nvSpPr>
        <p:spPr>
          <a:xfrm>
            <a:off x="3529584" y="2880360"/>
            <a:ext cx="731520" cy="50292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050" b="1" i="0">
                <a:solidFill>
                  <a:srgbClr val="FFFFFF"/>
                </a:solidFill>
                <a:latin typeface="Arial"/>
              </a:rPr>
              <a:t>2018</a:t>
            </a:r>
          </a:p>
        </p:txBody>
      </p:sp>
      <p:sp>
        <p:nvSpPr>
          <p:cNvPr id="16" name="Rectangle 15"/>
          <p:cNvSpPr/>
          <p:nvPr/>
        </p:nvSpPr>
        <p:spPr>
          <a:xfrm>
            <a:off x="4334256" y="2880360"/>
            <a:ext cx="731520" cy="50292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050" b="1" i="0">
                <a:solidFill>
                  <a:srgbClr val="FFFFFF"/>
                </a:solidFill>
                <a:latin typeface="Arial"/>
              </a:rPr>
              <a:t>2019</a:t>
            </a:r>
          </a:p>
        </p:txBody>
      </p:sp>
      <p:sp>
        <p:nvSpPr>
          <p:cNvPr id="17" name="Rectangle 16"/>
          <p:cNvSpPr/>
          <p:nvPr/>
        </p:nvSpPr>
        <p:spPr>
          <a:xfrm>
            <a:off x="5138928" y="2880360"/>
            <a:ext cx="731520" cy="50292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050" b="1" i="0">
                <a:solidFill>
                  <a:srgbClr val="FFFFFF"/>
                </a:solidFill>
                <a:latin typeface="Arial"/>
              </a:rPr>
              <a:t>2020</a:t>
            </a:r>
          </a:p>
        </p:txBody>
      </p:sp>
      <p:sp>
        <p:nvSpPr>
          <p:cNvPr id="18" name="Rectangle 17"/>
          <p:cNvSpPr/>
          <p:nvPr/>
        </p:nvSpPr>
        <p:spPr>
          <a:xfrm>
            <a:off x="5943600" y="2880360"/>
            <a:ext cx="731520" cy="50292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050" b="1" i="0">
                <a:solidFill>
                  <a:srgbClr val="FFFFFF"/>
                </a:solidFill>
                <a:latin typeface="Arial"/>
              </a:rPr>
              <a:t>2021</a:t>
            </a:r>
          </a:p>
        </p:txBody>
      </p:sp>
      <p:sp>
        <p:nvSpPr>
          <p:cNvPr id="19" name="Rectangle 18"/>
          <p:cNvSpPr/>
          <p:nvPr/>
        </p:nvSpPr>
        <p:spPr>
          <a:xfrm>
            <a:off x="6748272" y="2880360"/>
            <a:ext cx="731520" cy="50292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050" b="1" i="0">
                <a:solidFill>
                  <a:srgbClr val="FFFFFF"/>
                </a:solidFill>
                <a:latin typeface="Arial"/>
              </a:rPr>
              <a:t>2022</a:t>
            </a:r>
          </a:p>
        </p:txBody>
      </p:sp>
      <p:sp>
        <p:nvSpPr>
          <p:cNvPr id="20" name="Rectangle 19"/>
          <p:cNvSpPr/>
          <p:nvPr/>
        </p:nvSpPr>
        <p:spPr>
          <a:xfrm>
            <a:off x="7552944" y="2880360"/>
            <a:ext cx="731520" cy="50292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050" b="1" i="0">
                <a:solidFill>
                  <a:srgbClr val="FFFFFF"/>
                </a:solidFill>
                <a:latin typeface="Arial"/>
              </a:rPr>
              <a:t>2023</a:t>
            </a:r>
          </a:p>
        </p:txBody>
      </p:sp>
      <p:sp>
        <p:nvSpPr>
          <p:cNvPr id="21" name="TextBox 20"/>
          <p:cNvSpPr txBox="1"/>
          <p:nvPr/>
        </p:nvSpPr>
        <p:spPr>
          <a:xfrm>
            <a:off x="731520" y="3703320"/>
            <a:ext cx="1188720" cy="457200"/>
          </a:xfrm>
          <a:prstGeom prst="rect">
            <a:avLst/>
          </a:prstGeom>
          <a:noFill/>
        </p:spPr>
        <p:txBody>
          <a:bodyPr wrap="square" anchor="t" lIns="36576" rIns="36576" tIns="36576" bIns="36576">
            <a:spAutoFit/>
          </a:bodyPr>
          <a:lstStyle/>
          <a:p>
            <a:pPr algn="l">
              <a:spcAft>
                <a:spcPts val="400"/>
              </a:spcAft>
            </a:pPr>
            <a:r>
              <a:rPr sz="1300" b="1" i="0">
                <a:solidFill>
                  <a:srgbClr val="2A9D8F"/>
                </a:solidFill>
                <a:latin typeface="Arial"/>
              </a:rPr>
              <a:t>Chile</a:t>
            </a:r>
          </a:p>
        </p:txBody>
      </p:sp>
      <p:sp>
        <p:nvSpPr>
          <p:cNvPr id="22" name="Rectangle 21"/>
          <p:cNvSpPr/>
          <p:nvPr/>
        </p:nvSpPr>
        <p:spPr>
          <a:xfrm>
            <a:off x="1920240" y="3657600"/>
            <a:ext cx="731520" cy="50292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050" b="1" i="0">
                <a:solidFill>
                  <a:srgbClr val="FFFFFF"/>
                </a:solidFill>
                <a:latin typeface="Arial"/>
              </a:rPr>
              <a:t>2016</a:t>
            </a:r>
          </a:p>
        </p:txBody>
      </p:sp>
      <p:sp>
        <p:nvSpPr>
          <p:cNvPr id="23" name="Rectangle 22"/>
          <p:cNvSpPr/>
          <p:nvPr/>
        </p:nvSpPr>
        <p:spPr>
          <a:xfrm>
            <a:off x="2724912" y="3657600"/>
            <a:ext cx="731520" cy="50292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050" b="1" i="0">
                <a:solidFill>
                  <a:srgbClr val="FFFFFF"/>
                </a:solidFill>
                <a:latin typeface="Arial"/>
              </a:rPr>
              <a:t>2017</a:t>
            </a:r>
          </a:p>
        </p:txBody>
      </p:sp>
      <p:sp>
        <p:nvSpPr>
          <p:cNvPr id="24" name="Rectangle 23"/>
          <p:cNvSpPr/>
          <p:nvPr/>
        </p:nvSpPr>
        <p:spPr>
          <a:xfrm>
            <a:off x="3529584" y="3657600"/>
            <a:ext cx="731520" cy="50292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050" b="1" i="0">
                <a:solidFill>
                  <a:srgbClr val="FFFFFF"/>
                </a:solidFill>
                <a:latin typeface="Arial"/>
              </a:rPr>
              <a:t>2018</a:t>
            </a:r>
          </a:p>
        </p:txBody>
      </p:sp>
      <p:sp>
        <p:nvSpPr>
          <p:cNvPr id="25" name="Rectangle 24"/>
          <p:cNvSpPr/>
          <p:nvPr/>
        </p:nvSpPr>
        <p:spPr>
          <a:xfrm>
            <a:off x="4334256" y="3657600"/>
            <a:ext cx="731520" cy="50292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050" b="1" i="0">
                <a:solidFill>
                  <a:srgbClr val="FFFFFF"/>
                </a:solidFill>
                <a:latin typeface="Arial"/>
              </a:rPr>
              <a:t>2019</a:t>
            </a:r>
          </a:p>
        </p:txBody>
      </p:sp>
      <p:sp>
        <p:nvSpPr>
          <p:cNvPr id="26" name="Rectangle 25"/>
          <p:cNvSpPr/>
          <p:nvPr/>
        </p:nvSpPr>
        <p:spPr>
          <a:xfrm>
            <a:off x="5138928" y="3657600"/>
            <a:ext cx="731520" cy="50292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050" b="1" i="0">
                <a:solidFill>
                  <a:srgbClr val="FFFFFF"/>
                </a:solidFill>
                <a:latin typeface="Arial"/>
              </a:rPr>
              <a:t>2020</a:t>
            </a:r>
          </a:p>
        </p:txBody>
      </p:sp>
      <p:sp>
        <p:nvSpPr>
          <p:cNvPr id="27" name="Rectangle 26"/>
          <p:cNvSpPr/>
          <p:nvPr/>
        </p:nvSpPr>
        <p:spPr>
          <a:xfrm>
            <a:off x="5943600" y="3657600"/>
            <a:ext cx="731520" cy="50292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050" b="1" i="0">
                <a:solidFill>
                  <a:srgbClr val="FFFFFF"/>
                </a:solidFill>
                <a:latin typeface="Arial"/>
              </a:rPr>
              <a:t>2021</a:t>
            </a:r>
          </a:p>
        </p:txBody>
      </p:sp>
      <p:sp>
        <p:nvSpPr>
          <p:cNvPr id="28" name="Rectangle 27"/>
          <p:cNvSpPr/>
          <p:nvPr/>
        </p:nvSpPr>
        <p:spPr>
          <a:xfrm>
            <a:off x="6748272" y="3657600"/>
            <a:ext cx="731520" cy="50292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050" b="1" i="0">
                <a:solidFill>
                  <a:srgbClr val="FFFFFF"/>
                </a:solidFill>
                <a:latin typeface="Arial"/>
              </a:rPr>
              <a:t>2022</a:t>
            </a:r>
          </a:p>
        </p:txBody>
      </p:sp>
      <p:sp>
        <p:nvSpPr>
          <p:cNvPr id="29" name="Rectangle 28"/>
          <p:cNvSpPr/>
          <p:nvPr/>
        </p:nvSpPr>
        <p:spPr>
          <a:xfrm>
            <a:off x="7552944" y="3657600"/>
            <a:ext cx="731520" cy="50292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050" b="1" i="0">
                <a:solidFill>
                  <a:srgbClr val="FFFFFF"/>
                </a:solidFill>
                <a:latin typeface="Arial"/>
              </a:rPr>
              <a:t>2023</a:t>
            </a:r>
          </a:p>
        </p:txBody>
      </p:sp>
      <p:sp>
        <p:nvSpPr>
          <p:cNvPr id="30" name="Rectangle 29"/>
          <p:cNvSpPr/>
          <p:nvPr/>
        </p:nvSpPr>
        <p:spPr>
          <a:xfrm>
            <a:off x="1920240" y="4526280"/>
            <a:ext cx="1371600" cy="36576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100" b="1" i="0">
                <a:solidFill>
                  <a:srgbClr val="FFFFFF"/>
                </a:solidFill>
                <a:latin typeface="Arial"/>
              </a:rPr>
              <a:t>Train</a:t>
            </a:r>
          </a:p>
        </p:txBody>
      </p:sp>
      <p:sp>
        <p:nvSpPr>
          <p:cNvPr id="31" name="Rectangle 30"/>
          <p:cNvSpPr/>
          <p:nvPr/>
        </p:nvSpPr>
        <p:spPr>
          <a:xfrm>
            <a:off x="3474720" y="4526280"/>
            <a:ext cx="1371600" cy="36576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100" b="1" i="0">
                <a:solidFill>
                  <a:srgbClr val="FFFFFF"/>
                </a:solidFill>
                <a:latin typeface="Arial"/>
              </a:rPr>
              <a:t>Validation</a:t>
            </a:r>
          </a:p>
        </p:txBody>
      </p:sp>
      <p:sp>
        <p:nvSpPr>
          <p:cNvPr id="32" name="TextBox 31"/>
          <p:cNvSpPr txBox="1"/>
          <p:nvPr/>
        </p:nvSpPr>
        <p:spPr>
          <a:xfrm>
            <a:off x="5029200" y="4498848"/>
            <a:ext cx="3474720" cy="411480"/>
          </a:xfrm>
          <a:prstGeom prst="rect">
            <a:avLst/>
          </a:prstGeom>
          <a:noFill/>
        </p:spPr>
        <p:txBody>
          <a:bodyPr wrap="square" anchor="t" lIns="36576" rIns="36576" tIns="36576" bIns="36576">
            <a:spAutoFit/>
          </a:bodyPr>
          <a:lstStyle/>
          <a:p>
            <a:pPr algn="l">
              <a:spcAft>
                <a:spcPts val="400"/>
              </a:spcAft>
            </a:pPr>
            <a:r>
              <a:rPr sz="1100" b="0" i="1">
                <a:solidFill>
                  <a:srgbClr val="5F6368"/>
                </a:solidFill>
                <a:latin typeface="Arial"/>
              </a:rPr>
              <a:t>partición aleatoria: años vecinos en ambos lados</a:t>
            </a:r>
          </a:p>
        </p:txBody>
      </p:sp>
      <p:sp>
        <p:nvSpPr>
          <p:cNvPr id="33" name="Rounded Rectangle 32"/>
          <p:cNvSpPr/>
          <p:nvPr/>
        </p:nvSpPr>
        <p:spPr>
          <a:xfrm>
            <a:off x="731520" y="5029200"/>
            <a:ext cx="3794760" cy="123444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4" name="TextBox 33"/>
          <p:cNvSpPr txBox="1"/>
          <p:nvPr/>
        </p:nvSpPr>
        <p:spPr>
          <a:xfrm>
            <a:off x="868680" y="513892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2A9D8F"/>
                </a:solidFill>
                <a:latin typeface="Arial"/>
              </a:rPr>
              <a:t>Sirve para</a:t>
            </a:r>
          </a:p>
        </p:txBody>
      </p:sp>
      <p:sp>
        <p:nvSpPr>
          <p:cNvPr id="35" name="TextBox 34"/>
          <p:cNvSpPr txBox="1"/>
          <p:nvPr/>
        </p:nvSpPr>
        <p:spPr>
          <a:xfrm>
            <a:off x="868680" y="5687568"/>
            <a:ext cx="3520440" cy="50292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Aprender cómo evaluar un modelo.</a:t>
            </a:r>
          </a:p>
        </p:txBody>
      </p:sp>
      <p:sp>
        <p:nvSpPr>
          <p:cNvPr id="36" name="Rounded Rectangle 35"/>
          <p:cNvSpPr/>
          <p:nvPr/>
        </p:nvSpPr>
        <p:spPr>
          <a:xfrm>
            <a:off x="4709160" y="5029200"/>
            <a:ext cx="3794760" cy="123444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7" name="TextBox 36"/>
          <p:cNvSpPr txBox="1"/>
          <p:nvPr/>
        </p:nvSpPr>
        <p:spPr>
          <a:xfrm>
            <a:off x="4846320" y="513892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No sirve para</a:t>
            </a:r>
          </a:p>
        </p:txBody>
      </p:sp>
      <p:sp>
        <p:nvSpPr>
          <p:cNvPr id="38" name="TextBox 37"/>
          <p:cNvSpPr txBox="1"/>
          <p:nvPr/>
        </p:nvSpPr>
        <p:spPr>
          <a:xfrm>
            <a:off x="4846320" y="5687568"/>
            <a:ext cx="3520440" cy="50292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Afirmar que el modelo pronostica bien el futuro.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Primer intento: regresión lineal múltiple</a:t>
            </a:r>
          </a:p>
        </p:txBody>
      </p:sp>
      <p:sp>
        <p:nvSpPr>
          <p:cNvPr id="3" name="Rectangle 2"/>
          <p:cNvSpPr/>
          <p:nvPr/>
        </p:nvSpPr>
        <p:spPr>
          <a:xfrm>
            <a:off x="731520" y="1965960"/>
            <a:ext cx="5404103" cy="50292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200" b="1" i="0">
                <a:solidFill>
                  <a:srgbClr val="FFFFFF"/>
                </a:solidFill>
                <a:latin typeface="Arial"/>
              </a:rPr>
              <a:t>Train 88</a:t>
            </a:r>
          </a:p>
        </p:txBody>
      </p:sp>
      <p:sp>
        <p:nvSpPr>
          <p:cNvPr id="4" name="Rectangle 3"/>
          <p:cNvSpPr/>
          <p:nvPr/>
        </p:nvSpPr>
        <p:spPr>
          <a:xfrm>
            <a:off x="6172199" y="1965960"/>
            <a:ext cx="1129284" cy="502920"/>
          </a:xfrm>
          <a:prstGeom prst="rect">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200" b="1" i="0">
                <a:solidFill>
                  <a:srgbClr val="FFFFFF"/>
                </a:solidFill>
                <a:latin typeface="Arial"/>
              </a:rPr>
              <a:t>Val 19</a:t>
            </a:r>
          </a:p>
        </p:txBody>
      </p:sp>
      <p:sp>
        <p:nvSpPr>
          <p:cNvPr id="5" name="Rectangle 4"/>
          <p:cNvSpPr/>
          <p:nvPr/>
        </p:nvSpPr>
        <p:spPr>
          <a:xfrm>
            <a:off x="7338059" y="1965960"/>
            <a:ext cx="1129284" cy="50292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200" b="1" i="0">
                <a:solidFill>
                  <a:srgbClr val="FFFFFF"/>
                </a:solidFill>
                <a:latin typeface="Arial"/>
              </a:rPr>
              <a:t>Test 20</a:t>
            </a:r>
          </a:p>
        </p:txBody>
      </p:sp>
      <p:graphicFrame>
        <p:nvGraphicFramePr>
          <p:cNvPr id="6" name="Table 5"/>
          <p:cNvGraphicFramePr>
            <a:graphicFrameLocks noGrp="1"/>
          </p:cNvGraphicFramePr>
          <p:nvPr/>
        </p:nvGraphicFramePr>
        <p:xfrm>
          <a:off x="731520" y="2697480"/>
          <a:ext cx="4754880" cy="2057400"/>
        </p:xfrm>
        <a:graphic>
          <a:graphicData uri="http://schemas.openxmlformats.org/drawingml/2006/table">
            <a:tbl>
              <a:tblPr firstRow="1" bandRow="1">
                <a:tableStyleId>{5C22544A-7EE6-4342-B048-85BDC9FD1C3A}</a:tableStyleId>
              </a:tblPr>
              <a:tblGrid>
                <a:gridCol w="1600200"/>
                <a:gridCol w="1097280"/>
                <a:gridCol w="685800"/>
                <a:gridCol w="685800"/>
                <a:gridCol w="685800"/>
              </a:tblGrid>
              <a:tr h="411480">
                <a:tc>
                  <a:txBody>
                    <a:bodyPr wrap="square"/>
                    <a:lstStyle/>
                    <a:p>
                      <a:pPr algn="l"/>
                      <a:r>
                        <a:rPr sz="1200" b="1" i="0">
                          <a:solidFill>
                            <a:srgbClr val="FFFFFF"/>
                          </a:solidFill>
                          <a:latin typeface="Arial"/>
                        </a:rPr>
                        <a:t>Modelo</a:t>
                      </a:r>
                    </a:p>
                  </a:txBody>
                  <a:tcPr marL="64008" marR="64008" marT="27432" marB="27432" anchor="ctr">
                    <a:solidFill>
                      <a:srgbClr val="242852"/>
                    </a:solidFill>
                  </a:tcPr>
                </a:tc>
                <a:tc>
                  <a:txBody>
                    <a:bodyPr wrap="square"/>
                    <a:lstStyle/>
                    <a:p>
                      <a:pPr algn="ctr"/>
                      <a:r>
                        <a:rPr sz="1200" b="1" i="0">
                          <a:solidFill>
                            <a:srgbClr val="FFFFFF"/>
                          </a:solidFill>
                          <a:latin typeface="Arial"/>
                        </a:rPr>
                        <a:t>Conjunto</a:t>
                      </a:r>
                    </a:p>
                  </a:txBody>
                  <a:tcPr marL="64008" marR="64008" marT="27432" marB="27432" anchor="ctr">
                    <a:solidFill>
                      <a:srgbClr val="242852"/>
                    </a:solidFill>
                  </a:tcPr>
                </a:tc>
                <a:tc>
                  <a:txBody>
                    <a:bodyPr wrap="square"/>
                    <a:lstStyle/>
                    <a:p>
                      <a:pPr algn="ctr"/>
                      <a:r>
                        <a:rPr sz="1200" b="1" i="0">
                          <a:solidFill>
                            <a:srgbClr val="FFFFFF"/>
                          </a:solidFill>
                          <a:latin typeface="Arial"/>
                        </a:rPr>
                        <a:t>MAE</a:t>
                      </a:r>
                    </a:p>
                  </a:txBody>
                  <a:tcPr marL="64008" marR="64008" marT="27432" marB="27432" anchor="ctr">
                    <a:solidFill>
                      <a:srgbClr val="242852"/>
                    </a:solidFill>
                  </a:tcPr>
                </a:tc>
                <a:tc>
                  <a:txBody>
                    <a:bodyPr wrap="square"/>
                    <a:lstStyle/>
                    <a:p>
                      <a:pPr algn="ctr"/>
                      <a:r>
                        <a:rPr sz="1200" b="1" i="0">
                          <a:solidFill>
                            <a:srgbClr val="FFFFFF"/>
                          </a:solidFill>
                          <a:latin typeface="Arial"/>
                        </a:rPr>
                        <a:t>RMSE</a:t>
                      </a:r>
                    </a:p>
                  </a:txBody>
                  <a:tcPr marL="64008" marR="64008" marT="27432" marB="27432" anchor="ctr">
                    <a:solidFill>
                      <a:srgbClr val="242852"/>
                    </a:solidFill>
                  </a:tcPr>
                </a:tc>
                <a:tc>
                  <a:txBody>
                    <a:bodyPr wrap="square"/>
                    <a:lstStyle/>
                    <a:p>
                      <a:pPr algn="ctr"/>
                      <a:r>
                        <a:rPr sz="1200" b="1" i="0">
                          <a:solidFill>
                            <a:srgbClr val="FFFFFF"/>
                          </a:solidFill>
                          <a:latin typeface="Arial"/>
                        </a:rPr>
                        <a:t>R²</a:t>
                      </a:r>
                    </a:p>
                  </a:txBody>
                  <a:tcPr marL="64008" marR="64008" marT="27432" marB="27432" anchor="ctr">
                    <a:solidFill>
                      <a:srgbClr val="242852"/>
                    </a:solidFill>
                  </a:tcPr>
                </a:tc>
              </a:tr>
              <a:tr h="411480">
                <a:tc>
                  <a:txBody>
                    <a:bodyPr wrap="square"/>
                    <a:lstStyle/>
                    <a:p>
                      <a:pPr algn="l"/>
                      <a:r>
                        <a:rPr sz="1200" b="1" i="0">
                          <a:solidFill>
                            <a:srgbClr val="2B2B2B"/>
                          </a:solidFill>
                          <a:latin typeface="Arial"/>
                        </a:rPr>
                        <a:t>Baseline (media)</a:t>
                      </a:r>
                    </a:p>
                  </a:txBody>
                  <a:tcPr marL="64008" marR="64008" marT="27432" marB="27432" anchor="ctr">
                    <a:solidFill>
                      <a:srgbClr val="FFFFFF"/>
                    </a:solidFill>
                  </a:tcPr>
                </a:tc>
                <a:tc>
                  <a:txBody>
                    <a:bodyPr wrap="square"/>
                    <a:lstStyle/>
                    <a:p>
                      <a:pPr algn="ctr"/>
                      <a:r>
                        <a:rPr sz="1200" b="0" i="0">
                          <a:solidFill>
                            <a:srgbClr val="2B2B2B"/>
                          </a:solidFill>
                          <a:latin typeface="Arial"/>
                        </a:rPr>
                        <a:t>Train</a:t>
                      </a:r>
                    </a:p>
                  </a:txBody>
                  <a:tcPr marL="64008" marR="64008" marT="27432" marB="27432" anchor="ctr">
                    <a:solidFill>
                      <a:srgbClr val="FFFFFF"/>
                    </a:solidFill>
                  </a:tcPr>
                </a:tc>
                <a:tc>
                  <a:txBody>
                    <a:bodyPr wrap="square"/>
                    <a:lstStyle/>
                    <a:p>
                      <a:pPr algn="ctr"/>
                      <a:r>
                        <a:rPr sz="1200" b="0" i="0">
                          <a:solidFill>
                            <a:srgbClr val="2B2B2B"/>
                          </a:solidFill>
                          <a:latin typeface="Arial"/>
                        </a:rPr>
                        <a:t>2.91</a:t>
                      </a:r>
                    </a:p>
                  </a:txBody>
                  <a:tcPr marL="64008" marR="64008" marT="27432" marB="27432" anchor="ctr">
                    <a:solidFill>
                      <a:srgbClr val="FFFFFF"/>
                    </a:solidFill>
                  </a:tcPr>
                </a:tc>
                <a:tc>
                  <a:txBody>
                    <a:bodyPr wrap="square"/>
                    <a:lstStyle/>
                    <a:p>
                      <a:pPr algn="ctr"/>
                      <a:r>
                        <a:rPr sz="1200" b="0" i="0">
                          <a:solidFill>
                            <a:srgbClr val="2B2B2B"/>
                          </a:solidFill>
                          <a:latin typeface="Arial"/>
                        </a:rPr>
                        <a:t>4.15</a:t>
                      </a:r>
                    </a:p>
                  </a:txBody>
                  <a:tcPr marL="64008" marR="64008" marT="27432" marB="27432" anchor="ctr">
                    <a:solidFill>
                      <a:srgbClr val="FFFFFF"/>
                    </a:solidFill>
                  </a:tcPr>
                </a:tc>
                <a:tc>
                  <a:txBody>
                    <a:bodyPr wrap="square"/>
                    <a:lstStyle/>
                    <a:p>
                      <a:pPr algn="ctr"/>
                      <a:r>
                        <a:rPr sz="1200" b="0" i="0">
                          <a:solidFill>
                            <a:srgbClr val="2B2B2B"/>
                          </a:solidFill>
                          <a:latin typeface="Arial"/>
                        </a:rPr>
                        <a:t>0.00</a:t>
                      </a:r>
                    </a:p>
                  </a:txBody>
                  <a:tcPr marL="64008" marR="64008" marT="27432" marB="27432" anchor="ctr">
                    <a:solidFill>
                      <a:srgbClr val="FFFFFF"/>
                    </a:solidFill>
                  </a:tcPr>
                </a:tc>
              </a:tr>
              <a:tr h="411480">
                <a:tc>
                  <a:txBody>
                    <a:bodyPr wrap="square"/>
                    <a:lstStyle/>
                    <a:p>
                      <a:pPr algn="l"/>
                      <a:r>
                        <a:rPr sz="1200" b="1" i="0">
                          <a:solidFill>
                            <a:srgbClr val="2B2B2B"/>
                          </a:solidFill>
                          <a:latin typeface="Arial"/>
                        </a:rPr>
                        <a:t>Baseline (media)</a:t>
                      </a:r>
                    </a:p>
                  </a:txBody>
                  <a:tcPr marL="64008" marR="64008" marT="27432" marB="27432" anchor="ctr">
                    <a:solidFill>
                      <a:srgbClr val="F2F3F5"/>
                    </a:solidFill>
                  </a:tcPr>
                </a:tc>
                <a:tc>
                  <a:txBody>
                    <a:bodyPr wrap="square"/>
                    <a:lstStyle/>
                    <a:p>
                      <a:pPr algn="ctr"/>
                      <a:r>
                        <a:rPr sz="1200" b="0" i="0">
                          <a:solidFill>
                            <a:srgbClr val="2B2B2B"/>
                          </a:solidFill>
                          <a:latin typeface="Arial"/>
                        </a:rPr>
                        <a:t>Validation</a:t>
                      </a:r>
                    </a:p>
                  </a:txBody>
                  <a:tcPr marL="64008" marR="64008" marT="27432" marB="27432" anchor="ctr">
                    <a:solidFill>
                      <a:srgbClr val="F2F3F5"/>
                    </a:solidFill>
                  </a:tcPr>
                </a:tc>
                <a:tc>
                  <a:txBody>
                    <a:bodyPr wrap="square"/>
                    <a:lstStyle/>
                    <a:p>
                      <a:pPr algn="ctr"/>
                      <a:r>
                        <a:rPr sz="1200" b="0" i="0">
                          <a:solidFill>
                            <a:srgbClr val="2B2B2B"/>
                          </a:solidFill>
                          <a:latin typeface="Arial"/>
                        </a:rPr>
                        <a:t>3.54</a:t>
                      </a:r>
                    </a:p>
                  </a:txBody>
                  <a:tcPr marL="64008" marR="64008" marT="27432" marB="27432" anchor="ctr">
                    <a:solidFill>
                      <a:srgbClr val="F2F3F5"/>
                    </a:solidFill>
                  </a:tcPr>
                </a:tc>
                <a:tc>
                  <a:txBody>
                    <a:bodyPr wrap="square"/>
                    <a:lstStyle/>
                    <a:p>
                      <a:pPr algn="ctr"/>
                      <a:r>
                        <a:rPr sz="1200" b="0" i="0">
                          <a:solidFill>
                            <a:srgbClr val="2B2B2B"/>
                          </a:solidFill>
                          <a:latin typeface="Arial"/>
                        </a:rPr>
                        <a:t>4.36</a:t>
                      </a:r>
                    </a:p>
                  </a:txBody>
                  <a:tcPr marL="64008" marR="64008" marT="27432" marB="27432" anchor="ctr">
                    <a:solidFill>
                      <a:srgbClr val="F2F3F5"/>
                    </a:solidFill>
                  </a:tcPr>
                </a:tc>
                <a:tc>
                  <a:txBody>
                    <a:bodyPr wrap="square"/>
                    <a:lstStyle/>
                    <a:p>
                      <a:pPr algn="ctr"/>
                      <a:r>
                        <a:rPr sz="1200" b="0" i="0">
                          <a:solidFill>
                            <a:srgbClr val="2B2B2B"/>
                          </a:solidFill>
                          <a:latin typeface="Arial"/>
                        </a:rPr>
                        <a:t>−0.12</a:t>
                      </a:r>
                    </a:p>
                  </a:txBody>
                  <a:tcPr marL="64008" marR="64008" marT="27432" marB="27432" anchor="ctr">
                    <a:solidFill>
                      <a:srgbClr val="F2F3F5"/>
                    </a:solidFill>
                  </a:tcPr>
                </a:tc>
              </a:tr>
              <a:tr h="411480">
                <a:tc>
                  <a:txBody>
                    <a:bodyPr wrap="square"/>
                    <a:lstStyle/>
                    <a:p>
                      <a:pPr algn="l"/>
                      <a:r>
                        <a:rPr sz="1200" b="1" i="0">
                          <a:solidFill>
                            <a:srgbClr val="2B2B2B"/>
                          </a:solidFill>
                          <a:latin typeface="Arial"/>
                        </a:rPr>
                        <a:t>Regresión lineal</a:t>
                      </a:r>
                    </a:p>
                  </a:txBody>
                  <a:tcPr marL="64008" marR="64008" marT="27432" marB="27432" anchor="ctr">
                    <a:solidFill>
                      <a:srgbClr val="FFFFFF"/>
                    </a:solidFill>
                  </a:tcPr>
                </a:tc>
                <a:tc>
                  <a:txBody>
                    <a:bodyPr wrap="square"/>
                    <a:lstStyle/>
                    <a:p>
                      <a:pPr algn="ctr"/>
                      <a:r>
                        <a:rPr sz="1200" b="0" i="0">
                          <a:solidFill>
                            <a:srgbClr val="2B2B2B"/>
                          </a:solidFill>
                          <a:latin typeface="Arial"/>
                        </a:rPr>
                        <a:t>Train</a:t>
                      </a:r>
                    </a:p>
                  </a:txBody>
                  <a:tcPr marL="64008" marR="64008" marT="27432" marB="27432" anchor="ctr">
                    <a:solidFill>
                      <a:srgbClr val="FFFFFF"/>
                    </a:solidFill>
                  </a:tcPr>
                </a:tc>
                <a:tc>
                  <a:txBody>
                    <a:bodyPr wrap="square"/>
                    <a:lstStyle/>
                    <a:p>
                      <a:pPr algn="ctr"/>
                      <a:r>
                        <a:rPr sz="1200" b="0" i="0">
                          <a:solidFill>
                            <a:srgbClr val="2B2B2B"/>
                          </a:solidFill>
                          <a:latin typeface="Arial"/>
                        </a:rPr>
                        <a:t>2.74</a:t>
                      </a:r>
                    </a:p>
                  </a:txBody>
                  <a:tcPr marL="64008" marR="64008" marT="27432" marB="27432" anchor="ctr">
                    <a:solidFill>
                      <a:srgbClr val="FFFFFF"/>
                    </a:solidFill>
                  </a:tcPr>
                </a:tc>
                <a:tc>
                  <a:txBody>
                    <a:bodyPr wrap="square"/>
                    <a:lstStyle/>
                    <a:p>
                      <a:pPr algn="ctr"/>
                      <a:r>
                        <a:rPr sz="1200" b="0" i="0">
                          <a:solidFill>
                            <a:srgbClr val="2B2B2B"/>
                          </a:solidFill>
                          <a:latin typeface="Arial"/>
                        </a:rPr>
                        <a:t>3.81</a:t>
                      </a:r>
                    </a:p>
                  </a:txBody>
                  <a:tcPr marL="64008" marR="64008" marT="27432" marB="27432" anchor="ctr">
                    <a:solidFill>
                      <a:srgbClr val="FFFFFF"/>
                    </a:solidFill>
                  </a:tcPr>
                </a:tc>
                <a:tc>
                  <a:txBody>
                    <a:bodyPr wrap="square"/>
                    <a:lstStyle/>
                    <a:p>
                      <a:pPr algn="ctr"/>
                      <a:r>
                        <a:rPr sz="1200" b="0" i="0">
                          <a:solidFill>
                            <a:srgbClr val="2B2B2B"/>
                          </a:solidFill>
                          <a:latin typeface="Arial"/>
                        </a:rPr>
                        <a:t>0.16</a:t>
                      </a:r>
                    </a:p>
                  </a:txBody>
                  <a:tcPr marL="64008" marR="64008" marT="27432" marB="27432" anchor="ctr">
                    <a:solidFill>
                      <a:srgbClr val="FFFFFF"/>
                    </a:solidFill>
                  </a:tcPr>
                </a:tc>
              </a:tr>
              <a:tr h="411480">
                <a:tc>
                  <a:txBody>
                    <a:bodyPr wrap="square"/>
                    <a:lstStyle/>
                    <a:p>
                      <a:pPr algn="l"/>
                      <a:r>
                        <a:rPr sz="1200" b="1" i="0">
                          <a:solidFill>
                            <a:srgbClr val="2B2B2B"/>
                          </a:solidFill>
                          <a:latin typeface="Arial"/>
                        </a:rPr>
                        <a:t>Regresión lineal</a:t>
                      </a:r>
                    </a:p>
                  </a:txBody>
                  <a:tcPr marL="64008" marR="64008" marT="27432" marB="27432" anchor="ctr">
                    <a:solidFill>
                      <a:srgbClr val="FBE8EA"/>
                    </a:solidFill>
                  </a:tcPr>
                </a:tc>
                <a:tc>
                  <a:txBody>
                    <a:bodyPr wrap="square"/>
                    <a:lstStyle/>
                    <a:p>
                      <a:pPr algn="ctr"/>
                      <a:r>
                        <a:rPr sz="1200" b="0" i="0">
                          <a:solidFill>
                            <a:srgbClr val="2B2B2B"/>
                          </a:solidFill>
                          <a:latin typeface="Arial"/>
                        </a:rPr>
                        <a:t>Validation</a:t>
                      </a:r>
                    </a:p>
                  </a:txBody>
                  <a:tcPr marL="64008" marR="64008" marT="27432" marB="27432" anchor="ctr">
                    <a:solidFill>
                      <a:srgbClr val="FBE8EA"/>
                    </a:solidFill>
                  </a:tcPr>
                </a:tc>
                <a:tc>
                  <a:txBody>
                    <a:bodyPr wrap="square"/>
                    <a:lstStyle/>
                    <a:p>
                      <a:pPr algn="ctr"/>
                      <a:r>
                        <a:rPr sz="1200" b="0" i="0">
                          <a:solidFill>
                            <a:srgbClr val="2B2B2B"/>
                          </a:solidFill>
                          <a:latin typeface="Arial"/>
                        </a:rPr>
                        <a:t>3.39</a:t>
                      </a:r>
                    </a:p>
                  </a:txBody>
                  <a:tcPr marL="64008" marR="64008" marT="27432" marB="27432" anchor="ctr">
                    <a:solidFill>
                      <a:srgbClr val="FBE8EA"/>
                    </a:solidFill>
                  </a:tcPr>
                </a:tc>
                <a:tc>
                  <a:txBody>
                    <a:bodyPr wrap="square"/>
                    <a:lstStyle/>
                    <a:p>
                      <a:pPr algn="ctr"/>
                      <a:r>
                        <a:rPr sz="1200" b="0" i="0">
                          <a:solidFill>
                            <a:srgbClr val="2B2B2B"/>
                          </a:solidFill>
                          <a:latin typeface="Arial"/>
                        </a:rPr>
                        <a:t>4.36</a:t>
                      </a:r>
                    </a:p>
                  </a:txBody>
                  <a:tcPr marL="64008" marR="64008" marT="27432" marB="27432" anchor="ctr">
                    <a:solidFill>
                      <a:srgbClr val="FBE8EA"/>
                    </a:solidFill>
                  </a:tcPr>
                </a:tc>
                <a:tc>
                  <a:txBody>
                    <a:bodyPr wrap="square"/>
                    <a:lstStyle/>
                    <a:p>
                      <a:pPr algn="ctr"/>
                      <a:r>
                        <a:rPr sz="1200" b="0" i="0">
                          <a:solidFill>
                            <a:srgbClr val="2B2B2B"/>
                          </a:solidFill>
                          <a:latin typeface="Arial"/>
                        </a:rPr>
                        <a:t>−0.12</a:t>
                      </a:r>
                    </a:p>
                  </a:txBody>
                  <a:tcPr marL="64008" marR="64008" marT="27432" marB="27432" anchor="ctr">
                    <a:solidFill>
                      <a:srgbClr val="FBE8EA"/>
                    </a:solidFill>
                  </a:tcPr>
                </a:tc>
              </a:tr>
            </a:tbl>
          </a:graphicData>
        </a:graphic>
      </p:graphicFrame>
      <p:sp>
        <p:nvSpPr>
          <p:cNvPr id="7" name="Rounded Rectangle 6"/>
          <p:cNvSpPr/>
          <p:nvPr/>
        </p:nvSpPr>
        <p:spPr>
          <a:xfrm>
            <a:off x="5669280" y="2697480"/>
            <a:ext cx="2834640" cy="205740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D7263D"/>
                </a:solidFill>
                <a:latin typeface="Arial"/>
              </a:rPr>
              <a:t>Casi igual que el baseline</a:t>
            </a:r>
          </a:p>
          <a:p>
            <a:pPr algn="ctr">
              <a:spcAft>
                <a:spcPts val="300"/>
              </a:spcAft>
            </a:pPr>
            <a:r>
              <a:rPr sz="1200" b="0" i="0">
                <a:solidFill>
                  <a:srgbClr val="2B2B2B"/>
                </a:solidFill>
                <a:latin typeface="Arial"/>
              </a:rPr>
              <a:t>En Validation, la recta se equivoca prácticamente lo mismo que predecir siempre 3.34 %.</a:t>
            </a:r>
          </a:p>
        </p:txBody>
      </p:sp>
      <p:sp>
        <p:nvSpPr>
          <p:cNvPr id="8" name="Rounded Rectangle 7"/>
          <p:cNvSpPr/>
          <p:nvPr/>
        </p:nvSpPr>
        <p:spPr>
          <a:xfrm>
            <a:off x="731520" y="5029200"/>
            <a:ext cx="7772400" cy="91440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300" b="1" i="0">
                <a:solidFill>
                  <a:srgbClr val="242852"/>
                </a:solidFill>
                <a:latin typeface="Arial"/>
              </a:rPr>
              <a:t>Pregunta del día: </a:t>
            </a:r>
            <a:r>
              <a:rPr sz="1300" b="0" i="0">
                <a:solidFill>
                  <a:srgbClr val="2B2B2B"/>
                </a:solidFill>
                <a:latin typeface="Arial"/>
              </a:rPr>
              <a:t>¿un modelo que no use una recta, sino reglas por regiones, lo hará mejor? Antes, aprendamos a evaluar con más cuidado.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26280"/>
            <a:ext cx="7589520" cy="365760"/>
          </a:xfrm>
          <a:prstGeom prst="rect">
            <a:avLst/>
          </a:prstGeom>
          <a:noFill/>
        </p:spPr>
        <p:txBody>
          <a:bodyPr wrap="square" anchor="t" lIns="36576" rIns="36576" tIns="36576" bIns="36576">
            <a:spAutoFit/>
          </a:bodyPr>
          <a:lstStyle/>
          <a:p>
            <a:pPr algn="l">
              <a:spcAft>
                <a:spcPts val="400"/>
              </a:spcAft>
            </a:pPr>
            <a:r>
              <a:rPr sz="1300" b="1" i="0">
                <a:solidFill>
                  <a:srgbClr val="5F6368"/>
                </a:solidFill>
                <a:latin typeface="Arial"/>
              </a:rPr>
              <a:t>En esta sección</a:t>
            </a:r>
          </a:p>
        </p:txBody>
      </p:sp>
      <p:sp>
        <p:nvSpPr>
          <p:cNvPr id="3" name="Rounded Rectangle 2"/>
          <p:cNvSpPr/>
          <p:nvPr/>
        </p:nvSpPr>
        <p:spPr>
          <a:xfrm>
            <a:off x="914400" y="4937760"/>
            <a:ext cx="2438400"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El problema</a:t>
            </a:r>
          </a:p>
        </p:txBody>
      </p:sp>
      <p:sp>
        <p:nvSpPr>
          <p:cNvPr id="4" name="Rounded Rectangle 3"/>
          <p:cNvSpPr/>
          <p:nvPr/>
        </p:nvSpPr>
        <p:spPr>
          <a:xfrm>
            <a:off x="3489960" y="4937760"/>
            <a:ext cx="2438400"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Las 5 vueltas</a:t>
            </a:r>
          </a:p>
        </p:txBody>
      </p:sp>
      <p:sp>
        <p:nvSpPr>
          <p:cNvPr id="5" name="Rounded Rectangle 4"/>
          <p:cNvSpPr/>
          <p:nvPr/>
        </p:nvSpPr>
        <p:spPr>
          <a:xfrm>
            <a:off x="6065520" y="4937760"/>
            <a:ext cx="2438400"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Resultados</a:t>
            </a:r>
          </a:p>
        </p:txBody>
      </p:sp>
      <p:sp>
        <p:nvSpPr>
          <p:cNvPr id="6" name="Oval 5"/>
          <p:cNvSpPr/>
          <p:nvPr/>
        </p:nvSpPr>
        <p:spPr>
          <a:xfrm>
            <a:off x="914400" y="2148840"/>
            <a:ext cx="1463040" cy="146304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5400" b="1" i="0">
                <a:solidFill>
                  <a:srgbClr val="FFFFFF"/>
                </a:solidFill>
                <a:latin typeface="Arial"/>
              </a:rPr>
              <a:t>2</a:t>
            </a:r>
          </a:p>
        </p:txBody>
      </p:sp>
      <p:sp>
        <p:nvSpPr>
          <p:cNvPr id="7" name="TextBox 6"/>
          <p:cNvSpPr txBox="1"/>
          <p:nvPr/>
        </p:nvSpPr>
        <p:spPr>
          <a:xfrm>
            <a:off x="2651760" y="1828800"/>
            <a:ext cx="5852160" cy="1371600"/>
          </a:xfrm>
          <a:prstGeom prst="rect">
            <a:avLst/>
          </a:prstGeom>
          <a:noFill/>
        </p:spPr>
        <p:txBody>
          <a:bodyPr wrap="square" anchor="b" lIns="36576" rIns="36576" tIns="36576" bIns="36576">
            <a:spAutoFit/>
          </a:bodyPr>
          <a:lstStyle/>
          <a:p>
            <a:pPr algn="l">
              <a:spcAft>
                <a:spcPts val="400"/>
              </a:spcAft>
            </a:pPr>
            <a:r>
              <a:rPr sz="3200" b="1" i="0">
                <a:solidFill>
                  <a:srgbClr val="242852"/>
                </a:solidFill>
                <a:latin typeface="Arial"/>
              </a:rPr>
              <a:t>Validación cruzada (K-Fold)</a:t>
            </a:r>
          </a:p>
        </p:txBody>
      </p:sp>
      <p:sp>
        <p:nvSpPr>
          <p:cNvPr id="8" name="TextBox 7"/>
          <p:cNvSpPr txBox="1"/>
          <p:nvPr/>
        </p:nvSpPr>
        <p:spPr>
          <a:xfrm>
            <a:off x="2651760" y="3291840"/>
            <a:ext cx="5852160" cy="1097280"/>
          </a:xfrm>
          <a:prstGeom prst="rect">
            <a:avLst/>
          </a:prstGeom>
          <a:noFill/>
        </p:spPr>
        <p:txBody>
          <a:bodyPr wrap="square" anchor="t" lIns="36576" rIns="36576" tIns="36576" bIns="36576">
            <a:spAutoFit/>
          </a:bodyPr>
          <a:lstStyle/>
          <a:p>
            <a:pPr algn="l">
              <a:spcAft>
                <a:spcPts val="400"/>
              </a:spcAft>
            </a:pPr>
            <a:r>
              <a:rPr sz="1600" b="0" i="0">
                <a:solidFill>
                  <a:srgbClr val="5F6368"/>
                </a:solidFill>
                <a:latin typeface="Arial"/>
              </a:rPr>
              <a:t>Una sola Validation puede salir fácil o difícil por azar. K-Fold evalúa varias veces y promedia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El problema de una sola Validation</a:t>
            </a:r>
          </a:p>
        </p:txBody>
      </p:sp>
      <p:sp>
        <p:nvSpPr>
          <p:cNvPr id="3" name="Rounded Rectangle 2"/>
          <p:cNvSpPr/>
          <p:nvPr/>
        </p:nvSpPr>
        <p:spPr>
          <a:xfrm>
            <a:off x="731520" y="2011680"/>
            <a:ext cx="3794760" cy="146304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TextBox 3"/>
          <p:cNvSpPr txBox="1"/>
          <p:nvPr/>
        </p:nvSpPr>
        <p:spPr>
          <a:xfrm>
            <a:off x="868680" y="2121408"/>
            <a:ext cx="3566160" cy="502920"/>
          </a:xfrm>
          <a:prstGeom prst="rect">
            <a:avLst/>
          </a:prstGeom>
          <a:noFill/>
        </p:spPr>
        <p:txBody>
          <a:bodyPr wrap="square" anchor="ctr" lIns="36576" rIns="36576" tIns="36576" bIns="36576">
            <a:spAutoFit/>
          </a:bodyPr>
          <a:lstStyle/>
          <a:p>
            <a:pPr algn="l">
              <a:spcAft>
                <a:spcPts val="400"/>
              </a:spcAft>
            </a:pPr>
            <a:r>
              <a:rPr sz="1400" b="1" i="0">
                <a:solidFill>
                  <a:srgbClr val="2A9D8F"/>
                </a:solidFill>
                <a:latin typeface="Arial"/>
              </a:rPr>
              <a:t>Validation “fácil”</a:t>
            </a:r>
          </a:p>
        </p:txBody>
      </p:sp>
      <p:sp>
        <p:nvSpPr>
          <p:cNvPr id="5" name="TextBox 4"/>
          <p:cNvSpPr txBox="1"/>
          <p:nvPr/>
        </p:nvSpPr>
        <p:spPr>
          <a:xfrm>
            <a:off x="868680" y="2670048"/>
            <a:ext cx="3520440" cy="731520"/>
          </a:xfrm>
          <a:prstGeom prst="rect">
            <a:avLst/>
          </a:prstGeom>
          <a:noFill/>
        </p:spPr>
        <p:txBody>
          <a:bodyPr wrap="square" anchor="t" lIns="36576" rIns="36576" tIns="36576" bIns="36576">
            <a:spAutoFit/>
          </a:bodyPr>
          <a:lstStyle/>
          <a:p>
            <a:pPr algn="l">
              <a:spcAft>
                <a:spcPts val="400"/>
              </a:spcAft>
            </a:pPr>
            <a:r>
              <a:rPr sz="1250" b="0" i="0">
                <a:solidFill>
                  <a:srgbClr val="2B2B2B"/>
                </a:solidFill>
                <a:latin typeface="Arial"/>
              </a:rPr>
              <a:t>Cayeron años normales: el error parece pequeño.</a:t>
            </a:r>
          </a:p>
        </p:txBody>
      </p:sp>
      <p:sp>
        <p:nvSpPr>
          <p:cNvPr id="6" name="Rounded Rectangle 5"/>
          <p:cNvSpPr/>
          <p:nvPr/>
        </p:nvSpPr>
        <p:spPr>
          <a:xfrm>
            <a:off x="4663440" y="2011680"/>
            <a:ext cx="3794760" cy="146304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TextBox 6"/>
          <p:cNvSpPr txBox="1"/>
          <p:nvPr/>
        </p:nvSpPr>
        <p:spPr>
          <a:xfrm>
            <a:off x="4800600" y="2121408"/>
            <a:ext cx="3566160" cy="502920"/>
          </a:xfrm>
          <a:prstGeom prst="rect">
            <a:avLst/>
          </a:prstGeom>
          <a:noFill/>
        </p:spPr>
        <p:txBody>
          <a:bodyPr wrap="square" anchor="ctr" lIns="36576" rIns="36576" tIns="36576" bIns="36576">
            <a:spAutoFit/>
          </a:bodyPr>
          <a:lstStyle/>
          <a:p>
            <a:pPr algn="l">
              <a:spcAft>
                <a:spcPts val="400"/>
              </a:spcAft>
            </a:pPr>
            <a:r>
              <a:rPr sz="1400" b="1" i="0">
                <a:solidFill>
                  <a:srgbClr val="D7263D"/>
                </a:solidFill>
                <a:latin typeface="Arial"/>
              </a:rPr>
              <a:t>Validation “difícil”</a:t>
            </a:r>
          </a:p>
        </p:txBody>
      </p:sp>
      <p:sp>
        <p:nvSpPr>
          <p:cNvPr id="8" name="TextBox 7"/>
          <p:cNvSpPr txBox="1"/>
          <p:nvPr/>
        </p:nvSpPr>
        <p:spPr>
          <a:xfrm>
            <a:off x="4800600" y="2670048"/>
            <a:ext cx="3520440" cy="731520"/>
          </a:xfrm>
          <a:prstGeom prst="rect">
            <a:avLst/>
          </a:prstGeom>
          <a:noFill/>
        </p:spPr>
        <p:txBody>
          <a:bodyPr wrap="square" anchor="t" lIns="36576" rIns="36576" tIns="36576" bIns="36576">
            <a:spAutoFit/>
          </a:bodyPr>
          <a:lstStyle/>
          <a:p>
            <a:pPr algn="l">
              <a:spcAft>
                <a:spcPts val="400"/>
              </a:spcAft>
            </a:pPr>
            <a:r>
              <a:rPr sz="1250" b="0" i="0">
                <a:solidFill>
                  <a:srgbClr val="2B2B2B"/>
                </a:solidFill>
                <a:latin typeface="Arial"/>
              </a:rPr>
              <a:t>Cayeron crisis: el error parece enorme.</a:t>
            </a:r>
          </a:p>
        </p:txBody>
      </p:sp>
      <p:sp>
        <p:nvSpPr>
          <p:cNvPr id="9" name="Rounded Rectangle 8"/>
          <p:cNvSpPr/>
          <p:nvPr/>
        </p:nvSpPr>
        <p:spPr>
          <a:xfrm>
            <a:off x="731520" y="3657600"/>
            <a:ext cx="7772400" cy="91440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500" b="1" i="0">
                <a:solidFill>
                  <a:srgbClr val="FFFFFF"/>
                </a:solidFill>
                <a:latin typeface="Arial"/>
              </a:rPr>
              <a:t>Idea de K-Fold: </a:t>
            </a:r>
            <a:r>
              <a:rPr sz="1500" b="0" i="0">
                <a:solidFill>
                  <a:srgbClr val="FFFFFF"/>
                </a:solidFill>
                <a:latin typeface="Arial"/>
              </a:rPr>
              <a:t>hacer varias “Validations” distintas y promediar.</a:t>
            </a:r>
          </a:p>
        </p:txBody>
      </p:sp>
      <p:sp>
        <p:nvSpPr>
          <p:cNvPr id="10" name="Rounded Rectangle 9"/>
          <p:cNvSpPr/>
          <p:nvPr/>
        </p:nvSpPr>
        <p:spPr>
          <a:xfrm>
            <a:off x="731520" y="4800600"/>
            <a:ext cx="7772400" cy="82296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300" b="1" i="0">
                <a:solidFill>
                  <a:srgbClr val="242852"/>
                </a:solidFill>
                <a:latin typeface="Arial"/>
              </a:rPr>
              <a:t>Analogía: </a:t>
            </a:r>
            <a:r>
              <a:rPr sz="1300" b="0" i="0">
                <a:solidFill>
                  <a:srgbClr val="2B2B2B"/>
                </a:solidFill>
                <a:latin typeface="Arial"/>
              </a:rPr>
              <a:t>un examen con 5 preguntas mide mejor que uno con una sola, aunque el estudiante sea el mismo.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K-Fold paso a paso con 5 bloques</a:t>
            </a:r>
          </a:p>
        </p:txBody>
      </p:sp>
      <p:sp>
        <p:nvSpPr>
          <p:cNvPr id="3" name="TextBox 2"/>
          <p:cNvSpPr txBox="1"/>
          <p:nvPr/>
        </p:nvSpPr>
        <p:spPr>
          <a:xfrm>
            <a:off x="731520" y="1965960"/>
            <a:ext cx="1188720" cy="365760"/>
          </a:xfrm>
          <a:prstGeom prst="rect">
            <a:avLst/>
          </a:prstGeom>
          <a:noFill/>
        </p:spPr>
        <p:txBody>
          <a:bodyPr wrap="square" anchor="t" lIns="36576" rIns="36576" tIns="36576" bIns="36576">
            <a:spAutoFit/>
          </a:bodyPr>
          <a:lstStyle/>
          <a:p>
            <a:pPr algn="l">
              <a:spcAft>
                <a:spcPts val="400"/>
              </a:spcAft>
            </a:pPr>
            <a:r>
              <a:rPr sz="1100" b="0" i="0">
                <a:solidFill>
                  <a:srgbClr val="2B2B2B"/>
                </a:solidFill>
                <a:latin typeface="Arial"/>
              </a:rPr>
              <a:t/>
            </a:r>
          </a:p>
        </p:txBody>
      </p:sp>
      <p:sp>
        <p:nvSpPr>
          <p:cNvPr id="4" name="TextBox 3"/>
          <p:cNvSpPr txBox="1"/>
          <p:nvPr/>
        </p:nvSpPr>
        <p:spPr>
          <a:xfrm>
            <a:off x="2011680" y="1965960"/>
            <a:ext cx="822960" cy="320040"/>
          </a:xfrm>
          <a:prstGeom prst="rect">
            <a:avLst/>
          </a:prstGeom>
          <a:noFill/>
        </p:spPr>
        <p:txBody>
          <a:bodyPr wrap="square" anchor="t" lIns="36576" rIns="36576" tIns="36576" bIns="36576">
            <a:spAutoFit/>
          </a:bodyPr>
          <a:lstStyle/>
          <a:p>
            <a:pPr algn="ctr">
              <a:spcAft>
                <a:spcPts val="400"/>
              </a:spcAft>
            </a:pPr>
            <a:r>
              <a:rPr sz="1050" b="1" i="0">
                <a:solidFill>
                  <a:srgbClr val="5F6368"/>
                </a:solidFill>
                <a:latin typeface="Arial"/>
              </a:rPr>
              <a:t>bloque A</a:t>
            </a:r>
          </a:p>
        </p:txBody>
      </p:sp>
      <p:sp>
        <p:nvSpPr>
          <p:cNvPr id="5" name="TextBox 4"/>
          <p:cNvSpPr txBox="1"/>
          <p:nvPr/>
        </p:nvSpPr>
        <p:spPr>
          <a:xfrm>
            <a:off x="2926080" y="1965960"/>
            <a:ext cx="822960" cy="320040"/>
          </a:xfrm>
          <a:prstGeom prst="rect">
            <a:avLst/>
          </a:prstGeom>
          <a:noFill/>
        </p:spPr>
        <p:txBody>
          <a:bodyPr wrap="square" anchor="t" lIns="36576" rIns="36576" tIns="36576" bIns="36576">
            <a:spAutoFit/>
          </a:bodyPr>
          <a:lstStyle/>
          <a:p>
            <a:pPr algn="ctr">
              <a:spcAft>
                <a:spcPts val="400"/>
              </a:spcAft>
            </a:pPr>
            <a:r>
              <a:rPr sz="1050" b="1" i="0">
                <a:solidFill>
                  <a:srgbClr val="5F6368"/>
                </a:solidFill>
                <a:latin typeface="Arial"/>
              </a:rPr>
              <a:t>bloque B</a:t>
            </a:r>
          </a:p>
        </p:txBody>
      </p:sp>
      <p:sp>
        <p:nvSpPr>
          <p:cNvPr id="6" name="TextBox 5"/>
          <p:cNvSpPr txBox="1"/>
          <p:nvPr/>
        </p:nvSpPr>
        <p:spPr>
          <a:xfrm>
            <a:off x="3840480" y="1965960"/>
            <a:ext cx="822960" cy="320040"/>
          </a:xfrm>
          <a:prstGeom prst="rect">
            <a:avLst/>
          </a:prstGeom>
          <a:noFill/>
        </p:spPr>
        <p:txBody>
          <a:bodyPr wrap="square" anchor="t" lIns="36576" rIns="36576" tIns="36576" bIns="36576">
            <a:spAutoFit/>
          </a:bodyPr>
          <a:lstStyle/>
          <a:p>
            <a:pPr algn="ctr">
              <a:spcAft>
                <a:spcPts val="400"/>
              </a:spcAft>
            </a:pPr>
            <a:r>
              <a:rPr sz="1050" b="1" i="0">
                <a:solidFill>
                  <a:srgbClr val="5F6368"/>
                </a:solidFill>
                <a:latin typeface="Arial"/>
              </a:rPr>
              <a:t>bloque C</a:t>
            </a:r>
          </a:p>
        </p:txBody>
      </p:sp>
      <p:sp>
        <p:nvSpPr>
          <p:cNvPr id="7" name="TextBox 6"/>
          <p:cNvSpPr txBox="1"/>
          <p:nvPr/>
        </p:nvSpPr>
        <p:spPr>
          <a:xfrm>
            <a:off x="4754880" y="1965960"/>
            <a:ext cx="822960" cy="320040"/>
          </a:xfrm>
          <a:prstGeom prst="rect">
            <a:avLst/>
          </a:prstGeom>
          <a:noFill/>
        </p:spPr>
        <p:txBody>
          <a:bodyPr wrap="square" anchor="t" lIns="36576" rIns="36576" tIns="36576" bIns="36576">
            <a:spAutoFit/>
          </a:bodyPr>
          <a:lstStyle/>
          <a:p>
            <a:pPr algn="ctr">
              <a:spcAft>
                <a:spcPts val="400"/>
              </a:spcAft>
            </a:pPr>
            <a:r>
              <a:rPr sz="1050" b="1" i="0">
                <a:solidFill>
                  <a:srgbClr val="5F6368"/>
                </a:solidFill>
                <a:latin typeface="Arial"/>
              </a:rPr>
              <a:t>bloque D</a:t>
            </a:r>
          </a:p>
        </p:txBody>
      </p:sp>
      <p:sp>
        <p:nvSpPr>
          <p:cNvPr id="8" name="TextBox 7"/>
          <p:cNvSpPr txBox="1"/>
          <p:nvPr/>
        </p:nvSpPr>
        <p:spPr>
          <a:xfrm>
            <a:off x="5669280" y="1965960"/>
            <a:ext cx="822960" cy="320040"/>
          </a:xfrm>
          <a:prstGeom prst="rect">
            <a:avLst/>
          </a:prstGeom>
          <a:noFill/>
        </p:spPr>
        <p:txBody>
          <a:bodyPr wrap="square" anchor="t" lIns="36576" rIns="36576" tIns="36576" bIns="36576">
            <a:spAutoFit/>
          </a:bodyPr>
          <a:lstStyle/>
          <a:p>
            <a:pPr algn="ctr">
              <a:spcAft>
                <a:spcPts val="400"/>
              </a:spcAft>
            </a:pPr>
            <a:r>
              <a:rPr sz="1050" b="1" i="0">
                <a:solidFill>
                  <a:srgbClr val="5F6368"/>
                </a:solidFill>
                <a:latin typeface="Arial"/>
              </a:rPr>
              <a:t>bloque E</a:t>
            </a:r>
          </a:p>
        </p:txBody>
      </p:sp>
      <p:sp>
        <p:nvSpPr>
          <p:cNvPr id="9" name="TextBox 8"/>
          <p:cNvSpPr txBox="1"/>
          <p:nvPr/>
        </p:nvSpPr>
        <p:spPr>
          <a:xfrm>
            <a:off x="731520" y="2404872"/>
            <a:ext cx="1188720" cy="365760"/>
          </a:xfrm>
          <a:prstGeom prst="rect">
            <a:avLst/>
          </a:prstGeom>
          <a:noFill/>
        </p:spPr>
        <p:txBody>
          <a:bodyPr wrap="square" anchor="t" lIns="36576" rIns="36576" tIns="36576" bIns="36576">
            <a:spAutoFit/>
          </a:bodyPr>
          <a:lstStyle/>
          <a:p>
            <a:pPr algn="l">
              <a:spcAft>
                <a:spcPts val="400"/>
              </a:spcAft>
            </a:pPr>
            <a:r>
              <a:rPr sz="1300" b="1" i="0">
                <a:solidFill>
                  <a:srgbClr val="242852"/>
                </a:solidFill>
                <a:latin typeface="Arial"/>
              </a:rPr>
              <a:t>Vuelta 1</a:t>
            </a:r>
          </a:p>
        </p:txBody>
      </p:sp>
      <p:sp>
        <p:nvSpPr>
          <p:cNvPr id="10" name="Rectangle 9"/>
          <p:cNvSpPr/>
          <p:nvPr/>
        </p:nvSpPr>
        <p:spPr>
          <a:xfrm>
            <a:off x="2011680" y="2331720"/>
            <a:ext cx="822960" cy="45720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100" b="1" i="0">
                <a:solidFill>
                  <a:srgbClr val="FFFFFF"/>
                </a:solidFill>
                <a:latin typeface="Arial"/>
              </a:rPr>
              <a:t>Val</a:t>
            </a:r>
          </a:p>
        </p:txBody>
      </p:sp>
      <p:sp>
        <p:nvSpPr>
          <p:cNvPr id="11" name="Rectangle 10"/>
          <p:cNvSpPr/>
          <p:nvPr/>
        </p:nvSpPr>
        <p:spPr>
          <a:xfrm>
            <a:off x="2926080" y="2331720"/>
            <a:ext cx="822960" cy="45720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100" b="1" i="0">
                <a:solidFill>
                  <a:srgbClr val="FFFFFF"/>
                </a:solidFill>
                <a:latin typeface="Arial"/>
              </a:rPr>
              <a:t>Train</a:t>
            </a:r>
          </a:p>
        </p:txBody>
      </p:sp>
      <p:sp>
        <p:nvSpPr>
          <p:cNvPr id="12" name="Rectangle 11"/>
          <p:cNvSpPr/>
          <p:nvPr/>
        </p:nvSpPr>
        <p:spPr>
          <a:xfrm>
            <a:off x="3840480" y="2331720"/>
            <a:ext cx="822960" cy="45720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100" b="1" i="0">
                <a:solidFill>
                  <a:srgbClr val="FFFFFF"/>
                </a:solidFill>
                <a:latin typeface="Arial"/>
              </a:rPr>
              <a:t>Train</a:t>
            </a:r>
          </a:p>
        </p:txBody>
      </p:sp>
      <p:sp>
        <p:nvSpPr>
          <p:cNvPr id="13" name="Rectangle 12"/>
          <p:cNvSpPr/>
          <p:nvPr/>
        </p:nvSpPr>
        <p:spPr>
          <a:xfrm>
            <a:off x="4754880" y="2331720"/>
            <a:ext cx="822960" cy="45720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100" b="1" i="0">
                <a:solidFill>
                  <a:srgbClr val="FFFFFF"/>
                </a:solidFill>
                <a:latin typeface="Arial"/>
              </a:rPr>
              <a:t>Train</a:t>
            </a:r>
          </a:p>
        </p:txBody>
      </p:sp>
      <p:sp>
        <p:nvSpPr>
          <p:cNvPr id="14" name="Rectangle 13"/>
          <p:cNvSpPr/>
          <p:nvPr/>
        </p:nvSpPr>
        <p:spPr>
          <a:xfrm>
            <a:off x="5669280" y="2331720"/>
            <a:ext cx="822960" cy="45720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100" b="1" i="0">
                <a:solidFill>
                  <a:srgbClr val="FFFFFF"/>
                </a:solidFill>
                <a:latin typeface="Arial"/>
              </a:rPr>
              <a:t>Train</a:t>
            </a:r>
          </a:p>
        </p:txBody>
      </p:sp>
      <p:sp>
        <p:nvSpPr>
          <p:cNvPr id="15" name="TextBox 14"/>
          <p:cNvSpPr txBox="1"/>
          <p:nvPr/>
        </p:nvSpPr>
        <p:spPr>
          <a:xfrm>
            <a:off x="6720840" y="2404872"/>
            <a:ext cx="1828800" cy="36576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 MAE vuelta 1</a:t>
            </a:r>
          </a:p>
        </p:txBody>
      </p:sp>
      <p:sp>
        <p:nvSpPr>
          <p:cNvPr id="16" name="TextBox 15"/>
          <p:cNvSpPr txBox="1"/>
          <p:nvPr/>
        </p:nvSpPr>
        <p:spPr>
          <a:xfrm>
            <a:off x="731520" y="2971800"/>
            <a:ext cx="1188720" cy="365760"/>
          </a:xfrm>
          <a:prstGeom prst="rect">
            <a:avLst/>
          </a:prstGeom>
          <a:noFill/>
        </p:spPr>
        <p:txBody>
          <a:bodyPr wrap="square" anchor="t" lIns="36576" rIns="36576" tIns="36576" bIns="36576">
            <a:spAutoFit/>
          </a:bodyPr>
          <a:lstStyle/>
          <a:p>
            <a:pPr algn="l">
              <a:spcAft>
                <a:spcPts val="400"/>
              </a:spcAft>
            </a:pPr>
            <a:r>
              <a:rPr sz="1300" b="1" i="0">
                <a:solidFill>
                  <a:srgbClr val="242852"/>
                </a:solidFill>
                <a:latin typeface="Arial"/>
              </a:rPr>
              <a:t>Vuelta 2</a:t>
            </a:r>
          </a:p>
        </p:txBody>
      </p:sp>
      <p:sp>
        <p:nvSpPr>
          <p:cNvPr id="17" name="Rectangle 16"/>
          <p:cNvSpPr/>
          <p:nvPr/>
        </p:nvSpPr>
        <p:spPr>
          <a:xfrm>
            <a:off x="2011680" y="2898648"/>
            <a:ext cx="822960" cy="45720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100" b="1" i="0">
                <a:solidFill>
                  <a:srgbClr val="FFFFFF"/>
                </a:solidFill>
                <a:latin typeface="Arial"/>
              </a:rPr>
              <a:t>Train</a:t>
            </a:r>
          </a:p>
        </p:txBody>
      </p:sp>
      <p:sp>
        <p:nvSpPr>
          <p:cNvPr id="18" name="Rectangle 17"/>
          <p:cNvSpPr/>
          <p:nvPr/>
        </p:nvSpPr>
        <p:spPr>
          <a:xfrm>
            <a:off x="2926080" y="2898648"/>
            <a:ext cx="822960" cy="45720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100" b="1" i="0">
                <a:solidFill>
                  <a:srgbClr val="FFFFFF"/>
                </a:solidFill>
                <a:latin typeface="Arial"/>
              </a:rPr>
              <a:t>Val</a:t>
            </a:r>
          </a:p>
        </p:txBody>
      </p:sp>
      <p:sp>
        <p:nvSpPr>
          <p:cNvPr id="19" name="Rectangle 18"/>
          <p:cNvSpPr/>
          <p:nvPr/>
        </p:nvSpPr>
        <p:spPr>
          <a:xfrm>
            <a:off x="3840480" y="2898648"/>
            <a:ext cx="822960" cy="45720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100" b="1" i="0">
                <a:solidFill>
                  <a:srgbClr val="FFFFFF"/>
                </a:solidFill>
                <a:latin typeface="Arial"/>
              </a:rPr>
              <a:t>Train</a:t>
            </a:r>
          </a:p>
        </p:txBody>
      </p:sp>
      <p:sp>
        <p:nvSpPr>
          <p:cNvPr id="20" name="Rectangle 19"/>
          <p:cNvSpPr/>
          <p:nvPr/>
        </p:nvSpPr>
        <p:spPr>
          <a:xfrm>
            <a:off x="4754880" y="2898648"/>
            <a:ext cx="822960" cy="45720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100" b="1" i="0">
                <a:solidFill>
                  <a:srgbClr val="FFFFFF"/>
                </a:solidFill>
                <a:latin typeface="Arial"/>
              </a:rPr>
              <a:t>Train</a:t>
            </a:r>
          </a:p>
        </p:txBody>
      </p:sp>
      <p:sp>
        <p:nvSpPr>
          <p:cNvPr id="21" name="Rectangle 20"/>
          <p:cNvSpPr/>
          <p:nvPr/>
        </p:nvSpPr>
        <p:spPr>
          <a:xfrm>
            <a:off x="5669280" y="2898648"/>
            <a:ext cx="822960" cy="45720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100" b="1" i="0">
                <a:solidFill>
                  <a:srgbClr val="FFFFFF"/>
                </a:solidFill>
                <a:latin typeface="Arial"/>
              </a:rPr>
              <a:t>Train</a:t>
            </a:r>
          </a:p>
        </p:txBody>
      </p:sp>
      <p:sp>
        <p:nvSpPr>
          <p:cNvPr id="22" name="TextBox 21"/>
          <p:cNvSpPr txBox="1"/>
          <p:nvPr/>
        </p:nvSpPr>
        <p:spPr>
          <a:xfrm>
            <a:off x="6720840" y="2971800"/>
            <a:ext cx="1828800" cy="36576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 MAE vuelta 2</a:t>
            </a:r>
          </a:p>
        </p:txBody>
      </p:sp>
      <p:sp>
        <p:nvSpPr>
          <p:cNvPr id="23" name="TextBox 22"/>
          <p:cNvSpPr txBox="1"/>
          <p:nvPr/>
        </p:nvSpPr>
        <p:spPr>
          <a:xfrm>
            <a:off x="731520" y="3538728"/>
            <a:ext cx="1188720" cy="365760"/>
          </a:xfrm>
          <a:prstGeom prst="rect">
            <a:avLst/>
          </a:prstGeom>
          <a:noFill/>
        </p:spPr>
        <p:txBody>
          <a:bodyPr wrap="square" anchor="t" lIns="36576" rIns="36576" tIns="36576" bIns="36576">
            <a:spAutoFit/>
          </a:bodyPr>
          <a:lstStyle/>
          <a:p>
            <a:pPr algn="l">
              <a:spcAft>
                <a:spcPts val="400"/>
              </a:spcAft>
            </a:pPr>
            <a:r>
              <a:rPr sz="1300" b="1" i="0">
                <a:solidFill>
                  <a:srgbClr val="242852"/>
                </a:solidFill>
                <a:latin typeface="Arial"/>
              </a:rPr>
              <a:t>Vuelta 3</a:t>
            </a:r>
          </a:p>
        </p:txBody>
      </p:sp>
      <p:sp>
        <p:nvSpPr>
          <p:cNvPr id="24" name="Rectangle 23"/>
          <p:cNvSpPr/>
          <p:nvPr/>
        </p:nvSpPr>
        <p:spPr>
          <a:xfrm>
            <a:off x="2011680" y="3465576"/>
            <a:ext cx="822960" cy="45720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100" b="1" i="0">
                <a:solidFill>
                  <a:srgbClr val="FFFFFF"/>
                </a:solidFill>
                <a:latin typeface="Arial"/>
              </a:rPr>
              <a:t>Train</a:t>
            </a:r>
          </a:p>
        </p:txBody>
      </p:sp>
      <p:sp>
        <p:nvSpPr>
          <p:cNvPr id="25" name="Rectangle 24"/>
          <p:cNvSpPr/>
          <p:nvPr/>
        </p:nvSpPr>
        <p:spPr>
          <a:xfrm>
            <a:off x="2926080" y="3465576"/>
            <a:ext cx="822960" cy="45720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100" b="1" i="0">
                <a:solidFill>
                  <a:srgbClr val="FFFFFF"/>
                </a:solidFill>
                <a:latin typeface="Arial"/>
              </a:rPr>
              <a:t>Train</a:t>
            </a:r>
          </a:p>
        </p:txBody>
      </p:sp>
      <p:sp>
        <p:nvSpPr>
          <p:cNvPr id="26" name="Rectangle 25"/>
          <p:cNvSpPr/>
          <p:nvPr/>
        </p:nvSpPr>
        <p:spPr>
          <a:xfrm>
            <a:off x="3840480" y="3465576"/>
            <a:ext cx="822960" cy="45720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100" b="1" i="0">
                <a:solidFill>
                  <a:srgbClr val="FFFFFF"/>
                </a:solidFill>
                <a:latin typeface="Arial"/>
              </a:rPr>
              <a:t>Val</a:t>
            </a:r>
          </a:p>
        </p:txBody>
      </p:sp>
      <p:sp>
        <p:nvSpPr>
          <p:cNvPr id="27" name="Rectangle 26"/>
          <p:cNvSpPr/>
          <p:nvPr/>
        </p:nvSpPr>
        <p:spPr>
          <a:xfrm>
            <a:off x="4754880" y="3465576"/>
            <a:ext cx="822960" cy="45720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100" b="1" i="0">
                <a:solidFill>
                  <a:srgbClr val="FFFFFF"/>
                </a:solidFill>
                <a:latin typeface="Arial"/>
              </a:rPr>
              <a:t>Train</a:t>
            </a:r>
          </a:p>
        </p:txBody>
      </p:sp>
      <p:sp>
        <p:nvSpPr>
          <p:cNvPr id="28" name="Rectangle 27"/>
          <p:cNvSpPr/>
          <p:nvPr/>
        </p:nvSpPr>
        <p:spPr>
          <a:xfrm>
            <a:off x="5669280" y="3465576"/>
            <a:ext cx="822960" cy="45720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100" b="1" i="0">
                <a:solidFill>
                  <a:srgbClr val="FFFFFF"/>
                </a:solidFill>
                <a:latin typeface="Arial"/>
              </a:rPr>
              <a:t>Train</a:t>
            </a:r>
          </a:p>
        </p:txBody>
      </p:sp>
      <p:sp>
        <p:nvSpPr>
          <p:cNvPr id="29" name="TextBox 28"/>
          <p:cNvSpPr txBox="1"/>
          <p:nvPr/>
        </p:nvSpPr>
        <p:spPr>
          <a:xfrm>
            <a:off x="6720840" y="3538728"/>
            <a:ext cx="1828800" cy="36576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 MAE vuelta 3</a:t>
            </a:r>
          </a:p>
        </p:txBody>
      </p:sp>
      <p:sp>
        <p:nvSpPr>
          <p:cNvPr id="30" name="TextBox 29"/>
          <p:cNvSpPr txBox="1"/>
          <p:nvPr/>
        </p:nvSpPr>
        <p:spPr>
          <a:xfrm>
            <a:off x="731520" y="4105656"/>
            <a:ext cx="1188720" cy="365760"/>
          </a:xfrm>
          <a:prstGeom prst="rect">
            <a:avLst/>
          </a:prstGeom>
          <a:noFill/>
        </p:spPr>
        <p:txBody>
          <a:bodyPr wrap="square" anchor="t" lIns="36576" rIns="36576" tIns="36576" bIns="36576">
            <a:spAutoFit/>
          </a:bodyPr>
          <a:lstStyle/>
          <a:p>
            <a:pPr algn="l">
              <a:spcAft>
                <a:spcPts val="400"/>
              </a:spcAft>
            </a:pPr>
            <a:r>
              <a:rPr sz="1300" b="1" i="0">
                <a:solidFill>
                  <a:srgbClr val="242852"/>
                </a:solidFill>
                <a:latin typeface="Arial"/>
              </a:rPr>
              <a:t>Vuelta 4</a:t>
            </a:r>
          </a:p>
        </p:txBody>
      </p:sp>
      <p:sp>
        <p:nvSpPr>
          <p:cNvPr id="31" name="Rectangle 30"/>
          <p:cNvSpPr/>
          <p:nvPr/>
        </p:nvSpPr>
        <p:spPr>
          <a:xfrm>
            <a:off x="2011680" y="4032504"/>
            <a:ext cx="822960" cy="45720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100" b="1" i="0">
                <a:solidFill>
                  <a:srgbClr val="FFFFFF"/>
                </a:solidFill>
                <a:latin typeface="Arial"/>
              </a:rPr>
              <a:t>Train</a:t>
            </a:r>
          </a:p>
        </p:txBody>
      </p:sp>
      <p:sp>
        <p:nvSpPr>
          <p:cNvPr id="32" name="Rectangle 31"/>
          <p:cNvSpPr/>
          <p:nvPr/>
        </p:nvSpPr>
        <p:spPr>
          <a:xfrm>
            <a:off x="2926080" y="4032504"/>
            <a:ext cx="822960" cy="45720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100" b="1" i="0">
                <a:solidFill>
                  <a:srgbClr val="FFFFFF"/>
                </a:solidFill>
                <a:latin typeface="Arial"/>
              </a:rPr>
              <a:t>Train</a:t>
            </a:r>
          </a:p>
        </p:txBody>
      </p:sp>
      <p:sp>
        <p:nvSpPr>
          <p:cNvPr id="33" name="Rectangle 32"/>
          <p:cNvSpPr/>
          <p:nvPr/>
        </p:nvSpPr>
        <p:spPr>
          <a:xfrm>
            <a:off x="3840480" y="4032504"/>
            <a:ext cx="822960" cy="45720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100" b="1" i="0">
                <a:solidFill>
                  <a:srgbClr val="FFFFFF"/>
                </a:solidFill>
                <a:latin typeface="Arial"/>
              </a:rPr>
              <a:t>Train</a:t>
            </a:r>
          </a:p>
        </p:txBody>
      </p:sp>
      <p:sp>
        <p:nvSpPr>
          <p:cNvPr id="34" name="Rectangle 33"/>
          <p:cNvSpPr/>
          <p:nvPr/>
        </p:nvSpPr>
        <p:spPr>
          <a:xfrm>
            <a:off x="4754880" y="4032504"/>
            <a:ext cx="822960" cy="45720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100" b="1" i="0">
                <a:solidFill>
                  <a:srgbClr val="FFFFFF"/>
                </a:solidFill>
                <a:latin typeface="Arial"/>
              </a:rPr>
              <a:t>Val</a:t>
            </a:r>
          </a:p>
        </p:txBody>
      </p:sp>
      <p:sp>
        <p:nvSpPr>
          <p:cNvPr id="35" name="Rectangle 34"/>
          <p:cNvSpPr/>
          <p:nvPr/>
        </p:nvSpPr>
        <p:spPr>
          <a:xfrm>
            <a:off x="5669280" y="4032504"/>
            <a:ext cx="822960" cy="45720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100" b="1" i="0">
                <a:solidFill>
                  <a:srgbClr val="FFFFFF"/>
                </a:solidFill>
                <a:latin typeface="Arial"/>
              </a:rPr>
              <a:t>Train</a:t>
            </a:r>
          </a:p>
        </p:txBody>
      </p:sp>
      <p:sp>
        <p:nvSpPr>
          <p:cNvPr id="36" name="TextBox 35"/>
          <p:cNvSpPr txBox="1"/>
          <p:nvPr/>
        </p:nvSpPr>
        <p:spPr>
          <a:xfrm>
            <a:off x="6720840" y="4105656"/>
            <a:ext cx="1828800" cy="36576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 MAE vuelta 4</a:t>
            </a:r>
          </a:p>
        </p:txBody>
      </p:sp>
      <p:sp>
        <p:nvSpPr>
          <p:cNvPr id="37" name="TextBox 36"/>
          <p:cNvSpPr txBox="1"/>
          <p:nvPr/>
        </p:nvSpPr>
        <p:spPr>
          <a:xfrm>
            <a:off x="731520" y="4672583"/>
            <a:ext cx="1188720" cy="365760"/>
          </a:xfrm>
          <a:prstGeom prst="rect">
            <a:avLst/>
          </a:prstGeom>
          <a:noFill/>
        </p:spPr>
        <p:txBody>
          <a:bodyPr wrap="square" anchor="t" lIns="36576" rIns="36576" tIns="36576" bIns="36576">
            <a:spAutoFit/>
          </a:bodyPr>
          <a:lstStyle/>
          <a:p>
            <a:pPr algn="l">
              <a:spcAft>
                <a:spcPts val="400"/>
              </a:spcAft>
            </a:pPr>
            <a:r>
              <a:rPr sz="1300" b="1" i="0">
                <a:solidFill>
                  <a:srgbClr val="242852"/>
                </a:solidFill>
                <a:latin typeface="Arial"/>
              </a:rPr>
              <a:t>Vuelta 5</a:t>
            </a:r>
          </a:p>
        </p:txBody>
      </p:sp>
      <p:sp>
        <p:nvSpPr>
          <p:cNvPr id="38" name="Rectangle 37"/>
          <p:cNvSpPr/>
          <p:nvPr/>
        </p:nvSpPr>
        <p:spPr>
          <a:xfrm>
            <a:off x="2011680" y="4599431"/>
            <a:ext cx="822960" cy="45720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100" b="1" i="0">
                <a:solidFill>
                  <a:srgbClr val="FFFFFF"/>
                </a:solidFill>
                <a:latin typeface="Arial"/>
              </a:rPr>
              <a:t>Train</a:t>
            </a:r>
          </a:p>
        </p:txBody>
      </p:sp>
      <p:sp>
        <p:nvSpPr>
          <p:cNvPr id="39" name="Rectangle 38"/>
          <p:cNvSpPr/>
          <p:nvPr/>
        </p:nvSpPr>
        <p:spPr>
          <a:xfrm>
            <a:off x="2926080" y="4599431"/>
            <a:ext cx="822960" cy="45720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100" b="1" i="0">
                <a:solidFill>
                  <a:srgbClr val="FFFFFF"/>
                </a:solidFill>
                <a:latin typeface="Arial"/>
              </a:rPr>
              <a:t>Train</a:t>
            </a:r>
          </a:p>
        </p:txBody>
      </p:sp>
      <p:sp>
        <p:nvSpPr>
          <p:cNvPr id="40" name="Rectangle 39"/>
          <p:cNvSpPr/>
          <p:nvPr/>
        </p:nvSpPr>
        <p:spPr>
          <a:xfrm>
            <a:off x="3840480" y="4599431"/>
            <a:ext cx="822960" cy="45720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100" b="1" i="0">
                <a:solidFill>
                  <a:srgbClr val="FFFFFF"/>
                </a:solidFill>
                <a:latin typeface="Arial"/>
              </a:rPr>
              <a:t>Train</a:t>
            </a:r>
          </a:p>
        </p:txBody>
      </p:sp>
      <p:sp>
        <p:nvSpPr>
          <p:cNvPr id="41" name="Rectangle 40"/>
          <p:cNvSpPr/>
          <p:nvPr/>
        </p:nvSpPr>
        <p:spPr>
          <a:xfrm>
            <a:off x="4754880" y="4599431"/>
            <a:ext cx="822960" cy="45720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100" b="1" i="0">
                <a:solidFill>
                  <a:srgbClr val="FFFFFF"/>
                </a:solidFill>
                <a:latin typeface="Arial"/>
              </a:rPr>
              <a:t>Train</a:t>
            </a:r>
          </a:p>
        </p:txBody>
      </p:sp>
      <p:sp>
        <p:nvSpPr>
          <p:cNvPr id="42" name="Rectangle 41"/>
          <p:cNvSpPr/>
          <p:nvPr/>
        </p:nvSpPr>
        <p:spPr>
          <a:xfrm>
            <a:off x="5669280" y="4599431"/>
            <a:ext cx="822960" cy="45720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100" b="1" i="0">
                <a:solidFill>
                  <a:srgbClr val="FFFFFF"/>
                </a:solidFill>
                <a:latin typeface="Arial"/>
              </a:rPr>
              <a:t>Val</a:t>
            </a:r>
          </a:p>
        </p:txBody>
      </p:sp>
      <p:sp>
        <p:nvSpPr>
          <p:cNvPr id="43" name="TextBox 42"/>
          <p:cNvSpPr txBox="1"/>
          <p:nvPr/>
        </p:nvSpPr>
        <p:spPr>
          <a:xfrm>
            <a:off x="6720840" y="4672583"/>
            <a:ext cx="1828800" cy="36576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 MAE vuelta 5</a:t>
            </a:r>
          </a:p>
        </p:txBody>
      </p:sp>
      <p:sp>
        <p:nvSpPr>
          <p:cNvPr id="44" name="Rounded Rectangle 43"/>
          <p:cNvSpPr/>
          <p:nvPr/>
        </p:nvSpPr>
        <p:spPr>
          <a:xfrm>
            <a:off x="731520" y="5257800"/>
            <a:ext cx="3794760" cy="100584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242852"/>
                </a:solidFill>
                <a:latin typeface="Arial"/>
              </a:rPr>
              <a:t>5 modelos distintos</a:t>
            </a:r>
          </a:p>
          <a:p>
            <a:pPr algn="ctr">
              <a:spcAft>
                <a:spcPts val="300"/>
              </a:spcAft>
            </a:pPr>
            <a:r>
              <a:rPr sz="1200" b="0" i="0">
                <a:solidFill>
                  <a:srgbClr val="2B2B2B"/>
                </a:solidFill>
                <a:latin typeface="Arial"/>
              </a:rPr>
              <a:t>cada uno entrenado con 85–86 filas</a:t>
            </a:r>
          </a:p>
        </p:txBody>
      </p:sp>
      <p:sp>
        <p:nvSpPr>
          <p:cNvPr id="45" name="Rounded Rectangle 44"/>
          <p:cNvSpPr/>
          <p:nvPr/>
        </p:nvSpPr>
        <p:spPr>
          <a:xfrm>
            <a:off x="4709160" y="5257800"/>
            <a:ext cx="3794760" cy="100584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D7263D"/>
                </a:solidFill>
                <a:latin typeface="Arial"/>
              </a:rPr>
              <a:t>5 mediciones del error</a:t>
            </a:r>
          </a:p>
          <a:p>
            <a:pPr algn="ctr">
              <a:spcAft>
                <a:spcPts val="300"/>
              </a:spcAft>
            </a:pPr>
            <a:r>
              <a:rPr sz="1200" b="0" i="0">
                <a:solidFill>
                  <a:srgbClr val="2B2B2B"/>
                </a:solidFill>
                <a:latin typeface="Arial"/>
              </a:rPr>
              <a:t>cada una con 21–22 filas nunca vistas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Resultados de K-Fold con la regresión lineal</a:t>
            </a:r>
          </a:p>
        </p:txBody>
      </p:sp>
      <p:graphicFrame>
        <p:nvGraphicFramePr>
          <p:cNvPr id="3" name="Chart 2"/>
          <p:cNvGraphicFramePr>
            <a:graphicFrameLocks noGrp="1"/>
          </p:cNvGraphicFramePr>
          <p:nvPr/>
        </p:nvGraphicFramePr>
        <p:xfrm>
          <a:off x="731520" y="1920240"/>
          <a:ext cx="4572000" cy="3108960"/>
        </p:xfrm>
        <a:graphic>
          <a:graphicData uri="http://schemas.openxmlformats.org/drawingml/2006/chart">
            <c:chart xmlns:c="http://schemas.openxmlformats.org/drawingml/2006/chart" r:id="rId3"/>
          </a:graphicData>
        </a:graphic>
      </p:graphicFrame>
      <p:sp>
        <p:nvSpPr>
          <p:cNvPr id="4" name="Rounded Rectangle 3"/>
          <p:cNvSpPr/>
          <p:nvPr/>
        </p:nvSpPr>
        <p:spPr>
          <a:xfrm>
            <a:off x="5486400" y="2011680"/>
            <a:ext cx="3017520" cy="128016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C9D2E8"/>
                </a:solidFill>
                <a:latin typeface="Arial"/>
              </a:rPr>
              <a:t>Promedio de los 5 MAE</a:t>
            </a:r>
          </a:p>
          <a:p>
            <a:pPr algn="ctr">
              <a:spcAft>
                <a:spcPts val="300"/>
              </a:spcAft>
            </a:pPr>
            <a:r>
              <a:rPr sz="2800" b="1" i="0">
                <a:solidFill>
                  <a:srgbClr val="FFFFFF"/>
                </a:solidFill>
                <a:latin typeface="Arial"/>
              </a:rPr>
              <a:t>3.11</a:t>
            </a:r>
          </a:p>
        </p:txBody>
      </p:sp>
      <p:sp>
        <p:nvSpPr>
          <p:cNvPr id="5" name="Rounded Rectangle 4"/>
          <p:cNvSpPr/>
          <p:nvPr/>
        </p:nvSpPr>
        <p:spPr>
          <a:xfrm>
            <a:off x="5486400" y="3429000"/>
            <a:ext cx="3017520" cy="12801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Desviación entre vueltas</a:t>
            </a:r>
          </a:p>
          <a:p>
            <a:pPr algn="ctr">
              <a:spcAft>
                <a:spcPts val="300"/>
              </a:spcAft>
            </a:pPr>
            <a:r>
              <a:rPr sz="2400" b="1" i="0">
                <a:solidFill>
                  <a:srgbClr val="D7263D"/>
                </a:solidFill>
                <a:latin typeface="Arial"/>
              </a:rPr>
              <a:t>± 0.41</a:t>
            </a:r>
          </a:p>
        </p:txBody>
      </p:sp>
      <p:sp>
        <p:nvSpPr>
          <p:cNvPr id="6" name="Rounded Rectangle 5"/>
          <p:cNvSpPr/>
          <p:nvPr/>
        </p:nvSpPr>
        <p:spPr>
          <a:xfrm>
            <a:off x="731520" y="5212080"/>
            <a:ext cx="7772400" cy="105156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300" b="1" i="0">
                <a:solidFill>
                  <a:srgbClr val="242852"/>
                </a:solidFill>
                <a:latin typeface="Arial"/>
              </a:rPr>
              <a:t>A mano: </a:t>
            </a:r>
            <a:r>
              <a:rPr sz="1250" b="0" i="0">
                <a:solidFill>
                  <a:srgbClr val="2B2B2B"/>
                </a:solidFill>
                <a:latin typeface="Arial"/>
              </a:rPr>
              <a:t>(2.74 + 3.47 + 2.70 + 3.59 + 3.05) / 5 = 15.55 / 5 = 3.11. Con una sola Validation habríamos visto 3.39: ni “la verdad”, ni un error; solo una de muchas posibilidades.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Holdout vs K-Fold, y la prueba final en Test</a:t>
            </a:r>
          </a:p>
        </p:txBody>
      </p:sp>
      <p:graphicFrame>
        <p:nvGraphicFramePr>
          <p:cNvPr id="3" name="Table 2"/>
          <p:cNvGraphicFramePr>
            <a:graphicFrameLocks noGrp="1"/>
          </p:cNvGraphicFramePr>
          <p:nvPr/>
        </p:nvGraphicFramePr>
        <p:xfrm>
          <a:off x="731520" y="2011680"/>
          <a:ext cx="7772400" cy="1316736"/>
        </p:xfrm>
        <a:graphic>
          <a:graphicData uri="http://schemas.openxmlformats.org/drawingml/2006/table">
            <a:tbl>
              <a:tblPr firstRow="1" bandRow="1">
                <a:tableStyleId>{5C22544A-7EE6-4342-B048-85BDC9FD1C3A}</a:tableStyleId>
              </a:tblPr>
              <a:tblGrid>
                <a:gridCol w="2743200"/>
                <a:gridCol w="1554480"/>
                <a:gridCol w="1143000"/>
                <a:gridCol w="1143000"/>
                <a:gridCol w="1188720"/>
              </a:tblGrid>
              <a:tr h="438912">
                <a:tc>
                  <a:txBody>
                    <a:bodyPr wrap="square"/>
                    <a:lstStyle/>
                    <a:p>
                      <a:pPr algn="l"/>
                      <a:r>
                        <a:rPr sz="1300" b="1" i="0">
                          <a:solidFill>
                            <a:srgbClr val="FFFFFF"/>
                          </a:solidFill>
                          <a:latin typeface="Arial"/>
                        </a:rPr>
                        <a:t>Evaluación</a:t>
                      </a:r>
                    </a:p>
                  </a:txBody>
                  <a:tcPr marL="64008" marR="64008" marT="27432" marB="27432" anchor="ctr">
                    <a:solidFill>
                      <a:srgbClr val="242852"/>
                    </a:solidFill>
                  </a:tcPr>
                </a:tc>
                <a:tc>
                  <a:txBody>
                    <a:bodyPr wrap="square"/>
                    <a:lstStyle/>
                    <a:p>
                      <a:pPr algn="ctr"/>
                      <a:r>
                        <a:rPr sz="1300" b="1" i="0">
                          <a:solidFill>
                            <a:srgbClr val="FFFFFF"/>
                          </a:solidFill>
                          <a:latin typeface="Arial"/>
                        </a:rPr>
                        <a:t>Filas evaluadas</a:t>
                      </a:r>
                    </a:p>
                  </a:txBody>
                  <a:tcPr marL="64008" marR="64008" marT="27432" marB="27432" anchor="ctr">
                    <a:solidFill>
                      <a:srgbClr val="242852"/>
                    </a:solidFill>
                  </a:tcPr>
                </a:tc>
                <a:tc>
                  <a:txBody>
                    <a:bodyPr wrap="square"/>
                    <a:lstStyle/>
                    <a:p>
                      <a:pPr algn="ctr"/>
                      <a:r>
                        <a:rPr sz="1300" b="1" i="0">
                          <a:solidFill>
                            <a:srgbClr val="FFFFFF"/>
                          </a:solidFill>
                          <a:latin typeface="Arial"/>
                        </a:rPr>
                        <a:t>MAE</a:t>
                      </a:r>
                    </a:p>
                  </a:txBody>
                  <a:tcPr marL="64008" marR="64008" marT="27432" marB="27432" anchor="ctr">
                    <a:solidFill>
                      <a:srgbClr val="242852"/>
                    </a:solidFill>
                  </a:tcPr>
                </a:tc>
                <a:tc>
                  <a:txBody>
                    <a:bodyPr wrap="square"/>
                    <a:lstStyle/>
                    <a:p>
                      <a:pPr algn="ctr"/>
                      <a:r>
                        <a:rPr sz="1300" b="1" i="0">
                          <a:solidFill>
                            <a:srgbClr val="FFFFFF"/>
                          </a:solidFill>
                          <a:latin typeface="Arial"/>
                        </a:rPr>
                        <a:t>RMSE</a:t>
                      </a:r>
                    </a:p>
                  </a:txBody>
                  <a:tcPr marL="64008" marR="64008" marT="27432" marB="27432" anchor="ctr">
                    <a:solidFill>
                      <a:srgbClr val="242852"/>
                    </a:solidFill>
                  </a:tcPr>
                </a:tc>
                <a:tc>
                  <a:txBody>
                    <a:bodyPr wrap="square"/>
                    <a:lstStyle/>
                    <a:p>
                      <a:pPr algn="ctr"/>
                      <a:r>
                        <a:rPr sz="1300" b="1" i="0">
                          <a:solidFill>
                            <a:srgbClr val="FFFFFF"/>
                          </a:solidFill>
                          <a:latin typeface="Arial"/>
                        </a:rPr>
                        <a:t>R²</a:t>
                      </a:r>
                    </a:p>
                  </a:txBody>
                  <a:tcPr marL="64008" marR="64008" marT="27432" marB="27432" anchor="ctr">
                    <a:solidFill>
                      <a:srgbClr val="242852"/>
                    </a:solidFill>
                  </a:tcPr>
                </a:tc>
              </a:tr>
              <a:tr h="438912">
                <a:tc>
                  <a:txBody>
                    <a:bodyPr wrap="square"/>
                    <a:lstStyle/>
                    <a:p>
                      <a:pPr algn="l"/>
                      <a:r>
                        <a:rPr sz="1300" b="1" i="0">
                          <a:solidFill>
                            <a:srgbClr val="2B2B2B"/>
                          </a:solidFill>
                          <a:latin typeface="Arial"/>
                        </a:rPr>
                        <a:t>Holdout (una Validation)</a:t>
                      </a:r>
                    </a:p>
                  </a:txBody>
                  <a:tcPr marL="64008" marR="64008" marT="27432" marB="27432" anchor="ctr">
                    <a:solidFill>
                      <a:srgbClr val="FFFFFF"/>
                    </a:solidFill>
                  </a:tcPr>
                </a:tc>
                <a:tc>
                  <a:txBody>
                    <a:bodyPr wrap="square"/>
                    <a:lstStyle/>
                    <a:p>
                      <a:pPr algn="ctr"/>
                      <a:r>
                        <a:rPr sz="1300" b="0" i="0">
                          <a:solidFill>
                            <a:srgbClr val="2B2B2B"/>
                          </a:solidFill>
                          <a:latin typeface="Arial"/>
                        </a:rPr>
                        <a:t>19</a:t>
                      </a:r>
                    </a:p>
                  </a:txBody>
                  <a:tcPr marL="64008" marR="64008" marT="27432" marB="27432" anchor="ctr">
                    <a:solidFill>
                      <a:srgbClr val="FFFFFF"/>
                    </a:solidFill>
                  </a:tcPr>
                </a:tc>
                <a:tc>
                  <a:txBody>
                    <a:bodyPr wrap="square"/>
                    <a:lstStyle/>
                    <a:p>
                      <a:pPr algn="ctr"/>
                      <a:r>
                        <a:rPr sz="1300" b="0" i="0">
                          <a:solidFill>
                            <a:srgbClr val="2B2B2B"/>
                          </a:solidFill>
                          <a:latin typeface="Arial"/>
                        </a:rPr>
                        <a:t>3.39</a:t>
                      </a:r>
                    </a:p>
                  </a:txBody>
                  <a:tcPr marL="64008" marR="64008" marT="27432" marB="27432" anchor="ctr">
                    <a:solidFill>
                      <a:srgbClr val="FFFFFF"/>
                    </a:solidFill>
                  </a:tcPr>
                </a:tc>
                <a:tc>
                  <a:txBody>
                    <a:bodyPr wrap="square"/>
                    <a:lstStyle/>
                    <a:p>
                      <a:pPr algn="ctr"/>
                      <a:r>
                        <a:rPr sz="1300" b="0" i="0">
                          <a:solidFill>
                            <a:srgbClr val="2B2B2B"/>
                          </a:solidFill>
                          <a:latin typeface="Arial"/>
                        </a:rPr>
                        <a:t>4.36</a:t>
                      </a:r>
                    </a:p>
                  </a:txBody>
                  <a:tcPr marL="64008" marR="64008" marT="27432" marB="27432" anchor="ctr">
                    <a:solidFill>
                      <a:srgbClr val="FFFFFF"/>
                    </a:solidFill>
                  </a:tcPr>
                </a:tc>
                <a:tc>
                  <a:txBody>
                    <a:bodyPr wrap="square"/>
                    <a:lstStyle/>
                    <a:p>
                      <a:pPr algn="ctr"/>
                      <a:r>
                        <a:rPr sz="1300" b="0" i="0">
                          <a:solidFill>
                            <a:srgbClr val="2B2B2B"/>
                          </a:solidFill>
                          <a:latin typeface="Arial"/>
                        </a:rPr>
                        <a:t>−0.12</a:t>
                      </a:r>
                    </a:p>
                  </a:txBody>
                  <a:tcPr marL="64008" marR="64008" marT="27432" marB="27432" anchor="ctr">
                    <a:solidFill>
                      <a:srgbClr val="FFFFFF"/>
                    </a:solidFill>
                  </a:tcPr>
                </a:tc>
              </a:tr>
              <a:tr h="438912">
                <a:tc>
                  <a:txBody>
                    <a:bodyPr wrap="square"/>
                    <a:lstStyle/>
                    <a:p>
                      <a:pPr algn="l"/>
                      <a:r>
                        <a:rPr sz="1300" b="1" i="0">
                          <a:solidFill>
                            <a:srgbClr val="2B2B2B"/>
                          </a:solidFill>
                          <a:latin typeface="Arial"/>
                        </a:rPr>
                        <a:t>K-Fold (5 vueltas)</a:t>
                      </a:r>
                    </a:p>
                  </a:txBody>
                  <a:tcPr marL="64008" marR="64008" marT="27432" marB="27432" anchor="ctr">
                    <a:solidFill>
                      <a:srgbClr val="F2F3F5"/>
                    </a:solidFill>
                  </a:tcPr>
                </a:tc>
                <a:tc>
                  <a:txBody>
                    <a:bodyPr wrap="square"/>
                    <a:lstStyle/>
                    <a:p>
                      <a:pPr algn="ctr"/>
                      <a:r>
                        <a:rPr sz="1300" b="0" i="0">
                          <a:solidFill>
                            <a:srgbClr val="2B2B2B"/>
                          </a:solidFill>
                          <a:latin typeface="Arial"/>
                        </a:rPr>
                        <a:t>107</a:t>
                      </a:r>
                    </a:p>
                  </a:txBody>
                  <a:tcPr marL="64008" marR="64008" marT="27432" marB="27432" anchor="ctr">
                    <a:solidFill>
                      <a:srgbClr val="F2F3F5"/>
                    </a:solidFill>
                  </a:tcPr>
                </a:tc>
                <a:tc>
                  <a:txBody>
                    <a:bodyPr wrap="square"/>
                    <a:lstStyle/>
                    <a:p>
                      <a:pPr algn="ctr"/>
                      <a:r>
                        <a:rPr sz="1300" b="0" i="0">
                          <a:solidFill>
                            <a:srgbClr val="2B2B2B"/>
                          </a:solidFill>
                          <a:latin typeface="Arial"/>
                        </a:rPr>
                        <a:t>3.11</a:t>
                      </a:r>
                    </a:p>
                  </a:txBody>
                  <a:tcPr marL="64008" marR="64008" marT="27432" marB="27432" anchor="ctr">
                    <a:solidFill>
                      <a:srgbClr val="F2F3F5"/>
                    </a:solidFill>
                  </a:tcPr>
                </a:tc>
                <a:tc>
                  <a:txBody>
                    <a:bodyPr wrap="square"/>
                    <a:lstStyle/>
                    <a:p>
                      <a:pPr algn="ctr"/>
                      <a:r>
                        <a:rPr sz="1300" b="0" i="0">
                          <a:solidFill>
                            <a:srgbClr val="2B2B2B"/>
                          </a:solidFill>
                          <a:latin typeface="Arial"/>
                        </a:rPr>
                        <a:t>4.15</a:t>
                      </a:r>
                    </a:p>
                  </a:txBody>
                  <a:tcPr marL="64008" marR="64008" marT="27432" marB="27432" anchor="ctr">
                    <a:solidFill>
                      <a:srgbClr val="F2F3F5"/>
                    </a:solidFill>
                  </a:tcPr>
                </a:tc>
                <a:tc>
                  <a:txBody>
                    <a:bodyPr wrap="square"/>
                    <a:lstStyle/>
                    <a:p>
                      <a:pPr algn="ctr"/>
                      <a:r>
                        <a:rPr sz="1300" b="0" i="0">
                          <a:solidFill>
                            <a:srgbClr val="2B2B2B"/>
                          </a:solidFill>
                          <a:latin typeface="Arial"/>
                        </a:rPr>
                        <a:t>0.01</a:t>
                      </a:r>
                    </a:p>
                  </a:txBody>
                  <a:tcPr marL="64008" marR="64008" marT="27432" marB="27432" anchor="ctr">
                    <a:solidFill>
                      <a:srgbClr val="F2F3F5"/>
                    </a:solidFill>
                  </a:tcPr>
                </a:tc>
              </a:tr>
            </a:tbl>
          </a:graphicData>
        </a:graphic>
      </p:graphicFrame>
      <p:sp>
        <p:nvSpPr>
          <p:cNvPr id="4" name="TextBox 3"/>
          <p:cNvSpPr txBox="1"/>
          <p:nvPr/>
        </p:nvSpPr>
        <p:spPr>
          <a:xfrm>
            <a:off x="731520" y="3520440"/>
            <a:ext cx="7772400" cy="365760"/>
          </a:xfrm>
          <a:prstGeom prst="rect">
            <a:avLst/>
          </a:prstGeom>
          <a:noFill/>
        </p:spPr>
        <p:txBody>
          <a:bodyPr wrap="square" anchor="t" lIns="36576" rIns="36576" tIns="36576" bIns="36576">
            <a:spAutoFit/>
          </a:bodyPr>
          <a:lstStyle/>
          <a:p>
            <a:pPr algn="l">
              <a:spcAft>
                <a:spcPts val="400"/>
              </a:spcAft>
            </a:pPr>
            <a:r>
              <a:rPr sz="1400" b="1" i="0">
                <a:solidFill>
                  <a:srgbClr val="242852"/>
                </a:solidFill>
                <a:latin typeface="Arial"/>
              </a:rPr>
              <a:t>Prueba final en Test (20 filas, se mira una sola vez)</a:t>
            </a:r>
          </a:p>
        </p:txBody>
      </p:sp>
      <p:graphicFrame>
        <p:nvGraphicFramePr>
          <p:cNvPr id="5" name="Table 4"/>
          <p:cNvGraphicFramePr>
            <a:graphicFrameLocks noGrp="1"/>
          </p:cNvGraphicFramePr>
          <p:nvPr/>
        </p:nvGraphicFramePr>
        <p:xfrm>
          <a:off x="731520" y="3931920"/>
          <a:ext cx="7772400" cy="1316736"/>
        </p:xfrm>
        <a:graphic>
          <a:graphicData uri="http://schemas.openxmlformats.org/drawingml/2006/table">
            <a:tbl>
              <a:tblPr firstRow="1" bandRow="1">
                <a:tableStyleId>{5C22544A-7EE6-4342-B048-85BDC9FD1C3A}</a:tableStyleId>
              </a:tblPr>
              <a:tblGrid>
                <a:gridCol w="2743200"/>
                <a:gridCol w="2103120"/>
                <a:gridCol w="960120"/>
                <a:gridCol w="960120"/>
                <a:gridCol w="1005840"/>
              </a:tblGrid>
              <a:tr h="438912">
                <a:tc>
                  <a:txBody>
                    <a:bodyPr wrap="square"/>
                    <a:lstStyle/>
                    <a:p>
                      <a:pPr algn="l"/>
                      <a:r>
                        <a:rPr sz="1300" b="1" i="0">
                          <a:solidFill>
                            <a:srgbClr val="FFFFFF"/>
                          </a:solidFill>
                          <a:latin typeface="Arial"/>
                        </a:rPr>
                        <a:t>Modelo final</a:t>
                      </a:r>
                    </a:p>
                  </a:txBody>
                  <a:tcPr marL="64008" marR="64008" marT="27432" marB="27432" anchor="ctr">
                    <a:solidFill>
                      <a:srgbClr val="242852"/>
                    </a:solidFill>
                  </a:tcPr>
                </a:tc>
                <a:tc>
                  <a:txBody>
                    <a:bodyPr wrap="square"/>
                    <a:lstStyle/>
                    <a:p>
                      <a:pPr algn="ctr"/>
                      <a:r>
                        <a:rPr sz="1300" b="1" i="0">
                          <a:solidFill>
                            <a:srgbClr val="FFFFFF"/>
                          </a:solidFill>
                          <a:latin typeface="Arial"/>
                        </a:rPr>
                        <a:t>Entrenado con</a:t>
                      </a:r>
                    </a:p>
                  </a:txBody>
                  <a:tcPr marL="64008" marR="64008" marT="27432" marB="27432" anchor="ctr">
                    <a:solidFill>
                      <a:srgbClr val="242852"/>
                    </a:solidFill>
                  </a:tcPr>
                </a:tc>
                <a:tc>
                  <a:txBody>
                    <a:bodyPr wrap="square"/>
                    <a:lstStyle/>
                    <a:p>
                      <a:pPr algn="ctr"/>
                      <a:r>
                        <a:rPr sz="1300" b="1" i="0">
                          <a:solidFill>
                            <a:srgbClr val="FFFFFF"/>
                          </a:solidFill>
                          <a:latin typeface="Arial"/>
                        </a:rPr>
                        <a:t>MAE</a:t>
                      </a:r>
                    </a:p>
                  </a:txBody>
                  <a:tcPr marL="64008" marR="64008" marT="27432" marB="27432" anchor="ctr">
                    <a:solidFill>
                      <a:srgbClr val="242852"/>
                    </a:solidFill>
                  </a:tcPr>
                </a:tc>
                <a:tc>
                  <a:txBody>
                    <a:bodyPr wrap="square"/>
                    <a:lstStyle/>
                    <a:p>
                      <a:pPr algn="ctr"/>
                      <a:r>
                        <a:rPr sz="1300" b="1" i="0">
                          <a:solidFill>
                            <a:srgbClr val="FFFFFF"/>
                          </a:solidFill>
                          <a:latin typeface="Arial"/>
                        </a:rPr>
                        <a:t>RMSE</a:t>
                      </a:r>
                    </a:p>
                  </a:txBody>
                  <a:tcPr marL="64008" marR="64008" marT="27432" marB="27432" anchor="ctr">
                    <a:solidFill>
                      <a:srgbClr val="242852"/>
                    </a:solidFill>
                  </a:tcPr>
                </a:tc>
                <a:tc>
                  <a:txBody>
                    <a:bodyPr wrap="square"/>
                    <a:lstStyle/>
                    <a:p>
                      <a:pPr algn="ctr"/>
                      <a:r>
                        <a:rPr sz="1300" b="1" i="0">
                          <a:solidFill>
                            <a:srgbClr val="FFFFFF"/>
                          </a:solidFill>
                          <a:latin typeface="Arial"/>
                        </a:rPr>
                        <a:t>R²</a:t>
                      </a:r>
                    </a:p>
                  </a:txBody>
                  <a:tcPr marL="64008" marR="64008" marT="27432" marB="27432" anchor="ctr">
                    <a:solidFill>
                      <a:srgbClr val="242852"/>
                    </a:solidFill>
                  </a:tcPr>
                </a:tc>
              </a:tr>
              <a:tr h="438912">
                <a:tc>
                  <a:txBody>
                    <a:bodyPr wrap="square"/>
                    <a:lstStyle/>
                    <a:p>
                      <a:pPr algn="l"/>
                      <a:r>
                        <a:rPr sz="1300" b="1" i="0">
                          <a:solidFill>
                            <a:srgbClr val="2B2B2B"/>
                          </a:solidFill>
                          <a:latin typeface="Arial"/>
                        </a:rPr>
                        <a:t>Holdout</a:t>
                      </a:r>
                    </a:p>
                  </a:txBody>
                  <a:tcPr marL="64008" marR="64008" marT="27432" marB="27432" anchor="ctr">
                    <a:solidFill>
                      <a:srgbClr val="FFFFFF"/>
                    </a:solidFill>
                  </a:tcPr>
                </a:tc>
                <a:tc>
                  <a:txBody>
                    <a:bodyPr wrap="square"/>
                    <a:lstStyle/>
                    <a:p>
                      <a:pPr algn="ctr"/>
                      <a:r>
                        <a:rPr sz="1300" b="0" i="0">
                          <a:solidFill>
                            <a:srgbClr val="2B2B2B"/>
                          </a:solidFill>
                          <a:latin typeface="Arial"/>
                        </a:rPr>
                        <a:t>88 filas (Train)</a:t>
                      </a:r>
                    </a:p>
                  </a:txBody>
                  <a:tcPr marL="64008" marR="64008" marT="27432" marB="27432" anchor="ctr">
                    <a:solidFill>
                      <a:srgbClr val="FFFFFF"/>
                    </a:solidFill>
                  </a:tcPr>
                </a:tc>
                <a:tc>
                  <a:txBody>
                    <a:bodyPr wrap="square"/>
                    <a:lstStyle/>
                    <a:p>
                      <a:pPr algn="ctr"/>
                      <a:r>
                        <a:rPr sz="1300" b="0" i="0">
                          <a:solidFill>
                            <a:srgbClr val="2B2B2B"/>
                          </a:solidFill>
                          <a:latin typeface="Arial"/>
                        </a:rPr>
                        <a:t>2.45</a:t>
                      </a:r>
                    </a:p>
                  </a:txBody>
                  <a:tcPr marL="64008" marR="64008" marT="27432" marB="27432" anchor="ctr">
                    <a:solidFill>
                      <a:srgbClr val="FFFFFF"/>
                    </a:solidFill>
                  </a:tcPr>
                </a:tc>
                <a:tc>
                  <a:txBody>
                    <a:bodyPr wrap="square"/>
                    <a:lstStyle/>
                    <a:p>
                      <a:pPr algn="ctr"/>
                      <a:r>
                        <a:rPr sz="1300" b="0" i="0">
                          <a:solidFill>
                            <a:srgbClr val="2B2B2B"/>
                          </a:solidFill>
                          <a:latin typeface="Arial"/>
                        </a:rPr>
                        <a:t>3.41</a:t>
                      </a:r>
                    </a:p>
                  </a:txBody>
                  <a:tcPr marL="64008" marR="64008" marT="27432" marB="27432" anchor="ctr">
                    <a:solidFill>
                      <a:srgbClr val="FFFFFF"/>
                    </a:solidFill>
                  </a:tcPr>
                </a:tc>
                <a:tc>
                  <a:txBody>
                    <a:bodyPr wrap="square"/>
                    <a:lstStyle/>
                    <a:p>
                      <a:pPr algn="ctr"/>
                      <a:r>
                        <a:rPr sz="1300" b="0" i="0">
                          <a:solidFill>
                            <a:srgbClr val="2B2B2B"/>
                          </a:solidFill>
                          <a:latin typeface="Arial"/>
                        </a:rPr>
                        <a:t>−0.24</a:t>
                      </a:r>
                    </a:p>
                  </a:txBody>
                  <a:tcPr marL="64008" marR="64008" marT="27432" marB="27432" anchor="ctr">
                    <a:solidFill>
                      <a:srgbClr val="FFFFFF"/>
                    </a:solidFill>
                  </a:tcPr>
                </a:tc>
              </a:tr>
              <a:tr h="438912">
                <a:tc>
                  <a:txBody>
                    <a:bodyPr wrap="square"/>
                    <a:lstStyle/>
                    <a:p>
                      <a:pPr algn="l"/>
                      <a:r>
                        <a:rPr sz="1300" b="1" i="0">
                          <a:solidFill>
                            <a:srgbClr val="2B2B2B"/>
                          </a:solidFill>
                          <a:latin typeface="Arial"/>
                        </a:rPr>
                        <a:t>Reentrenado tras K-Fold</a:t>
                      </a:r>
                    </a:p>
                  </a:txBody>
                  <a:tcPr marL="64008" marR="64008" marT="27432" marB="27432" anchor="ctr">
                    <a:solidFill>
                      <a:srgbClr val="E3F3F1"/>
                    </a:solidFill>
                  </a:tcPr>
                </a:tc>
                <a:tc>
                  <a:txBody>
                    <a:bodyPr wrap="square"/>
                    <a:lstStyle/>
                    <a:p>
                      <a:pPr algn="ctr"/>
                      <a:r>
                        <a:rPr sz="1300" b="0" i="0">
                          <a:solidFill>
                            <a:srgbClr val="2B2B2B"/>
                          </a:solidFill>
                          <a:latin typeface="Arial"/>
                        </a:rPr>
                        <a:t>107 filas (desarrollo)</a:t>
                      </a:r>
                    </a:p>
                  </a:txBody>
                  <a:tcPr marL="64008" marR="64008" marT="27432" marB="27432" anchor="ctr">
                    <a:solidFill>
                      <a:srgbClr val="E3F3F1"/>
                    </a:solidFill>
                  </a:tcPr>
                </a:tc>
                <a:tc>
                  <a:txBody>
                    <a:bodyPr wrap="square"/>
                    <a:lstStyle/>
                    <a:p>
                      <a:pPr algn="ctr"/>
                      <a:r>
                        <a:rPr sz="1300" b="0" i="0">
                          <a:solidFill>
                            <a:srgbClr val="2B2B2B"/>
                          </a:solidFill>
                          <a:latin typeface="Arial"/>
                        </a:rPr>
                        <a:t>2.35</a:t>
                      </a:r>
                    </a:p>
                  </a:txBody>
                  <a:tcPr marL="64008" marR="64008" marT="27432" marB="27432" anchor="ctr">
                    <a:solidFill>
                      <a:srgbClr val="E3F3F1"/>
                    </a:solidFill>
                  </a:tcPr>
                </a:tc>
                <a:tc>
                  <a:txBody>
                    <a:bodyPr wrap="square"/>
                    <a:lstStyle/>
                    <a:p>
                      <a:pPr algn="ctr"/>
                      <a:r>
                        <a:rPr sz="1300" b="0" i="0">
                          <a:solidFill>
                            <a:srgbClr val="2B2B2B"/>
                          </a:solidFill>
                          <a:latin typeface="Arial"/>
                        </a:rPr>
                        <a:t>3.12</a:t>
                      </a:r>
                    </a:p>
                  </a:txBody>
                  <a:tcPr marL="64008" marR="64008" marT="27432" marB="27432" anchor="ctr">
                    <a:solidFill>
                      <a:srgbClr val="E3F3F1"/>
                    </a:solidFill>
                  </a:tcPr>
                </a:tc>
                <a:tc>
                  <a:txBody>
                    <a:bodyPr wrap="square"/>
                    <a:lstStyle/>
                    <a:p>
                      <a:pPr algn="ctr"/>
                      <a:r>
                        <a:rPr sz="1300" b="0" i="0">
                          <a:solidFill>
                            <a:srgbClr val="2B2B2B"/>
                          </a:solidFill>
                          <a:latin typeface="Arial"/>
                        </a:rPr>
                        <a:t>−0.04</a:t>
                      </a:r>
                    </a:p>
                  </a:txBody>
                  <a:tcPr marL="64008" marR="64008" marT="27432" marB="27432" anchor="ctr">
                    <a:solidFill>
                      <a:srgbClr val="E3F3F1"/>
                    </a:solidFill>
                  </a:tcPr>
                </a:tc>
              </a:tr>
            </a:tbl>
          </a:graphicData>
        </a:graphic>
      </p:graphicFrame>
      <p:sp>
        <p:nvSpPr>
          <p:cNvPr id="6" name="Rounded Rectangle 5"/>
          <p:cNvSpPr/>
          <p:nvPr/>
        </p:nvSpPr>
        <p:spPr>
          <a:xfrm>
            <a:off x="731520" y="5486400"/>
            <a:ext cx="7772400" cy="7772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Lectura: </a:t>
            </a:r>
            <a:r>
              <a:rPr sz="1200" b="0" i="0">
                <a:solidFill>
                  <a:srgbClr val="2B2B2B"/>
                </a:solidFill>
                <a:latin typeface="Arial"/>
              </a:rPr>
              <a:t>con más datos para aprender el error baja un poco, pero la recta sigue sin superar claramente a la media.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26280"/>
            <a:ext cx="7589520" cy="365760"/>
          </a:xfrm>
          <a:prstGeom prst="rect">
            <a:avLst/>
          </a:prstGeom>
          <a:noFill/>
        </p:spPr>
        <p:txBody>
          <a:bodyPr wrap="square" anchor="t" lIns="36576" rIns="36576" tIns="36576" bIns="36576">
            <a:spAutoFit/>
          </a:bodyPr>
          <a:lstStyle/>
          <a:p>
            <a:pPr algn="l">
              <a:spcAft>
                <a:spcPts val="400"/>
              </a:spcAft>
            </a:pPr>
            <a:r>
              <a:rPr sz="1300" b="1" i="0">
                <a:solidFill>
                  <a:srgbClr val="5F6368"/>
                </a:solidFill>
                <a:latin typeface="Arial"/>
              </a:rPr>
              <a:t>En esta sección</a:t>
            </a:r>
          </a:p>
        </p:txBody>
      </p:sp>
      <p:sp>
        <p:nvSpPr>
          <p:cNvPr id="3" name="Rounded Rectangle 2"/>
          <p:cNvSpPr/>
          <p:nvPr/>
        </p:nvSpPr>
        <p:spPr>
          <a:xfrm>
            <a:off x="914400" y="4937760"/>
            <a:ext cx="1794510"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La idea</a:t>
            </a:r>
          </a:p>
        </p:txBody>
      </p:sp>
      <p:sp>
        <p:nvSpPr>
          <p:cNvPr id="4" name="Rounded Rectangle 3"/>
          <p:cNvSpPr/>
          <p:nvPr/>
        </p:nvSpPr>
        <p:spPr>
          <a:xfrm>
            <a:off x="2846070" y="4937760"/>
            <a:ext cx="1794510"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Elegir el corte</a:t>
            </a:r>
          </a:p>
        </p:txBody>
      </p:sp>
      <p:sp>
        <p:nvSpPr>
          <p:cNvPr id="5" name="Rounded Rectangle 4"/>
          <p:cNvSpPr/>
          <p:nvPr/>
        </p:nvSpPr>
        <p:spPr>
          <a:xfrm>
            <a:off x="4777740" y="4937760"/>
            <a:ext cx="1794510"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Crecer el árbol</a:t>
            </a:r>
          </a:p>
        </p:txBody>
      </p:sp>
      <p:sp>
        <p:nvSpPr>
          <p:cNvPr id="6" name="Rounded Rectangle 5"/>
          <p:cNvSpPr/>
          <p:nvPr/>
        </p:nvSpPr>
        <p:spPr>
          <a:xfrm>
            <a:off x="6709410" y="4937760"/>
            <a:ext cx="1794510"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Datos reales</a:t>
            </a:r>
          </a:p>
        </p:txBody>
      </p:sp>
      <p:sp>
        <p:nvSpPr>
          <p:cNvPr id="7" name="Oval 6"/>
          <p:cNvSpPr/>
          <p:nvPr/>
        </p:nvSpPr>
        <p:spPr>
          <a:xfrm>
            <a:off x="914400" y="2148840"/>
            <a:ext cx="1463040" cy="146304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5400" b="1" i="0">
                <a:solidFill>
                  <a:srgbClr val="FFFFFF"/>
                </a:solidFill>
                <a:latin typeface="Arial"/>
              </a:rPr>
              <a:t>3</a:t>
            </a:r>
          </a:p>
        </p:txBody>
      </p:sp>
      <p:sp>
        <p:nvSpPr>
          <p:cNvPr id="8" name="TextBox 7"/>
          <p:cNvSpPr txBox="1"/>
          <p:nvPr/>
        </p:nvSpPr>
        <p:spPr>
          <a:xfrm>
            <a:off x="2651760" y="1828800"/>
            <a:ext cx="5852160" cy="1371600"/>
          </a:xfrm>
          <a:prstGeom prst="rect">
            <a:avLst/>
          </a:prstGeom>
          <a:noFill/>
        </p:spPr>
        <p:txBody>
          <a:bodyPr wrap="square" anchor="b" lIns="36576" rIns="36576" tIns="36576" bIns="36576">
            <a:spAutoFit/>
          </a:bodyPr>
          <a:lstStyle/>
          <a:p>
            <a:pPr algn="l">
              <a:spcAft>
                <a:spcPts val="400"/>
              </a:spcAft>
            </a:pPr>
            <a:r>
              <a:rPr sz="3200" b="1" i="0">
                <a:solidFill>
                  <a:srgbClr val="242852"/>
                </a:solidFill>
                <a:latin typeface="Arial"/>
              </a:rPr>
              <a:t>El árbol de regresión</a:t>
            </a:r>
          </a:p>
        </p:txBody>
      </p:sp>
      <p:sp>
        <p:nvSpPr>
          <p:cNvPr id="9" name="TextBox 8"/>
          <p:cNvSpPr txBox="1"/>
          <p:nvPr/>
        </p:nvSpPr>
        <p:spPr>
          <a:xfrm>
            <a:off x="2651760" y="3291840"/>
            <a:ext cx="5852160" cy="1097280"/>
          </a:xfrm>
          <a:prstGeom prst="rect">
            <a:avLst/>
          </a:prstGeom>
          <a:noFill/>
        </p:spPr>
        <p:txBody>
          <a:bodyPr wrap="square" anchor="t" lIns="36576" rIns="36576" tIns="36576" bIns="36576">
            <a:spAutoFit/>
          </a:bodyPr>
          <a:lstStyle/>
          <a:p>
            <a:pPr algn="l">
              <a:spcAft>
                <a:spcPts val="400"/>
              </a:spcAft>
            </a:pPr>
            <a:r>
              <a:rPr sz="1600" b="0" i="0">
                <a:solidFill>
                  <a:srgbClr val="5F6368"/>
                </a:solidFill>
                <a:latin typeface="Arial"/>
              </a:rPr>
              <a:t>En lugar de una ecuación, una serie de preguntas sí/no. Lo construiremos a mano con 8 observaciones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La idea: predecir con preguntas sí/no</a:t>
            </a:r>
          </a:p>
        </p:txBody>
      </p:sp>
      <p:sp>
        <p:nvSpPr>
          <p:cNvPr id="3" name="Rounded Rectangle 2"/>
          <p:cNvSpPr/>
          <p:nvPr/>
        </p:nvSpPr>
        <p:spPr>
          <a:xfrm>
            <a:off x="3154679" y="2011680"/>
            <a:ext cx="2926080" cy="64008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400" b="1" i="0">
                <a:solidFill>
                  <a:srgbClr val="FFFFFF"/>
                </a:solidFill>
                <a:latin typeface="Arial"/>
              </a:rPr>
              <a:t>¿Inversión ≤ 19.5 %?</a:t>
            </a:r>
          </a:p>
        </p:txBody>
      </p:sp>
      <p:cxnSp>
        <p:nvCxnSpPr>
          <p:cNvPr id="4" name="Connector 3"/>
          <p:cNvCxnSpPr/>
          <p:nvPr/>
        </p:nvCxnSpPr>
        <p:spPr>
          <a:xfrm flipH="1">
            <a:off x="2560320" y="2651760"/>
            <a:ext cx="1371600" cy="77724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2926079" y="2857500"/>
            <a:ext cx="640080" cy="274320"/>
          </a:xfrm>
          <a:prstGeom prst="rect">
            <a:avLst/>
          </a:prstGeom>
          <a:noFill/>
        </p:spPr>
        <p:txBody>
          <a:bodyPr wrap="square" anchor="t" lIns="0" rIns="0" tIns="0" bIns="0">
            <a:spAutoFit/>
          </a:bodyPr>
          <a:lstStyle/>
          <a:p>
            <a:pPr algn="ctr">
              <a:spcAft>
                <a:spcPts val="400"/>
              </a:spcAft>
            </a:pPr>
            <a:r>
              <a:rPr sz="1000" b="1" i="0">
                <a:solidFill>
                  <a:srgbClr val="6D6E71"/>
                </a:solidFill>
                <a:latin typeface="Arial"/>
              </a:rPr>
              <a:t>sí</a:t>
            </a:r>
          </a:p>
        </p:txBody>
      </p:sp>
      <p:cxnSp>
        <p:nvCxnSpPr>
          <p:cNvPr id="6" name="Connector 5"/>
          <p:cNvCxnSpPr/>
          <p:nvPr/>
        </p:nvCxnSpPr>
        <p:spPr>
          <a:xfrm>
            <a:off x="5303520" y="2651760"/>
            <a:ext cx="1371600" cy="77724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0" y="2857500"/>
            <a:ext cx="640080" cy="274320"/>
          </a:xfrm>
          <a:prstGeom prst="rect">
            <a:avLst/>
          </a:prstGeom>
          <a:noFill/>
        </p:spPr>
        <p:txBody>
          <a:bodyPr wrap="square" anchor="t" lIns="0" rIns="0" tIns="0" bIns="0">
            <a:spAutoFit/>
          </a:bodyPr>
          <a:lstStyle/>
          <a:p>
            <a:pPr algn="ctr">
              <a:spcAft>
                <a:spcPts val="400"/>
              </a:spcAft>
            </a:pPr>
            <a:r>
              <a:rPr sz="1000" b="1" i="0">
                <a:solidFill>
                  <a:srgbClr val="6D6E71"/>
                </a:solidFill>
                <a:latin typeface="Arial"/>
              </a:rPr>
              <a:t>no</a:t>
            </a:r>
          </a:p>
        </p:txBody>
      </p:sp>
      <p:sp>
        <p:nvSpPr>
          <p:cNvPr id="8" name="Rounded Rectangle 7"/>
          <p:cNvSpPr/>
          <p:nvPr/>
        </p:nvSpPr>
        <p:spPr>
          <a:xfrm>
            <a:off x="1371599" y="3429000"/>
            <a:ext cx="2377440" cy="86868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100" b="1" i="0">
                <a:solidFill>
                  <a:srgbClr val="5F6368"/>
                </a:solidFill>
                <a:latin typeface="Arial"/>
              </a:rPr>
              <a:t>Hoja</a:t>
            </a:r>
          </a:p>
          <a:p>
            <a:pPr algn="ctr">
              <a:spcAft>
                <a:spcPts val="300"/>
              </a:spcAft>
            </a:pPr>
            <a:r>
              <a:rPr sz="1700" b="1" i="0">
                <a:solidFill>
                  <a:srgbClr val="D7263D"/>
                </a:solidFill>
                <a:latin typeface="Arial"/>
              </a:rPr>
              <a:t>ŷ = 0.0 %</a:t>
            </a:r>
          </a:p>
        </p:txBody>
      </p:sp>
      <p:sp>
        <p:nvSpPr>
          <p:cNvPr id="9" name="Rounded Rectangle 8"/>
          <p:cNvSpPr/>
          <p:nvPr/>
        </p:nvSpPr>
        <p:spPr>
          <a:xfrm>
            <a:off x="5486400" y="3429000"/>
            <a:ext cx="2377440" cy="86868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100" b="1" i="0">
                <a:solidFill>
                  <a:srgbClr val="5F6368"/>
                </a:solidFill>
                <a:latin typeface="Arial"/>
              </a:rPr>
              <a:t>Hoja</a:t>
            </a:r>
          </a:p>
          <a:p>
            <a:pPr algn="ctr">
              <a:spcAft>
                <a:spcPts val="300"/>
              </a:spcAft>
            </a:pPr>
            <a:r>
              <a:rPr sz="1700" b="1" i="0">
                <a:solidFill>
                  <a:srgbClr val="2A9D8F"/>
                </a:solidFill>
                <a:latin typeface="Arial"/>
              </a:rPr>
              <a:t>ŷ = 4.0 %</a:t>
            </a:r>
          </a:p>
        </p:txBody>
      </p:sp>
      <p:sp>
        <p:nvSpPr>
          <p:cNvPr id="10" name="Rounded Rectangle 9"/>
          <p:cNvSpPr/>
          <p:nvPr/>
        </p:nvSpPr>
        <p:spPr>
          <a:xfrm>
            <a:off x="731520" y="4572000"/>
            <a:ext cx="2487168" cy="114300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242852"/>
                </a:solidFill>
                <a:latin typeface="Arial"/>
              </a:rPr>
              <a:t>Raíz</a:t>
            </a:r>
          </a:p>
          <a:p>
            <a:pPr algn="ctr">
              <a:spcAft>
                <a:spcPts val="300"/>
              </a:spcAft>
            </a:pPr>
            <a:r>
              <a:rPr sz="1150" b="0" i="0">
                <a:solidFill>
                  <a:srgbClr val="2B2B2B"/>
                </a:solidFill>
                <a:latin typeface="Arial"/>
              </a:rPr>
              <a:t>la primera pregunta, con todos los datos</a:t>
            </a:r>
          </a:p>
        </p:txBody>
      </p:sp>
      <p:sp>
        <p:nvSpPr>
          <p:cNvPr id="11" name="Rounded Rectangle 10"/>
          <p:cNvSpPr/>
          <p:nvPr/>
        </p:nvSpPr>
        <p:spPr>
          <a:xfrm>
            <a:off x="3355848" y="4572000"/>
            <a:ext cx="2487168" cy="114300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242852"/>
                </a:solidFill>
                <a:latin typeface="Arial"/>
              </a:rPr>
              <a:t>Rama</a:t>
            </a:r>
          </a:p>
          <a:p>
            <a:pPr algn="ctr">
              <a:spcAft>
                <a:spcPts val="300"/>
              </a:spcAft>
            </a:pPr>
            <a:r>
              <a:rPr sz="1150" b="0" i="0">
                <a:solidFill>
                  <a:srgbClr val="2B2B2B"/>
                </a:solidFill>
                <a:latin typeface="Arial"/>
              </a:rPr>
              <a:t>el camino según la respuesta sí o no</a:t>
            </a:r>
          </a:p>
        </p:txBody>
      </p:sp>
      <p:sp>
        <p:nvSpPr>
          <p:cNvPr id="12" name="Rounded Rectangle 11"/>
          <p:cNvSpPr/>
          <p:nvPr/>
        </p:nvSpPr>
        <p:spPr>
          <a:xfrm>
            <a:off x="5980176" y="4572000"/>
            <a:ext cx="2487168" cy="114300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242852"/>
                </a:solidFill>
                <a:latin typeface="Arial"/>
              </a:rPr>
              <a:t>Hoja</a:t>
            </a:r>
          </a:p>
          <a:p>
            <a:pPr algn="ctr">
              <a:spcAft>
                <a:spcPts val="300"/>
              </a:spcAft>
            </a:pPr>
            <a:r>
              <a:rPr sz="1150" b="0" i="0">
                <a:solidFill>
                  <a:srgbClr val="2B2B2B"/>
                </a:solidFill>
                <a:latin typeface="Arial"/>
              </a:rPr>
              <a:t>el final: devuelve un número, el promedio</a:t>
            </a:r>
          </a:p>
        </p:txBody>
      </p:sp>
      <p:sp>
        <p:nvSpPr>
          <p:cNvPr id="13" name="Rounded Rectangle 12"/>
          <p:cNvSpPr/>
          <p:nvPr/>
        </p:nvSpPr>
        <p:spPr>
          <a:xfrm>
            <a:off x="731520" y="5852160"/>
            <a:ext cx="7772400" cy="45720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Recta vs árbol: </a:t>
            </a:r>
            <a:r>
              <a:rPr sz="1200" b="0" i="0">
                <a:solidFill>
                  <a:srgbClr val="2B2B2B"/>
                </a:solidFill>
                <a:latin typeface="Arial"/>
              </a:rPr>
              <a:t>la recta usa una sola fórmula para todos; el árbol forma grupos y predice el promedio de cada grupo.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Nuestro ejemplo a mano: 8 países-año</a:t>
            </a:r>
          </a:p>
        </p:txBody>
      </p:sp>
      <p:graphicFrame>
        <p:nvGraphicFramePr>
          <p:cNvPr id="3" name="Table 2"/>
          <p:cNvGraphicFramePr>
            <a:graphicFrameLocks noGrp="1"/>
          </p:cNvGraphicFramePr>
          <p:nvPr/>
        </p:nvGraphicFramePr>
        <p:xfrm>
          <a:off x="731520" y="1965960"/>
          <a:ext cx="3566160" cy="3657600"/>
        </p:xfrm>
        <a:graphic>
          <a:graphicData uri="http://schemas.openxmlformats.org/drawingml/2006/table">
            <a:tbl>
              <a:tblPr firstRow="1" bandRow="1">
                <a:tableStyleId>{5C22544A-7EE6-4342-B048-85BDC9FD1C3A}</a:tableStyleId>
              </a:tblPr>
              <a:tblGrid>
                <a:gridCol w="548640"/>
                <a:gridCol w="1005840"/>
                <a:gridCol w="1005840"/>
                <a:gridCol w="1005840"/>
              </a:tblGrid>
              <a:tr h="365760">
                <a:tc>
                  <a:txBody>
                    <a:bodyPr wrap="square"/>
                    <a:lstStyle/>
                    <a:p>
                      <a:pPr algn="l"/>
                      <a:r>
                        <a:rPr sz="1200" b="1" i="0">
                          <a:solidFill>
                            <a:srgbClr val="FFFFFF"/>
                          </a:solidFill>
                          <a:latin typeface="Arial"/>
                        </a:rPr>
                        <a:t/>
                      </a:r>
                    </a:p>
                  </a:txBody>
                  <a:tcPr marL="64008" marR="64008" marT="27432" marB="27432" anchor="ctr">
                    <a:solidFill>
                      <a:srgbClr val="242852"/>
                    </a:solidFill>
                  </a:tcPr>
                </a:tc>
                <a:tc>
                  <a:txBody>
                    <a:bodyPr wrap="square"/>
                    <a:lstStyle/>
                    <a:p>
                      <a:pPr algn="ctr"/>
                      <a:r>
                        <a:rPr sz="1200" b="1" i="0">
                          <a:solidFill>
                            <a:srgbClr val="FFFFFF"/>
                          </a:solidFill>
                          <a:latin typeface="Arial"/>
                        </a:rPr>
                        <a:t>X: inversión</a:t>
                      </a:r>
                    </a:p>
                  </a:txBody>
                  <a:tcPr marL="64008" marR="64008" marT="27432" marB="27432" anchor="ctr">
                    <a:solidFill>
                      <a:srgbClr val="242852"/>
                    </a:solidFill>
                  </a:tcPr>
                </a:tc>
                <a:tc>
                  <a:txBody>
                    <a:bodyPr wrap="square"/>
                    <a:lstStyle/>
                    <a:p>
                      <a:pPr algn="ctr"/>
                      <a:r>
                        <a:rPr sz="1200" b="1" i="0">
                          <a:solidFill>
                            <a:srgbClr val="FFFFFF"/>
                          </a:solidFill>
                          <a:latin typeface="Arial"/>
                        </a:rPr>
                        <a:t>y: crecim.</a:t>
                      </a:r>
                    </a:p>
                  </a:txBody>
                  <a:tcPr marL="64008" marR="64008" marT="27432" marB="27432" anchor="ctr">
                    <a:solidFill>
                      <a:srgbClr val="242852"/>
                    </a:solidFill>
                  </a:tcPr>
                </a:tc>
                <a:tc>
                  <a:txBody>
                    <a:bodyPr wrap="square"/>
                    <a:lstStyle/>
                    <a:p>
                      <a:pPr algn="ctr"/>
                      <a:r>
                        <a:rPr sz="1200" b="1" i="0">
                          <a:solidFill>
                            <a:srgbClr val="FFFFFF"/>
                          </a:solidFill>
                          <a:latin typeface="Arial"/>
                        </a:rPr>
                        <a:t>(y − 2)²</a:t>
                      </a:r>
                    </a:p>
                  </a:txBody>
                  <a:tcPr marL="64008" marR="64008" marT="27432" marB="27432" anchor="ctr">
                    <a:solidFill>
                      <a:srgbClr val="242852"/>
                    </a:solidFill>
                  </a:tcPr>
                </a:tc>
              </a:tr>
              <a:tr h="365760">
                <a:tc>
                  <a:txBody>
                    <a:bodyPr wrap="square"/>
                    <a:lstStyle/>
                    <a:p>
                      <a:pPr algn="l"/>
                      <a:r>
                        <a:rPr sz="1200" b="1" i="0">
                          <a:solidFill>
                            <a:srgbClr val="2B2B2B"/>
                          </a:solidFill>
                          <a:latin typeface="Arial"/>
                        </a:rPr>
                        <a:t>A</a:t>
                      </a:r>
                    </a:p>
                  </a:txBody>
                  <a:tcPr marL="64008" marR="64008" marT="27432" marB="27432" anchor="ctr">
                    <a:solidFill>
                      <a:srgbClr val="FFFFFF"/>
                    </a:solidFill>
                  </a:tcPr>
                </a:tc>
                <a:tc>
                  <a:txBody>
                    <a:bodyPr wrap="square"/>
                    <a:lstStyle/>
                    <a:p>
                      <a:pPr algn="ctr"/>
                      <a:r>
                        <a:rPr sz="1200" b="0" i="0">
                          <a:solidFill>
                            <a:srgbClr val="2B2B2B"/>
                          </a:solidFill>
                          <a:latin typeface="Arial"/>
                        </a:rPr>
                        <a:t>15</a:t>
                      </a:r>
                    </a:p>
                  </a:txBody>
                  <a:tcPr marL="64008" marR="64008" marT="27432" marB="27432" anchor="ctr">
                    <a:solidFill>
                      <a:srgbClr val="FFFFFF"/>
                    </a:solidFill>
                  </a:tcPr>
                </a:tc>
                <a:tc>
                  <a:txBody>
                    <a:bodyPr wrap="square"/>
                    <a:lstStyle/>
                    <a:p>
                      <a:pPr algn="ctr"/>
                      <a:r>
                        <a:rPr sz="1200" b="0" i="0">
                          <a:solidFill>
                            <a:srgbClr val="2B2B2B"/>
                          </a:solidFill>
                          <a:latin typeface="Arial"/>
                        </a:rPr>
                        <a:t>-1</a:t>
                      </a:r>
                    </a:p>
                  </a:txBody>
                  <a:tcPr marL="64008" marR="64008" marT="27432" marB="27432" anchor="ctr">
                    <a:solidFill>
                      <a:srgbClr val="FFFFFF"/>
                    </a:solidFill>
                  </a:tcPr>
                </a:tc>
                <a:tc>
                  <a:txBody>
                    <a:bodyPr wrap="square"/>
                    <a:lstStyle/>
                    <a:p>
                      <a:pPr algn="ctr"/>
                      <a:r>
                        <a:rPr sz="1200" b="0" i="0">
                          <a:solidFill>
                            <a:srgbClr val="2B2B2B"/>
                          </a:solidFill>
                          <a:latin typeface="Arial"/>
                        </a:rPr>
                        <a:t>9</a:t>
                      </a:r>
                    </a:p>
                  </a:txBody>
                  <a:tcPr marL="64008" marR="64008" marT="27432" marB="27432" anchor="ctr">
                    <a:solidFill>
                      <a:srgbClr val="FFFFFF"/>
                    </a:solidFill>
                  </a:tcPr>
                </a:tc>
              </a:tr>
              <a:tr h="365760">
                <a:tc>
                  <a:txBody>
                    <a:bodyPr wrap="square"/>
                    <a:lstStyle/>
                    <a:p>
                      <a:pPr algn="l"/>
                      <a:r>
                        <a:rPr sz="1200" b="1" i="0">
                          <a:solidFill>
                            <a:srgbClr val="2B2B2B"/>
                          </a:solidFill>
                          <a:latin typeface="Arial"/>
                        </a:rPr>
                        <a:t>B</a:t>
                      </a:r>
                    </a:p>
                  </a:txBody>
                  <a:tcPr marL="64008" marR="64008" marT="27432" marB="27432" anchor="ctr">
                    <a:solidFill>
                      <a:srgbClr val="F2F3F5"/>
                    </a:solidFill>
                  </a:tcPr>
                </a:tc>
                <a:tc>
                  <a:txBody>
                    <a:bodyPr wrap="square"/>
                    <a:lstStyle/>
                    <a:p>
                      <a:pPr algn="ctr"/>
                      <a:r>
                        <a:rPr sz="1200" b="0" i="0">
                          <a:solidFill>
                            <a:srgbClr val="2B2B2B"/>
                          </a:solidFill>
                          <a:latin typeface="Arial"/>
                        </a:rPr>
                        <a:t>16</a:t>
                      </a:r>
                    </a:p>
                  </a:txBody>
                  <a:tcPr marL="64008" marR="64008" marT="27432" marB="27432" anchor="ctr">
                    <a:solidFill>
                      <a:srgbClr val="F2F3F5"/>
                    </a:solidFill>
                  </a:tcPr>
                </a:tc>
                <a:tc>
                  <a:txBody>
                    <a:bodyPr wrap="square"/>
                    <a:lstStyle/>
                    <a:p>
                      <a:pPr algn="ctr"/>
                      <a:r>
                        <a:rPr sz="1200" b="0" i="0">
                          <a:solidFill>
                            <a:srgbClr val="2B2B2B"/>
                          </a:solidFill>
                          <a:latin typeface="Arial"/>
                        </a:rPr>
                        <a:t>0</a:t>
                      </a:r>
                    </a:p>
                  </a:txBody>
                  <a:tcPr marL="64008" marR="64008" marT="27432" marB="27432" anchor="ctr">
                    <a:solidFill>
                      <a:srgbClr val="F2F3F5"/>
                    </a:solidFill>
                  </a:tcPr>
                </a:tc>
                <a:tc>
                  <a:txBody>
                    <a:bodyPr wrap="square"/>
                    <a:lstStyle/>
                    <a:p>
                      <a:pPr algn="ctr"/>
                      <a:r>
                        <a:rPr sz="1200" b="0" i="0">
                          <a:solidFill>
                            <a:srgbClr val="2B2B2B"/>
                          </a:solidFill>
                          <a:latin typeface="Arial"/>
                        </a:rPr>
                        <a:t>4</a:t>
                      </a:r>
                    </a:p>
                  </a:txBody>
                  <a:tcPr marL="64008" marR="64008" marT="27432" marB="27432" anchor="ctr">
                    <a:solidFill>
                      <a:srgbClr val="F2F3F5"/>
                    </a:solidFill>
                  </a:tcPr>
                </a:tc>
              </a:tr>
              <a:tr h="365760">
                <a:tc>
                  <a:txBody>
                    <a:bodyPr wrap="square"/>
                    <a:lstStyle/>
                    <a:p>
                      <a:pPr algn="l"/>
                      <a:r>
                        <a:rPr sz="1200" b="1" i="0">
                          <a:solidFill>
                            <a:srgbClr val="2B2B2B"/>
                          </a:solidFill>
                          <a:latin typeface="Arial"/>
                        </a:rPr>
                        <a:t>C</a:t>
                      </a:r>
                    </a:p>
                  </a:txBody>
                  <a:tcPr marL="64008" marR="64008" marT="27432" marB="27432" anchor="ctr">
                    <a:solidFill>
                      <a:srgbClr val="FFFFFF"/>
                    </a:solidFill>
                  </a:tcPr>
                </a:tc>
                <a:tc>
                  <a:txBody>
                    <a:bodyPr wrap="square"/>
                    <a:lstStyle/>
                    <a:p>
                      <a:pPr algn="ctr"/>
                      <a:r>
                        <a:rPr sz="1200" b="0" i="0">
                          <a:solidFill>
                            <a:srgbClr val="2B2B2B"/>
                          </a:solidFill>
                          <a:latin typeface="Arial"/>
                        </a:rPr>
                        <a:t>17</a:t>
                      </a:r>
                    </a:p>
                  </a:txBody>
                  <a:tcPr marL="64008" marR="64008" marT="27432" marB="27432" anchor="ctr">
                    <a:solidFill>
                      <a:srgbClr val="FFFFFF"/>
                    </a:solidFill>
                  </a:tcPr>
                </a:tc>
                <a:tc>
                  <a:txBody>
                    <a:bodyPr wrap="square"/>
                    <a:lstStyle/>
                    <a:p>
                      <a:pPr algn="ctr"/>
                      <a:r>
                        <a:rPr sz="1200" b="0" i="0">
                          <a:solidFill>
                            <a:srgbClr val="2B2B2B"/>
                          </a:solidFill>
                          <a:latin typeface="Arial"/>
                        </a:rPr>
                        <a:t>1</a:t>
                      </a:r>
                    </a:p>
                  </a:txBody>
                  <a:tcPr marL="64008" marR="64008" marT="27432" marB="27432" anchor="ctr">
                    <a:solidFill>
                      <a:srgbClr val="FFFFFF"/>
                    </a:solidFill>
                  </a:tcPr>
                </a:tc>
                <a:tc>
                  <a:txBody>
                    <a:bodyPr wrap="square"/>
                    <a:lstStyle/>
                    <a:p>
                      <a:pPr algn="ctr"/>
                      <a:r>
                        <a:rPr sz="1200" b="0" i="0">
                          <a:solidFill>
                            <a:srgbClr val="2B2B2B"/>
                          </a:solidFill>
                          <a:latin typeface="Arial"/>
                        </a:rPr>
                        <a:t>1</a:t>
                      </a:r>
                    </a:p>
                  </a:txBody>
                  <a:tcPr marL="64008" marR="64008" marT="27432" marB="27432" anchor="ctr">
                    <a:solidFill>
                      <a:srgbClr val="FFFFFF"/>
                    </a:solidFill>
                  </a:tcPr>
                </a:tc>
              </a:tr>
              <a:tr h="365760">
                <a:tc>
                  <a:txBody>
                    <a:bodyPr wrap="square"/>
                    <a:lstStyle/>
                    <a:p>
                      <a:pPr algn="l"/>
                      <a:r>
                        <a:rPr sz="1200" b="1" i="0">
                          <a:solidFill>
                            <a:srgbClr val="2B2B2B"/>
                          </a:solidFill>
                          <a:latin typeface="Arial"/>
                        </a:rPr>
                        <a:t>D</a:t>
                      </a:r>
                    </a:p>
                  </a:txBody>
                  <a:tcPr marL="64008" marR="64008" marT="27432" marB="27432" anchor="ctr">
                    <a:solidFill>
                      <a:srgbClr val="F2F3F5"/>
                    </a:solidFill>
                  </a:tcPr>
                </a:tc>
                <a:tc>
                  <a:txBody>
                    <a:bodyPr wrap="square"/>
                    <a:lstStyle/>
                    <a:p>
                      <a:pPr algn="ctr"/>
                      <a:r>
                        <a:rPr sz="1200" b="0" i="0">
                          <a:solidFill>
                            <a:srgbClr val="2B2B2B"/>
                          </a:solidFill>
                          <a:latin typeface="Arial"/>
                        </a:rPr>
                        <a:t>18</a:t>
                      </a:r>
                    </a:p>
                  </a:txBody>
                  <a:tcPr marL="64008" marR="64008" marT="27432" marB="27432" anchor="ctr">
                    <a:solidFill>
                      <a:srgbClr val="F2F3F5"/>
                    </a:solidFill>
                  </a:tcPr>
                </a:tc>
                <a:tc>
                  <a:txBody>
                    <a:bodyPr wrap="square"/>
                    <a:lstStyle/>
                    <a:p>
                      <a:pPr algn="ctr"/>
                      <a:r>
                        <a:rPr sz="1200" b="0" i="0">
                          <a:solidFill>
                            <a:srgbClr val="2B2B2B"/>
                          </a:solidFill>
                          <a:latin typeface="Arial"/>
                        </a:rPr>
                        <a:t>0</a:t>
                      </a:r>
                    </a:p>
                  </a:txBody>
                  <a:tcPr marL="64008" marR="64008" marT="27432" marB="27432" anchor="ctr">
                    <a:solidFill>
                      <a:srgbClr val="F2F3F5"/>
                    </a:solidFill>
                  </a:tcPr>
                </a:tc>
                <a:tc>
                  <a:txBody>
                    <a:bodyPr wrap="square"/>
                    <a:lstStyle/>
                    <a:p>
                      <a:pPr algn="ctr"/>
                      <a:r>
                        <a:rPr sz="1200" b="0" i="0">
                          <a:solidFill>
                            <a:srgbClr val="2B2B2B"/>
                          </a:solidFill>
                          <a:latin typeface="Arial"/>
                        </a:rPr>
                        <a:t>4</a:t>
                      </a:r>
                    </a:p>
                  </a:txBody>
                  <a:tcPr marL="64008" marR="64008" marT="27432" marB="27432" anchor="ctr">
                    <a:solidFill>
                      <a:srgbClr val="F2F3F5"/>
                    </a:solidFill>
                  </a:tcPr>
                </a:tc>
              </a:tr>
              <a:tr h="365760">
                <a:tc>
                  <a:txBody>
                    <a:bodyPr wrap="square"/>
                    <a:lstStyle/>
                    <a:p>
                      <a:pPr algn="l"/>
                      <a:r>
                        <a:rPr sz="1200" b="1" i="0">
                          <a:solidFill>
                            <a:srgbClr val="2B2B2B"/>
                          </a:solidFill>
                          <a:latin typeface="Arial"/>
                        </a:rPr>
                        <a:t>E</a:t>
                      </a:r>
                    </a:p>
                  </a:txBody>
                  <a:tcPr marL="64008" marR="64008" marT="27432" marB="27432" anchor="ctr">
                    <a:solidFill>
                      <a:srgbClr val="FFFFFF"/>
                    </a:solidFill>
                  </a:tcPr>
                </a:tc>
                <a:tc>
                  <a:txBody>
                    <a:bodyPr wrap="square"/>
                    <a:lstStyle/>
                    <a:p>
                      <a:pPr algn="ctr"/>
                      <a:r>
                        <a:rPr sz="1200" b="0" i="0">
                          <a:solidFill>
                            <a:srgbClr val="2B2B2B"/>
                          </a:solidFill>
                          <a:latin typeface="Arial"/>
                        </a:rPr>
                        <a:t>21</a:t>
                      </a:r>
                    </a:p>
                  </a:txBody>
                  <a:tcPr marL="64008" marR="64008" marT="27432" marB="27432" anchor="ctr">
                    <a:solidFill>
                      <a:srgbClr val="FFFFFF"/>
                    </a:solidFill>
                  </a:tcPr>
                </a:tc>
                <a:tc>
                  <a:txBody>
                    <a:bodyPr wrap="square"/>
                    <a:lstStyle/>
                    <a:p>
                      <a:pPr algn="ctr"/>
                      <a:r>
                        <a:rPr sz="1200" b="0" i="0">
                          <a:solidFill>
                            <a:srgbClr val="2B2B2B"/>
                          </a:solidFill>
                          <a:latin typeface="Arial"/>
                        </a:rPr>
                        <a:t>4</a:t>
                      </a:r>
                    </a:p>
                  </a:txBody>
                  <a:tcPr marL="64008" marR="64008" marT="27432" marB="27432" anchor="ctr">
                    <a:solidFill>
                      <a:srgbClr val="FFFFFF"/>
                    </a:solidFill>
                  </a:tcPr>
                </a:tc>
                <a:tc>
                  <a:txBody>
                    <a:bodyPr wrap="square"/>
                    <a:lstStyle/>
                    <a:p>
                      <a:pPr algn="ctr"/>
                      <a:r>
                        <a:rPr sz="1200" b="0" i="0">
                          <a:solidFill>
                            <a:srgbClr val="2B2B2B"/>
                          </a:solidFill>
                          <a:latin typeface="Arial"/>
                        </a:rPr>
                        <a:t>4</a:t>
                      </a:r>
                    </a:p>
                  </a:txBody>
                  <a:tcPr marL="64008" marR="64008" marT="27432" marB="27432" anchor="ctr">
                    <a:solidFill>
                      <a:srgbClr val="FFFFFF"/>
                    </a:solidFill>
                  </a:tcPr>
                </a:tc>
              </a:tr>
              <a:tr h="365760">
                <a:tc>
                  <a:txBody>
                    <a:bodyPr wrap="square"/>
                    <a:lstStyle/>
                    <a:p>
                      <a:pPr algn="l"/>
                      <a:r>
                        <a:rPr sz="1200" b="1" i="0">
                          <a:solidFill>
                            <a:srgbClr val="2B2B2B"/>
                          </a:solidFill>
                          <a:latin typeface="Arial"/>
                        </a:rPr>
                        <a:t>F</a:t>
                      </a:r>
                    </a:p>
                  </a:txBody>
                  <a:tcPr marL="64008" marR="64008" marT="27432" marB="27432" anchor="ctr">
                    <a:solidFill>
                      <a:srgbClr val="F2F3F5"/>
                    </a:solidFill>
                  </a:tcPr>
                </a:tc>
                <a:tc>
                  <a:txBody>
                    <a:bodyPr wrap="square"/>
                    <a:lstStyle/>
                    <a:p>
                      <a:pPr algn="ctr"/>
                      <a:r>
                        <a:rPr sz="1200" b="0" i="0">
                          <a:solidFill>
                            <a:srgbClr val="2B2B2B"/>
                          </a:solidFill>
                          <a:latin typeface="Arial"/>
                        </a:rPr>
                        <a:t>22</a:t>
                      </a:r>
                    </a:p>
                  </a:txBody>
                  <a:tcPr marL="64008" marR="64008" marT="27432" marB="27432" anchor="ctr">
                    <a:solidFill>
                      <a:srgbClr val="F2F3F5"/>
                    </a:solidFill>
                  </a:tcPr>
                </a:tc>
                <a:tc>
                  <a:txBody>
                    <a:bodyPr wrap="square"/>
                    <a:lstStyle/>
                    <a:p>
                      <a:pPr algn="ctr"/>
                      <a:r>
                        <a:rPr sz="1200" b="0" i="0">
                          <a:solidFill>
                            <a:srgbClr val="2B2B2B"/>
                          </a:solidFill>
                          <a:latin typeface="Arial"/>
                        </a:rPr>
                        <a:t>5</a:t>
                      </a:r>
                    </a:p>
                  </a:txBody>
                  <a:tcPr marL="64008" marR="64008" marT="27432" marB="27432" anchor="ctr">
                    <a:solidFill>
                      <a:srgbClr val="F2F3F5"/>
                    </a:solidFill>
                  </a:tcPr>
                </a:tc>
                <a:tc>
                  <a:txBody>
                    <a:bodyPr wrap="square"/>
                    <a:lstStyle/>
                    <a:p>
                      <a:pPr algn="ctr"/>
                      <a:r>
                        <a:rPr sz="1200" b="0" i="0">
                          <a:solidFill>
                            <a:srgbClr val="2B2B2B"/>
                          </a:solidFill>
                          <a:latin typeface="Arial"/>
                        </a:rPr>
                        <a:t>9</a:t>
                      </a:r>
                    </a:p>
                  </a:txBody>
                  <a:tcPr marL="64008" marR="64008" marT="27432" marB="27432" anchor="ctr">
                    <a:solidFill>
                      <a:srgbClr val="F2F3F5"/>
                    </a:solidFill>
                  </a:tcPr>
                </a:tc>
              </a:tr>
              <a:tr h="365760">
                <a:tc>
                  <a:txBody>
                    <a:bodyPr wrap="square"/>
                    <a:lstStyle/>
                    <a:p>
                      <a:pPr algn="l"/>
                      <a:r>
                        <a:rPr sz="1200" b="1" i="0">
                          <a:solidFill>
                            <a:srgbClr val="2B2B2B"/>
                          </a:solidFill>
                          <a:latin typeface="Arial"/>
                        </a:rPr>
                        <a:t>G</a:t>
                      </a:r>
                    </a:p>
                  </a:txBody>
                  <a:tcPr marL="64008" marR="64008" marT="27432" marB="27432" anchor="ctr">
                    <a:solidFill>
                      <a:srgbClr val="FFFFFF"/>
                    </a:solidFill>
                  </a:tcPr>
                </a:tc>
                <a:tc>
                  <a:txBody>
                    <a:bodyPr wrap="square"/>
                    <a:lstStyle/>
                    <a:p>
                      <a:pPr algn="ctr"/>
                      <a:r>
                        <a:rPr sz="1200" b="0" i="0">
                          <a:solidFill>
                            <a:srgbClr val="2B2B2B"/>
                          </a:solidFill>
                          <a:latin typeface="Arial"/>
                        </a:rPr>
                        <a:t>23</a:t>
                      </a:r>
                    </a:p>
                  </a:txBody>
                  <a:tcPr marL="64008" marR="64008" marT="27432" marB="27432" anchor="ctr">
                    <a:solidFill>
                      <a:srgbClr val="FFFFFF"/>
                    </a:solidFill>
                  </a:tcPr>
                </a:tc>
                <a:tc>
                  <a:txBody>
                    <a:bodyPr wrap="square"/>
                    <a:lstStyle/>
                    <a:p>
                      <a:pPr algn="ctr"/>
                      <a:r>
                        <a:rPr sz="1200" b="0" i="0">
                          <a:solidFill>
                            <a:srgbClr val="2B2B2B"/>
                          </a:solidFill>
                          <a:latin typeface="Arial"/>
                        </a:rPr>
                        <a:t>3</a:t>
                      </a:r>
                    </a:p>
                  </a:txBody>
                  <a:tcPr marL="64008" marR="64008" marT="27432" marB="27432" anchor="ctr">
                    <a:solidFill>
                      <a:srgbClr val="FFFFFF"/>
                    </a:solidFill>
                  </a:tcPr>
                </a:tc>
                <a:tc>
                  <a:txBody>
                    <a:bodyPr wrap="square"/>
                    <a:lstStyle/>
                    <a:p>
                      <a:pPr algn="ctr"/>
                      <a:r>
                        <a:rPr sz="1200" b="0" i="0">
                          <a:solidFill>
                            <a:srgbClr val="2B2B2B"/>
                          </a:solidFill>
                          <a:latin typeface="Arial"/>
                        </a:rPr>
                        <a:t>1</a:t>
                      </a:r>
                    </a:p>
                  </a:txBody>
                  <a:tcPr marL="64008" marR="64008" marT="27432" marB="27432" anchor="ctr">
                    <a:solidFill>
                      <a:srgbClr val="FFFFFF"/>
                    </a:solidFill>
                  </a:tcPr>
                </a:tc>
              </a:tr>
              <a:tr h="365760">
                <a:tc>
                  <a:txBody>
                    <a:bodyPr wrap="square"/>
                    <a:lstStyle/>
                    <a:p>
                      <a:pPr algn="l"/>
                      <a:r>
                        <a:rPr sz="1200" b="1" i="0">
                          <a:solidFill>
                            <a:srgbClr val="2B2B2B"/>
                          </a:solidFill>
                          <a:latin typeface="Arial"/>
                        </a:rPr>
                        <a:t>H</a:t>
                      </a:r>
                    </a:p>
                  </a:txBody>
                  <a:tcPr marL="64008" marR="64008" marT="27432" marB="27432" anchor="ctr">
                    <a:solidFill>
                      <a:srgbClr val="F2F3F5"/>
                    </a:solidFill>
                  </a:tcPr>
                </a:tc>
                <a:tc>
                  <a:txBody>
                    <a:bodyPr wrap="square"/>
                    <a:lstStyle/>
                    <a:p>
                      <a:pPr algn="ctr"/>
                      <a:r>
                        <a:rPr sz="1200" b="0" i="0">
                          <a:solidFill>
                            <a:srgbClr val="2B2B2B"/>
                          </a:solidFill>
                          <a:latin typeface="Arial"/>
                        </a:rPr>
                        <a:t>24</a:t>
                      </a:r>
                    </a:p>
                  </a:txBody>
                  <a:tcPr marL="64008" marR="64008" marT="27432" marB="27432" anchor="ctr">
                    <a:solidFill>
                      <a:srgbClr val="F2F3F5"/>
                    </a:solidFill>
                  </a:tcPr>
                </a:tc>
                <a:tc>
                  <a:txBody>
                    <a:bodyPr wrap="square"/>
                    <a:lstStyle/>
                    <a:p>
                      <a:pPr algn="ctr"/>
                      <a:r>
                        <a:rPr sz="1200" b="0" i="0">
                          <a:solidFill>
                            <a:srgbClr val="2B2B2B"/>
                          </a:solidFill>
                          <a:latin typeface="Arial"/>
                        </a:rPr>
                        <a:t>4</a:t>
                      </a:r>
                    </a:p>
                  </a:txBody>
                  <a:tcPr marL="64008" marR="64008" marT="27432" marB="27432" anchor="ctr">
                    <a:solidFill>
                      <a:srgbClr val="F2F3F5"/>
                    </a:solidFill>
                  </a:tcPr>
                </a:tc>
                <a:tc>
                  <a:txBody>
                    <a:bodyPr wrap="square"/>
                    <a:lstStyle/>
                    <a:p>
                      <a:pPr algn="ctr"/>
                      <a:r>
                        <a:rPr sz="1200" b="0" i="0">
                          <a:solidFill>
                            <a:srgbClr val="2B2B2B"/>
                          </a:solidFill>
                          <a:latin typeface="Arial"/>
                        </a:rPr>
                        <a:t>4</a:t>
                      </a:r>
                    </a:p>
                  </a:txBody>
                  <a:tcPr marL="64008" marR="64008" marT="27432" marB="27432" anchor="ctr">
                    <a:solidFill>
                      <a:srgbClr val="F2F3F5"/>
                    </a:solidFill>
                  </a:tcPr>
                </a:tc>
              </a:tr>
              <a:tr h="365760">
                <a:tc>
                  <a:txBody>
                    <a:bodyPr wrap="square"/>
                    <a:lstStyle/>
                    <a:p>
                      <a:pPr algn="l"/>
                      <a:r>
                        <a:rPr sz="1200" b="1" i="0">
                          <a:solidFill>
                            <a:srgbClr val="2B2B2B"/>
                          </a:solidFill>
                          <a:latin typeface="Arial"/>
                        </a:rPr>
                        <a:t/>
                      </a:r>
                    </a:p>
                  </a:txBody>
                  <a:tcPr marL="64008" marR="64008" marT="27432" marB="27432" anchor="ctr">
                    <a:solidFill>
                      <a:srgbClr val="E8EDF6"/>
                    </a:solidFill>
                  </a:tcPr>
                </a:tc>
                <a:tc>
                  <a:txBody>
                    <a:bodyPr wrap="square"/>
                    <a:lstStyle/>
                    <a:p>
                      <a:pPr algn="ctr"/>
                      <a:r>
                        <a:rPr sz="1200" b="0" i="0">
                          <a:solidFill>
                            <a:srgbClr val="2B2B2B"/>
                          </a:solidFill>
                          <a:latin typeface="Arial"/>
                        </a:rPr>
                        <a:t/>
                      </a:r>
                    </a:p>
                  </a:txBody>
                  <a:tcPr marL="64008" marR="64008" marT="27432" marB="27432" anchor="ctr">
                    <a:solidFill>
                      <a:srgbClr val="E8EDF6"/>
                    </a:solidFill>
                  </a:tcPr>
                </a:tc>
                <a:tc>
                  <a:txBody>
                    <a:bodyPr wrap="square"/>
                    <a:lstStyle/>
                    <a:p>
                      <a:pPr algn="ctr"/>
                      <a:r>
                        <a:rPr sz="1200" b="1" i="0">
                          <a:solidFill>
                            <a:srgbClr val="2B2B2B"/>
                          </a:solidFill>
                          <a:latin typeface="Arial"/>
                        </a:rPr>
                        <a:t>ȳ = 2.0</a:t>
                      </a:r>
                    </a:p>
                  </a:txBody>
                  <a:tcPr marL="64008" marR="64008" marT="27432" marB="27432" anchor="ctr">
                    <a:solidFill>
                      <a:srgbClr val="E8EDF6"/>
                    </a:solidFill>
                  </a:tcPr>
                </a:tc>
                <a:tc>
                  <a:txBody>
                    <a:bodyPr wrap="square"/>
                    <a:lstStyle/>
                    <a:p>
                      <a:pPr algn="ctr"/>
                      <a:r>
                        <a:rPr sz="1200" b="1" i="0">
                          <a:solidFill>
                            <a:srgbClr val="D7263D"/>
                          </a:solidFill>
                          <a:latin typeface="Arial"/>
                        </a:rPr>
                        <a:t>36</a:t>
                      </a:r>
                    </a:p>
                  </a:txBody>
                  <a:tcPr marL="64008" marR="64008" marT="27432" marB="27432" anchor="ctr">
                    <a:solidFill>
                      <a:srgbClr val="E8EDF6"/>
                    </a:solidFill>
                  </a:tcPr>
                </a:tc>
              </a:tr>
            </a:tbl>
          </a:graphicData>
        </a:graphic>
      </p:graphicFrame>
      <p:pic>
        <p:nvPicPr>
          <p:cNvPr id="4" name="Picture 3" descr="t_nosplit.png"/>
          <p:cNvPicPr>
            <a:picLocks noChangeAspect="1"/>
          </p:cNvPicPr>
          <p:nvPr/>
        </p:nvPicPr>
        <p:blipFill>
          <a:blip r:embed="rId3"/>
          <a:stretch>
            <a:fillRect/>
          </a:stretch>
        </p:blipFill>
        <p:spPr>
          <a:xfrm>
            <a:off x="4480560" y="1992259"/>
            <a:ext cx="4023360" cy="2599161"/>
          </a:xfrm>
          <a:prstGeom prst="rect">
            <a:avLst/>
          </a:prstGeom>
        </p:spPr>
      </p:pic>
      <p:sp>
        <p:nvSpPr>
          <p:cNvPr id="5" name="Rounded Rectangle 4"/>
          <p:cNvSpPr/>
          <p:nvPr/>
        </p:nvSpPr>
        <p:spPr>
          <a:xfrm>
            <a:off x="4480560" y="4846320"/>
            <a:ext cx="4023360" cy="141732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C9D2E8"/>
                </a:solidFill>
                <a:latin typeface="Arial"/>
              </a:rPr>
              <a:t>Sin preguntas: error de partida</a:t>
            </a:r>
          </a:p>
          <a:p>
            <a:pPr algn="ctr">
              <a:spcAft>
                <a:spcPts val="300"/>
              </a:spcAft>
            </a:pPr>
            <a:r>
              <a:rPr sz="2600" b="1" i="0">
                <a:solidFill>
                  <a:srgbClr val="FFFFFF"/>
                </a:solidFill>
                <a:latin typeface="Arial"/>
              </a:rPr>
              <a:t>SSE = 36</a:t>
            </a:r>
          </a:p>
          <a:p>
            <a:pPr algn="ctr">
              <a:spcAft>
                <a:spcPts val="300"/>
              </a:spcAft>
            </a:pPr>
            <a:r>
              <a:rPr sz="1100" b="0" i="0">
                <a:solidFill>
                  <a:srgbClr val="FFFFFF"/>
                </a:solidFill>
                <a:latin typeface="Arial"/>
              </a:rPr>
              <a:t>cada pregunta debe reducirlo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200" b="1">
                <a:solidFill>
                  <a:srgbClr val="242852"/>
                </a:solidFill>
              </a:rPr>
              <a:t>¿Cómo se evalúa un corte? El mismo SSE del Día 1</a:t>
            </a:r>
          </a:p>
        </p:txBody>
      </p:sp>
      <p:sp>
        <p:nvSpPr>
          <p:cNvPr id="3" name="Rounded Rectangle 2"/>
          <p:cNvSpPr/>
          <p:nvPr/>
        </p:nvSpPr>
        <p:spPr>
          <a:xfrm>
            <a:off x="731520" y="1965960"/>
            <a:ext cx="3794760" cy="274320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TextBox 3"/>
          <p:cNvSpPr txBox="1"/>
          <p:nvPr/>
        </p:nvSpPr>
        <p:spPr>
          <a:xfrm>
            <a:off x="868680" y="2029968"/>
            <a:ext cx="3566160" cy="365760"/>
          </a:xfrm>
          <a:prstGeom prst="rect">
            <a:avLst/>
          </a:prstGeom>
          <a:noFill/>
        </p:spPr>
        <p:txBody>
          <a:bodyPr wrap="square" anchor="t" lIns="36576" rIns="36576" tIns="36576" bIns="36576">
            <a:spAutoFit/>
          </a:bodyPr>
          <a:lstStyle/>
          <a:p>
            <a:pPr algn="l">
              <a:spcAft>
                <a:spcPts val="400"/>
              </a:spcAft>
            </a:pPr>
            <a:r>
              <a:rPr sz="1400" b="1" i="0">
                <a:solidFill>
                  <a:srgbClr val="D7263D"/>
                </a:solidFill>
                <a:latin typeface="Arial"/>
              </a:rPr>
              <a:t>Izquierda: X ≤ 19.5</a:t>
            </a:r>
          </a:p>
        </p:txBody>
      </p:sp>
      <p:graphicFrame>
        <p:nvGraphicFramePr>
          <p:cNvPr id="5" name="Table 4"/>
          <p:cNvGraphicFramePr>
            <a:graphicFrameLocks noGrp="1"/>
          </p:cNvGraphicFramePr>
          <p:nvPr/>
        </p:nvGraphicFramePr>
        <p:xfrm>
          <a:off x="914400" y="2468880"/>
          <a:ext cx="3429000" cy="1645920"/>
        </p:xfrm>
        <a:graphic>
          <a:graphicData uri="http://schemas.openxmlformats.org/drawingml/2006/table">
            <a:tbl>
              <a:tblPr firstRow="1" bandRow="1">
                <a:tableStyleId>{5C22544A-7EE6-4342-B048-85BDC9FD1C3A}</a:tableStyleId>
              </a:tblPr>
              <a:tblGrid>
                <a:gridCol w="822960"/>
                <a:gridCol w="822960"/>
                <a:gridCol w="1783080"/>
              </a:tblGrid>
              <a:tr h="329184">
                <a:tc>
                  <a:txBody>
                    <a:bodyPr wrap="square"/>
                    <a:lstStyle/>
                    <a:p>
                      <a:pPr algn="l"/>
                      <a:r>
                        <a:rPr sz="1200" b="1" i="0">
                          <a:solidFill>
                            <a:srgbClr val="FFFFFF"/>
                          </a:solidFill>
                          <a:latin typeface="Arial"/>
                        </a:rPr>
                        <a:t>Fila</a:t>
                      </a:r>
                    </a:p>
                  </a:txBody>
                  <a:tcPr marL="64008" marR="64008" marT="27432" marB="27432" anchor="ctr">
                    <a:solidFill>
                      <a:srgbClr val="242852"/>
                    </a:solidFill>
                  </a:tcPr>
                </a:tc>
                <a:tc>
                  <a:txBody>
                    <a:bodyPr wrap="square"/>
                    <a:lstStyle/>
                    <a:p>
                      <a:pPr algn="ctr"/>
                      <a:r>
                        <a:rPr sz="1200" b="1" i="0">
                          <a:solidFill>
                            <a:srgbClr val="FFFFFF"/>
                          </a:solidFill>
                          <a:latin typeface="Arial"/>
                        </a:rPr>
                        <a:t>y</a:t>
                      </a:r>
                    </a:p>
                  </a:txBody>
                  <a:tcPr marL="64008" marR="64008" marT="27432" marB="27432" anchor="ctr">
                    <a:solidFill>
                      <a:srgbClr val="242852"/>
                    </a:solidFill>
                  </a:tcPr>
                </a:tc>
                <a:tc>
                  <a:txBody>
                    <a:bodyPr wrap="square"/>
                    <a:lstStyle/>
                    <a:p>
                      <a:pPr algn="ctr"/>
                      <a:r>
                        <a:rPr sz="1200" b="1" i="0">
                          <a:solidFill>
                            <a:srgbClr val="FFFFFF"/>
                          </a:solidFill>
                          <a:latin typeface="Arial"/>
                        </a:rPr>
                        <a:t>(y − promedio)²</a:t>
                      </a:r>
                    </a:p>
                  </a:txBody>
                  <a:tcPr marL="64008" marR="64008" marT="27432" marB="27432" anchor="ctr">
                    <a:solidFill>
                      <a:srgbClr val="242852"/>
                    </a:solidFill>
                  </a:tcPr>
                </a:tc>
              </a:tr>
              <a:tr h="329184">
                <a:tc>
                  <a:txBody>
                    <a:bodyPr wrap="square"/>
                    <a:lstStyle/>
                    <a:p>
                      <a:pPr algn="l"/>
                      <a:r>
                        <a:rPr sz="1200" b="0" i="0">
                          <a:solidFill>
                            <a:srgbClr val="2B2B2B"/>
                          </a:solidFill>
                          <a:latin typeface="Arial"/>
                        </a:rPr>
                        <a:t>A</a:t>
                      </a:r>
                    </a:p>
                  </a:txBody>
                  <a:tcPr marL="64008" marR="64008" marT="27432" marB="27432" anchor="ctr">
                    <a:solidFill>
                      <a:srgbClr val="FFFFFF"/>
                    </a:solidFill>
                  </a:tcPr>
                </a:tc>
                <a:tc>
                  <a:txBody>
                    <a:bodyPr wrap="square"/>
                    <a:lstStyle/>
                    <a:p>
                      <a:pPr algn="ctr"/>
                      <a:r>
                        <a:rPr sz="1200" b="0" i="0">
                          <a:solidFill>
                            <a:srgbClr val="2B2B2B"/>
                          </a:solidFill>
                          <a:latin typeface="Arial"/>
                        </a:rPr>
                        <a:t>−1</a:t>
                      </a:r>
                    </a:p>
                  </a:txBody>
                  <a:tcPr marL="64008" marR="64008" marT="27432" marB="27432" anchor="ctr">
                    <a:solidFill>
                      <a:srgbClr val="FFFFFF"/>
                    </a:solidFill>
                  </a:tcPr>
                </a:tc>
                <a:tc>
                  <a:txBody>
                    <a:bodyPr wrap="square"/>
                    <a:lstStyle/>
                    <a:p>
                      <a:pPr algn="ctr"/>
                      <a:r>
                        <a:rPr sz="1200" b="0" i="0">
                          <a:solidFill>
                            <a:srgbClr val="2B2B2B"/>
                          </a:solidFill>
                          <a:latin typeface="Arial"/>
                        </a:rPr>
                        <a:t>1</a:t>
                      </a:r>
                    </a:p>
                  </a:txBody>
                  <a:tcPr marL="64008" marR="64008" marT="27432" marB="27432" anchor="ctr">
                    <a:solidFill>
                      <a:srgbClr val="FFFFFF"/>
                    </a:solidFill>
                  </a:tcPr>
                </a:tc>
              </a:tr>
              <a:tr h="329184">
                <a:tc>
                  <a:txBody>
                    <a:bodyPr wrap="square"/>
                    <a:lstStyle/>
                    <a:p>
                      <a:pPr algn="l"/>
                      <a:r>
                        <a:rPr sz="1200" b="0" i="0">
                          <a:solidFill>
                            <a:srgbClr val="2B2B2B"/>
                          </a:solidFill>
                          <a:latin typeface="Arial"/>
                        </a:rPr>
                        <a:t>B</a:t>
                      </a:r>
                    </a:p>
                  </a:txBody>
                  <a:tcPr marL="64008" marR="64008" marT="27432" marB="27432" anchor="ctr">
                    <a:solidFill>
                      <a:srgbClr val="F2F3F5"/>
                    </a:solidFill>
                  </a:tcPr>
                </a:tc>
                <a:tc>
                  <a:txBody>
                    <a:bodyPr wrap="square"/>
                    <a:lstStyle/>
                    <a:p>
                      <a:pPr algn="ctr"/>
                      <a:r>
                        <a:rPr sz="1200" b="0" i="0">
                          <a:solidFill>
                            <a:srgbClr val="2B2B2B"/>
                          </a:solidFill>
                          <a:latin typeface="Arial"/>
                        </a:rPr>
                        <a:t>0</a:t>
                      </a:r>
                    </a:p>
                  </a:txBody>
                  <a:tcPr marL="64008" marR="64008" marT="27432" marB="27432" anchor="ctr">
                    <a:solidFill>
                      <a:srgbClr val="F2F3F5"/>
                    </a:solidFill>
                  </a:tcPr>
                </a:tc>
                <a:tc>
                  <a:txBody>
                    <a:bodyPr wrap="square"/>
                    <a:lstStyle/>
                    <a:p>
                      <a:pPr algn="ctr"/>
                      <a:r>
                        <a:rPr sz="1200" b="0" i="0">
                          <a:solidFill>
                            <a:srgbClr val="2B2B2B"/>
                          </a:solidFill>
                          <a:latin typeface="Arial"/>
                        </a:rPr>
                        <a:t>0</a:t>
                      </a:r>
                    </a:p>
                  </a:txBody>
                  <a:tcPr marL="64008" marR="64008" marT="27432" marB="27432" anchor="ctr">
                    <a:solidFill>
                      <a:srgbClr val="F2F3F5"/>
                    </a:solidFill>
                  </a:tcPr>
                </a:tc>
              </a:tr>
              <a:tr h="329184">
                <a:tc>
                  <a:txBody>
                    <a:bodyPr wrap="square"/>
                    <a:lstStyle/>
                    <a:p>
                      <a:pPr algn="l"/>
                      <a:r>
                        <a:rPr sz="1200" b="0" i="0">
                          <a:solidFill>
                            <a:srgbClr val="2B2B2B"/>
                          </a:solidFill>
                          <a:latin typeface="Arial"/>
                        </a:rPr>
                        <a:t>C</a:t>
                      </a:r>
                    </a:p>
                  </a:txBody>
                  <a:tcPr marL="64008" marR="64008" marT="27432" marB="27432" anchor="ctr">
                    <a:solidFill>
                      <a:srgbClr val="FFFFFF"/>
                    </a:solidFill>
                  </a:tcPr>
                </a:tc>
                <a:tc>
                  <a:txBody>
                    <a:bodyPr wrap="square"/>
                    <a:lstStyle/>
                    <a:p>
                      <a:pPr algn="ctr"/>
                      <a:r>
                        <a:rPr sz="1200" b="0" i="0">
                          <a:solidFill>
                            <a:srgbClr val="2B2B2B"/>
                          </a:solidFill>
                          <a:latin typeface="Arial"/>
                        </a:rPr>
                        <a:t>1</a:t>
                      </a:r>
                    </a:p>
                  </a:txBody>
                  <a:tcPr marL="64008" marR="64008" marT="27432" marB="27432" anchor="ctr">
                    <a:solidFill>
                      <a:srgbClr val="FFFFFF"/>
                    </a:solidFill>
                  </a:tcPr>
                </a:tc>
                <a:tc>
                  <a:txBody>
                    <a:bodyPr wrap="square"/>
                    <a:lstStyle/>
                    <a:p>
                      <a:pPr algn="ctr"/>
                      <a:r>
                        <a:rPr sz="1200" b="0" i="0">
                          <a:solidFill>
                            <a:srgbClr val="2B2B2B"/>
                          </a:solidFill>
                          <a:latin typeface="Arial"/>
                        </a:rPr>
                        <a:t>1</a:t>
                      </a:r>
                    </a:p>
                  </a:txBody>
                  <a:tcPr marL="64008" marR="64008" marT="27432" marB="27432" anchor="ctr">
                    <a:solidFill>
                      <a:srgbClr val="FFFFFF"/>
                    </a:solidFill>
                  </a:tcPr>
                </a:tc>
              </a:tr>
              <a:tr h="329184">
                <a:tc>
                  <a:txBody>
                    <a:bodyPr wrap="square"/>
                    <a:lstStyle/>
                    <a:p>
                      <a:pPr algn="l"/>
                      <a:r>
                        <a:rPr sz="1200" b="0" i="0">
                          <a:solidFill>
                            <a:srgbClr val="2B2B2B"/>
                          </a:solidFill>
                          <a:latin typeface="Arial"/>
                        </a:rPr>
                        <a:t>D</a:t>
                      </a:r>
                    </a:p>
                  </a:txBody>
                  <a:tcPr marL="64008" marR="64008" marT="27432" marB="27432" anchor="ctr">
                    <a:solidFill>
                      <a:srgbClr val="F2F3F5"/>
                    </a:solidFill>
                  </a:tcPr>
                </a:tc>
                <a:tc>
                  <a:txBody>
                    <a:bodyPr wrap="square"/>
                    <a:lstStyle/>
                    <a:p>
                      <a:pPr algn="ctr"/>
                      <a:r>
                        <a:rPr sz="1200" b="0" i="0">
                          <a:solidFill>
                            <a:srgbClr val="2B2B2B"/>
                          </a:solidFill>
                          <a:latin typeface="Arial"/>
                        </a:rPr>
                        <a:t>0</a:t>
                      </a:r>
                    </a:p>
                  </a:txBody>
                  <a:tcPr marL="64008" marR="64008" marT="27432" marB="27432" anchor="ctr">
                    <a:solidFill>
                      <a:srgbClr val="F2F3F5"/>
                    </a:solidFill>
                  </a:tcPr>
                </a:tc>
                <a:tc>
                  <a:txBody>
                    <a:bodyPr wrap="square"/>
                    <a:lstStyle/>
                    <a:p>
                      <a:pPr algn="ctr"/>
                      <a:r>
                        <a:rPr sz="1200" b="0" i="0">
                          <a:solidFill>
                            <a:srgbClr val="2B2B2B"/>
                          </a:solidFill>
                          <a:latin typeface="Arial"/>
                        </a:rPr>
                        <a:t>0</a:t>
                      </a:r>
                    </a:p>
                  </a:txBody>
                  <a:tcPr marL="64008" marR="64008" marT="27432" marB="27432" anchor="ctr">
                    <a:solidFill>
                      <a:srgbClr val="F2F3F5"/>
                    </a:solidFill>
                  </a:tcPr>
                </a:tc>
              </a:tr>
            </a:tbl>
          </a:graphicData>
        </a:graphic>
      </p:graphicFrame>
      <p:sp>
        <p:nvSpPr>
          <p:cNvPr id="6" name="TextBox 5"/>
          <p:cNvSpPr txBox="1"/>
          <p:nvPr/>
        </p:nvSpPr>
        <p:spPr>
          <a:xfrm>
            <a:off x="868680" y="4206240"/>
            <a:ext cx="3566160" cy="411480"/>
          </a:xfrm>
          <a:prstGeom prst="rect">
            <a:avLst/>
          </a:prstGeom>
          <a:noFill/>
        </p:spPr>
        <p:txBody>
          <a:bodyPr wrap="square" anchor="t" lIns="36576" rIns="36576" tIns="36576" bIns="36576">
            <a:spAutoFit/>
          </a:bodyPr>
          <a:lstStyle/>
          <a:p>
            <a:pPr algn="l">
              <a:spcAft>
                <a:spcPts val="400"/>
              </a:spcAft>
            </a:pPr>
            <a:r>
              <a:rPr sz="1300" b="0" i="0">
                <a:solidFill>
                  <a:srgbClr val="2B2B2B"/>
                </a:solidFill>
                <a:latin typeface="Arial"/>
              </a:rPr>
              <a:t>promedio = </a:t>
            </a:r>
            <a:r>
              <a:rPr sz="1500" b="1" i="0">
                <a:solidFill>
                  <a:srgbClr val="D7263D"/>
                </a:solidFill>
                <a:latin typeface="Arial"/>
              </a:rPr>
              <a:t>0</a:t>
            </a:r>
            <a:r>
              <a:rPr sz="1300" b="0" i="0">
                <a:solidFill>
                  <a:srgbClr val="2B2B2B"/>
                </a:solidFill>
                <a:latin typeface="Arial"/>
              </a:rPr>
              <a:t>     SSE = </a:t>
            </a:r>
            <a:r>
              <a:rPr sz="1500" b="1" i="0">
                <a:solidFill>
                  <a:srgbClr val="D7263D"/>
                </a:solidFill>
                <a:latin typeface="Arial"/>
              </a:rPr>
              <a:t>2</a:t>
            </a:r>
          </a:p>
        </p:txBody>
      </p:sp>
      <p:sp>
        <p:nvSpPr>
          <p:cNvPr id="7" name="Rounded Rectangle 6"/>
          <p:cNvSpPr/>
          <p:nvPr/>
        </p:nvSpPr>
        <p:spPr>
          <a:xfrm>
            <a:off x="4663440" y="1965960"/>
            <a:ext cx="3794760" cy="274320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4800600" y="2029968"/>
            <a:ext cx="3566160" cy="365760"/>
          </a:xfrm>
          <a:prstGeom prst="rect">
            <a:avLst/>
          </a:prstGeom>
          <a:noFill/>
        </p:spPr>
        <p:txBody>
          <a:bodyPr wrap="square" anchor="t" lIns="36576" rIns="36576" tIns="36576" bIns="36576">
            <a:spAutoFit/>
          </a:bodyPr>
          <a:lstStyle/>
          <a:p>
            <a:pPr algn="l">
              <a:spcAft>
                <a:spcPts val="400"/>
              </a:spcAft>
            </a:pPr>
            <a:r>
              <a:rPr sz="1400" b="1" i="0">
                <a:solidFill>
                  <a:srgbClr val="2A9D8F"/>
                </a:solidFill>
                <a:latin typeface="Arial"/>
              </a:rPr>
              <a:t>Derecha: X &gt; 19.5</a:t>
            </a:r>
          </a:p>
        </p:txBody>
      </p:sp>
      <p:graphicFrame>
        <p:nvGraphicFramePr>
          <p:cNvPr id="9" name="Table 8"/>
          <p:cNvGraphicFramePr>
            <a:graphicFrameLocks noGrp="1"/>
          </p:cNvGraphicFramePr>
          <p:nvPr/>
        </p:nvGraphicFramePr>
        <p:xfrm>
          <a:off x="4846320" y="2468880"/>
          <a:ext cx="3429000" cy="1645920"/>
        </p:xfrm>
        <a:graphic>
          <a:graphicData uri="http://schemas.openxmlformats.org/drawingml/2006/table">
            <a:tbl>
              <a:tblPr firstRow="1" bandRow="1">
                <a:tableStyleId>{5C22544A-7EE6-4342-B048-85BDC9FD1C3A}</a:tableStyleId>
              </a:tblPr>
              <a:tblGrid>
                <a:gridCol w="822960"/>
                <a:gridCol w="822960"/>
                <a:gridCol w="1783080"/>
              </a:tblGrid>
              <a:tr h="329184">
                <a:tc>
                  <a:txBody>
                    <a:bodyPr wrap="square"/>
                    <a:lstStyle/>
                    <a:p>
                      <a:pPr algn="l"/>
                      <a:r>
                        <a:rPr sz="1200" b="1" i="0">
                          <a:solidFill>
                            <a:srgbClr val="FFFFFF"/>
                          </a:solidFill>
                          <a:latin typeface="Arial"/>
                        </a:rPr>
                        <a:t>Fila</a:t>
                      </a:r>
                    </a:p>
                  </a:txBody>
                  <a:tcPr marL="64008" marR="64008" marT="27432" marB="27432" anchor="ctr">
                    <a:solidFill>
                      <a:srgbClr val="242852"/>
                    </a:solidFill>
                  </a:tcPr>
                </a:tc>
                <a:tc>
                  <a:txBody>
                    <a:bodyPr wrap="square"/>
                    <a:lstStyle/>
                    <a:p>
                      <a:pPr algn="ctr"/>
                      <a:r>
                        <a:rPr sz="1200" b="1" i="0">
                          <a:solidFill>
                            <a:srgbClr val="FFFFFF"/>
                          </a:solidFill>
                          <a:latin typeface="Arial"/>
                        </a:rPr>
                        <a:t>y</a:t>
                      </a:r>
                    </a:p>
                  </a:txBody>
                  <a:tcPr marL="64008" marR="64008" marT="27432" marB="27432" anchor="ctr">
                    <a:solidFill>
                      <a:srgbClr val="242852"/>
                    </a:solidFill>
                  </a:tcPr>
                </a:tc>
                <a:tc>
                  <a:txBody>
                    <a:bodyPr wrap="square"/>
                    <a:lstStyle/>
                    <a:p>
                      <a:pPr algn="ctr"/>
                      <a:r>
                        <a:rPr sz="1200" b="1" i="0">
                          <a:solidFill>
                            <a:srgbClr val="FFFFFF"/>
                          </a:solidFill>
                          <a:latin typeface="Arial"/>
                        </a:rPr>
                        <a:t>(y − promedio)²</a:t>
                      </a:r>
                    </a:p>
                  </a:txBody>
                  <a:tcPr marL="64008" marR="64008" marT="27432" marB="27432" anchor="ctr">
                    <a:solidFill>
                      <a:srgbClr val="242852"/>
                    </a:solidFill>
                  </a:tcPr>
                </a:tc>
              </a:tr>
              <a:tr h="329184">
                <a:tc>
                  <a:txBody>
                    <a:bodyPr wrap="square"/>
                    <a:lstStyle/>
                    <a:p>
                      <a:pPr algn="l"/>
                      <a:r>
                        <a:rPr sz="1200" b="0" i="0">
                          <a:solidFill>
                            <a:srgbClr val="2B2B2B"/>
                          </a:solidFill>
                          <a:latin typeface="Arial"/>
                        </a:rPr>
                        <a:t>E</a:t>
                      </a:r>
                    </a:p>
                  </a:txBody>
                  <a:tcPr marL="64008" marR="64008" marT="27432" marB="27432" anchor="ctr">
                    <a:solidFill>
                      <a:srgbClr val="FFFFFF"/>
                    </a:solidFill>
                  </a:tcPr>
                </a:tc>
                <a:tc>
                  <a:txBody>
                    <a:bodyPr wrap="square"/>
                    <a:lstStyle/>
                    <a:p>
                      <a:pPr algn="ctr"/>
                      <a:r>
                        <a:rPr sz="1200" b="0" i="0">
                          <a:solidFill>
                            <a:srgbClr val="2B2B2B"/>
                          </a:solidFill>
                          <a:latin typeface="Arial"/>
                        </a:rPr>
                        <a:t>4</a:t>
                      </a:r>
                    </a:p>
                  </a:txBody>
                  <a:tcPr marL="64008" marR="64008" marT="27432" marB="27432" anchor="ctr">
                    <a:solidFill>
                      <a:srgbClr val="FFFFFF"/>
                    </a:solidFill>
                  </a:tcPr>
                </a:tc>
                <a:tc>
                  <a:txBody>
                    <a:bodyPr wrap="square"/>
                    <a:lstStyle/>
                    <a:p>
                      <a:pPr algn="ctr"/>
                      <a:r>
                        <a:rPr sz="1200" b="0" i="0">
                          <a:solidFill>
                            <a:srgbClr val="2B2B2B"/>
                          </a:solidFill>
                          <a:latin typeface="Arial"/>
                        </a:rPr>
                        <a:t>0</a:t>
                      </a:r>
                    </a:p>
                  </a:txBody>
                  <a:tcPr marL="64008" marR="64008" marT="27432" marB="27432" anchor="ctr">
                    <a:solidFill>
                      <a:srgbClr val="FFFFFF"/>
                    </a:solidFill>
                  </a:tcPr>
                </a:tc>
              </a:tr>
              <a:tr h="329184">
                <a:tc>
                  <a:txBody>
                    <a:bodyPr wrap="square"/>
                    <a:lstStyle/>
                    <a:p>
                      <a:pPr algn="l"/>
                      <a:r>
                        <a:rPr sz="1200" b="0" i="0">
                          <a:solidFill>
                            <a:srgbClr val="2B2B2B"/>
                          </a:solidFill>
                          <a:latin typeface="Arial"/>
                        </a:rPr>
                        <a:t>F</a:t>
                      </a:r>
                    </a:p>
                  </a:txBody>
                  <a:tcPr marL="64008" marR="64008" marT="27432" marB="27432" anchor="ctr">
                    <a:solidFill>
                      <a:srgbClr val="F2F3F5"/>
                    </a:solidFill>
                  </a:tcPr>
                </a:tc>
                <a:tc>
                  <a:txBody>
                    <a:bodyPr wrap="square"/>
                    <a:lstStyle/>
                    <a:p>
                      <a:pPr algn="ctr"/>
                      <a:r>
                        <a:rPr sz="1200" b="0" i="0">
                          <a:solidFill>
                            <a:srgbClr val="2B2B2B"/>
                          </a:solidFill>
                          <a:latin typeface="Arial"/>
                        </a:rPr>
                        <a:t>5</a:t>
                      </a:r>
                    </a:p>
                  </a:txBody>
                  <a:tcPr marL="64008" marR="64008" marT="27432" marB="27432" anchor="ctr">
                    <a:solidFill>
                      <a:srgbClr val="F2F3F5"/>
                    </a:solidFill>
                  </a:tcPr>
                </a:tc>
                <a:tc>
                  <a:txBody>
                    <a:bodyPr wrap="square"/>
                    <a:lstStyle/>
                    <a:p>
                      <a:pPr algn="ctr"/>
                      <a:r>
                        <a:rPr sz="1200" b="0" i="0">
                          <a:solidFill>
                            <a:srgbClr val="2B2B2B"/>
                          </a:solidFill>
                          <a:latin typeface="Arial"/>
                        </a:rPr>
                        <a:t>1</a:t>
                      </a:r>
                    </a:p>
                  </a:txBody>
                  <a:tcPr marL="64008" marR="64008" marT="27432" marB="27432" anchor="ctr">
                    <a:solidFill>
                      <a:srgbClr val="F2F3F5"/>
                    </a:solidFill>
                  </a:tcPr>
                </a:tc>
              </a:tr>
              <a:tr h="329184">
                <a:tc>
                  <a:txBody>
                    <a:bodyPr wrap="square"/>
                    <a:lstStyle/>
                    <a:p>
                      <a:pPr algn="l"/>
                      <a:r>
                        <a:rPr sz="1200" b="0" i="0">
                          <a:solidFill>
                            <a:srgbClr val="2B2B2B"/>
                          </a:solidFill>
                          <a:latin typeface="Arial"/>
                        </a:rPr>
                        <a:t>G</a:t>
                      </a:r>
                    </a:p>
                  </a:txBody>
                  <a:tcPr marL="64008" marR="64008" marT="27432" marB="27432" anchor="ctr">
                    <a:solidFill>
                      <a:srgbClr val="FFFFFF"/>
                    </a:solidFill>
                  </a:tcPr>
                </a:tc>
                <a:tc>
                  <a:txBody>
                    <a:bodyPr wrap="square"/>
                    <a:lstStyle/>
                    <a:p>
                      <a:pPr algn="ctr"/>
                      <a:r>
                        <a:rPr sz="1200" b="0" i="0">
                          <a:solidFill>
                            <a:srgbClr val="2B2B2B"/>
                          </a:solidFill>
                          <a:latin typeface="Arial"/>
                        </a:rPr>
                        <a:t>3</a:t>
                      </a:r>
                    </a:p>
                  </a:txBody>
                  <a:tcPr marL="64008" marR="64008" marT="27432" marB="27432" anchor="ctr">
                    <a:solidFill>
                      <a:srgbClr val="FFFFFF"/>
                    </a:solidFill>
                  </a:tcPr>
                </a:tc>
                <a:tc>
                  <a:txBody>
                    <a:bodyPr wrap="square"/>
                    <a:lstStyle/>
                    <a:p>
                      <a:pPr algn="ctr"/>
                      <a:r>
                        <a:rPr sz="1200" b="0" i="0">
                          <a:solidFill>
                            <a:srgbClr val="2B2B2B"/>
                          </a:solidFill>
                          <a:latin typeface="Arial"/>
                        </a:rPr>
                        <a:t>1</a:t>
                      </a:r>
                    </a:p>
                  </a:txBody>
                  <a:tcPr marL="64008" marR="64008" marT="27432" marB="27432" anchor="ctr">
                    <a:solidFill>
                      <a:srgbClr val="FFFFFF"/>
                    </a:solidFill>
                  </a:tcPr>
                </a:tc>
              </a:tr>
              <a:tr h="329184">
                <a:tc>
                  <a:txBody>
                    <a:bodyPr wrap="square"/>
                    <a:lstStyle/>
                    <a:p>
                      <a:pPr algn="l"/>
                      <a:r>
                        <a:rPr sz="1200" b="0" i="0">
                          <a:solidFill>
                            <a:srgbClr val="2B2B2B"/>
                          </a:solidFill>
                          <a:latin typeface="Arial"/>
                        </a:rPr>
                        <a:t>H</a:t>
                      </a:r>
                    </a:p>
                  </a:txBody>
                  <a:tcPr marL="64008" marR="64008" marT="27432" marB="27432" anchor="ctr">
                    <a:solidFill>
                      <a:srgbClr val="F2F3F5"/>
                    </a:solidFill>
                  </a:tcPr>
                </a:tc>
                <a:tc>
                  <a:txBody>
                    <a:bodyPr wrap="square"/>
                    <a:lstStyle/>
                    <a:p>
                      <a:pPr algn="ctr"/>
                      <a:r>
                        <a:rPr sz="1200" b="0" i="0">
                          <a:solidFill>
                            <a:srgbClr val="2B2B2B"/>
                          </a:solidFill>
                          <a:latin typeface="Arial"/>
                        </a:rPr>
                        <a:t>4</a:t>
                      </a:r>
                    </a:p>
                  </a:txBody>
                  <a:tcPr marL="64008" marR="64008" marT="27432" marB="27432" anchor="ctr">
                    <a:solidFill>
                      <a:srgbClr val="F2F3F5"/>
                    </a:solidFill>
                  </a:tcPr>
                </a:tc>
                <a:tc>
                  <a:txBody>
                    <a:bodyPr wrap="square"/>
                    <a:lstStyle/>
                    <a:p>
                      <a:pPr algn="ctr"/>
                      <a:r>
                        <a:rPr sz="1200" b="0" i="0">
                          <a:solidFill>
                            <a:srgbClr val="2B2B2B"/>
                          </a:solidFill>
                          <a:latin typeface="Arial"/>
                        </a:rPr>
                        <a:t>0</a:t>
                      </a:r>
                    </a:p>
                  </a:txBody>
                  <a:tcPr marL="64008" marR="64008" marT="27432" marB="27432" anchor="ctr">
                    <a:solidFill>
                      <a:srgbClr val="F2F3F5"/>
                    </a:solidFill>
                  </a:tcPr>
                </a:tc>
              </a:tr>
            </a:tbl>
          </a:graphicData>
        </a:graphic>
      </p:graphicFrame>
      <p:sp>
        <p:nvSpPr>
          <p:cNvPr id="10" name="TextBox 9"/>
          <p:cNvSpPr txBox="1"/>
          <p:nvPr/>
        </p:nvSpPr>
        <p:spPr>
          <a:xfrm>
            <a:off x="4800600" y="4206240"/>
            <a:ext cx="3566160" cy="411480"/>
          </a:xfrm>
          <a:prstGeom prst="rect">
            <a:avLst/>
          </a:prstGeom>
          <a:noFill/>
        </p:spPr>
        <p:txBody>
          <a:bodyPr wrap="square" anchor="t" lIns="36576" rIns="36576" tIns="36576" bIns="36576">
            <a:spAutoFit/>
          </a:bodyPr>
          <a:lstStyle/>
          <a:p>
            <a:pPr algn="l">
              <a:spcAft>
                <a:spcPts val="400"/>
              </a:spcAft>
            </a:pPr>
            <a:r>
              <a:rPr sz="1300" b="0" i="0">
                <a:solidFill>
                  <a:srgbClr val="2B2B2B"/>
                </a:solidFill>
                <a:latin typeface="Arial"/>
              </a:rPr>
              <a:t>promedio = </a:t>
            </a:r>
            <a:r>
              <a:rPr sz="1500" b="1" i="0">
                <a:solidFill>
                  <a:srgbClr val="2A9D8F"/>
                </a:solidFill>
                <a:latin typeface="Arial"/>
              </a:rPr>
              <a:t>4</a:t>
            </a:r>
            <a:r>
              <a:rPr sz="1300" b="0" i="0">
                <a:solidFill>
                  <a:srgbClr val="2B2B2B"/>
                </a:solidFill>
                <a:latin typeface="Arial"/>
              </a:rPr>
              <a:t>     SSE = </a:t>
            </a:r>
            <a:r>
              <a:rPr sz="1500" b="1" i="0">
                <a:solidFill>
                  <a:srgbClr val="2A9D8F"/>
                </a:solidFill>
                <a:latin typeface="Arial"/>
              </a:rPr>
              <a:t>2</a:t>
            </a:r>
          </a:p>
        </p:txBody>
      </p:sp>
      <p:sp>
        <p:nvSpPr>
          <p:cNvPr id="11" name="Rounded Rectangle 10"/>
          <p:cNvSpPr/>
          <p:nvPr/>
        </p:nvSpPr>
        <p:spPr>
          <a:xfrm>
            <a:off x="731520" y="4892040"/>
            <a:ext cx="7772400" cy="137160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600" b="0" i="0">
                <a:solidFill>
                  <a:srgbClr val="FFFFFF"/>
                </a:solidFill>
                <a:latin typeface="Arial"/>
              </a:rPr>
              <a:t>SSE total con el corte = 2 + 2 = </a:t>
            </a:r>
            <a:r>
              <a:rPr sz="2400" b="1" i="0">
                <a:solidFill>
                  <a:srgbClr val="FFFFFF"/>
                </a:solidFill>
                <a:latin typeface="Arial"/>
              </a:rPr>
              <a:t>4</a:t>
            </a:r>
          </a:p>
          <a:p>
            <a:pPr algn="ctr">
              <a:spcAft>
                <a:spcPts val="300"/>
              </a:spcAft>
            </a:pPr>
            <a:r>
              <a:rPr sz="1300" b="0" i="0">
                <a:solidFill>
                  <a:srgbClr val="FFFFFF"/>
                </a:solidFill>
                <a:latin typeface="Arial"/>
              </a:rPr>
              <a:t>Reducción: de 36 a 4  →  1 − 4/36 = 89 % de la variación explicada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Probar todos los cortes posibles</a:t>
            </a:r>
          </a:p>
        </p:txBody>
      </p:sp>
      <p:graphicFrame>
        <p:nvGraphicFramePr>
          <p:cNvPr id="3" name="Table 2"/>
          <p:cNvGraphicFramePr>
            <a:graphicFrameLocks noGrp="1"/>
          </p:cNvGraphicFramePr>
          <p:nvPr/>
        </p:nvGraphicFramePr>
        <p:xfrm>
          <a:off x="731520" y="1965960"/>
          <a:ext cx="4206240" cy="3072384"/>
        </p:xfrm>
        <a:graphic>
          <a:graphicData uri="http://schemas.openxmlformats.org/drawingml/2006/table">
            <a:tbl>
              <a:tblPr firstRow="1" bandRow="1">
                <a:tableStyleId>{5C22544A-7EE6-4342-B048-85BDC9FD1C3A}</a:tableStyleId>
              </a:tblPr>
              <a:tblGrid>
                <a:gridCol w="914400"/>
                <a:gridCol w="777240"/>
                <a:gridCol w="868680"/>
                <a:gridCol w="868680"/>
                <a:gridCol w="777240"/>
              </a:tblGrid>
              <a:tr h="384048">
                <a:tc>
                  <a:txBody>
                    <a:bodyPr wrap="square"/>
                    <a:lstStyle/>
                    <a:p>
                      <a:pPr algn="l"/>
                      <a:r>
                        <a:rPr sz="1150" b="1" i="0">
                          <a:solidFill>
                            <a:srgbClr val="FFFFFF"/>
                          </a:solidFill>
                          <a:latin typeface="Arial"/>
                        </a:rPr>
                        <a:t>Corte</a:t>
                      </a:r>
                    </a:p>
                  </a:txBody>
                  <a:tcPr marL="64008" marR="64008" marT="27432" marB="27432" anchor="ctr">
                    <a:solidFill>
                      <a:srgbClr val="242852"/>
                    </a:solidFill>
                  </a:tcPr>
                </a:tc>
                <a:tc>
                  <a:txBody>
                    <a:bodyPr wrap="square"/>
                    <a:lstStyle/>
                    <a:p>
                      <a:pPr algn="ctr"/>
                      <a:r>
                        <a:rPr sz="1150" b="1" i="0">
                          <a:solidFill>
                            <a:srgbClr val="FFFFFF"/>
                          </a:solidFill>
                          <a:latin typeface="Arial"/>
                        </a:rPr>
                        <a:t>Izquierda</a:t>
                      </a:r>
                    </a:p>
                  </a:txBody>
                  <a:tcPr marL="64008" marR="64008" marT="27432" marB="27432" anchor="ctr">
                    <a:solidFill>
                      <a:srgbClr val="242852"/>
                    </a:solidFill>
                  </a:tcPr>
                </a:tc>
                <a:tc>
                  <a:txBody>
                    <a:bodyPr wrap="square"/>
                    <a:lstStyle/>
                    <a:p>
                      <a:pPr algn="ctr"/>
                      <a:r>
                        <a:rPr sz="1150" b="1" i="0">
                          <a:solidFill>
                            <a:srgbClr val="FFFFFF"/>
                          </a:solidFill>
                          <a:latin typeface="Arial"/>
                        </a:rPr>
                        <a:t>Promedio izq.</a:t>
                      </a:r>
                    </a:p>
                  </a:txBody>
                  <a:tcPr marL="64008" marR="64008" marT="27432" marB="27432" anchor="ctr">
                    <a:solidFill>
                      <a:srgbClr val="242852"/>
                    </a:solidFill>
                  </a:tcPr>
                </a:tc>
                <a:tc>
                  <a:txBody>
                    <a:bodyPr wrap="square"/>
                    <a:lstStyle/>
                    <a:p>
                      <a:pPr algn="ctr"/>
                      <a:r>
                        <a:rPr sz="1150" b="1" i="0">
                          <a:solidFill>
                            <a:srgbClr val="FFFFFF"/>
                          </a:solidFill>
                          <a:latin typeface="Arial"/>
                        </a:rPr>
                        <a:t>Promedio der.</a:t>
                      </a:r>
                    </a:p>
                  </a:txBody>
                  <a:tcPr marL="64008" marR="64008" marT="27432" marB="27432" anchor="ctr">
                    <a:solidFill>
                      <a:srgbClr val="242852"/>
                    </a:solidFill>
                  </a:tcPr>
                </a:tc>
                <a:tc>
                  <a:txBody>
                    <a:bodyPr wrap="square"/>
                    <a:lstStyle/>
                    <a:p>
                      <a:pPr algn="ctr"/>
                      <a:r>
                        <a:rPr sz="1150" b="1" i="0">
                          <a:solidFill>
                            <a:srgbClr val="FFFFFF"/>
                          </a:solidFill>
                          <a:latin typeface="Arial"/>
                        </a:rPr>
                        <a:t>SSE total</a:t>
                      </a:r>
                    </a:p>
                  </a:txBody>
                  <a:tcPr marL="64008" marR="64008" marT="27432" marB="27432" anchor="ctr">
                    <a:solidFill>
                      <a:srgbClr val="242852"/>
                    </a:solidFill>
                  </a:tcPr>
                </a:tc>
              </a:tr>
              <a:tr h="384048">
                <a:tc>
                  <a:txBody>
                    <a:bodyPr wrap="square"/>
                    <a:lstStyle/>
                    <a:p>
                      <a:pPr algn="l"/>
                      <a:r>
                        <a:rPr sz="1150" b="0" i="0">
                          <a:solidFill>
                            <a:srgbClr val="2B2B2B"/>
                          </a:solidFill>
                          <a:latin typeface="Arial"/>
                        </a:rPr>
                        <a:t>X ≤ 15.5</a:t>
                      </a:r>
                    </a:p>
                  </a:txBody>
                  <a:tcPr marL="64008" marR="64008" marT="27432" marB="27432" anchor="ctr">
                    <a:solidFill>
                      <a:srgbClr val="FFFFFF"/>
                    </a:solidFill>
                  </a:tcPr>
                </a:tc>
                <a:tc>
                  <a:txBody>
                    <a:bodyPr wrap="square"/>
                    <a:lstStyle/>
                    <a:p>
                      <a:pPr algn="ctr"/>
                      <a:r>
                        <a:rPr sz="1150" b="0" i="0">
                          <a:solidFill>
                            <a:srgbClr val="2B2B2B"/>
                          </a:solidFill>
                          <a:latin typeface="Arial"/>
                        </a:rPr>
                        <a:t>A</a:t>
                      </a:r>
                    </a:p>
                  </a:txBody>
                  <a:tcPr marL="64008" marR="64008" marT="27432" marB="27432" anchor="ctr">
                    <a:solidFill>
                      <a:srgbClr val="FFFFFF"/>
                    </a:solidFill>
                  </a:tcPr>
                </a:tc>
                <a:tc>
                  <a:txBody>
                    <a:bodyPr wrap="square"/>
                    <a:lstStyle/>
                    <a:p>
                      <a:pPr algn="ctr"/>
                      <a:r>
                        <a:rPr sz="1150" b="0" i="0">
                          <a:solidFill>
                            <a:srgbClr val="2B2B2B"/>
                          </a:solidFill>
                          <a:latin typeface="Arial"/>
                        </a:rPr>
                        <a:t>−1.00</a:t>
                      </a:r>
                    </a:p>
                  </a:txBody>
                  <a:tcPr marL="64008" marR="64008" marT="27432" marB="27432" anchor="ctr">
                    <a:solidFill>
                      <a:srgbClr val="FFFFFF"/>
                    </a:solidFill>
                  </a:tcPr>
                </a:tc>
                <a:tc>
                  <a:txBody>
                    <a:bodyPr wrap="square"/>
                    <a:lstStyle/>
                    <a:p>
                      <a:pPr algn="ctr"/>
                      <a:r>
                        <a:rPr sz="1150" b="0" i="0">
                          <a:solidFill>
                            <a:srgbClr val="2B2B2B"/>
                          </a:solidFill>
                          <a:latin typeface="Arial"/>
                        </a:rPr>
                        <a:t>2.43</a:t>
                      </a:r>
                    </a:p>
                  </a:txBody>
                  <a:tcPr marL="64008" marR="64008" marT="27432" marB="27432" anchor="ctr">
                    <a:solidFill>
                      <a:srgbClr val="FFFFFF"/>
                    </a:solidFill>
                  </a:tcPr>
                </a:tc>
                <a:tc>
                  <a:txBody>
                    <a:bodyPr wrap="square"/>
                    <a:lstStyle/>
                    <a:p>
                      <a:pPr algn="ctr"/>
                      <a:r>
                        <a:rPr sz="1150" b="0" i="0">
                          <a:solidFill>
                            <a:srgbClr val="2B2B2B"/>
                          </a:solidFill>
                          <a:latin typeface="Arial"/>
                        </a:rPr>
                        <a:t>25.7</a:t>
                      </a:r>
                    </a:p>
                  </a:txBody>
                  <a:tcPr marL="64008" marR="64008" marT="27432" marB="27432" anchor="ctr">
                    <a:solidFill>
                      <a:srgbClr val="FFFFFF"/>
                    </a:solidFill>
                  </a:tcPr>
                </a:tc>
              </a:tr>
              <a:tr h="384048">
                <a:tc>
                  <a:txBody>
                    <a:bodyPr wrap="square"/>
                    <a:lstStyle/>
                    <a:p>
                      <a:pPr algn="l"/>
                      <a:r>
                        <a:rPr sz="1150" b="0" i="0">
                          <a:solidFill>
                            <a:srgbClr val="2B2B2B"/>
                          </a:solidFill>
                          <a:latin typeface="Arial"/>
                        </a:rPr>
                        <a:t>X ≤ 16.5</a:t>
                      </a:r>
                    </a:p>
                  </a:txBody>
                  <a:tcPr marL="64008" marR="64008" marT="27432" marB="27432" anchor="ctr">
                    <a:solidFill>
                      <a:srgbClr val="F2F3F5"/>
                    </a:solidFill>
                  </a:tcPr>
                </a:tc>
                <a:tc>
                  <a:txBody>
                    <a:bodyPr wrap="square"/>
                    <a:lstStyle/>
                    <a:p>
                      <a:pPr algn="ctr"/>
                      <a:r>
                        <a:rPr sz="1150" b="0" i="0">
                          <a:solidFill>
                            <a:srgbClr val="2B2B2B"/>
                          </a:solidFill>
                          <a:latin typeface="Arial"/>
                        </a:rPr>
                        <a:t>A, B</a:t>
                      </a:r>
                    </a:p>
                  </a:txBody>
                  <a:tcPr marL="64008" marR="64008" marT="27432" marB="27432" anchor="ctr">
                    <a:solidFill>
                      <a:srgbClr val="F2F3F5"/>
                    </a:solidFill>
                  </a:tcPr>
                </a:tc>
                <a:tc>
                  <a:txBody>
                    <a:bodyPr wrap="square"/>
                    <a:lstStyle/>
                    <a:p>
                      <a:pPr algn="ctr"/>
                      <a:r>
                        <a:rPr sz="1150" b="0" i="0">
                          <a:solidFill>
                            <a:srgbClr val="2B2B2B"/>
                          </a:solidFill>
                          <a:latin typeface="Arial"/>
                        </a:rPr>
                        <a:t>−0.50</a:t>
                      </a:r>
                    </a:p>
                  </a:txBody>
                  <a:tcPr marL="64008" marR="64008" marT="27432" marB="27432" anchor="ctr">
                    <a:solidFill>
                      <a:srgbClr val="F2F3F5"/>
                    </a:solidFill>
                  </a:tcPr>
                </a:tc>
                <a:tc>
                  <a:txBody>
                    <a:bodyPr wrap="square"/>
                    <a:lstStyle/>
                    <a:p>
                      <a:pPr algn="ctr"/>
                      <a:r>
                        <a:rPr sz="1150" b="0" i="0">
                          <a:solidFill>
                            <a:srgbClr val="2B2B2B"/>
                          </a:solidFill>
                          <a:latin typeface="Arial"/>
                        </a:rPr>
                        <a:t>2.83</a:t>
                      </a:r>
                    </a:p>
                  </a:txBody>
                  <a:tcPr marL="64008" marR="64008" marT="27432" marB="27432" anchor="ctr">
                    <a:solidFill>
                      <a:srgbClr val="F2F3F5"/>
                    </a:solidFill>
                  </a:tcPr>
                </a:tc>
                <a:tc>
                  <a:txBody>
                    <a:bodyPr wrap="square"/>
                    <a:lstStyle/>
                    <a:p>
                      <a:pPr algn="ctr"/>
                      <a:r>
                        <a:rPr sz="1150" b="0" i="0">
                          <a:solidFill>
                            <a:srgbClr val="2B2B2B"/>
                          </a:solidFill>
                          <a:latin typeface="Arial"/>
                        </a:rPr>
                        <a:t>19.3</a:t>
                      </a:r>
                    </a:p>
                  </a:txBody>
                  <a:tcPr marL="64008" marR="64008" marT="27432" marB="27432" anchor="ctr">
                    <a:solidFill>
                      <a:srgbClr val="F2F3F5"/>
                    </a:solidFill>
                  </a:tcPr>
                </a:tc>
              </a:tr>
              <a:tr h="384048">
                <a:tc>
                  <a:txBody>
                    <a:bodyPr wrap="square"/>
                    <a:lstStyle/>
                    <a:p>
                      <a:pPr algn="l"/>
                      <a:r>
                        <a:rPr sz="1150" b="0" i="0">
                          <a:solidFill>
                            <a:srgbClr val="2B2B2B"/>
                          </a:solidFill>
                          <a:latin typeface="Arial"/>
                        </a:rPr>
                        <a:t>X ≤ 17.5</a:t>
                      </a:r>
                    </a:p>
                  </a:txBody>
                  <a:tcPr marL="64008" marR="64008" marT="27432" marB="27432" anchor="ctr">
                    <a:solidFill>
                      <a:srgbClr val="FFFFFF"/>
                    </a:solidFill>
                  </a:tcPr>
                </a:tc>
                <a:tc>
                  <a:txBody>
                    <a:bodyPr wrap="square"/>
                    <a:lstStyle/>
                    <a:p>
                      <a:pPr algn="ctr"/>
                      <a:r>
                        <a:rPr sz="1150" b="0" i="0">
                          <a:solidFill>
                            <a:srgbClr val="2B2B2B"/>
                          </a:solidFill>
                          <a:latin typeface="Arial"/>
                        </a:rPr>
                        <a:t>A–C</a:t>
                      </a:r>
                    </a:p>
                  </a:txBody>
                  <a:tcPr marL="64008" marR="64008" marT="27432" marB="27432" anchor="ctr">
                    <a:solidFill>
                      <a:srgbClr val="FFFFFF"/>
                    </a:solidFill>
                  </a:tcPr>
                </a:tc>
                <a:tc>
                  <a:txBody>
                    <a:bodyPr wrap="square"/>
                    <a:lstStyle/>
                    <a:p>
                      <a:pPr algn="ctr"/>
                      <a:r>
                        <a:rPr sz="1150" b="0" i="0">
                          <a:solidFill>
                            <a:srgbClr val="2B2B2B"/>
                          </a:solidFill>
                          <a:latin typeface="Arial"/>
                        </a:rPr>
                        <a:t>0.00</a:t>
                      </a:r>
                    </a:p>
                  </a:txBody>
                  <a:tcPr marL="64008" marR="64008" marT="27432" marB="27432" anchor="ctr">
                    <a:solidFill>
                      <a:srgbClr val="FFFFFF"/>
                    </a:solidFill>
                  </a:tcPr>
                </a:tc>
                <a:tc>
                  <a:txBody>
                    <a:bodyPr wrap="square"/>
                    <a:lstStyle/>
                    <a:p>
                      <a:pPr algn="ctr"/>
                      <a:r>
                        <a:rPr sz="1150" b="0" i="0">
                          <a:solidFill>
                            <a:srgbClr val="2B2B2B"/>
                          </a:solidFill>
                          <a:latin typeface="Arial"/>
                        </a:rPr>
                        <a:t>3.20</a:t>
                      </a:r>
                    </a:p>
                  </a:txBody>
                  <a:tcPr marL="64008" marR="64008" marT="27432" marB="27432" anchor="ctr">
                    <a:solidFill>
                      <a:srgbClr val="FFFFFF"/>
                    </a:solidFill>
                  </a:tcPr>
                </a:tc>
                <a:tc>
                  <a:txBody>
                    <a:bodyPr wrap="square"/>
                    <a:lstStyle/>
                    <a:p>
                      <a:pPr algn="ctr"/>
                      <a:r>
                        <a:rPr sz="1150" b="0" i="0">
                          <a:solidFill>
                            <a:srgbClr val="2B2B2B"/>
                          </a:solidFill>
                          <a:latin typeface="Arial"/>
                        </a:rPr>
                        <a:t>16.8</a:t>
                      </a:r>
                    </a:p>
                  </a:txBody>
                  <a:tcPr marL="64008" marR="64008" marT="27432" marB="27432" anchor="ctr">
                    <a:solidFill>
                      <a:srgbClr val="FFFFFF"/>
                    </a:solidFill>
                  </a:tcPr>
                </a:tc>
              </a:tr>
              <a:tr h="384048">
                <a:tc>
                  <a:txBody>
                    <a:bodyPr wrap="square"/>
                    <a:lstStyle/>
                    <a:p>
                      <a:pPr algn="l"/>
                      <a:r>
                        <a:rPr sz="1150" b="1" i="0">
                          <a:solidFill>
                            <a:srgbClr val="2B2B2B"/>
                          </a:solidFill>
                          <a:latin typeface="Arial"/>
                        </a:rPr>
                        <a:t>X ≤ 19.5</a:t>
                      </a:r>
                    </a:p>
                  </a:txBody>
                  <a:tcPr marL="64008" marR="64008" marT="27432" marB="27432" anchor="ctr">
                    <a:solidFill>
                      <a:srgbClr val="E3F3F1"/>
                    </a:solidFill>
                  </a:tcPr>
                </a:tc>
                <a:tc>
                  <a:txBody>
                    <a:bodyPr wrap="square"/>
                    <a:lstStyle/>
                    <a:p>
                      <a:pPr algn="ctr"/>
                      <a:r>
                        <a:rPr sz="1150" b="1" i="0">
                          <a:solidFill>
                            <a:srgbClr val="2B2B2B"/>
                          </a:solidFill>
                          <a:latin typeface="Arial"/>
                        </a:rPr>
                        <a:t>A–D</a:t>
                      </a:r>
                    </a:p>
                  </a:txBody>
                  <a:tcPr marL="64008" marR="64008" marT="27432" marB="27432" anchor="ctr">
                    <a:solidFill>
                      <a:srgbClr val="E3F3F1"/>
                    </a:solidFill>
                  </a:tcPr>
                </a:tc>
                <a:tc>
                  <a:txBody>
                    <a:bodyPr wrap="square"/>
                    <a:lstStyle/>
                    <a:p>
                      <a:pPr algn="ctr"/>
                      <a:r>
                        <a:rPr sz="1150" b="1" i="0">
                          <a:solidFill>
                            <a:srgbClr val="2B2B2B"/>
                          </a:solidFill>
                          <a:latin typeface="Arial"/>
                        </a:rPr>
                        <a:t>0.00</a:t>
                      </a:r>
                    </a:p>
                  </a:txBody>
                  <a:tcPr marL="64008" marR="64008" marT="27432" marB="27432" anchor="ctr">
                    <a:solidFill>
                      <a:srgbClr val="E3F3F1"/>
                    </a:solidFill>
                  </a:tcPr>
                </a:tc>
                <a:tc>
                  <a:txBody>
                    <a:bodyPr wrap="square"/>
                    <a:lstStyle/>
                    <a:p>
                      <a:pPr algn="ctr"/>
                      <a:r>
                        <a:rPr sz="1150" b="1" i="0">
                          <a:solidFill>
                            <a:srgbClr val="2B2B2B"/>
                          </a:solidFill>
                          <a:latin typeface="Arial"/>
                        </a:rPr>
                        <a:t>4.00</a:t>
                      </a:r>
                    </a:p>
                  </a:txBody>
                  <a:tcPr marL="64008" marR="64008" marT="27432" marB="27432" anchor="ctr">
                    <a:solidFill>
                      <a:srgbClr val="E3F3F1"/>
                    </a:solidFill>
                  </a:tcPr>
                </a:tc>
                <a:tc>
                  <a:txBody>
                    <a:bodyPr wrap="square"/>
                    <a:lstStyle/>
                    <a:p>
                      <a:pPr algn="ctr"/>
                      <a:r>
                        <a:rPr sz="1150" b="1" i="0">
                          <a:solidFill>
                            <a:srgbClr val="D7263D"/>
                          </a:solidFill>
                          <a:latin typeface="Arial"/>
                        </a:rPr>
                        <a:t>4.0</a:t>
                      </a:r>
                    </a:p>
                  </a:txBody>
                  <a:tcPr marL="64008" marR="64008" marT="27432" marB="27432" anchor="ctr">
                    <a:solidFill>
                      <a:srgbClr val="E3F3F1"/>
                    </a:solidFill>
                  </a:tcPr>
                </a:tc>
              </a:tr>
              <a:tr h="384048">
                <a:tc>
                  <a:txBody>
                    <a:bodyPr wrap="square"/>
                    <a:lstStyle/>
                    <a:p>
                      <a:pPr algn="l"/>
                      <a:r>
                        <a:rPr sz="1150" b="0" i="0">
                          <a:solidFill>
                            <a:srgbClr val="2B2B2B"/>
                          </a:solidFill>
                          <a:latin typeface="Arial"/>
                        </a:rPr>
                        <a:t>X ≤ 21.5</a:t>
                      </a:r>
                    </a:p>
                  </a:txBody>
                  <a:tcPr marL="64008" marR="64008" marT="27432" marB="27432" anchor="ctr">
                    <a:solidFill>
                      <a:srgbClr val="FFFFFF"/>
                    </a:solidFill>
                  </a:tcPr>
                </a:tc>
                <a:tc>
                  <a:txBody>
                    <a:bodyPr wrap="square"/>
                    <a:lstStyle/>
                    <a:p>
                      <a:pPr algn="ctr"/>
                      <a:r>
                        <a:rPr sz="1150" b="0" i="0">
                          <a:solidFill>
                            <a:srgbClr val="2B2B2B"/>
                          </a:solidFill>
                          <a:latin typeface="Arial"/>
                        </a:rPr>
                        <a:t>A–E</a:t>
                      </a:r>
                    </a:p>
                  </a:txBody>
                  <a:tcPr marL="64008" marR="64008" marT="27432" marB="27432" anchor="ctr">
                    <a:solidFill>
                      <a:srgbClr val="FFFFFF"/>
                    </a:solidFill>
                  </a:tcPr>
                </a:tc>
                <a:tc>
                  <a:txBody>
                    <a:bodyPr wrap="square"/>
                    <a:lstStyle/>
                    <a:p>
                      <a:pPr algn="ctr"/>
                      <a:r>
                        <a:rPr sz="1150" b="0" i="0">
                          <a:solidFill>
                            <a:srgbClr val="2B2B2B"/>
                          </a:solidFill>
                          <a:latin typeface="Arial"/>
                        </a:rPr>
                        <a:t>0.80</a:t>
                      </a:r>
                    </a:p>
                  </a:txBody>
                  <a:tcPr marL="64008" marR="64008" marT="27432" marB="27432" anchor="ctr">
                    <a:solidFill>
                      <a:srgbClr val="FFFFFF"/>
                    </a:solidFill>
                  </a:tcPr>
                </a:tc>
                <a:tc>
                  <a:txBody>
                    <a:bodyPr wrap="square"/>
                    <a:lstStyle/>
                    <a:p>
                      <a:pPr algn="ctr"/>
                      <a:r>
                        <a:rPr sz="1150" b="0" i="0">
                          <a:solidFill>
                            <a:srgbClr val="2B2B2B"/>
                          </a:solidFill>
                          <a:latin typeface="Arial"/>
                        </a:rPr>
                        <a:t>4.00</a:t>
                      </a:r>
                    </a:p>
                  </a:txBody>
                  <a:tcPr marL="64008" marR="64008" marT="27432" marB="27432" anchor="ctr">
                    <a:solidFill>
                      <a:srgbClr val="FFFFFF"/>
                    </a:solidFill>
                  </a:tcPr>
                </a:tc>
                <a:tc>
                  <a:txBody>
                    <a:bodyPr wrap="square"/>
                    <a:lstStyle/>
                    <a:p>
                      <a:pPr algn="ctr"/>
                      <a:r>
                        <a:rPr sz="1150" b="0" i="0">
                          <a:solidFill>
                            <a:srgbClr val="2B2B2B"/>
                          </a:solidFill>
                          <a:latin typeface="Arial"/>
                        </a:rPr>
                        <a:t>16.8</a:t>
                      </a:r>
                    </a:p>
                  </a:txBody>
                  <a:tcPr marL="64008" marR="64008" marT="27432" marB="27432" anchor="ctr">
                    <a:solidFill>
                      <a:srgbClr val="FFFFFF"/>
                    </a:solidFill>
                  </a:tcPr>
                </a:tc>
              </a:tr>
              <a:tr h="384048">
                <a:tc>
                  <a:txBody>
                    <a:bodyPr wrap="square"/>
                    <a:lstStyle/>
                    <a:p>
                      <a:pPr algn="l"/>
                      <a:r>
                        <a:rPr sz="1150" b="0" i="0">
                          <a:solidFill>
                            <a:srgbClr val="2B2B2B"/>
                          </a:solidFill>
                          <a:latin typeface="Arial"/>
                        </a:rPr>
                        <a:t>X ≤ 22.5</a:t>
                      </a:r>
                    </a:p>
                  </a:txBody>
                  <a:tcPr marL="64008" marR="64008" marT="27432" marB="27432" anchor="ctr">
                    <a:solidFill>
                      <a:srgbClr val="F2F3F5"/>
                    </a:solidFill>
                  </a:tcPr>
                </a:tc>
                <a:tc>
                  <a:txBody>
                    <a:bodyPr wrap="square"/>
                    <a:lstStyle/>
                    <a:p>
                      <a:pPr algn="ctr"/>
                      <a:r>
                        <a:rPr sz="1150" b="0" i="0">
                          <a:solidFill>
                            <a:srgbClr val="2B2B2B"/>
                          </a:solidFill>
                          <a:latin typeface="Arial"/>
                        </a:rPr>
                        <a:t>A–F</a:t>
                      </a:r>
                    </a:p>
                  </a:txBody>
                  <a:tcPr marL="64008" marR="64008" marT="27432" marB="27432" anchor="ctr">
                    <a:solidFill>
                      <a:srgbClr val="F2F3F5"/>
                    </a:solidFill>
                  </a:tcPr>
                </a:tc>
                <a:tc>
                  <a:txBody>
                    <a:bodyPr wrap="square"/>
                    <a:lstStyle/>
                    <a:p>
                      <a:pPr algn="ctr"/>
                      <a:r>
                        <a:rPr sz="1150" b="0" i="0">
                          <a:solidFill>
                            <a:srgbClr val="2B2B2B"/>
                          </a:solidFill>
                          <a:latin typeface="Arial"/>
                        </a:rPr>
                        <a:t>1.50</a:t>
                      </a:r>
                    </a:p>
                  </a:txBody>
                  <a:tcPr marL="64008" marR="64008" marT="27432" marB="27432" anchor="ctr">
                    <a:solidFill>
                      <a:srgbClr val="F2F3F5"/>
                    </a:solidFill>
                  </a:tcPr>
                </a:tc>
                <a:tc>
                  <a:txBody>
                    <a:bodyPr wrap="square"/>
                    <a:lstStyle/>
                    <a:p>
                      <a:pPr algn="ctr"/>
                      <a:r>
                        <a:rPr sz="1150" b="0" i="0">
                          <a:solidFill>
                            <a:srgbClr val="2B2B2B"/>
                          </a:solidFill>
                          <a:latin typeface="Arial"/>
                        </a:rPr>
                        <a:t>3.50</a:t>
                      </a:r>
                    </a:p>
                  </a:txBody>
                  <a:tcPr marL="64008" marR="64008" marT="27432" marB="27432" anchor="ctr">
                    <a:solidFill>
                      <a:srgbClr val="F2F3F5"/>
                    </a:solidFill>
                  </a:tcPr>
                </a:tc>
                <a:tc>
                  <a:txBody>
                    <a:bodyPr wrap="square"/>
                    <a:lstStyle/>
                    <a:p>
                      <a:pPr algn="ctr"/>
                      <a:r>
                        <a:rPr sz="1150" b="0" i="0">
                          <a:solidFill>
                            <a:srgbClr val="2B2B2B"/>
                          </a:solidFill>
                          <a:latin typeface="Arial"/>
                        </a:rPr>
                        <a:t>30.0</a:t>
                      </a:r>
                    </a:p>
                  </a:txBody>
                  <a:tcPr marL="64008" marR="64008" marT="27432" marB="27432" anchor="ctr">
                    <a:solidFill>
                      <a:srgbClr val="F2F3F5"/>
                    </a:solidFill>
                  </a:tcPr>
                </a:tc>
              </a:tr>
              <a:tr h="384048">
                <a:tc>
                  <a:txBody>
                    <a:bodyPr wrap="square"/>
                    <a:lstStyle/>
                    <a:p>
                      <a:pPr algn="l"/>
                      <a:r>
                        <a:rPr sz="1150" b="0" i="0">
                          <a:solidFill>
                            <a:srgbClr val="2B2B2B"/>
                          </a:solidFill>
                          <a:latin typeface="Arial"/>
                        </a:rPr>
                        <a:t>X ≤ 23.5</a:t>
                      </a:r>
                    </a:p>
                  </a:txBody>
                  <a:tcPr marL="64008" marR="64008" marT="27432" marB="27432" anchor="ctr">
                    <a:solidFill>
                      <a:srgbClr val="FFFFFF"/>
                    </a:solidFill>
                  </a:tcPr>
                </a:tc>
                <a:tc>
                  <a:txBody>
                    <a:bodyPr wrap="square"/>
                    <a:lstStyle/>
                    <a:p>
                      <a:pPr algn="ctr"/>
                      <a:r>
                        <a:rPr sz="1150" b="0" i="0">
                          <a:solidFill>
                            <a:srgbClr val="2B2B2B"/>
                          </a:solidFill>
                          <a:latin typeface="Arial"/>
                        </a:rPr>
                        <a:t>A–G</a:t>
                      </a:r>
                    </a:p>
                  </a:txBody>
                  <a:tcPr marL="64008" marR="64008" marT="27432" marB="27432" anchor="ctr">
                    <a:solidFill>
                      <a:srgbClr val="FFFFFF"/>
                    </a:solidFill>
                  </a:tcPr>
                </a:tc>
                <a:tc>
                  <a:txBody>
                    <a:bodyPr wrap="square"/>
                    <a:lstStyle/>
                    <a:p>
                      <a:pPr algn="ctr"/>
                      <a:r>
                        <a:rPr sz="1150" b="0" i="0">
                          <a:solidFill>
                            <a:srgbClr val="2B2B2B"/>
                          </a:solidFill>
                          <a:latin typeface="Arial"/>
                        </a:rPr>
                        <a:t>1.71</a:t>
                      </a:r>
                    </a:p>
                  </a:txBody>
                  <a:tcPr marL="64008" marR="64008" marT="27432" marB="27432" anchor="ctr">
                    <a:solidFill>
                      <a:srgbClr val="FFFFFF"/>
                    </a:solidFill>
                  </a:tcPr>
                </a:tc>
                <a:tc>
                  <a:txBody>
                    <a:bodyPr wrap="square"/>
                    <a:lstStyle/>
                    <a:p>
                      <a:pPr algn="ctr"/>
                      <a:r>
                        <a:rPr sz="1150" b="0" i="0">
                          <a:solidFill>
                            <a:srgbClr val="2B2B2B"/>
                          </a:solidFill>
                          <a:latin typeface="Arial"/>
                        </a:rPr>
                        <a:t>4.00</a:t>
                      </a:r>
                    </a:p>
                  </a:txBody>
                  <a:tcPr marL="64008" marR="64008" marT="27432" marB="27432" anchor="ctr">
                    <a:solidFill>
                      <a:srgbClr val="FFFFFF"/>
                    </a:solidFill>
                  </a:tcPr>
                </a:tc>
                <a:tc>
                  <a:txBody>
                    <a:bodyPr wrap="square"/>
                    <a:lstStyle/>
                    <a:p>
                      <a:pPr algn="ctr"/>
                      <a:r>
                        <a:rPr sz="1150" b="0" i="0">
                          <a:solidFill>
                            <a:srgbClr val="2B2B2B"/>
                          </a:solidFill>
                          <a:latin typeface="Arial"/>
                        </a:rPr>
                        <a:t>31.4</a:t>
                      </a:r>
                    </a:p>
                  </a:txBody>
                  <a:tcPr marL="64008" marR="64008" marT="27432" marB="27432" anchor="ctr">
                    <a:solidFill>
                      <a:srgbClr val="FFFFFF"/>
                    </a:solidFill>
                  </a:tcPr>
                </a:tc>
              </a:tr>
            </a:tbl>
          </a:graphicData>
        </a:graphic>
      </p:graphicFrame>
      <p:pic>
        <p:nvPicPr>
          <p:cNvPr id="4" name="Picture 3" descr="t_compare.png"/>
          <p:cNvPicPr>
            <a:picLocks noChangeAspect="1"/>
          </p:cNvPicPr>
          <p:nvPr/>
        </p:nvPicPr>
        <p:blipFill>
          <a:blip r:embed="rId3"/>
          <a:stretch>
            <a:fillRect/>
          </a:stretch>
        </p:blipFill>
        <p:spPr>
          <a:xfrm>
            <a:off x="5321300" y="1874519"/>
            <a:ext cx="2936239" cy="3749039"/>
          </a:xfrm>
          <a:prstGeom prst="rect">
            <a:avLst/>
          </a:prstGeom>
        </p:spPr>
      </p:pic>
      <p:sp>
        <p:nvSpPr>
          <p:cNvPr id="5" name="Rounded Rectangle 4"/>
          <p:cNvSpPr/>
          <p:nvPr/>
        </p:nvSpPr>
        <p:spPr>
          <a:xfrm>
            <a:off x="731520" y="571500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A9D8F"/>
                </a:solidFill>
                <a:latin typeface="Arial"/>
              </a:rPr>
              <a:t>Gana X ≤ 19.5 (SSE = 4). </a:t>
            </a:r>
            <a:r>
              <a:rPr sz="1200" b="0" i="0">
                <a:solidFill>
                  <a:srgbClr val="2B2B2B"/>
                </a:solidFill>
                <a:latin typeface="Arial"/>
              </a:rPr>
              <a:t>Así aprende un árbol: busca la pregunta que mejor separa valores altos de bajos.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200" b="1">
                <a:solidFill>
                  <a:srgbClr val="242852"/>
                </a:solidFill>
              </a:rPr>
              <a:t>Seguir preguntando: un árbol de profundidad 2</a:t>
            </a:r>
          </a:p>
        </p:txBody>
      </p:sp>
      <p:sp>
        <p:nvSpPr>
          <p:cNvPr id="3" name="Rounded Rectangle 2"/>
          <p:cNvSpPr/>
          <p:nvPr/>
        </p:nvSpPr>
        <p:spPr>
          <a:xfrm>
            <a:off x="3337560" y="1965960"/>
            <a:ext cx="2560320" cy="54864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300" b="1" i="0">
                <a:solidFill>
                  <a:srgbClr val="FFFFFF"/>
                </a:solidFill>
                <a:latin typeface="Arial"/>
              </a:rPr>
              <a:t>¿X ≤ 19.5?</a:t>
            </a:r>
          </a:p>
        </p:txBody>
      </p:sp>
      <p:cxnSp>
        <p:nvCxnSpPr>
          <p:cNvPr id="4" name="Connector 3"/>
          <p:cNvCxnSpPr/>
          <p:nvPr/>
        </p:nvCxnSpPr>
        <p:spPr>
          <a:xfrm flipH="1">
            <a:off x="2651760" y="2514600"/>
            <a:ext cx="1280160" cy="45720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2971799" y="2560320"/>
            <a:ext cx="640080" cy="274320"/>
          </a:xfrm>
          <a:prstGeom prst="rect">
            <a:avLst/>
          </a:prstGeom>
          <a:noFill/>
        </p:spPr>
        <p:txBody>
          <a:bodyPr wrap="square" anchor="t" lIns="0" rIns="0" tIns="0" bIns="0">
            <a:spAutoFit/>
          </a:bodyPr>
          <a:lstStyle/>
          <a:p>
            <a:pPr algn="ctr">
              <a:spcAft>
                <a:spcPts val="400"/>
              </a:spcAft>
            </a:pPr>
            <a:r>
              <a:rPr sz="1000" b="1" i="0">
                <a:solidFill>
                  <a:srgbClr val="6D6E71"/>
                </a:solidFill>
                <a:latin typeface="Arial"/>
              </a:rPr>
              <a:t>sí</a:t>
            </a:r>
          </a:p>
        </p:txBody>
      </p:sp>
      <p:cxnSp>
        <p:nvCxnSpPr>
          <p:cNvPr id="6" name="Connector 5"/>
          <p:cNvCxnSpPr/>
          <p:nvPr/>
        </p:nvCxnSpPr>
        <p:spPr>
          <a:xfrm>
            <a:off x="5303520" y="2514600"/>
            <a:ext cx="1280160" cy="45720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23560" y="2560320"/>
            <a:ext cx="640080" cy="274320"/>
          </a:xfrm>
          <a:prstGeom prst="rect">
            <a:avLst/>
          </a:prstGeom>
          <a:noFill/>
        </p:spPr>
        <p:txBody>
          <a:bodyPr wrap="square" anchor="t" lIns="0" rIns="0" tIns="0" bIns="0">
            <a:spAutoFit/>
          </a:bodyPr>
          <a:lstStyle/>
          <a:p>
            <a:pPr algn="ctr">
              <a:spcAft>
                <a:spcPts val="400"/>
              </a:spcAft>
            </a:pPr>
            <a:r>
              <a:rPr sz="1000" b="1" i="0">
                <a:solidFill>
                  <a:srgbClr val="6D6E71"/>
                </a:solidFill>
                <a:latin typeface="Arial"/>
              </a:rPr>
              <a:t>no</a:t>
            </a:r>
          </a:p>
        </p:txBody>
      </p:sp>
      <p:sp>
        <p:nvSpPr>
          <p:cNvPr id="8" name="Rounded Rectangle 7"/>
          <p:cNvSpPr/>
          <p:nvPr/>
        </p:nvSpPr>
        <p:spPr>
          <a:xfrm>
            <a:off x="1645919" y="2971800"/>
            <a:ext cx="2011680" cy="502920"/>
          </a:xfrm>
          <a:prstGeom prst="roundRect">
            <a:avLst>
              <a:gd name="adj" fmla="val 8000"/>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200" b="1" i="0">
                <a:solidFill>
                  <a:srgbClr val="FFFFFF"/>
                </a:solidFill>
                <a:latin typeface="Arial"/>
              </a:rPr>
              <a:t>¿X ≤ 16.5?</a:t>
            </a:r>
          </a:p>
        </p:txBody>
      </p:sp>
      <p:sp>
        <p:nvSpPr>
          <p:cNvPr id="9" name="Rounded Rectangle 8"/>
          <p:cNvSpPr/>
          <p:nvPr/>
        </p:nvSpPr>
        <p:spPr>
          <a:xfrm>
            <a:off x="5577840" y="2971800"/>
            <a:ext cx="2011680" cy="502920"/>
          </a:xfrm>
          <a:prstGeom prst="roundRect">
            <a:avLst>
              <a:gd name="adj" fmla="val 8000"/>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200" b="1" i="0">
                <a:solidFill>
                  <a:srgbClr val="FFFFFF"/>
                </a:solidFill>
                <a:latin typeface="Arial"/>
              </a:rPr>
              <a:t>¿X ≤ 22.5?</a:t>
            </a:r>
          </a:p>
        </p:txBody>
      </p:sp>
      <p:cxnSp>
        <p:nvCxnSpPr>
          <p:cNvPr id="10" name="Connector 9"/>
          <p:cNvCxnSpPr/>
          <p:nvPr/>
        </p:nvCxnSpPr>
        <p:spPr>
          <a:xfrm flipH="1">
            <a:off x="1600200" y="3474720"/>
            <a:ext cx="594360" cy="45720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577340" y="3520439"/>
            <a:ext cx="640080" cy="274320"/>
          </a:xfrm>
          <a:prstGeom prst="rect">
            <a:avLst/>
          </a:prstGeom>
          <a:noFill/>
        </p:spPr>
        <p:txBody>
          <a:bodyPr wrap="square" anchor="t" lIns="0" rIns="0" tIns="0" bIns="0">
            <a:spAutoFit/>
          </a:bodyPr>
          <a:lstStyle/>
          <a:p>
            <a:pPr algn="ctr">
              <a:spcAft>
                <a:spcPts val="400"/>
              </a:spcAft>
            </a:pPr>
            <a:r>
              <a:rPr sz="1000" b="1" i="0">
                <a:solidFill>
                  <a:srgbClr val="6D6E71"/>
                </a:solidFill>
                <a:latin typeface="Arial"/>
              </a:rPr>
              <a:t>sí</a:t>
            </a:r>
          </a:p>
        </p:txBody>
      </p:sp>
      <p:cxnSp>
        <p:nvCxnSpPr>
          <p:cNvPr id="12" name="Connector 11"/>
          <p:cNvCxnSpPr/>
          <p:nvPr/>
        </p:nvCxnSpPr>
        <p:spPr>
          <a:xfrm>
            <a:off x="3108960" y="3474720"/>
            <a:ext cx="594360" cy="45720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086099" y="3520439"/>
            <a:ext cx="640080" cy="274320"/>
          </a:xfrm>
          <a:prstGeom prst="rect">
            <a:avLst/>
          </a:prstGeom>
          <a:noFill/>
        </p:spPr>
        <p:txBody>
          <a:bodyPr wrap="square" anchor="t" lIns="0" rIns="0" tIns="0" bIns="0">
            <a:spAutoFit/>
          </a:bodyPr>
          <a:lstStyle/>
          <a:p>
            <a:pPr algn="ctr">
              <a:spcAft>
                <a:spcPts val="400"/>
              </a:spcAft>
            </a:pPr>
            <a:r>
              <a:rPr sz="1000" b="1" i="0">
                <a:solidFill>
                  <a:srgbClr val="6D6E71"/>
                </a:solidFill>
                <a:latin typeface="Arial"/>
              </a:rPr>
              <a:t>no</a:t>
            </a:r>
          </a:p>
        </p:txBody>
      </p:sp>
      <p:cxnSp>
        <p:nvCxnSpPr>
          <p:cNvPr id="14" name="Connector 13"/>
          <p:cNvCxnSpPr/>
          <p:nvPr/>
        </p:nvCxnSpPr>
        <p:spPr>
          <a:xfrm flipH="1">
            <a:off x="5532120" y="3474720"/>
            <a:ext cx="594360" cy="45720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509260" y="3520439"/>
            <a:ext cx="640080" cy="274320"/>
          </a:xfrm>
          <a:prstGeom prst="rect">
            <a:avLst/>
          </a:prstGeom>
          <a:noFill/>
        </p:spPr>
        <p:txBody>
          <a:bodyPr wrap="square" anchor="t" lIns="0" rIns="0" tIns="0" bIns="0">
            <a:spAutoFit/>
          </a:bodyPr>
          <a:lstStyle/>
          <a:p>
            <a:pPr algn="ctr">
              <a:spcAft>
                <a:spcPts val="400"/>
              </a:spcAft>
            </a:pPr>
            <a:r>
              <a:rPr sz="1000" b="1" i="0">
                <a:solidFill>
                  <a:srgbClr val="6D6E71"/>
                </a:solidFill>
                <a:latin typeface="Arial"/>
              </a:rPr>
              <a:t>sí</a:t>
            </a:r>
          </a:p>
        </p:txBody>
      </p:sp>
      <p:cxnSp>
        <p:nvCxnSpPr>
          <p:cNvPr id="16" name="Connector 15"/>
          <p:cNvCxnSpPr/>
          <p:nvPr/>
        </p:nvCxnSpPr>
        <p:spPr>
          <a:xfrm>
            <a:off x="7040880" y="3474720"/>
            <a:ext cx="594360" cy="45720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018020" y="3520439"/>
            <a:ext cx="640080" cy="274320"/>
          </a:xfrm>
          <a:prstGeom prst="rect">
            <a:avLst/>
          </a:prstGeom>
          <a:noFill/>
        </p:spPr>
        <p:txBody>
          <a:bodyPr wrap="square" anchor="t" lIns="0" rIns="0" tIns="0" bIns="0">
            <a:spAutoFit/>
          </a:bodyPr>
          <a:lstStyle/>
          <a:p>
            <a:pPr algn="ctr">
              <a:spcAft>
                <a:spcPts val="400"/>
              </a:spcAft>
            </a:pPr>
            <a:r>
              <a:rPr sz="1000" b="1" i="0">
                <a:solidFill>
                  <a:srgbClr val="6D6E71"/>
                </a:solidFill>
                <a:latin typeface="Arial"/>
              </a:rPr>
              <a:t>no</a:t>
            </a:r>
          </a:p>
        </p:txBody>
      </p:sp>
      <p:sp>
        <p:nvSpPr>
          <p:cNvPr id="18" name="Rounded Rectangle 17"/>
          <p:cNvSpPr/>
          <p:nvPr/>
        </p:nvSpPr>
        <p:spPr>
          <a:xfrm>
            <a:off x="800100" y="3931920"/>
            <a:ext cx="1600200" cy="73152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400" b="1" i="0">
                <a:solidFill>
                  <a:srgbClr val="D7263D"/>
                </a:solidFill>
                <a:latin typeface="Arial"/>
              </a:rPr>
              <a:t>ŷ = −0.5</a:t>
            </a:r>
          </a:p>
          <a:p>
            <a:pPr algn="ctr">
              <a:spcAft>
                <a:spcPts val="300"/>
              </a:spcAft>
            </a:pPr>
            <a:r>
              <a:rPr sz="1050" b="1" i="0">
                <a:solidFill>
                  <a:srgbClr val="5F6368"/>
                </a:solidFill>
                <a:latin typeface="Arial"/>
              </a:rPr>
              <a:t>A, B</a:t>
            </a:r>
          </a:p>
        </p:txBody>
      </p:sp>
      <p:sp>
        <p:nvSpPr>
          <p:cNvPr id="19" name="Rounded Rectangle 18"/>
          <p:cNvSpPr/>
          <p:nvPr/>
        </p:nvSpPr>
        <p:spPr>
          <a:xfrm>
            <a:off x="2903220" y="3931920"/>
            <a:ext cx="1600200" cy="73152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400" b="1" i="0">
                <a:solidFill>
                  <a:srgbClr val="D7263D"/>
                </a:solidFill>
                <a:latin typeface="Arial"/>
              </a:rPr>
              <a:t>ŷ = 0.5</a:t>
            </a:r>
          </a:p>
          <a:p>
            <a:pPr algn="ctr">
              <a:spcAft>
                <a:spcPts val="300"/>
              </a:spcAft>
            </a:pPr>
            <a:r>
              <a:rPr sz="1050" b="1" i="0">
                <a:solidFill>
                  <a:srgbClr val="5F6368"/>
                </a:solidFill>
                <a:latin typeface="Arial"/>
              </a:rPr>
              <a:t>C, D</a:t>
            </a:r>
          </a:p>
        </p:txBody>
      </p:sp>
      <p:sp>
        <p:nvSpPr>
          <p:cNvPr id="20" name="Rounded Rectangle 19"/>
          <p:cNvSpPr/>
          <p:nvPr/>
        </p:nvSpPr>
        <p:spPr>
          <a:xfrm>
            <a:off x="4732020" y="3931920"/>
            <a:ext cx="1600200" cy="73152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400" b="1" i="0">
                <a:solidFill>
                  <a:srgbClr val="2A9D8F"/>
                </a:solidFill>
                <a:latin typeface="Arial"/>
              </a:rPr>
              <a:t>ŷ = 4.5</a:t>
            </a:r>
          </a:p>
          <a:p>
            <a:pPr algn="ctr">
              <a:spcAft>
                <a:spcPts val="300"/>
              </a:spcAft>
            </a:pPr>
            <a:r>
              <a:rPr sz="1050" b="1" i="0">
                <a:solidFill>
                  <a:srgbClr val="5F6368"/>
                </a:solidFill>
                <a:latin typeface="Arial"/>
              </a:rPr>
              <a:t>E, F</a:t>
            </a:r>
          </a:p>
        </p:txBody>
      </p:sp>
      <p:sp>
        <p:nvSpPr>
          <p:cNvPr id="21" name="Rounded Rectangle 20"/>
          <p:cNvSpPr/>
          <p:nvPr/>
        </p:nvSpPr>
        <p:spPr>
          <a:xfrm>
            <a:off x="6835140" y="3931920"/>
            <a:ext cx="1600200" cy="73152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400" b="1" i="0">
                <a:solidFill>
                  <a:srgbClr val="2A9D8F"/>
                </a:solidFill>
                <a:latin typeface="Arial"/>
              </a:rPr>
              <a:t>ŷ = 3.5</a:t>
            </a:r>
          </a:p>
          <a:p>
            <a:pPr algn="ctr">
              <a:spcAft>
                <a:spcPts val="300"/>
              </a:spcAft>
            </a:pPr>
            <a:r>
              <a:rPr sz="1050" b="1" i="0">
                <a:solidFill>
                  <a:srgbClr val="5F6368"/>
                </a:solidFill>
                <a:latin typeface="Arial"/>
              </a:rPr>
              <a:t>G, H</a:t>
            </a:r>
          </a:p>
        </p:txBody>
      </p:sp>
      <p:pic>
        <p:nvPicPr>
          <p:cNvPr id="22" name="Picture 21" descr="t_depth2.png"/>
          <p:cNvPicPr>
            <a:picLocks noChangeAspect="1"/>
          </p:cNvPicPr>
          <p:nvPr/>
        </p:nvPicPr>
        <p:blipFill>
          <a:blip r:embed="rId3"/>
          <a:stretch>
            <a:fillRect/>
          </a:stretch>
        </p:blipFill>
        <p:spPr>
          <a:xfrm>
            <a:off x="899995" y="4754880"/>
            <a:ext cx="2406249" cy="1554480"/>
          </a:xfrm>
          <a:prstGeom prst="rect">
            <a:avLst/>
          </a:prstGeom>
        </p:spPr>
      </p:pic>
      <p:graphicFrame>
        <p:nvGraphicFramePr>
          <p:cNvPr id="23" name="Table 22"/>
          <p:cNvGraphicFramePr>
            <a:graphicFrameLocks noGrp="1"/>
          </p:cNvGraphicFramePr>
          <p:nvPr/>
        </p:nvGraphicFramePr>
        <p:xfrm>
          <a:off x="3657600" y="4754880"/>
          <a:ext cx="2377440" cy="1508760"/>
        </p:xfrm>
        <a:graphic>
          <a:graphicData uri="http://schemas.openxmlformats.org/drawingml/2006/table">
            <a:tbl>
              <a:tblPr firstRow="1" bandRow="1">
                <a:tableStyleId>{5C22544A-7EE6-4342-B048-85BDC9FD1C3A}</a:tableStyleId>
              </a:tblPr>
              <a:tblGrid>
                <a:gridCol w="1005840"/>
                <a:gridCol w="685800"/>
                <a:gridCol w="685800"/>
              </a:tblGrid>
              <a:tr h="301752">
                <a:tc>
                  <a:txBody>
                    <a:bodyPr wrap="square"/>
                    <a:lstStyle/>
                    <a:p>
                      <a:pPr algn="l"/>
                      <a:r>
                        <a:rPr sz="1100" b="1" i="0">
                          <a:solidFill>
                            <a:srgbClr val="FFFFFF"/>
                          </a:solidFill>
                          <a:latin typeface="Arial"/>
                        </a:rPr>
                        <a:t>Profundidad</a:t>
                      </a:r>
                    </a:p>
                  </a:txBody>
                  <a:tcPr marL="64008" marR="64008" marT="27432" marB="27432" anchor="ctr">
                    <a:solidFill>
                      <a:srgbClr val="242852"/>
                    </a:solidFill>
                  </a:tcPr>
                </a:tc>
                <a:tc>
                  <a:txBody>
                    <a:bodyPr wrap="square"/>
                    <a:lstStyle/>
                    <a:p>
                      <a:pPr algn="ctr"/>
                      <a:r>
                        <a:rPr sz="1100" b="1" i="0">
                          <a:solidFill>
                            <a:srgbClr val="FFFFFF"/>
                          </a:solidFill>
                          <a:latin typeface="Arial"/>
                        </a:rPr>
                        <a:t>Hojas</a:t>
                      </a:r>
                    </a:p>
                  </a:txBody>
                  <a:tcPr marL="64008" marR="64008" marT="27432" marB="27432" anchor="ctr">
                    <a:solidFill>
                      <a:srgbClr val="242852"/>
                    </a:solidFill>
                  </a:tcPr>
                </a:tc>
                <a:tc>
                  <a:txBody>
                    <a:bodyPr wrap="square"/>
                    <a:lstStyle/>
                    <a:p>
                      <a:pPr algn="ctr"/>
                      <a:r>
                        <a:rPr sz="1100" b="1" i="0">
                          <a:solidFill>
                            <a:srgbClr val="FFFFFF"/>
                          </a:solidFill>
                          <a:latin typeface="Arial"/>
                        </a:rPr>
                        <a:t>SSE</a:t>
                      </a:r>
                    </a:p>
                  </a:txBody>
                  <a:tcPr marL="64008" marR="64008" marT="27432" marB="27432" anchor="ctr">
                    <a:solidFill>
                      <a:srgbClr val="242852"/>
                    </a:solidFill>
                  </a:tcPr>
                </a:tc>
              </a:tr>
              <a:tr h="301752">
                <a:tc>
                  <a:txBody>
                    <a:bodyPr wrap="square"/>
                    <a:lstStyle/>
                    <a:p>
                      <a:pPr algn="l"/>
                      <a:r>
                        <a:rPr sz="1100" b="0" i="0">
                          <a:solidFill>
                            <a:srgbClr val="2B2B2B"/>
                          </a:solidFill>
                          <a:latin typeface="Arial"/>
                        </a:rPr>
                        <a:t>0</a:t>
                      </a:r>
                    </a:p>
                  </a:txBody>
                  <a:tcPr marL="64008" marR="64008" marT="27432" marB="27432" anchor="ctr">
                    <a:solidFill>
                      <a:srgbClr val="FFFFFF"/>
                    </a:solidFill>
                  </a:tcPr>
                </a:tc>
                <a:tc>
                  <a:txBody>
                    <a:bodyPr wrap="square"/>
                    <a:lstStyle/>
                    <a:p>
                      <a:pPr algn="ctr"/>
                      <a:r>
                        <a:rPr sz="1100" b="0" i="0">
                          <a:solidFill>
                            <a:srgbClr val="2B2B2B"/>
                          </a:solidFill>
                          <a:latin typeface="Arial"/>
                        </a:rPr>
                        <a:t>1</a:t>
                      </a:r>
                    </a:p>
                  </a:txBody>
                  <a:tcPr marL="64008" marR="64008" marT="27432" marB="27432" anchor="ctr">
                    <a:solidFill>
                      <a:srgbClr val="FFFFFF"/>
                    </a:solidFill>
                  </a:tcPr>
                </a:tc>
                <a:tc>
                  <a:txBody>
                    <a:bodyPr wrap="square"/>
                    <a:lstStyle/>
                    <a:p>
                      <a:pPr algn="ctr"/>
                      <a:r>
                        <a:rPr sz="1100" b="0" i="0">
                          <a:solidFill>
                            <a:srgbClr val="2B2B2B"/>
                          </a:solidFill>
                          <a:latin typeface="Arial"/>
                        </a:rPr>
                        <a:t>36</a:t>
                      </a:r>
                    </a:p>
                  </a:txBody>
                  <a:tcPr marL="64008" marR="64008" marT="27432" marB="27432" anchor="ctr">
                    <a:solidFill>
                      <a:srgbClr val="FFFFFF"/>
                    </a:solidFill>
                  </a:tcPr>
                </a:tc>
              </a:tr>
              <a:tr h="301752">
                <a:tc>
                  <a:txBody>
                    <a:bodyPr wrap="square"/>
                    <a:lstStyle/>
                    <a:p>
                      <a:pPr algn="l"/>
                      <a:r>
                        <a:rPr sz="1100" b="0" i="0">
                          <a:solidFill>
                            <a:srgbClr val="2B2B2B"/>
                          </a:solidFill>
                          <a:latin typeface="Arial"/>
                        </a:rPr>
                        <a:t>1</a:t>
                      </a:r>
                    </a:p>
                  </a:txBody>
                  <a:tcPr marL="64008" marR="64008" marT="27432" marB="27432" anchor="ctr">
                    <a:solidFill>
                      <a:srgbClr val="F2F3F5"/>
                    </a:solidFill>
                  </a:tcPr>
                </a:tc>
                <a:tc>
                  <a:txBody>
                    <a:bodyPr wrap="square"/>
                    <a:lstStyle/>
                    <a:p>
                      <a:pPr algn="ctr"/>
                      <a:r>
                        <a:rPr sz="1100" b="0" i="0">
                          <a:solidFill>
                            <a:srgbClr val="2B2B2B"/>
                          </a:solidFill>
                          <a:latin typeface="Arial"/>
                        </a:rPr>
                        <a:t>2</a:t>
                      </a:r>
                    </a:p>
                  </a:txBody>
                  <a:tcPr marL="64008" marR="64008" marT="27432" marB="27432" anchor="ctr">
                    <a:solidFill>
                      <a:srgbClr val="F2F3F5"/>
                    </a:solidFill>
                  </a:tcPr>
                </a:tc>
                <a:tc>
                  <a:txBody>
                    <a:bodyPr wrap="square"/>
                    <a:lstStyle/>
                    <a:p>
                      <a:pPr algn="ctr"/>
                      <a:r>
                        <a:rPr sz="1100" b="0" i="0">
                          <a:solidFill>
                            <a:srgbClr val="2B2B2B"/>
                          </a:solidFill>
                          <a:latin typeface="Arial"/>
                        </a:rPr>
                        <a:t>4</a:t>
                      </a:r>
                    </a:p>
                  </a:txBody>
                  <a:tcPr marL="64008" marR="64008" marT="27432" marB="27432" anchor="ctr">
                    <a:solidFill>
                      <a:srgbClr val="F2F3F5"/>
                    </a:solidFill>
                  </a:tcPr>
                </a:tc>
              </a:tr>
              <a:tr h="301752">
                <a:tc>
                  <a:txBody>
                    <a:bodyPr wrap="square"/>
                    <a:lstStyle/>
                    <a:p>
                      <a:pPr algn="l"/>
                      <a:r>
                        <a:rPr sz="1100" b="0" i="0">
                          <a:solidFill>
                            <a:srgbClr val="2B2B2B"/>
                          </a:solidFill>
                          <a:latin typeface="Arial"/>
                        </a:rPr>
                        <a:t>2</a:t>
                      </a:r>
                    </a:p>
                  </a:txBody>
                  <a:tcPr marL="64008" marR="64008" marT="27432" marB="27432" anchor="ctr">
                    <a:solidFill>
                      <a:srgbClr val="FFFFFF"/>
                    </a:solidFill>
                  </a:tcPr>
                </a:tc>
                <a:tc>
                  <a:txBody>
                    <a:bodyPr wrap="square"/>
                    <a:lstStyle/>
                    <a:p>
                      <a:pPr algn="ctr"/>
                      <a:r>
                        <a:rPr sz="1100" b="0" i="0">
                          <a:solidFill>
                            <a:srgbClr val="2B2B2B"/>
                          </a:solidFill>
                          <a:latin typeface="Arial"/>
                        </a:rPr>
                        <a:t>4</a:t>
                      </a:r>
                    </a:p>
                  </a:txBody>
                  <a:tcPr marL="64008" marR="64008" marT="27432" marB="27432" anchor="ctr">
                    <a:solidFill>
                      <a:srgbClr val="FFFFFF"/>
                    </a:solidFill>
                  </a:tcPr>
                </a:tc>
                <a:tc>
                  <a:txBody>
                    <a:bodyPr wrap="square"/>
                    <a:lstStyle/>
                    <a:p>
                      <a:pPr algn="ctr"/>
                      <a:r>
                        <a:rPr sz="1100" b="0" i="0">
                          <a:solidFill>
                            <a:srgbClr val="2B2B2B"/>
                          </a:solidFill>
                          <a:latin typeface="Arial"/>
                        </a:rPr>
                        <a:t>2</a:t>
                      </a:r>
                    </a:p>
                  </a:txBody>
                  <a:tcPr marL="64008" marR="64008" marT="27432" marB="27432" anchor="ctr">
                    <a:solidFill>
                      <a:srgbClr val="FFFFFF"/>
                    </a:solidFill>
                  </a:tcPr>
                </a:tc>
              </a:tr>
              <a:tr h="301752">
                <a:tc>
                  <a:txBody>
                    <a:bodyPr wrap="square"/>
                    <a:lstStyle/>
                    <a:p>
                      <a:pPr algn="l"/>
                      <a:r>
                        <a:rPr sz="1100" b="0" i="0">
                          <a:solidFill>
                            <a:srgbClr val="2B2B2B"/>
                          </a:solidFill>
                          <a:latin typeface="Arial"/>
                        </a:rPr>
                        <a:t>3</a:t>
                      </a:r>
                    </a:p>
                  </a:txBody>
                  <a:tcPr marL="64008" marR="64008" marT="27432" marB="27432" anchor="ctr">
                    <a:solidFill>
                      <a:srgbClr val="FBE8EA"/>
                    </a:solidFill>
                  </a:tcPr>
                </a:tc>
                <a:tc>
                  <a:txBody>
                    <a:bodyPr wrap="square"/>
                    <a:lstStyle/>
                    <a:p>
                      <a:pPr algn="ctr"/>
                      <a:r>
                        <a:rPr sz="1100" b="0" i="0">
                          <a:solidFill>
                            <a:srgbClr val="2B2B2B"/>
                          </a:solidFill>
                          <a:latin typeface="Arial"/>
                        </a:rPr>
                        <a:t>8</a:t>
                      </a:r>
                    </a:p>
                  </a:txBody>
                  <a:tcPr marL="64008" marR="64008" marT="27432" marB="27432" anchor="ctr">
                    <a:solidFill>
                      <a:srgbClr val="FBE8EA"/>
                    </a:solidFill>
                  </a:tcPr>
                </a:tc>
                <a:tc>
                  <a:txBody>
                    <a:bodyPr wrap="square"/>
                    <a:lstStyle/>
                    <a:p>
                      <a:pPr algn="ctr"/>
                      <a:r>
                        <a:rPr sz="1100" b="1" i="0">
                          <a:solidFill>
                            <a:srgbClr val="D7263D"/>
                          </a:solidFill>
                          <a:latin typeface="Arial"/>
                        </a:rPr>
                        <a:t>0</a:t>
                      </a:r>
                    </a:p>
                  </a:txBody>
                  <a:tcPr marL="64008" marR="64008" marT="27432" marB="27432" anchor="ctr">
                    <a:solidFill>
                      <a:srgbClr val="FBE8EA"/>
                    </a:solidFill>
                  </a:tcPr>
                </a:tc>
              </a:tr>
            </a:tbl>
          </a:graphicData>
        </a:graphic>
      </p:graphicFrame>
      <p:sp>
        <p:nvSpPr>
          <p:cNvPr id="24" name="Rounded Rectangle 23"/>
          <p:cNvSpPr/>
          <p:nvPr/>
        </p:nvSpPr>
        <p:spPr>
          <a:xfrm>
            <a:off x="6217920" y="4754880"/>
            <a:ext cx="2286000" cy="15087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50" b="1" i="0">
                <a:solidFill>
                  <a:srgbClr val="D7263D"/>
                </a:solidFill>
                <a:latin typeface="Arial"/>
              </a:rPr>
              <a:t>SSE = 0 no es bueno</a:t>
            </a:r>
          </a:p>
          <a:p>
            <a:pPr algn="ctr">
              <a:spcAft>
                <a:spcPts val="300"/>
              </a:spcAft>
            </a:pPr>
            <a:r>
              <a:rPr sz="1100" b="0" i="0">
                <a:solidFill>
                  <a:srgbClr val="2B2B2B"/>
                </a:solidFill>
                <a:latin typeface="Arial"/>
              </a:rPr>
              <a:t>cada hoja tiene 1 fila: memorizó, no aprendió</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Del ejemplo a datos reales: 10 127 clientes</a:t>
            </a:r>
          </a:p>
        </p:txBody>
      </p:sp>
      <p:graphicFrame>
        <p:nvGraphicFramePr>
          <p:cNvPr id="3" name="Table 2"/>
          <p:cNvGraphicFramePr>
            <a:graphicFrameLocks noGrp="1"/>
          </p:cNvGraphicFramePr>
          <p:nvPr/>
        </p:nvGraphicFramePr>
        <p:xfrm>
          <a:off x="731520" y="1965960"/>
          <a:ext cx="5577840" cy="2688336"/>
        </p:xfrm>
        <a:graphic>
          <a:graphicData uri="http://schemas.openxmlformats.org/drawingml/2006/table">
            <a:tbl>
              <a:tblPr firstRow="1" bandRow="1">
                <a:tableStyleId>{5C22544A-7EE6-4342-B048-85BDC9FD1C3A}</a:tableStyleId>
              </a:tblPr>
              <a:tblGrid>
                <a:gridCol w="2011680"/>
                <a:gridCol w="2377440"/>
                <a:gridCol w="1188720"/>
              </a:tblGrid>
              <a:tr h="384048">
                <a:tc>
                  <a:txBody>
                    <a:bodyPr wrap="square"/>
                    <a:lstStyle/>
                    <a:p>
                      <a:pPr algn="l"/>
                      <a:r>
                        <a:rPr sz="1100" b="1" i="0">
                          <a:solidFill>
                            <a:srgbClr val="FFFFFF"/>
                          </a:solidFill>
                          <a:latin typeface="Arial"/>
                        </a:rPr>
                        <a:t>Variable</a:t>
                      </a:r>
                    </a:p>
                  </a:txBody>
                  <a:tcPr marL="64008" marR="64008" marT="27432" marB="27432" anchor="ctr">
                    <a:solidFill>
                      <a:srgbClr val="242852"/>
                    </a:solidFill>
                  </a:tcPr>
                </a:tc>
                <a:tc>
                  <a:txBody>
                    <a:bodyPr wrap="square"/>
                    <a:lstStyle/>
                    <a:p>
                      <a:pPr algn="l"/>
                      <a:r>
                        <a:rPr sz="1100" b="1" i="0">
                          <a:solidFill>
                            <a:srgbClr val="FFFFFF"/>
                          </a:solidFill>
                          <a:latin typeface="Arial"/>
                        </a:rPr>
                        <a:t>Significado</a:t>
                      </a:r>
                    </a:p>
                  </a:txBody>
                  <a:tcPr marL="64008" marR="64008" marT="27432" marB="27432" anchor="ctr">
                    <a:solidFill>
                      <a:srgbClr val="242852"/>
                    </a:solidFill>
                  </a:tcPr>
                </a:tc>
                <a:tc>
                  <a:txBody>
                    <a:bodyPr wrap="square"/>
                    <a:lstStyle/>
                    <a:p>
                      <a:pPr algn="l"/>
                      <a:r>
                        <a:rPr sz="1100" b="1" i="0">
                          <a:solidFill>
                            <a:srgbClr val="FFFFFF"/>
                          </a:solidFill>
                          <a:latin typeface="Arial"/>
                        </a:rPr>
                        <a:t>Rol</a:t>
                      </a:r>
                    </a:p>
                  </a:txBody>
                  <a:tcPr marL="64008" marR="64008" marT="27432" marB="27432" anchor="ctr">
                    <a:solidFill>
                      <a:srgbClr val="242852"/>
                    </a:solidFill>
                  </a:tcPr>
                </a:tc>
              </a:tr>
              <a:tr h="384048">
                <a:tc>
                  <a:txBody>
                    <a:bodyPr wrap="square"/>
                    <a:lstStyle/>
                    <a:p>
                      <a:pPr algn="l"/>
                      <a:r>
                        <a:rPr sz="1100" b="0" i="0">
                          <a:solidFill>
                            <a:srgbClr val="2B2B2B"/>
                          </a:solidFill>
                          <a:latin typeface="Arial"/>
                        </a:rPr>
                        <a:t>Total_Trans_Amt</a:t>
                      </a:r>
                    </a:p>
                  </a:txBody>
                  <a:tcPr marL="64008" marR="64008" marT="27432" marB="27432" anchor="ctr">
                    <a:solidFill>
                      <a:srgbClr val="FBE8EA"/>
                    </a:solidFill>
                  </a:tcPr>
                </a:tc>
                <a:tc>
                  <a:txBody>
                    <a:bodyPr wrap="square"/>
                    <a:lstStyle/>
                    <a:p>
                      <a:pPr algn="l"/>
                      <a:r>
                        <a:rPr sz="1100" b="0" i="0">
                          <a:solidFill>
                            <a:srgbClr val="2B2B2B"/>
                          </a:solidFill>
                          <a:latin typeface="Arial"/>
                        </a:rPr>
                        <a:t>Monto transado en 12 meses (USD)</a:t>
                      </a:r>
                    </a:p>
                  </a:txBody>
                  <a:tcPr marL="64008" marR="64008" marT="27432" marB="27432" anchor="ctr">
                    <a:solidFill>
                      <a:srgbClr val="FBE8EA"/>
                    </a:solidFill>
                  </a:tcPr>
                </a:tc>
                <a:tc>
                  <a:txBody>
                    <a:bodyPr wrap="square"/>
                    <a:lstStyle/>
                    <a:p>
                      <a:pPr algn="l"/>
                      <a:r>
                        <a:rPr sz="1100" b="1" i="0">
                          <a:solidFill>
                            <a:srgbClr val="D7263D"/>
                          </a:solidFill>
                          <a:latin typeface="Arial"/>
                        </a:rPr>
                        <a:t>Objetivo (y)</a:t>
                      </a:r>
                    </a:p>
                  </a:txBody>
                  <a:tcPr marL="64008" marR="64008" marT="27432" marB="27432" anchor="ctr">
                    <a:solidFill>
                      <a:srgbClr val="FBE8EA"/>
                    </a:solidFill>
                  </a:tcPr>
                </a:tc>
              </a:tr>
              <a:tr h="384048">
                <a:tc>
                  <a:txBody>
                    <a:bodyPr wrap="square"/>
                    <a:lstStyle/>
                    <a:p>
                      <a:pPr algn="l"/>
                      <a:r>
                        <a:rPr sz="1100" b="0" i="0">
                          <a:solidFill>
                            <a:srgbClr val="2B2B2B"/>
                          </a:solidFill>
                          <a:latin typeface="Arial"/>
                        </a:rPr>
                        <a:t>Total_Trans_Ct</a:t>
                      </a:r>
                    </a:p>
                  </a:txBody>
                  <a:tcPr marL="64008" marR="64008" marT="27432" marB="27432" anchor="ctr">
                    <a:solidFill>
                      <a:srgbClr val="F2F3F5"/>
                    </a:solidFill>
                  </a:tcPr>
                </a:tc>
                <a:tc>
                  <a:txBody>
                    <a:bodyPr wrap="square"/>
                    <a:lstStyle/>
                    <a:p>
                      <a:pPr algn="l"/>
                      <a:r>
                        <a:rPr sz="1100" b="0" i="0">
                          <a:solidFill>
                            <a:srgbClr val="2B2B2B"/>
                          </a:solidFill>
                          <a:latin typeface="Arial"/>
                        </a:rPr>
                        <a:t>Número de transacciones en 12 meses</a:t>
                      </a:r>
                    </a:p>
                  </a:txBody>
                  <a:tcPr marL="64008" marR="64008" marT="27432" marB="27432" anchor="ctr">
                    <a:solidFill>
                      <a:srgbClr val="F2F3F5"/>
                    </a:solidFill>
                  </a:tcPr>
                </a:tc>
                <a:tc>
                  <a:txBody>
                    <a:bodyPr wrap="square"/>
                    <a:lstStyle/>
                    <a:p>
                      <a:pPr algn="l"/>
                      <a:r>
                        <a:rPr sz="1100" b="0" i="0">
                          <a:solidFill>
                            <a:srgbClr val="2B2B2B"/>
                          </a:solidFill>
                          <a:latin typeface="Arial"/>
                        </a:rPr>
                        <a:t>Predictor (X)</a:t>
                      </a:r>
                    </a:p>
                  </a:txBody>
                  <a:tcPr marL="64008" marR="64008" marT="27432" marB="27432" anchor="ctr">
                    <a:solidFill>
                      <a:srgbClr val="F2F3F5"/>
                    </a:solidFill>
                  </a:tcPr>
                </a:tc>
              </a:tr>
              <a:tr h="384048">
                <a:tc>
                  <a:txBody>
                    <a:bodyPr wrap="square"/>
                    <a:lstStyle/>
                    <a:p>
                      <a:pPr algn="l"/>
                      <a:r>
                        <a:rPr sz="1100" b="0" i="0">
                          <a:solidFill>
                            <a:srgbClr val="2B2B2B"/>
                          </a:solidFill>
                          <a:latin typeface="Arial"/>
                        </a:rPr>
                        <a:t>Total_Ct_Chng_Q4_Q1</a:t>
                      </a:r>
                    </a:p>
                  </a:txBody>
                  <a:tcPr marL="64008" marR="64008" marT="27432" marB="27432" anchor="ctr">
                    <a:solidFill>
                      <a:srgbClr val="FFFFFF"/>
                    </a:solidFill>
                  </a:tcPr>
                </a:tc>
                <a:tc>
                  <a:txBody>
                    <a:bodyPr wrap="square"/>
                    <a:lstStyle/>
                    <a:p>
                      <a:pPr algn="l"/>
                      <a:r>
                        <a:rPr sz="1100" b="0" i="0">
                          <a:solidFill>
                            <a:srgbClr val="2B2B2B"/>
                          </a:solidFill>
                          <a:latin typeface="Arial"/>
                        </a:rPr>
                        <a:t>Cambio de transacciones: Q4 frente a Q1</a:t>
                      </a:r>
                    </a:p>
                  </a:txBody>
                  <a:tcPr marL="64008" marR="64008" marT="27432" marB="27432" anchor="ctr">
                    <a:solidFill>
                      <a:srgbClr val="FFFFFF"/>
                    </a:solidFill>
                  </a:tcPr>
                </a:tc>
                <a:tc>
                  <a:txBody>
                    <a:bodyPr wrap="square"/>
                    <a:lstStyle/>
                    <a:p>
                      <a:pPr algn="l"/>
                      <a:r>
                        <a:rPr sz="1100" b="0" i="0">
                          <a:solidFill>
                            <a:srgbClr val="2B2B2B"/>
                          </a:solidFill>
                          <a:latin typeface="Arial"/>
                        </a:rPr>
                        <a:t>Predictor (X)</a:t>
                      </a:r>
                    </a:p>
                  </a:txBody>
                  <a:tcPr marL="64008" marR="64008" marT="27432" marB="27432" anchor="ctr">
                    <a:solidFill>
                      <a:srgbClr val="FFFFFF"/>
                    </a:solidFill>
                  </a:tcPr>
                </a:tc>
              </a:tr>
              <a:tr h="384048">
                <a:tc>
                  <a:txBody>
                    <a:bodyPr wrap="square"/>
                    <a:lstStyle/>
                    <a:p>
                      <a:pPr algn="l"/>
                      <a:r>
                        <a:rPr sz="1100" b="0" i="0">
                          <a:solidFill>
                            <a:srgbClr val="2B2B2B"/>
                          </a:solidFill>
                          <a:latin typeface="Arial"/>
                        </a:rPr>
                        <a:t>Total_Relationship_Count</a:t>
                      </a:r>
                    </a:p>
                  </a:txBody>
                  <a:tcPr marL="64008" marR="64008" marT="27432" marB="27432" anchor="ctr">
                    <a:solidFill>
                      <a:srgbClr val="F2F3F5"/>
                    </a:solidFill>
                  </a:tcPr>
                </a:tc>
                <a:tc>
                  <a:txBody>
                    <a:bodyPr wrap="square"/>
                    <a:lstStyle/>
                    <a:p>
                      <a:pPr algn="l"/>
                      <a:r>
                        <a:rPr sz="1100" b="0" i="0">
                          <a:solidFill>
                            <a:srgbClr val="2B2B2B"/>
                          </a:solidFill>
                          <a:latin typeface="Arial"/>
                        </a:rPr>
                        <a:t>Productos que tiene con el banco</a:t>
                      </a:r>
                    </a:p>
                  </a:txBody>
                  <a:tcPr marL="64008" marR="64008" marT="27432" marB="27432" anchor="ctr">
                    <a:solidFill>
                      <a:srgbClr val="F2F3F5"/>
                    </a:solidFill>
                  </a:tcPr>
                </a:tc>
                <a:tc>
                  <a:txBody>
                    <a:bodyPr wrap="square"/>
                    <a:lstStyle/>
                    <a:p>
                      <a:pPr algn="l"/>
                      <a:r>
                        <a:rPr sz="1100" b="0" i="0">
                          <a:solidFill>
                            <a:srgbClr val="2B2B2B"/>
                          </a:solidFill>
                          <a:latin typeface="Arial"/>
                        </a:rPr>
                        <a:t>Predictor (X)</a:t>
                      </a:r>
                    </a:p>
                  </a:txBody>
                  <a:tcPr marL="64008" marR="64008" marT="27432" marB="27432" anchor="ctr">
                    <a:solidFill>
                      <a:srgbClr val="F2F3F5"/>
                    </a:solidFill>
                  </a:tcPr>
                </a:tc>
              </a:tr>
              <a:tr h="384048">
                <a:tc>
                  <a:txBody>
                    <a:bodyPr wrap="square"/>
                    <a:lstStyle/>
                    <a:p>
                      <a:pPr algn="l"/>
                      <a:r>
                        <a:rPr sz="1100" b="0" i="0">
                          <a:solidFill>
                            <a:srgbClr val="2B2B2B"/>
                          </a:solidFill>
                          <a:latin typeface="Arial"/>
                        </a:rPr>
                        <a:t>Customer_Age</a:t>
                      </a:r>
                    </a:p>
                  </a:txBody>
                  <a:tcPr marL="64008" marR="64008" marT="27432" marB="27432" anchor="ctr">
                    <a:solidFill>
                      <a:srgbClr val="FFFFFF"/>
                    </a:solidFill>
                  </a:tcPr>
                </a:tc>
                <a:tc>
                  <a:txBody>
                    <a:bodyPr wrap="square"/>
                    <a:lstStyle/>
                    <a:p>
                      <a:pPr algn="l"/>
                      <a:r>
                        <a:rPr sz="1100" b="0" i="0">
                          <a:solidFill>
                            <a:srgbClr val="2B2B2B"/>
                          </a:solidFill>
                          <a:latin typeface="Arial"/>
                        </a:rPr>
                        <a:t>Edad</a:t>
                      </a:r>
                    </a:p>
                  </a:txBody>
                  <a:tcPr marL="64008" marR="64008" marT="27432" marB="27432" anchor="ctr">
                    <a:solidFill>
                      <a:srgbClr val="FFFFFF"/>
                    </a:solidFill>
                  </a:tcPr>
                </a:tc>
                <a:tc>
                  <a:txBody>
                    <a:bodyPr wrap="square"/>
                    <a:lstStyle/>
                    <a:p>
                      <a:pPr algn="l"/>
                      <a:r>
                        <a:rPr sz="1100" b="0" i="0">
                          <a:solidFill>
                            <a:srgbClr val="2B2B2B"/>
                          </a:solidFill>
                          <a:latin typeface="Arial"/>
                        </a:rPr>
                        <a:t>Predictor (X)</a:t>
                      </a:r>
                    </a:p>
                  </a:txBody>
                  <a:tcPr marL="64008" marR="64008" marT="27432" marB="27432" anchor="ctr">
                    <a:solidFill>
                      <a:srgbClr val="FFFFFF"/>
                    </a:solidFill>
                  </a:tcPr>
                </a:tc>
              </a:tr>
              <a:tr h="384048">
                <a:tc>
                  <a:txBody>
                    <a:bodyPr wrap="square"/>
                    <a:lstStyle/>
                    <a:p>
                      <a:pPr algn="l"/>
                      <a:r>
                        <a:rPr sz="1100" b="0" i="0">
                          <a:solidFill>
                            <a:srgbClr val="2B2B2B"/>
                          </a:solidFill>
                          <a:latin typeface="Arial"/>
                        </a:rPr>
                        <a:t>Credit_Limit</a:t>
                      </a:r>
                    </a:p>
                  </a:txBody>
                  <a:tcPr marL="64008" marR="64008" marT="27432" marB="27432" anchor="ctr">
                    <a:solidFill>
                      <a:srgbClr val="F2F3F5"/>
                    </a:solidFill>
                  </a:tcPr>
                </a:tc>
                <a:tc>
                  <a:txBody>
                    <a:bodyPr wrap="square"/>
                    <a:lstStyle/>
                    <a:p>
                      <a:pPr algn="l"/>
                      <a:r>
                        <a:rPr sz="1100" b="0" i="0">
                          <a:solidFill>
                            <a:srgbClr val="2B2B2B"/>
                          </a:solidFill>
                          <a:latin typeface="Arial"/>
                        </a:rPr>
                        <a:t>Límite de crédito (USD)</a:t>
                      </a:r>
                    </a:p>
                  </a:txBody>
                  <a:tcPr marL="64008" marR="64008" marT="27432" marB="27432" anchor="ctr">
                    <a:solidFill>
                      <a:srgbClr val="F2F3F5"/>
                    </a:solidFill>
                  </a:tcPr>
                </a:tc>
                <a:tc>
                  <a:txBody>
                    <a:bodyPr wrap="square"/>
                    <a:lstStyle/>
                    <a:p>
                      <a:pPr algn="l"/>
                      <a:r>
                        <a:rPr sz="1100" b="0" i="0">
                          <a:solidFill>
                            <a:srgbClr val="2B2B2B"/>
                          </a:solidFill>
                          <a:latin typeface="Arial"/>
                        </a:rPr>
                        <a:t>Predictor (X)</a:t>
                      </a:r>
                    </a:p>
                  </a:txBody>
                  <a:tcPr marL="64008" marR="64008" marT="27432" marB="27432" anchor="ctr">
                    <a:solidFill>
                      <a:srgbClr val="F2F3F5"/>
                    </a:solidFill>
                  </a:tcPr>
                </a:tc>
              </a:tr>
            </a:tbl>
          </a:graphicData>
        </a:graphic>
      </p:graphicFrame>
      <p:sp>
        <p:nvSpPr>
          <p:cNvPr id="4" name="Rounded Rectangle 3"/>
          <p:cNvSpPr/>
          <p:nvPr/>
        </p:nvSpPr>
        <p:spPr>
          <a:xfrm>
            <a:off x="6492240" y="2011680"/>
            <a:ext cx="2011680" cy="114300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C9D2E8"/>
                </a:solidFill>
                <a:latin typeface="Arial"/>
              </a:rPr>
              <a:t>Clientes</a:t>
            </a:r>
          </a:p>
          <a:p>
            <a:pPr algn="ctr">
              <a:spcAft>
                <a:spcPts val="300"/>
              </a:spcAft>
            </a:pPr>
            <a:r>
              <a:rPr sz="2200" b="1" i="0">
                <a:solidFill>
                  <a:srgbClr val="FFFFFF"/>
                </a:solidFill>
                <a:latin typeface="Arial"/>
              </a:rPr>
              <a:t>10 127</a:t>
            </a:r>
          </a:p>
        </p:txBody>
      </p:sp>
      <p:sp>
        <p:nvSpPr>
          <p:cNvPr id="5" name="Rounded Rectangle 4"/>
          <p:cNvSpPr/>
          <p:nvPr/>
        </p:nvSpPr>
        <p:spPr>
          <a:xfrm>
            <a:off x="6492240" y="3291840"/>
            <a:ext cx="2011680" cy="114300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Train / Val / Test</a:t>
            </a:r>
          </a:p>
          <a:p>
            <a:pPr algn="ctr">
              <a:spcAft>
                <a:spcPts val="300"/>
              </a:spcAft>
            </a:pPr>
            <a:r>
              <a:rPr sz="1300" b="1" i="0">
                <a:solidFill>
                  <a:srgbClr val="242852"/>
                </a:solidFill>
                <a:latin typeface="Arial"/>
              </a:rPr>
              <a:t>7 088 · 1 519 · 1 520</a:t>
            </a:r>
          </a:p>
        </p:txBody>
      </p:sp>
      <p:sp>
        <p:nvSpPr>
          <p:cNvPr id="6" name="Rounded Rectangle 5"/>
          <p:cNvSpPr/>
          <p:nvPr/>
        </p:nvSpPr>
        <p:spPr>
          <a:xfrm>
            <a:off x="731520" y="4800600"/>
            <a:ext cx="7772400" cy="68580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D7263D"/>
                </a:solidFill>
                <a:latin typeface="Arial"/>
              </a:rPr>
              <a:t>Fuga: </a:t>
            </a:r>
            <a:r>
              <a:rPr sz="1200" b="0" i="0">
                <a:solidFill>
                  <a:srgbClr val="2B2B2B"/>
                </a:solidFill>
                <a:latin typeface="Arial"/>
              </a:rPr>
              <a:t>el archivo trae dos columnas Naive_Bayes… que son predicciones de otro modelo y CLIENTNUM, un identificador. Se eliminan.</a:t>
            </a:r>
          </a:p>
        </p:txBody>
      </p:sp>
      <p:sp>
        <p:nvSpPr>
          <p:cNvPr id="7" name="Rounded Rectangle 6"/>
          <p:cNvSpPr/>
          <p:nvPr/>
        </p:nvSpPr>
        <p:spPr>
          <a:xfrm>
            <a:off x="731520" y="5577840"/>
            <a:ext cx="7772400" cy="68580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No es un pronóstico: </a:t>
            </a:r>
            <a:r>
              <a:rPr sz="1200" b="0" i="0">
                <a:solidFill>
                  <a:srgbClr val="2B2B2B"/>
                </a:solidFill>
                <a:latin typeface="Arial"/>
              </a:rPr>
              <a:t>monto y número de transacciones son del mismo año. Es un ejercicio para ver cómo un árbol aprende una relación que no es recta.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Una recta frente a escalones</a:t>
            </a:r>
          </a:p>
        </p:txBody>
      </p:sp>
      <p:pic>
        <p:nvPicPr>
          <p:cNvPr id="3" name="Picture 2" descr="recta_escalones.png"/>
          <p:cNvPicPr>
            <a:picLocks noChangeAspect="1"/>
          </p:cNvPicPr>
          <p:nvPr/>
        </p:nvPicPr>
        <p:blipFill>
          <a:blip r:embed="rId3"/>
          <a:stretch>
            <a:fillRect/>
          </a:stretch>
        </p:blipFill>
        <p:spPr>
          <a:xfrm>
            <a:off x="731520" y="1930443"/>
            <a:ext cx="5486400" cy="2997113"/>
          </a:xfrm>
          <a:prstGeom prst="rect">
            <a:avLst/>
          </a:prstGeom>
        </p:spPr>
      </p:pic>
      <p:sp>
        <p:nvSpPr>
          <p:cNvPr id="4" name="Rounded Rectangle 3"/>
          <p:cNvSpPr/>
          <p:nvPr/>
        </p:nvSpPr>
        <p:spPr>
          <a:xfrm>
            <a:off x="6400800" y="1965960"/>
            <a:ext cx="2103120" cy="141732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TextBox 4"/>
          <p:cNvSpPr txBox="1"/>
          <p:nvPr/>
        </p:nvSpPr>
        <p:spPr>
          <a:xfrm>
            <a:off x="6537960" y="2075688"/>
            <a:ext cx="1874520" cy="502920"/>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Recta</a:t>
            </a:r>
          </a:p>
        </p:txBody>
      </p:sp>
      <p:sp>
        <p:nvSpPr>
          <p:cNvPr id="6" name="TextBox 5"/>
          <p:cNvSpPr txBox="1"/>
          <p:nvPr/>
        </p:nvSpPr>
        <p:spPr>
          <a:xfrm>
            <a:off x="6537960" y="2624328"/>
            <a:ext cx="1828799" cy="68580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Mismo aumento por cada transacción: 118 USD.</a:t>
            </a:r>
          </a:p>
        </p:txBody>
      </p:sp>
      <p:sp>
        <p:nvSpPr>
          <p:cNvPr id="7" name="Rounded Rectangle 6"/>
          <p:cNvSpPr/>
          <p:nvPr/>
        </p:nvSpPr>
        <p:spPr>
          <a:xfrm>
            <a:off x="6400800" y="3520440"/>
            <a:ext cx="2103120" cy="141732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6537960" y="3630168"/>
            <a:ext cx="1874520" cy="502920"/>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Árbol</a:t>
            </a:r>
          </a:p>
        </p:txBody>
      </p:sp>
      <p:sp>
        <p:nvSpPr>
          <p:cNvPr id="9" name="TextBox 8"/>
          <p:cNvSpPr txBox="1"/>
          <p:nvPr/>
        </p:nvSpPr>
        <p:spPr>
          <a:xfrm>
            <a:off x="6537960" y="4178808"/>
            <a:ext cx="1828799" cy="68580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Un promedio por grupo: escalones.</a:t>
            </a:r>
          </a:p>
        </p:txBody>
      </p:sp>
      <p:sp>
        <p:nvSpPr>
          <p:cNvPr id="10" name="Rounded Rectangle 9"/>
          <p:cNvSpPr/>
          <p:nvPr/>
        </p:nvSpPr>
        <p:spPr>
          <a:xfrm>
            <a:off x="731520" y="5212080"/>
            <a:ext cx="7772400" cy="7772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Límite del árbol: </a:t>
            </a:r>
            <a:r>
              <a:rPr sz="1200" b="0" i="0">
                <a:solidFill>
                  <a:srgbClr val="2B2B2B"/>
                </a:solidFill>
                <a:latin typeface="Arial"/>
              </a:rPr>
              <a:t>no predice más allá del promedio de su última hoja, aunque llegue un cliente con más transacciones que las vistas.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Cómo divide el algoritmo: rectángulos</a:t>
            </a:r>
          </a:p>
        </p:txBody>
      </p:sp>
      <p:pic>
        <p:nvPicPr>
          <p:cNvPr id="3" name="Picture 2" descr="particion.png"/>
          <p:cNvPicPr>
            <a:picLocks noChangeAspect="1"/>
          </p:cNvPicPr>
          <p:nvPr/>
        </p:nvPicPr>
        <p:blipFill>
          <a:blip r:embed="rId3"/>
          <a:stretch>
            <a:fillRect/>
          </a:stretch>
        </p:blipFill>
        <p:spPr>
          <a:xfrm>
            <a:off x="1443403" y="1920240"/>
            <a:ext cx="6348633" cy="2148840"/>
          </a:xfrm>
          <a:prstGeom prst="rect">
            <a:avLst/>
          </a:prstGeom>
        </p:spPr>
      </p:pic>
      <p:sp>
        <p:nvSpPr>
          <p:cNvPr id="4" name="Rounded Rectangle 3"/>
          <p:cNvSpPr/>
          <p:nvPr/>
        </p:nvSpPr>
        <p:spPr>
          <a:xfrm>
            <a:off x="731520" y="4297680"/>
            <a:ext cx="2487168" cy="96012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300" b="1" i="0">
                <a:solidFill>
                  <a:srgbClr val="242852"/>
                </a:solidFill>
                <a:latin typeface="Arial"/>
              </a:rPr>
              <a:t>Cada pregunta</a:t>
            </a:r>
          </a:p>
          <a:p>
            <a:pPr algn="ctr">
              <a:spcAft>
                <a:spcPts val="300"/>
              </a:spcAft>
            </a:pPr>
            <a:r>
              <a:rPr sz="1150" b="0" i="0">
                <a:solidFill>
                  <a:srgbClr val="2B2B2B"/>
                </a:solidFill>
                <a:latin typeface="Arial"/>
              </a:rPr>
              <a:t>una línea paralela a un eje</a:t>
            </a:r>
          </a:p>
        </p:txBody>
      </p:sp>
      <p:sp>
        <p:nvSpPr>
          <p:cNvPr id="5" name="Rounded Rectangle 4"/>
          <p:cNvSpPr/>
          <p:nvPr/>
        </p:nvSpPr>
        <p:spPr>
          <a:xfrm>
            <a:off x="3355848" y="4297680"/>
            <a:ext cx="2487168" cy="96012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300" b="1" i="0">
                <a:solidFill>
                  <a:srgbClr val="2A9D8F"/>
                </a:solidFill>
                <a:latin typeface="Arial"/>
              </a:rPr>
              <a:t>Cada hoja</a:t>
            </a:r>
          </a:p>
          <a:p>
            <a:pPr algn="ctr">
              <a:spcAft>
                <a:spcPts val="300"/>
              </a:spcAft>
            </a:pPr>
            <a:r>
              <a:rPr sz="1150" b="0" i="0">
                <a:solidFill>
                  <a:srgbClr val="2B2B2B"/>
                </a:solidFill>
                <a:latin typeface="Arial"/>
              </a:rPr>
              <a:t>un rectángulo con su promedio</a:t>
            </a:r>
          </a:p>
        </p:txBody>
      </p:sp>
      <p:sp>
        <p:nvSpPr>
          <p:cNvPr id="6" name="Rounded Rectangle 5"/>
          <p:cNvSpPr/>
          <p:nvPr/>
        </p:nvSpPr>
        <p:spPr>
          <a:xfrm>
            <a:off x="5980176" y="4297680"/>
            <a:ext cx="2487168" cy="96012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300" b="1" i="0">
                <a:solidFill>
                  <a:srgbClr val="D7263D"/>
                </a:solidFill>
                <a:latin typeface="Arial"/>
              </a:rPr>
              <a:t>Más profundidad</a:t>
            </a:r>
          </a:p>
          <a:p>
            <a:pPr algn="ctr">
              <a:spcAft>
                <a:spcPts val="300"/>
              </a:spcAft>
            </a:pPr>
            <a:r>
              <a:rPr sz="1150" b="0" i="0">
                <a:solidFill>
                  <a:srgbClr val="2B2B2B"/>
                </a:solidFill>
                <a:latin typeface="Arial"/>
              </a:rPr>
              <a:t>rectángulos cada vez más pequeños</a:t>
            </a:r>
          </a:p>
        </p:txBody>
      </p:sp>
      <p:sp>
        <p:nvSpPr>
          <p:cNvPr id="7" name="Rounded Rectangle 6"/>
          <p:cNvSpPr/>
          <p:nvPr/>
        </p:nvSpPr>
        <p:spPr>
          <a:xfrm>
            <a:off x="731520" y="5486400"/>
            <a:ext cx="7772400" cy="59436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Eje horizontal: </a:t>
            </a:r>
            <a:r>
              <a:rPr sz="1200" b="0" i="0">
                <a:solidFill>
                  <a:srgbClr val="2B2B2B"/>
                </a:solidFill>
                <a:latin typeface="Arial"/>
              </a:rPr>
              <a:t>número de transacciones. Eje vertical: cambio de transacciones Q4/Q1. Color: monto predicho.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El árbol real de profundidad 3</a:t>
            </a:r>
          </a:p>
        </p:txBody>
      </p:sp>
      <p:pic>
        <p:nvPicPr>
          <p:cNvPr id="3" name="Picture 2" descr="arbol_A.png"/>
          <p:cNvPicPr>
            <a:picLocks noChangeAspect="1"/>
          </p:cNvPicPr>
          <p:nvPr/>
        </p:nvPicPr>
        <p:blipFill>
          <a:blip r:embed="rId3"/>
          <a:stretch>
            <a:fillRect/>
          </a:stretch>
        </p:blipFill>
        <p:spPr>
          <a:xfrm>
            <a:off x="845820" y="1874519"/>
            <a:ext cx="7543800" cy="3017520"/>
          </a:xfrm>
          <a:prstGeom prst="rect">
            <a:avLst/>
          </a:prstGeom>
        </p:spPr>
      </p:pic>
      <p:sp>
        <p:nvSpPr>
          <p:cNvPr id="4" name="Rounded Rectangle 3"/>
          <p:cNvSpPr/>
          <p:nvPr/>
        </p:nvSpPr>
        <p:spPr>
          <a:xfrm>
            <a:off x="731520" y="5074920"/>
            <a:ext cx="7772400" cy="7772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D7263D"/>
                </a:solidFill>
                <a:latin typeface="Arial"/>
              </a:rPr>
              <a:t>Borde rojo: </a:t>
            </a:r>
            <a:r>
              <a:rPr sz="1200" b="0" i="0">
                <a:solidFill>
                  <a:srgbClr val="2B2B2B"/>
                </a:solidFill>
                <a:latin typeface="Arial"/>
              </a:rPr>
              <a:t>hojas con menos de 300 clientes (la más pequeña, 80). </a:t>
            </a:r>
            <a:r>
              <a:rPr sz="1200" b="1" i="0">
                <a:solidFill>
                  <a:srgbClr val="242852"/>
                </a:solidFill>
                <a:latin typeface="Arial"/>
              </a:rPr>
              <a:t>Cuidado: </a:t>
            </a:r>
            <a:r>
              <a:rPr sz="1200" b="0" i="0">
                <a:solidFill>
                  <a:srgbClr val="2B2B2B"/>
                </a:solidFill>
                <a:latin typeface="Arial"/>
              </a:rPr>
              <a:t>«2 productos o menos → más monto» no significa que vender menos productos haga gastar más.</a:t>
            </a:r>
          </a:p>
        </p:txBody>
      </p:sp>
      <p:sp>
        <p:nvSpPr>
          <p:cNvPr id="5" name="TextBox 4"/>
          <p:cNvSpPr txBox="1"/>
          <p:nvPr/>
        </p:nvSpPr>
        <p:spPr>
          <a:xfrm>
            <a:off x="731520" y="5989320"/>
            <a:ext cx="7772400" cy="320040"/>
          </a:xfrm>
          <a:prstGeom prst="rect">
            <a:avLst/>
          </a:prstGeom>
          <a:noFill/>
        </p:spPr>
        <p:txBody>
          <a:bodyPr wrap="square" anchor="t" lIns="36576" rIns="36576" tIns="36576" bIns="36576">
            <a:spAutoFit/>
          </a:bodyPr>
          <a:lstStyle/>
          <a:p>
            <a:pPr algn="l">
              <a:spcAft>
                <a:spcPts val="400"/>
              </a:spcAft>
            </a:pPr>
            <a:r>
              <a:rPr sz="1150" b="0" i="1">
                <a:solidFill>
                  <a:srgbClr val="5F6368"/>
                </a:solidFill>
                <a:latin typeface="Arial"/>
              </a:rPr>
              <a:t>Train y Validation casi iguales: R² 0,843 y 0,821. Con 7 088 filas, ocho hojas no alcanzan a memorizar.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Seguir la ruta: una predicción a mano</a:t>
            </a:r>
          </a:p>
        </p:txBody>
      </p:sp>
      <p:graphicFrame>
        <p:nvGraphicFramePr>
          <p:cNvPr id="3" name="Table 2"/>
          <p:cNvGraphicFramePr>
            <a:graphicFrameLocks noGrp="1"/>
          </p:cNvGraphicFramePr>
          <p:nvPr/>
        </p:nvGraphicFramePr>
        <p:xfrm>
          <a:off x="731520" y="1965960"/>
          <a:ext cx="3017520" cy="2304288"/>
        </p:xfrm>
        <a:graphic>
          <a:graphicData uri="http://schemas.openxmlformats.org/drawingml/2006/table">
            <a:tbl>
              <a:tblPr firstRow="1" bandRow="1">
                <a:tableStyleId>{5C22544A-7EE6-4342-B048-85BDC9FD1C3A}</a:tableStyleId>
              </a:tblPr>
              <a:tblGrid>
                <a:gridCol w="1828800"/>
                <a:gridCol w="1188720"/>
              </a:tblGrid>
              <a:tr h="384048">
                <a:tc>
                  <a:txBody>
                    <a:bodyPr wrap="square"/>
                    <a:lstStyle/>
                    <a:p>
                      <a:pPr algn="l"/>
                      <a:r>
                        <a:rPr sz="1200" b="1" i="0">
                          <a:solidFill>
                            <a:srgbClr val="FFFFFF"/>
                          </a:solidFill>
                          <a:latin typeface="Arial"/>
                        </a:rPr>
                        <a:t>Cliente de Validation</a:t>
                      </a:r>
                    </a:p>
                  </a:txBody>
                  <a:tcPr marL="64008" marR="64008" marT="27432" marB="27432" anchor="ctr">
                    <a:solidFill>
                      <a:srgbClr val="242852"/>
                    </a:solidFill>
                  </a:tcPr>
                </a:tc>
                <a:tc>
                  <a:txBody>
                    <a:bodyPr wrap="square"/>
                    <a:lstStyle/>
                    <a:p>
                      <a:pPr algn="ctr"/>
                      <a:r>
                        <a:rPr sz="1200" b="1" i="0">
                          <a:solidFill>
                            <a:srgbClr val="FFFFFF"/>
                          </a:solidFill>
                          <a:latin typeface="Arial"/>
                        </a:rPr>
                        <a:t>Valor</a:t>
                      </a:r>
                    </a:p>
                  </a:txBody>
                  <a:tcPr marL="64008" marR="64008" marT="27432" marB="27432" anchor="ctr">
                    <a:solidFill>
                      <a:srgbClr val="242852"/>
                    </a:solidFill>
                  </a:tcPr>
                </a:tc>
              </a:tr>
              <a:tr h="384048">
                <a:tc>
                  <a:txBody>
                    <a:bodyPr wrap="square"/>
                    <a:lstStyle/>
                    <a:p>
                      <a:pPr algn="l"/>
                      <a:r>
                        <a:rPr sz="1200" b="1" i="0">
                          <a:solidFill>
                            <a:srgbClr val="2B2B2B"/>
                          </a:solidFill>
                          <a:latin typeface="Arial"/>
                        </a:rPr>
                        <a:t>Transacciones</a:t>
                      </a:r>
                    </a:p>
                  </a:txBody>
                  <a:tcPr marL="64008" marR="64008" marT="27432" marB="27432" anchor="ctr">
                    <a:solidFill>
                      <a:srgbClr val="FFFFFF"/>
                    </a:solidFill>
                  </a:tcPr>
                </a:tc>
                <a:tc>
                  <a:txBody>
                    <a:bodyPr wrap="square"/>
                    <a:lstStyle/>
                    <a:p>
                      <a:pPr algn="ctr"/>
                      <a:r>
                        <a:rPr sz="1200" b="0" i="0">
                          <a:solidFill>
                            <a:srgbClr val="2B2B2B"/>
                          </a:solidFill>
                          <a:latin typeface="Arial"/>
                        </a:rPr>
                        <a:t>34</a:t>
                      </a:r>
                    </a:p>
                  </a:txBody>
                  <a:tcPr marL="64008" marR="64008" marT="27432" marB="27432" anchor="ctr">
                    <a:solidFill>
                      <a:srgbClr val="FFFFFF"/>
                    </a:solidFill>
                  </a:tcPr>
                </a:tc>
              </a:tr>
              <a:tr h="384048">
                <a:tc>
                  <a:txBody>
                    <a:bodyPr wrap="square"/>
                    <a:lstStyle/>
                    <a:p>
                      <a:pPr algn="l"/>
                      <a:r>
                        <a:rPr sz="1200" b="1" i="0">
                          <a:solidFill>
                            <a:srgbClr val="2B2B2B"/>
                          </a:solidFill>
                          <a:latin typeface="Arial"/>
                        </a:rPr>
                        <a:t>Cambio Q4/Q1</a:t>
                      </a:r>
                    </a:p>
                  </a:txBody>
                  <a:tcPr marL="64008" marR="64008" marT="27432" marB="27432" anchor="ctr">
                    <a:solidFill>
                      <a:srgbClr val="F2F3F5"/>
                    </a:solidFill>
                  </a:tcPr>
                </a:tc>
                <a:tc>
                  <a:txBody>
                    <a:bodyPr wrap="square"/>
                    <a:lstStyle/>
                    <a:p>
                      <a:pPr algn="ctr"/>
                      <a:r>
                        <a:rPr sz="1200" b="0" i="0">
                          <a:solidFill>
                            <a:srgbClr val="2B2B2B"/>
                          </a:solidFill>
                          <a:latin typeface="Arial"/>
                        </a:rPr>
                        <a:t>0,31</a:t>
                      </a:r>
                    </a:p>
                  </a:txBody>
                  <a:tcPr marL="64008" marR="64008" marT="27432" marB="27432" anchor="ctr">
                    <a:solidFill>
                      <a:srgbClr val="F2F3F5"/>
                    </a:solidFill>
                  </a:tcPr>
                </a:tc>
              </a:tr>
              <a:tr h="384048">
                <a:tc>
                  <a:txBody>
                    <a:bodyPr wrap="square"/>
                    <a:lstStyle/>
                    <a:p>
                      <a:pPr algn="l"/>
                      <a:r>
                        <a:rPr sz="1200" b="1" i="0">
                          <a:solidFill>
                            <a:srgbClr val="2B2B2B"/>
                          </a:solidFill>
                          <a:latin typeface="Arial"/>
                        </a:rPr>
                        <a:t>Productos</a:t>
                      </a:r>
                    </a:p>
                  </a:txBody>
                  <a:tcPr marL="64008" marR="64008" marT="27432" marB="27432" anchor="ctr">
                    <a:solidFill>
                      <a:srgbClr val="FFFFFF"/>
                    </a:solidFill>
                  </a:tcPr>
                </a:tc>
                <a:tc>
                  <a:txBody>
                    <a:bodyPr wrap="square"/>
                    <a:lstStyle/>
                    <a:p>
                      <a:pPr algn="ctr"/>
                      <a:r>
                        <a:rPr sz="1200" b="0" i="0">
                          <a:solidFill>
                            <a:srgbClr val="2B2B2B"/>
                          </a:solidFill>
                          <a:latin typeface="Arial"/>
                        </a:rPr>
                        <a:t>4</a:t>
                      </a:r>
                    </a:p>
                  </a:txBody>
                  <a:tcPr marL="64008" marR="64008" marT="27432" marB="27432" anchor="ctr">
                    <a:solidFill>
                      <a:srgbClr val="FFFFFF"/>
                    </a:solidFill>
                  </a:tcPr>
                </a:tc>
              </a:tr>
              <a:tr h="384048">
                <a:tc>
                  <a:txBody>
                    <a:bodyPr wrap="square"/>
                    <a:lstStyle/>
                    <a:p>
                      <a:pPr algn="l"/>
                      <a:r>
                        <a:rPr sz="1200" b="1" i="0">
                          <a:solidFill>
                            <a:srgbClr val="2B2B2B"/>
                          </a:solidFill>
                          <a:latin typeface="Arial"/>
                        </a:rPr>
                        <a:t>Edad</a:t>
                      </a:r>
                    </a:p>
                  </a:txBody>
                  <a:tcPr marL="64008" marR="64008" marT="27432" marB="27432" anchor="ctr">
                    <a:solidFill>
                      <a:srgbClr val="F2F3F5"/>
                    </a:solidFill>
                  </a:tcPr>
                </a:tc>
                <a:tc>
                  <a:txBody>
                    <a:bodyPr wrap="square"/>
                    <a:lstStyle/>
                    <a:p>
                      <a:pPr algn="ctr"/>
                      <a:r>
                        <a:rPr sz="1200" b="0" i="0">
                          <a:solidFill>
                            <a:srgbClr val="2B2B2B"/>
                          </a:solidFill>
                          <a:latin typeface="Arial"/>
                        </a:rPr>
                        <a:t>40</a:t>
                      </a:r>
                    </a:p>
                  </a:txBody>
                  <a:tcPr marL="64008" marR="64008" marT="27432" marB="27432" anchor="ctr">
                    <a:solidFill>
                      <a:srgbClr val="F2F3F5"/>
                    </a:solidFill>
                  </a:tcPr>
                </a:tc>
              </a:tr>
              <a:tr h="384048">
                <a:tc>
                  <a:txBody>
                    <a:bodyPr wrap="square"/>
                    <a:lstStyle/>
                    <a:p>
                      <a:pPr algn="l"/>
                      <a:r>
                        <a:rPr sz="1200" b="1" i="0">
                          <a:solidFill>
                            <a:srgbClr val="2B2B2B"/>
                          </a:solidFill>
                          <a:latin typeface="Arial"/>
                        </a:rPr>
                        <a:t>Límite (USD)</a:t>
                      </a:r>
                    </a:p>
                  </a:txBody>
                  <a:tcPr marL="64008" marR="64008" marT="27432" marB="27432" anchor="ctr">
                    <a:solidFill>
                      <a:srgbClr val="FFFFFF"/>
                    </a:solidFill>
                  </a:tcPr>
                </a:tc>
                <a:tc>
                  <a:txBody>
                    <a:bodyPr wrap="square"/>
                    <a:lstStyle/>
                    <a:p>
                      <a:pPr algn="ctr"/>
                      <a:r>
                        <a:rPr sz="1200" b="0" i="0">
                          <a:solidFill>
                            <a:srgbClr val="2B2B2B"/>
                          </a:solidFill>
                          <a:latin typeface="Arial"/>
                        </a:rPr>
                        <a:t>23 981</a:t>
                      </a:r>
                    </a:p>
                  </a:txBody>
                  <a:tcPr marL="64008" marR="64008" marT="27432" marB="27432" anchor="ctr">
                    <a:solidFill>
                      <a:srgbClr val="FFFFFF"/>
                    </a:solidFill>
                  </a:tcPr>
                </a:tc>
              </a:tr>
            </a:tbl>
          </a:graphicData>
        </a:graphic>
      </p:graphicFrame>
      <p:sp>
        <p:nvSpPr>
          <p:cNvPr id="4" name="Rounded Rectangle 3"/>
          <p:cNvSpPr/>
          <p:nvPr/>
        </p:nvSpPr>
        <p:spPr>
          <a:xfrm>
            <a:off x="3977639" y="1965960"/>
            <a:ext cx="2743200" cy="566928"/>
          </a:xfrm>
          <a:prstGeom prst="roundRect">
            <a:avLst>
              <a:gd name="adj" fmla="val 8000"/>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FFFFFF"/>
                </a:solidFill>
                <a:latin typeface="Arial"/>
              </a:rPr>
              <a:t>¿transacciones ≤ 93,5?</a:t>
            </a:r>
          </a:p>
        </p:txBody>
      </p:sp>
      <p:sp>
        <p:nvSpPr>
          <p:cNvPr id="5" name="TextBox 4"/>
          <p:cNvSpPr txBox="1"/>
          <p:nvPr/>
        </p:nvSpPr>
        <p:spPr>
          <a:xfrm>
            <a:off x="6812280" y="2039112"/>
            <a:ext cx="1691640" cy="457200"/>
          </a:xfrm>
          <a:prstGeom prst="rect">
            <a:avLst/>
          </a:prstGeom>
          <a:noFill/>
        </p:spPr>
        <p:txBody>
          <a:bodyPr wrap="square" anchor="t" lIns="36576" rIns="36576" tIns="36576" bIns="36576">
            <a:spAutoFit/>
          </a:bodyPr>
          <a:lstStyle/>
          <a:p>
            <a:pPr algn="l">
              <a:spcAft>
                <a:spcPts val="400"/>
              </a:spcAft>
            </a:pPr>
            <a:r>
              <a:rPr sz="1300" b="1" i="0">
                <a:solidFill>
                  <a:srgbClr val="242852"/>
                </a:solidFill>
                <a:latin typeface="Arial"/>
              </a:rPr>
              <a:t>34 → sí</a:t>
            </a:r>
          </a:p>
        </p:txBody>
      </p:sp>
      <p:sp>
        <p:nvSpPr>
          <p:cNvPr id="6" name="Down Arrow 5"/>
          <p:cNvSpPr/>
          <p:nvPr/>
        </p:nvSpPr>
        <p:spPr>
          <a:xfrm>
            <a:off x="5212080" y="2542032"/>
            <a:ext cx="256032" cy="201168"/>
          </a:xfrm>
          <a:prstGeom prst="downArrow">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Rounded Rectangle 6"/>
          <p:cNvSpPr/>
          <p:nvPr/>
        </p:nvSpPr>
        <p:spPr>
          <a:xfrm>
            <a:off x="3977639" y="2743200"/>
            <a:ext cx="2743200" cy="566928"/>
          </a:xfrm>
          <a:prstGeom prst="roundRect">
            <a:avLst>
              <a:gd name="adj" fmla="val 8000"/>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FFFFFF"/>
                </a:solidFill>
                <a:latin typeface="Arial"/>
              </a:rPr>
              <a:t>¿transacciones ≤ 57,5?</a:t>
            </a:r>
          </a:p>
        </p:txBody>
      </p:sp>
      <p:sp>
        <p:nvSpPr>
          <p:cNvPr id="8" name="TextBox 7"/>
          <p:cNvSpPr txBox="1"/>
          <p:nvPr/>
        </p:nvSpPr>
        <p:spPr>
          <a:xfrm>
            <a:off x="6812280" y="2816352"/>
            <a:ext cx="1691640" cy="457200"/>
          </a:xfrm>
          <a:prstGeom prst="rect">
            <a:avLst/>
          </a:prstGeom>
          <a:noFill/>
        </p:spPr>
        <p:txBody>
          <a:bodyPr wrap="square" anchor="t" lIns="36576" rIns="36576" tIns="36576" bIns="36576">
            <a:spAutoFit/>
          </a:bodyPr>
          <a:lstStyle/>
          <a:p>
            <a:pPr algn="l">
              <a:spcAft>
                <a:spcPts val="400"/>
              </a:spcAft>
            </a:pPr>
            <a:r>
              <a:rPr sz="1300" b="1" i="0">
                <a:solidFill>
                  <a:srgbClr val="242852"/>
                </a:solidFill>
                <a:latin typeface="Arial"/>
              </a:rPr>
              <a:t>34 → sí</a:t>
            </a:r>
          </a:p>
        </p:txBody>
      </p:sp>
      <p:sp>
        <p:nvSpPr>
          <p:cNvPr id="9" name="Down Arrow 8"/>
          <p:cNvSpPr/>
          <p:nvPr/>
        </p:nvSpPr>
        <p:spPr>
          <a:xfrm>
            <a:off x="5212080" y="3319272"/>
            <a:ext cx="256032" cy="201168"/>
          </a:xfrm>
          <a:prstGeom prst="downArrow">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Rounded Rectangle 9"/>
          <p:cNvSpPr/>
          <p:nvPr/>
        </p:nvSpPr>
        <p:spPr>
          <a:xfrm>
            <a:off x="3977639" y="3520439"/>
            <a:ext cx="2743200" cy="566928"/>
          </a:xfrm>
          <a:prstGeom prst="roundRect">
            <a:avLst>
              <a:gd name="adj" fmla="val 8000"/>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FFFFFF"/>
                </a:solidFill>
                <a:latin typeface="Arial"/>
              </a:rPr>
              <a:t>¿transacciones ≤ 38,5?</a:t>
            </a:r>
          </a:p>
        </p:txBody>
      </p:sp>
      <p:sp>
        <p:nvSpPr>
          <p:cNvPr id="11" name="TextBox 10"/>
          <p:cNvSpPr txBox="1"/>
          <p:nvPr/>
        </p:nvSpPr>
        <p:spPr>
          <a:xfrm>
            <a:off x="6812280" y="3593591"/>
            <a:ext cx="1691640" cy="457200"/>
          </a:xfrm>
          <a:prstGeom prst="rect">
            <a:avLst/>
          </a:prstGeom>
          <a:noFill/>
        </p:spPr>
        <p:txBody>
          <a:bodyPr wrap="square" anchor="t" lIns="36576" rIns="36576" tIns="36576" bIns="36576">
            <a:spAutoFit/>
          </a:bodyPr>
          <a:lstStyle/>
          <a:p>
            <a:pPr algn="l">
              <a:spcAft>
                <a:spcPts val="400"/>
              </a:spcAft>
            </a:pPr>
            <a:r>
              <a:rPr sz="1300" b="1" i="0">
                <a:solidFill>
                  <a:srgbClr val="242852"/>
                </a:solidFill>
                <a:latin typeface="Arial"/>
              </a:rPr>
              <a:t>34 → sí</a:t>
            </a:r>
          </a:p>
        </p:txBody>
      </p:sp>
      <p:sp>
        <p:nvSpPr>
          <p:cNvPr id="12" name="Rounded Rectangle 11"/>
          <p:cNvSpPr/>
          <p:nvPr/>
        </p:nvSpPr>
        <p:spPr>
          <a:xfrm>
            <a:off x="3977639" y="4343400"/>
            <a:ext cx="2743200" cy="685800"/>
          </a:xfrm>
          <a:prstGeom prst="roundRect">
            <a:avLst>
              <a:gd name="adj" fmla="val 8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500" b="1" i="0">
                <a:solidFill>
                  <a:srgbClr val="FFFFFF"/>
                </a:solidFill>
                <a:latin typeface="Arial"/>
              </a:rPr>
              <a:t>Hoja: ŷ = 1 525 USD</a:t>
            </a:r>
          </a:p>
        </p:txBody>
      </p:sp>
      <p:sp>
        <p:nvSpPr>
          <p:cNvPr id="13" name="Rounded Rectangle 12"/>
          <p:cNvSpPr/>
          <p:nvPr/>
        </p:nvSpPr>
        <p:spPr>
          <a:xfrm>
            <a:off x="731520" y="4572000"/>
            <a:ext cx="960120" cy="86868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050" b="0" i="0">
                <a:solidFill>
                  <a:srgbClr val="5F6368"/>
                </a:solidFill>
                <a:latin typeface="Arial"/>
              </a:rPr>
              <a:t>Real</a:t>
            </a:r>
          </a:p>
          <a:p>
            <a:pPr algn="ctr">
              <a:spcAft>
                <a:spcPts val="300"/>
              </a:spcAft>
            </a:pPr>
            <a:r>
              <a:rPr sz="1300" b="1" i="0">
                <a:solidFill>
                  <a:srgbClr val="242852"/>
                </a:solidFill>
                <a:latin typeface="Arial"/>
              </a:rPr>
              <a:t>1 421</a:t>
            </a:r>
          </a:p>
        </p:txBody>
      </p:sp>
      <p:sp>
        <p:nvSpPr>
          <p:cNvPr id="14" name="Rounded Rectangle 13"/>
          <p:cNvSpPr/>
          <p:nvPr/>
        </p:nvSpPr>
        <p:spPr>
          <a:xfrm>
            <a:off x="1755648" y="4572000"/>
            <a:ext cx="960120" cy="86868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050" b="0" i="0">
                <a:solidFill>
                  <a:srgbClr val="5F6368"/>
                </a:solidFill>
                <a:latin typeface="Arial"/>
              </a:rPr>
              <a:t>Árbol</a:t>
            </a:r>
          </a:p>
          <a:p>
            <a:pPr algn="ctr">
              <a:spcAft>
                <a:spcPts val="300"/>
              </a:spcAft>
            </a:pPr>
            <a:r>
              <a:rPr sz="1300" b="1" i="0">
                <a:solidFill>
                  <a:srgbClr val="2A9D8F"/>
                </a:solidFill>
                <a:latin typeface="Arial"/>
              </a:rPr>
              <a:t>1 525</a:t>
            </a:r>
          </a:p>
        </p:txBody>
      </p:sp>
      <p:sp>
        <p:nvSpPr>
          <p:cNvPr id="15" name="Rounded Rectangle 14"/>
          <p:cNvSpPr/>
          <p:nvPr/>
        </p:nvSpPr>
        <p:spPr>
          <a:xfrm>
            <a:off x="2779776" y="4572000"/>
            <a:ext cx="960120" cy="86868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050" b="0" i="0">
                <a:solidFill>
                  <a:srgbClr val="5F6368"/>
                </a:solidFill>
                <a:latin typeface="Arial"/>
              </a:rPr>
              <a:t>Recta</a:t>
            </a:r>
          </a:p>
          <a:p>
            <a:pPr algn="ctr">
              <a:spcAft>
                <a:spcPts val="300"/>
              </a:spcAft>
            </a:pPr>
            <a:r>
              <a:rPr sz="1300" b="1" i="0">
                <a:solidFill>
                  <a:srgbClr val="D7263D"/>
                </a:solidFill>
                <a:latin typeface="Arial"/>
              </a:rPr>
              <a:t>1 466</a:t>
            </a:r>
          </a:p>
        </p:txBody>
      </p:sp>
      <p:sp>
        <p:nvSpPr>
          <p:cNvPr id="16" name="Rounded Rectangle 15"/>
          <p:cNvSpPr/>
          <p:nvPr/>
        </p:nvSpPr>
        <p:spPr>
          <a:xfrm>
            <a:off x="731520" y="5623560"/>
            <a:ext cx="7772400" cy="64008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Explicable: </a:t>
            </a:r>
            <a:r>
              <a:rPr sz="1200" b="0" i="0">
                <a:solidFill>
                  <a:srgbClr val="2B2B2B"/>
                </a:solidFill>
                <a:latin typeface="Arial"/>
              </a:rPr>
              <a:t>sabemos exactamente por qué el árbol predijo 1 525: por la ruta que siguió. Eso no prueba causalidad.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¿Le ganó el árbol a la recta? Esta vez sí</a:t>
            </a:r>
          </a:p>
        </p:txBody>
      </p:sp>
      <p:graphicFrame>
        <p:nvGraphicFramePr>
          <p:cNvPr id="3" name="Table 2"/>
          <p:cNvGraphicFramePr>
            <a:graphicFrameLocks noGrp="1"/>
          </p:cNvGraphicFramePr>
          <p:nvPr/>
        </p:nvGraphicFramePr>
        <p:xfrm>
          <a:off x="731520" y="1965960"/>
          <a:ext cx="7772400" cy="2194560"/>
        </p:xfrm>
        <a:graphic>
          <a:graphicData uri="http://schemas.openxmlformats.org/drawingml/2006/table">
            <a:tbl>
              <a:tblPr firstRow="1" bandRow="1">
                <a:tableStyleId>{5C22544A-7EE6-4342-B048-85BDC9FD1C3A}</a:tableStyleId>
              </a:tblPr>
              <a:tblGrid>
                <a:gridCol w="2286000"/>
                <a:gridCol w="1645920"/>
                <a:gridCol w="1280160"/>
                <a:gridCol w="1280160"/>
                <a:gridCol w="1280160"/>
              </a:tblGrid>
              <a:tr h="438912">
                <a:tc>
                  <a:txBody>
                    <a:bodyPr wrap="square"/>
                    <a:lstStyle/>
                    <a:p>
                      <a:pPr algn="l"/>
                      <a:r>
                        <a:rPr sz="1300" b="1" i="0">
                          <a:solidFill>
                            <a:srgbClr val="FFFFFF"/>
                          </a:solidFill>
                          <a:latin typeface="Arial"/>
                        </a:rPr>
                        <a:t>Modelo</a:t>
                      </a:r>
                    </a:p>
                  </a:txBody>
                  <a:tcPr marL="64008" marR="64008" marT="27432" marB="27432" anchor="ctr">
                    <a:solidFill>
                      <a:srgbClr val="242852"/>
                    </a:solidFill>
                  </a:tcPr>
                </a:tc>
                <a:tc>
                  <a:txBody>
                    <a:bodyPr wrap="square"/>
                    <a:lstStyle/>
                    <a:p>
                      <a:pPr algn="ctr"/>
                      <a:r>
                        <a:rPr sz="1300" b="1" i="0">
                          <a:solidFill>
                            <a:srgbClr val="FFFFFF"/>
                          </a:solidFill>
                          <a:latin typeface="Arial"/>
                        </a:rPr>
                        <a:t>Conjunto</a:t>
                      </a:r>
                    </a:p>
                  </a:txBody>
                  <a:tcPr marL="64008" marR="64008" marT="27432" marB="27432" anchor="ctr">
                    <a:solidFill>
                      <a:srgbClr val="242852"/>
                    </a:solidFill>
                  </a:tcPr>
                </a:tc>
                <a:tc>
                  <a:txBody>
                    <a:bodyPr wrap="square"/>
                    <a:lstStyle/>
                    <a:p>
                      <a:pPr algn="ctr"/>
                      <a:r>
                        <a:rPr sz="1300" b="1" i="0">
                          <a:solidFill>
                            <a:srgbClr val="FFFFFF"/>
                          </a:solidFill>
                          <a:latin typeface="Arial"/>
                        </a:rPr>
                        <a:t>MAE (USD)</a:t>
                      </a:r>
                    </a:p>
                  </a:txBody>
                  <a:tcPr marL="64008" marR="64008" marT="27432" marB="27432" anchor="ctr">
                    <a:solidFill>
                      <a:srgbClr val="242852"/>
                    </a:solidFill>
                  </a:tcPr>
                </a:tc>
                <a:tc>
                  <a:txBody>
                    <a:bodyPr wrap="square"/>
                    <a:lstStyle/>
                    <a:p>
                      <a:pPr algn="ctr"/>
                      <a:r>
                        <a:rPr sz="1300" b="1" i="0">
                          <a:solidFill>
                            <a:srgbClr val="FFFFFF"/>
                          </a:solidFill>
                          <a:latin typeface="Arial"/>
                        </a:rPr>
                        <a:t>RMSE (USD)</a:t>
                      </a:r>
                    </a:p>
                  </a:txBody>
                  <a:tcPr marL="64008" marR="64008" marT="27432" marB="27432" anchor="ctr">
                    <a:solidFill>
                      <a:srgbClr val="242852"/>
                    </a:solidFill>
                  </a:tcPr>
                </a:tc>
                <a:tc>
                  <a:txBody>
                    <a:bodyPr wrap="square"/>
                    <a:lstStyle/>
                    <a:p>
                      <a:pPr algn="ctr"/>
                      <a:r>
                        <a:rPr sz="1300" b="1" i="0">
                          <a:solidFill>
                            <a:srgbClr val="FFFFFF"/>
                          </a:solidFill>
                          <a:latin typeface="Arial"/>
                        </a:rPr>
                        <a:t>R²</a:t>
                      </a:r>
                    </a:p>
                  </a:txBody>
                  <a:tcPr marL="64008" marR="64008" marT="27432" marB="27432" anchor="ctr">
                    <a:solidFill>
                      <a:srgbClr val="242852"/>
                    </a:solidFill>
                  </a:tcPr>
                </a:tc>
              </a:tr>
              <a:tr h="438912">
                <a:tc>
                  <a:txBody>
                    <a:bodyPr wrap="square"/>
                    <a:lstStyle/>
                    <a:p>
                      <a:pPr algn="l"/>
                      <a:r>
                        <a:rPr sz="1300" b="1" i="0">
                          <a:solidFill>
                            <a:srgbClr val="2B2B2B"/>
                          </a:solidFill>
                          <a:latin typeface="Arial"/>
                        </a:rPr>
                        <a:t>Regresión lineal</a:t>
                      </a:r>
                    </a:p>
                  </a:txBody>
                  <a:tcPr marL="64008" marR="64008" marT="27432" marB="27432" anchor="ctr">
                    <a:solidFill>
                      <a:srgbClr val="FFFFFF"/>
                    </a:solidFill>
                  </a:tcPr>
                </a:tc>
                <a:tc>
                  <a:txBody>
                    <a:bodyPr wrap="square"/>
                    <a:lstStyle/>
                    <a:p>
                      <a:pPr algn="ctr"/>
                      <a:r>
                        <a:rPr sz="1300" b="0" i="0">
                          <a:solidFill>
                            <a:srgbClr val="2B2B2B"/>
                          </a:solidFill>
                          <a:latin typeface="Arial"/>
                        </a:rPr>
                        <a:t>Train</a:t>
                      </a:r>
                    </a:p>
                  </a:txBody>
                  <a:tcPr marL="64008" marR="64008" marT="27432" marB="27432" anchor="ctr">
                    <a:solidFill>
                      <a:srgbClr val="FFFFFF"/>
                    </a:solidFill>
                  </a:tcPr>
                </a:tc>
                <a:tc>
                  <a:txBody>
                    <a:bodyPr wrap="square"/>
                    <a:lstStyle/>
                    <a:p>
                      <a:pPr algn="ctr"/>
                      <a:r>
                        <a:rPr sz="1300" b="0" i="0">
                          <a:solidFill>
                            <a:srgbClr val="2B2B2B"/>
                          </a:solidFill>
                          <a:latin typeface="Arial"/>
                        </a:rPr>
                        <a:t>1 415</a:t>
                      </a:r>
                    </a:p>
                  </a:txBody>
                  <a:tcPr marL="64008" marR="64008" marT="27432" marB="27432" anchor="ctr">
                    <a:solidFill>
                      <a:srgbClr val="FFFFFF"/>
                    </a:solidFill>
                  </a:tcPr>
                </a:tc>
                <a:tc>
                  <a:txBody>
                    <a:bodyPr wrap="square"/>
                    <a:lstStyle/>
                    <a:p>
                      <a:pPr algn="ctr"/>
                      <a:r>
                        <a:rPr sz="1300" b="0" i="0">
                          <a:solidFill>
                            <a:srgbClr val="2B2B2B"/>
                          </a:solidFill>
                          <a:latin typeface="Arial"/>
                        </a:rPr>
                        <a:t>1 916</a:t>
                      </a:r>
                    </a:p>
                  </a:txBody>
                  <a:tcPr marL="64008" marR="64008" marT="27432" marB="27432" anchor="ctr">
                    <a:solidFill>
                      <a:srgbClr val="FFFFFF"/>
                    </a:solidFill>
                  </a:tcPr>
                </a:tc>
                <a:tc>
                  <a:txBody>
                    <a:bodyPr wrap="square"/>
                    <a:lstStyle/>
                    <a:p>
                      <a:pPr algn="ctr"/>
                      <a:r>
                        <a:rPr sz="1300" b="0" i="0">
                          <a:solidFill>
                            <a:srgbClr val="2B2B2B"/>
                          </a:solidFill>
                          <a:latin typeface="Arial"/>
                        </a:rPr>
                        <a:t>0,692</a:t>
                      </a:r>
                    </a:p>
                  </a:txBody>
                  <a:tcPr marL="64008" marR="64008" marT="27432" marB="27432" anchor="ctr">
                    <a:solidFill>
                      <a:srgbClr val="FFFFFF"/>
                    </a:solidFill>
                  </a:tcPr>
                </a:tc>
              </a:tr>
              <a:tr h="438912">
                <a:tc>
                  <a:txBody>
                    <a:bodyPr wrap="square"/>
                    <a:lstStyle/>
                    <a:p>
                      <a:pPr algn="l"/>
                      <a:r>
                        <a:rPr sz="1300" b="1" i="0">
                          <a:solidFill>
                            <a:srgbClr val="2B2B2B"/>
                          </a:solidFill>
                          <a:latin typeface="Arial"/>
                        </a:rPr>
                        <a:t>Regresión lineal</a:t>
                      </a:r>
                    </a:p>
                  </a:txBody>
                  <a:tcPr marL="64008" marR="64008" marT="27432" marB="27432" anchor="ctr">
                    <a:solidFill>
                      <a:srgbClr val="F2F3F5"/>
                    </a:solidFill>
                  </a:tcPr>
                </a:tc>
                <a:tc>
                  <a:txBody>
                    <a:bodyPr wrap="square"/>
                    <a:lstStyle/>
                    <a:p>
                      <a:pPr algn="ctr"/>
                      <a:r>
                        <a:rPr sz="1300" b="0" i="0">
                          <a:solidFill>
                            <a:srgbClr val="2B2B2B"/>
                          </a:solidFill>
                          <a:latin typeface="Arial"/>
                        </a:rPr>
                        <a:t>Validation</a:t>
                      </a:r>
                    </a:p>
                  </a:txBody>
                  <a:tcPr marL="64008" marR="64008" marT="27432" marB="27432" anchor="ctr">
                    <a:solidFill>
                      <a:srgbClr val="F2F3F5"/>
                    </a:solidFill>
                  </a:tcPr>
                </a:tc>
                <a:tc>
                  <a:txBody>
                    <a:bodyPr wrap="square"/>
                    <a:lstStyle/>
                    <a:p>
                      <a:pPr algn="ctr"/>
                      <a:r>
                        <a:rPr sz="1300" b="0" i="0">
                          <a:solidFill>
                            <a:srgbClr val="2B2B2B"/>
                          </a:solidFill>
                          <a:latin typeface="Arial"/>
                        </a:rPr>
                        <a:t>1 347</a:t>
                      </a:r>
                    </a:p>
                  </a:txBody>
                  <a:tcPr marL="64008" marR="64008" marT="27432" marB="27432" anchor="ctr">
                    <a:solidFill>
                      <a:srgbClr val="F2F3F5"/>
                    </a:solidFill>
                  </a:tcPr>
                </a:tc>
                <a:tc>
                  <a:txBody>
                    <a:bodyPr wrap="square"/>
                    <a:lstStyle/>
                    <a:p>
                      <a:pPr algn="ctr"/>
                      <a:r>
                        <a:rPr sz="1300" b="0" i="0">
                          <a:solidFill>
                            <a:srgbClr val="2B2B2B"/>
                          </a:solidFill>
                          <a:latin typeface="Arial"/>
                        </a:rPr>
                        <a:t>1 858</a:t>
                      </a:r>
                    </a:p>
                  </a:txBody>
                  <a:tcPr marL="64008" marR="64008" marT="27432" marB="27432" anchor="ctr">
                    <a:solidFill>
                      <a:srgbClr val="F2F3F5"/>
                    </a:solidFill>
                  </a:tcPr>
                </a:tc>
                <a:tc>
                  <a:txBody>
                    <a:bodyPr wrap="square"/>
                    <a:lstStyle/>
                    <a:p>
                      <a:pPr algn="ctr"/>
                      <a:r>
                        <a:rPr sz="1300" b="0" i="0">
                          <a:solidFill>
                            <a:srgbClr val="2B2B2B"/>
                          </a:solidFill>
                          <a:latin typeface="Arial"/>
                        </a:rPr>
                        <a:t>0,678</a:t>
                      </a:r>
                    </a:p>
                  </a:txBody>
                  <a:tcPr marL="64008" marR="64008" marT="27432" marB="27432" anchor="ctr">
                    <a:solidFill>
                      <a:srgbClr val="F2F3F5"/>
                    </a:solidFill>
                  </a:tcPr>
                </a:tc>
              </a:tr>
              <a:tr h="438912">
                <a:tc>
                  <a:txBody>
                    <a:bodyPr wrap="square"/>
                    <a:lstStyle/>
                    <a:p>
                      <a:pPr algn="l"/>
                      <a:r>
                        <a:rPr sz="1300" b="1" i="0">
                          <a:solidFill>
                            <a:srgbClr val="2B2B2B"/>
                          </a:solidFill>
                          <a:latin typeface="Arial"/>
                        </a:rPr>
                        <a:t>Árbol prof. 3</a:t>
                      </a:r>
                    </a:p>
                  </a:txBody>
                  <a:tcPr marL="64008" marR="64008" marT="27432" marB="27432" anchor="ctr">
                    <a:solidFill>
                      <a:srgbClr val="FFFFFF"/>
                    </a:solidFill>
                  </a:tcPr>
                </a:tc>
                <a:tc>
                  <a:txBody>
                    <a:bodyPr wrap="square"/>
                    <a:lstStyle/>
                    <a:p>
                      <a:pPr algn="ctr"/>
                      <a:r>
                        <a:rPr sz="1300" b="0" i="0">
                          <a:solidFill>
                            <a:srgbClr val="2B2B2B"/>
                          </a:solidFill>
                          <a:latin typeface="Arial"/>
                        </a:rPr>
                        <a:t>Train</a:t>
                      </a:r>
                    </a:p>
                  </a:txBody>
                  <a:tcPr marL="64008" marR="64008" marT="27432" marB="27432" anchor="ctr">
                    <a:solidFill>
                      <a:srgbClr val="FFFFFF"/>
                    </a:solidFill>
                  </a:tcPr>
                </a:tc>
                <a:tc>
                  <a:txBody>
                    <a:bodyPr wrap="square"/>
                    <a:lstStyle/>
                    <a:p>
                      <a:pPr algn="ctr"/>
                      <a:r>
                        <a:rPr sz="1300" b="0" i="0">
                          <a:solidFill>
                            <a:srgbClr val="2B2B2B"/>
                          </a:solidFill>
                          <a:latin typeface="Arial"/>
                        </a:rPr>
                        <a:t>831</a:t>
                      </a:r>
                    </a:p>
                  </a:txBody>
                  <a:tcPr marL="64008" marR="64008" marT="27432" marB="27432" anchor="ctr">
                    <a:solidFill>
                      <a:srgbClr val="FFFFFF"/>
                    </a:solidFill>
                  </a:tcPr>
                </a:tc>
                <a:tc>
                  <a:txBody>
                    <a:bodyPr wrap="square"/>
                    <a:lstStyle/>
                    <a:p>
                      <a:pPr algn="ctr"/>
                      <a:r>
                        <a:rPr sz="1300" b="0" i="0">
                          <a:solidFill>
                            <a:srgbClr val="2B2B2B"/>
                          </a:solidFill>
                          <a:latin typeface="Arial"/>
                        </a:rPr>
                        <a:t>1 367</a:t>
                      </a:r>
                    </a:p>
                  </a:txBody>
                  <a:tcPr marL="64008" marR="64008" marT="27432" marB="27432" anchor="ctr">
                    <a:solidFill>
                      <a:srgbClr val="FFFFFF"/>
                    </a:solidFill>
                  </a:tcPr>
                </a:tc>
                <a:tc>
                  <a:txBody>
                    <a:bodyPr wrap="square"/>
                    <a:lstStyle/>
                    <a:p>
                      <a:pPr algn="ctr"/>
                      <a:r>
                        <a:rPr sz="1300" b="0" i="0">
                          <a:solidFill>
                            <a:srgbClr val="2B2B2B"/>
                          </a:solidFill>
                          <a:latin typeface="Arial"/>
                        </a:rPr>
                        <a:t>0,843</a:t>
                      </a:r>
                    </a:p>
                  </a:txBody>
                  <a:tcPr marL="64008" marR="64008" marT="27432" marB="27432" anchor="ctr">
                    <a:solidFill>
                      <a:srgbClr val="FFFFFF"/>
                    </a:solidFill>
                  </a:tcPr>
                </a:tc>
              </a:tr>
              <a:tr h="438912">
                <a:tc>
                  <a:txBody>
                    <a:bodyPr wrap="square"/>
                    <a:lstStyle/>
                    <a:p>
                      <a:pPr algn="l"/>
                      <a:r>
                        <a:rPr sz="1300" b="1" i="0">
                          <a:solidFill>
                            <a:srgbClr val="2B2B2B"/>
                          </a:solidFill>
                          <a:latin typeface="Arial"/>
                        </a:rPr>
                        <a:t>Árbol prof. 3</a:t>
                      </a:r>
                    </a:p>
                  </a:txBody>
                  <a:tcPr marL="64008" marR="64008" marT="27432" marB="27432" anchor="ctr">
                    <a:solidFill>
                      <a:srgbClr val="E3F3F1"/>
                    </a:solidFill>
                  </a:tcPr>
                </a:tc>
                <a:tc>
                  <a:txBody>
                    <a:bodyPr wrap="square"/>
                    <a:lstStyle/>
                    <a:p>
                      <a:pPr algn="ctr"/>
                      <a:r>
                        <a:rPr sz="1300" b="0" i="0">
                          <a:solidFill>
                            <a:srgbClr val="2B2B2B"/>
                          </a:solidFill>
                          <a:latin typeface="Arial"/>
                        </a:rPr>
                        <a:t>Validation</a:t>
                      </a:r>
                    </a:p>
                  </a:txBody>
                  <a:tcPr marL="64008" marR="64008" marT="27432" marB="27432" anchor="ctr">
                    <a:solidFill>
                      <a:srgbClr val="E3F3F1"/>
                    </a:solidFill>
                  </a:tcPr>
                </a:tc>
                <a:tc>
                  <a:txBody>
                    <a:bodyPr wrap="square"/>
                    <a:lstStyle/>
                    <a:p>
                      <a:pPr algn="ctr"/>
                      <a:r>
                        <a:rPr sz="1300" b="0" i="0">
                          <a:solidFill>
                            <a:srgbClr val="2B2B2B"/>
                          </a:solidFill>
                          <a:latin typeface="Arial"/>
                        </a:rPr>
                        <a:t>840</a:t>
                      </a:r>
                    </a:p>
                  </a:txBody>
                  <a:tcPr marL="64008" marR="64008" marT="27432" marB="27432" anchor="ctr">
                    <a:solidFill>
                      <a:srgbClr val="E3F3F1"/>
                    </a:solidFill>
                  </a:tcPr>
                </a:tc>
                <a:tc>
                  <a:txBody>
                    <a:bodyPr wrap="square"/>
                    <a:lstStyle/>
                    <a:p>
                      <a:pPr algn="ctr"/>
                      <a:r>
                        <a:rPr sz="1300" b="0" i="0">
                          <a:solidFill>
                            <a:srgbClr val="2B2B2B"/>
                          </a:solidFill>
                          <a:latin typeface="Arial"/>
                        </a:rPr>
                        <a:t>1 384</a:t>
                      </a:r>
                    </a:p>
                  </a:txBody>
                  <a:tcPr marL="64008" marR="64008" marT="27432" marB="27432" anchor="ctr">
                    <a:solidFill>
                      <a:srgbClr val="E3F3F1"/>
                    </a:solidFill>
                  </a:tcPr>
                </a:tc>
                <a:tc>
                  <a:txBody>
                    <a:bodyPr wrap="square"/>
                    <a:lstStyle/>
                    <a:p>
                      <a:pPr algn="ctr"/>
                      <a:r>
                        <a:rPr sz="1300" b="0" i="0">
                          <a:solidFill>
                            <a:srgbClr val="2B2B2B"/>
                          </a:solidFill>
                          <a:latin typeface="Arial"/>
                        </a:rPr>
                        <a:t>0,821</a:t>
                      </a:r>
                    </a:p>
                  </a:txBody>
                  <a:tcPr marL="64008" marR="64008" marT="27432" marB="27432" anchor="ctr">
                    <a:solidFill>
                      <a:srgbClr val="E3F3F1"/>
                    </a:solidFill>
                  </a:tcPr>
                </a:tc>
              </a:tr>
            </a:tbl>
          </a:graphicData>
        </a:graphic>
      </p:graphicFrame>
      <p:sp>
        <p:nvSpPr>
          <p:cNvPr id="4" name="Rounded Rectangle 3"/>
          <p:cNvSpPr/>
          <p:nvPr/>
        </p:nvSpPr>
        <p:spPr>
          <a:xfrm>
            <a:off x="731520" y="4343400"/>
            <a:ext cx="3794760" cy="128016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500" b="1" i="0">
                <a:solidFill>
                  <a:srgbClr val="2A9D8F"/>
                </a:solidFill>
                <a:latin typeface="Arial"/>
              </a:rPr>
              <a:t>En Validation: mejor</a:t>
            </a:r>
          </a:p>
          <a:p>
            <a:pPr algn="ctr">
              <a:spcAft>
                <a:spcPts val="300"/>
              </a:spcAft>
            </a:pPr>
            <a:r>
              <a:rPr sz="1300" b="0" i="0">
                <a:solidFill>
                  <a:srgbClr val="2B2B2B"/>
                </a:solidFill>
                <a:latin typeface="Arial"/>
              </a:rPr>
              <a:t>MAE baja de 1 347 a 840 USD</a:t>
            </a:r>
          </a:p>
        </p:txBody>
      </p:sp>
      <p:sp>
        <p:nvSpPr>
          <p:cNvPr id="5" name="Rounded Rectangle 4"/>
          <p:cNvSpPr/>
          <p:nvPr/>
        </p:nvSpPr>
        <p:spPr>
          <a:xfrm>
            <a:off x="4709160" y="4343400"/>
            <a:ext cx="3794760" cy="12801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500" b="1" i="0">
                <a:solidFill>
                  <a:srgbClr val="242852"/>
                </a:solidFill>
                <a:latin typeface="Arial"/>
              </a:rPr>
              <a:t>Sin brecha</a:t>
            </a:r>
          </a:p>
          <a:p>
            <a:pPr algn="ctr">
              <a:spcAft>
                <a:spcPts val="300"/>
              </a:spcAft>
            </a:pPr>
            <a:r>
              <a:rPr sz="1300" b="0" i="0">
                <a:solidFill>
                  <a:srgbClr val="2B2B2B"/>
                </a:solidFill>
                <a:latin typeface="Arial"/>
              </a:rPr>
              <a:t>R² 0,843 en Train y 0,821 en Validation</a:t>
            </a:r>
          </a:p>
        </p:txBody>
      </p:sp>
      <p:sp>
        <p:nvSpPr>
          <p:cNvPr id="6" name="Rounded Rectangle 5"/>
          <p:cNvSpPr/>
          <p:nvPr/>
        </p:nvSpPr>
        <p:spPr>
          <a:xfrm>
            <a:off x="731520" y="5806440"/>
            <a:ext cx="7772400" cy="50292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Contraste: </a:t>
            </a:r>
            <a:r>
              <a:rPr sz="1200" b="0" i="0">
                <a:solidFill>
                  <a:srgbClr val="2B2B2B"/>
                </a:solidFill>
                <a:latin typeface="Arial"/>
              </a:rPr>
              <a:t>con el panel del Banco Mundial el árbol perdió frente a la recta. El tamaño y la forma de los datos importan.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26280"/>
            <a:ext cx="7589520" cy="365760"/>
          </a:xfrm>
          <a:prstGeom prst="rect">
            <a:avLst/>
          </a:prstGeom>
          <a:noFill/>
        </p:spPr>
        <p:txBody>
          <a:bodyPr wrap="square" anchor="t" lIns="36576" rIns="36576" tIns="36576" bIns="36576">
            <a:spAutoFit/>
          </a:bodyPr>
          <a:lstStyle/>
          <a:p>
            <a:pPr algn="l">
              <a:spcAft>
                <a:spcPts val="400"/>
              </a:spcAft>
            </a:pPr>
            <a:r>
              <a:rPr sz="1300" b="1" i="0">
                <a:solidFill>
                  <a:srgbClr val="5F6368"/>
                </a:solidFill>
                <a:latin typeface="Arial"/>
              </a:rPr>
              <a:t>En esta sección</a:t>
            </a:r>
          </a:p>
        </p:txBody>
      </p:sp>
      <p:sp>
        <p:nvSpPr>
          <p:cNvPr id="3" name="Rounded Rectangle 2"/>
          <p:cNvSpPr/>
          <p:nvPr/>
        </p:nvSpPr>
        <p:spPr>
          <a:xfrm>
            <a:off x="914400" y="4937760"/>
            <a:ext cx="1408176"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Los tres</a:t>
            </a:r>
          </a:p>
        </p:txBody>
      </p:sp>
      <p:sp>
        <p:nvSpPr>
          <p:cNvPr id="4" name="Rounded Rectangle 3"/>
          <p:cNvSpPr/>
          <p:nvPr/>
        </p:nvSpPr>
        <p:spPr>
          <a:xfrm>
            <a:off x="2459736" y="4937760"/>
            <a:ext cx="1408176"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Profundidad</a:t>
            </a:r>
          </a:p>
        </p:txBody>
      </p:sp>
      <p:sp>
        <p:nvSpPr>
          <p:cNvPr id="5" name="Rounded Rectangle 4"/>
          <p:cNvSpPr/>
          <p:nvPr/>
        </p:nvSpPr>
        <p:spPr>
          <a:xfrm>
            <a:off x="4005072" y="4937760"/>
            <a:ext cx="1408176"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Mín. por hoja</a:t>
            </a:r>
          </a:p>
        </p:txBody>
      </p:sp>
      <p:sp>
        <p:nvSpPr>
          <p:cNvPr id="6" name="Rounded Rectangle 5"/>
          <p:cNvSpPr/>
          <p:nvPr/>
        </p:nvSpPr>
        <p:spPr>
          <a:xfrm>
            <a:off x="5550408" y="4937760"/>
            <a:ext cx="1408176"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Mín. para dividir</a:t>
            </a:r>
          </a:p>
        </p:txBody>
      </p:sp>
      <p:sp>
        <p:nvSpPr>
          <p:cNvPr id="7" name="Rounded Rectangle 6"/>
          <p:cNvSpPr/>
          <p:nvPr/>
        </p:nvSpPr>
        <p:spPr>
          <a:xfrm>
            <a:off x="7095744" y="4937760"/>
            <a:ext cx="1408176"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Ver el árbol</a:t>
            </a:r>
          </a:p>
        </p:txBody>
      </p:sp>
      <p:sp>
        <p:nvSpPr>
          <p:cNvPr id="8" name="Oval 7"/>
          <p:cNvSpPr/>
          <p:nvPr/>
        </p:nvSpPr>
        <p:spPr>
          <a:xfrm>
            <a:off x="914400" y="2148840"/>
            <a:ext cx="1463040" cy="146304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5400" b="1" i="0">
                <a:solidFill>
                  <a:srgbClr val="FFFFFF"/>
                </a:solidFill>
                <a:latin typeface="Arial"/>
              </a:rPr>
              <a:t>4</a:t>
            </a:r>
          </a:p>
        </p:txBody>
      </p:sp>
      <p:sp>
        <p:nvSpPr>
          <p:cNvPr id="9" name="TextBox 8"/>
          <p:cNvSpPr txBox="1"/>
          <p:nvPr/>
        </p:nvSpPr>
        <p:spPr>
          <a:xfrm>
            <a:off x="2651760" y="1828800"/>
            <a:ext cx="5852160" cy="1371600"/>
          </a:xfrm>
          <a:prstGeom prst="rect">
            <a:avLst/>
          </a:prstGeom>
          <a:noFill/>
        </p:spPr>
        <p:txBody>
          <a:bodyPr wrap="square" anchor="b" lIns="36576" rIns="36576" tIns="36576" bIns="36576">
            <a:spAutoFit/>
          </a:bodyPr>
          <a:lstStyle/>
          <a:p>
            <a:pPr algn="l">
              <a:spcAft>
                <a:spcPts val="400"/>
              </a:spcAft>
            </a:pPr>
            <a:r>
              <a:rPr sz="3200" b="1" i="0">
                <a:solidFill>
                  <a:srgbClr val="242852"/>
                </a:solidFill>
                <a:latin typeface="Arial"/>
              </a:rPr>
              <a:t>Controlar la complejidad</a:t>
            </a:r>
          </a:p>
        </p:txBody>
      </p:sp>
      <p:sp>
        <p:nvSpPr>
          <p:cNvPr id="10" name="TextBox 9"/>
          <p:cNvSpPr txBox="1"/>
          <p:nvPr/>
        </p:nvSpPr>
        <p:spPr>
          <a:xfrm>
            <a:off x="2651760" y="3291840"/>
            <a:ext cx="5852160" cy="1097280"/>
          </a:xfrm>
          <a:prstGeom prst="rect">
            <a:avLst/>
          </a:prstGeom>
          <a:noFill/>
        </p:spPr>
        <p:txBody>
          <a:bodyPr wrap="square" anchor="t" lIns="36576" rIns="36576" tIns="36576" bIns="36576">
            <a:spAutoFit/>
          </a:bodyPr>
          <a:lstStyle/>
          <a:p>
            <a:pPr algn="l">
              <a:spcAft>
                <a:spcPts val="400"/>
              </a:spcAft>
            </a:pPr>
            <a:r>
              <a:rPr sz="1600" b="0" i="0">
                <a:solidFill>
                  <a:srgbClr val="5F6368"/>
                </a:solidFill>
                <a:latin typeface="Arial"/>
              </a:rPr>
              <a:t>Tres hiperparámetros: cuántas preguntas, cuántas filas para preguntar y cuántas filas por hoja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Parámetros vs hiperparámetros</a:t>
            </a:r>
          </a:p>
        </p:txBody>
      </p:sp>
      <p:sp>
        <p:nvSpPr>
          <p:cNvPr id="3" name="Rounded Rectangle 2"/>
          <p:cNvSpPr/>
          <p:nvPr/>
        </p:nvSpPr>
        <p:spPr>
          <a:xfrm>
            <a:off x="731520" y="1965960"/>
            <a:ext cx="2487168" cy="274320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Rounded Rectangle 3"/>
          <p:cNvSpPr/>
          <p:nvPr/>
        </p:nvSpPr>
        <p:spPr>
          <a:xfrm>
            <a:off x="868680" y="2103120"/>
            <a:ext cx="2212848" cy="45720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200" b="1" i="0">
                <a:solidFill>
                  <a:srgbClr val="FFFFFF"/>
                </a:solidFill>
                <a:latin typeface="Arial"/>
              </a:rPr>
              <a:t>max_depth</a:t>
            </a:r>
          </a:p>
        </p:txBody>
      </p:sp>
      <p:sp>
        <p:nvSpPr>
          <p:cNvPr id="5" name="TextBox 4"/>
          <p:cNvSpPr txBox="1"/>
          <p:nvPr/>
        </p:nvSpPr>
        <p:spPr>
          <a:xfrm>
            <a:off x="868680" y="2697480"/>
            <a:ext cx="2240280" cy="457200"/>
          </a:xfrm>
          <a:prstGeom prst="rect">
            <a:avLst/>
          </a:prstGeom>
          <a:noFill/>
        </p:spPr>
        <p:txBody>
          <a:bodyPr wrap="square" anchor="t" lIns="36576" rIns="36576" tIns="36576" bIns="36576">
            <a:spAutoFit/>
          </a:bodyPr>
          <a:lstStyle/>
          <a:p>
            <a:pPr algn="l">
              <a:spcAft>
                <a:spcPts val="400"/>
              </a:spcAft>
            </a:pPr>
            <a:r>
              <a:rPr sz="1400" b="1" i="0">
                <a:solidFill>
                  <a:srgbClr val="242852"/>
                </a:solidFill>
                <a:latin typeface="Arial"/>
              </a:rPr>
              <a:t>Profundidad máxima</a:t>
            </a:r>
          </a:p>
        </p:txBody>
      </p:sp>
      <p:sp>
        <p:nvSpPr>
          <p:cNvPr id="6" name="TextBox 5"/>
          <p:cNvSpPr txBox="1"/>
          <p:nvPr/>
        </p:nvSpPr>
        <p:spPr>
          <a:xfrm>
            <a:off x="868680" y="3200400"/>
            <a:ext cx="2240280" cy="146304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Cuántas preguntas encadenadas de la raíz a una hoja. Por defecto: sin límite.</a:t>
            </a:r>
          </a:p>
        </p:txBody>
      </p:sp>
      <p:sp>
        <p:nvSpPr>
          <p:cNvPr id="7" name="Rounded Rectangle 6"/>
          <p:cNvSpPr/>
          <p:nvPr/>
        </p:nvSpPr>
        <p:spPr>
          <a:xfrm>
            <a:off x="3355848" y="1965960"/>
            <a:ext cx="2487168" cy="274320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Rounded Rectangle 7"/>
          <p:cNvSpPr/>
          <p:nvPr/>
        </p:nvSpPr>
        <p:spPr>
          <a:xfrm>
            <a:off x="3493008" y="2103120"/>
            <a:ext cx="2212848" cy="457200"/>
          </a:xfrm>
          <a:prstGeom prst="roundRect">
            <a:avLst>
              <a:gd name="adj" fmla="val 8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200" b="1" i="0">
                <a:solidFill>
                  <a:srgbClr val="FFFFFF"/>
                </a:solidFill>
                <a:latin typeface="Arial"/>
              </a:rPr>
              <a:t>min_samples_split</a:t>
            </a:r>
          </a:p>
        </p:txBody>
      </p:sp>
      <p:sp>
        <p:nvSpPr>
          <p:cNvPr id="9" name="TextBox 8"/>
          <p:cNvSpPr txBox="1"/>
          <p:nvPr/>
        </p:nvSpPr>
        <p:spPr>
          <a:xfrm>
            <a:off x="3493008" y="2697480"/>
            <a:ext cx="2240280" cy="457200"/>
          </a:xfrm>
          <a:prstGeom prst="rect">
            <a:avLst/>
          </a:prstGeom>
          <a:noFill/>
        </p:spPr>
        <p:txBody>
          <a:bodyPr wrap="square" anchor="t" lIns="36576" rIns="36576" tIns="36576" bIns="36576">
            <a:spAutoFit/>
          </a:bodyPr>
          <a:lstStyle/>
          <a:p>
            <a:pPr algn="l">
              <a:spcAft>
                <a:spcPts val="400"/>
              </a:spcAft>
            </a:pPr>
            <a:r>
              <a:rPr sz="1400" b="1" i="0">
                <a:solidFill>
                  <a:srgbClr val="2A9D8F"/>
                </a:solidFill>
                <a:latin typeface="Arial"/>
              </a:rPr>
              <a:t>Mínimo para dividir</a:t>
            </a:r>
          </a:p>
        </p:txBody>
      </p:sp>
      <p:sp>
        <p:nvSpPr>
          <p:cNvPr id="10" name="TextBox 9"/>
          <p:cNvSpPr txBox="1"/>
          <p:nvPr/>
        </p:nvSpPr>
        <p:spPr>
          <a:xfrm>
            <a:off x="3493008" y="3200400"/>
            <a:ext cx="2240280" cy="146304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Cuántas filas necesita un nodo para que se le permita preguntar. Por defecto: 2.</a:t>
            </a:r>
          </a:p>
        </p:txBody>
      </p:sp>
      <p:sp>
        <p:nvSpPr>
          <p:cNvPr id="11" name="Rounded Rectangle 10"/>
          <p:cNvSpPr/>
          <p:nvPr/>
        </p:nvSpPr>
        <p:spPr>
          <a:xfrm>
            <a:off x="5980176" y="1965960"/>
            <a:ext cx="2487168" cy="274320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 name="Rounded Rectangle 11"/>
          <p:cNvSpPr/>
          <p:nvPr/>
        </p:nvSpPr>
        <p:spPr>
          <a:xfrm>
            <a:off x="6117336" y="2103120"/>
            <a:ext cx="2212848" cy="457200"/>
          </a:xfrm>
          <a:prstGeom prst="roundRect">
            <a:avLst>
              <a:gd name="adj" fmla="val 8000"/>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200" b="1" i="0">
                <a:solidFill>
                  <a:srgbClr val="FFFFFF"/>
                </a:solidFill>
                <a:latin typeface="Arial"/>
              </a:rPr>
              <a:t>min_samples_leaf</a:t>
            </a:r>
          </a:p>
        </p:txBody>
      </p:sp>
      <p:sp>
        <p:nvSpPr>
          <p:cNvPr id="13" name="TextBox 12"/>
          <p:cNvSpPr txBox="1"/>
          <p:nvPr/>
        </p:nvSpPr>
        <p:spPr>
          <a:xfrm>
            <a:off x="6117336" y="2697480"/>
            <a:ext cx="2240280" cy="457200"/>
          </a:xfrm>
          <a:prstGeom prst="rect">
            <a:avLst/>
          </a:prstGeom>
          <a:noFill/>
        </p:spPr>
        <p:txBody>
          <a:bodyPr wrap="square" anchor="t" lIns="36576" rIns="36576" tIns="36576" bIns="36576">
            <a:spAutoFit/>
          </a:bodyPr>
          <a:lstStyle/>
          <a:p>
            <a:pPr algn="l">
              <a:spcAft>
                <a:spcPts val="400"/>
              </a:spcAft>
            </a:pPr>
            <a:r>
              <a:rPr sz="1400" b="1" i="0">
                <a:solidFill>
                  <a:srgbClr val="D7263D"/>
                </a:solidFill>
                <a:latin typeface="Arial"/>
              </a:rPr>
              <a:t>Mínimo por hoja</a:t>
            </a:r>
          </a:p>
        </p:txBody>
      </p:sp>
      <p:sp>
        <p:nvSpPr>
          <p:cNvPr id="14" name="TextBox 13"/>
          <p:cNvSpPr txBox="1"/>
          <p:nvPr/>
        </p:nvSpPr>
        <p:spPr>
          <a:xfrm>
            <a:off x="6117336" y="3200400"/>
            <a:ext cx="2240280" cy="146304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Cuántas filas debe tener cada hoja que resulta de un corte. Por defecto: 1.</a:t>
            </a:r>
          </a:p>
        </p:txBody>
      </p:sp>
      <p:sp>
        <p:nvSpPr>
          <p:cNvPr id="15" name="Rounded Rectangle 14"/>
          <p:cNvSpPr/>
          <p:nvPr/>
        </p:nvSpPr>
        <p:spPr>
          <a:xfrm>
            <a:off x="731520" y="4892040"/>
            <a:ext cx="7772400" cy="132588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FFFFFF"/>
                </a:solidFill>
                <a:latin typeface="Arial"/>
              </a:rPr>
              <a:t>Con los valores por defecto </a:t>
            </a:r>
            <a:r>
              <a:rPr sz="1300" b="0" i="0">
                <a:solidFill>
                  <a:srgbClr val="FFFFFF"/>
                </a:solidFill>
                <a:latin typeface="Arial"/>
              </a:rPr>
              <a:t>el árbol sigue preguntando hasta que cada hoja tiene clientes con el mismo monto: con 7 088 clientes crea 7 080 hojas. Memoriza Train.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200" b="1">
                <a:solidFill>
                  <a:srgbClr val="242852"/>
                </a:solidFill>
              </a:rPr>
              <a:t>min_samples_split y min_samples_leaf no son lo mismo</a:t>
            </a:r>
          </a:p>
        </p:txBody>
      </p:sp>
      <p:sp>
        <p:nvSpPr>
          <p:cNvPr id="3" name="Rounded Rectangle 2"/>
          <p:cNvSpPr/>
          <p:nvPr/>
        </p:nvSpPr>
        <p:spPr>
          <a:xfrm>
            <a:off x="731520" y="1965960"/>
            <a:ext cx="3794760" cy="288036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TextBox 3"/>
          <p:cNvSpPr txBox="1"/>
          <p:nvPr/>
        </p:nvSpPr>
        <p:spPr>
          <a:xfrm>
            <a:off x="868680" y="2029968"/>
            <a:ext cx="3566160" cy="365760"/>
          </a:xfrm>
          <a:prstGeom prst="rect">
            <a:avLst/>
          </a:prstGeom>
          <a:noFill/>
        </p:spPr>
        <p:txBody>
          <a:bodyPr wrap="square" anchor="t" lIns="36576" rIns="36576" tIns="36576" bIns="36576">
            <a:spAutoFit/>
          </a:bodyPr>
          <a:lstStyle/>
          <a:p>
            <a:pPr algn="ctr">
              <a:spcAft>
                <a:spcPts val="400"/>
              </a:spcAft>
            </a:pPr>
            <a:r>
              <a:rPr sz="1400" b="1" i="0">
                <a:solidFill>
                  <a:srgbClr val="2A9D8F"/>
                </a:solidFill>
                <a:latin typeface="Arial"/>
              </a:rPr>
              <a:t>min_samples_split = 100</a:t>
            </a:r>
          </a:p>
        </p:txBody>
      </p:sp>
      <p:sp>
        <p:nvSpPr>
          <p:cNvPr id="5" name="Rounded Rectangle 4"/>
          <p:cNvSpPr/>
          <p:nvPr/>
        </p:nvSpPr>
        <p:spPr>
          <a:xfrm>
            <a:off x="1801368" y="2514600"/>
            <a:ext cx="1645920" cy="54864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150" b="1" i="0">
                <a:solidFill>
                  <a:srgbClr val="FFFFFF"/>
                </a:solidFill>
                <a:latin typeface="Arial"/>
              </a:rPr>
              <a:t>nodo: 100 clientes</a:t>
            </a:r>
          </a:p>
        </p:txBody>
      </p:sp>
      <p:cxnSp>
        <p:nvCxnSpPr>
          <p:cNvPr id="6" name="Connector 5"/>
          <p:cNvCxnSpPr/>
          <p:nvPr/>
        </p:nvCxnSpPr>
        <p:spPr>
          <a:xfrm flipH="1">
            <a:off x="1737360" y="3063240"/>
            <a:ext cx="457200" cy="54864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063239" y="3063240"/>
            <a:ext cx="457200" cy="54864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1143000" y="3611880"/>
            <a:ext cx="1188720" cy="54864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150" b="1" i="0">
                <a:solidFill>
                  <a:srgbClr val="2A9D8F"/>
                </a:solidFill>
                <a:latin typeface="Arial"/>
              </a:rPr>
              <a:t>99 clientes</a:t>
            </a:r>
          </a:p>
        </p:txBody>
      </p:sp>
      <p:sp>
        <p:nvSpPr>
          <p:cNvPr id="9" name="Rounded Rectangle 8"/>
          <p:cNvSpPr/>
          <p:nvPr/>
        </p:nvSpPr>
        <p:spPr>
          <a:xfrm>
            <a:off x="2926080" y="3611880"/>
            <a:ext cx="1188720" cy="54864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150" b="1" i="0">
                <a:solidFill>
                  <a:srgbClr val="2A9D8F"/>
                </a:solidFill>
                <a:latin typeface="Arial"/>
              </a:rPr>
              <a:t>1 cliente</a:t>
            </a:r>
          </a:p>
        </p:txBody>
      </p:sp>
      <p:sp>
        <p:nvSpPr>
          <p:cNvPr id="10" name="TextBox 9"/>
          <p:cNvSpPr txBox="1"/>
          <p:nvPr/>
        </p:nvSpPr>
        <p:spPr>
          <a:xfrm>
            <a:off x="868680" y="4297680"/>
            <a:ext cx="3566160" cy="457200"/>
          </a:xfrm>
          <a:prstGeom prst="rect">
            <a:avLst/>
          </a:prstGeom>
          <a:noFill/>
        </p:spPr>
        <p:txBody>
          <a:bodyPr wrap="square" anchor="t" lIns="36576" rIns="36576" tIns="36576" bIns="36576">
            <a:spAutoFit/>
          </a:bodyPr>
          <a:lstStyle/>
          <a:p>
            <a:pPr algn="ctr">
              <a:spcAft>
                <a:spcPts val="400"/>
              </a:spcAft>
            </a:pPr>
            <a:r>
              <a:rPr sz="1200" b="0" i="0">
                <a:solidFill>
                  <a:srgbClr val="2B2B2B"/>
                </a:solidFill>
                <a:latin typeface="Arial"/>
              </a:rPr>
              <a:t>el nodo de 100 sí puede preguntar</a:t>
            </a:r>
          </a:p>
        </p:txBody>
      </p:sp>
      <p:sp>
        <p:nvSpPr>
          <p:cNvPr id="11" name="Rounded Rectangle 10"/>
          <p:cNvSpPr/>
          <p:nvPr/>
        </p:nvSpPr>
        <p:spPr>
          <a:xfrm>
            <a:off x="4663440" y="1965960"/>
            <a:ext cx="3794760" cy="28803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 name="TextBox 11"/>
          <p:cNvSpPr txBox="1"/>
          <p:nvPr/>
        </p:nvSpPr>
        <p:spPr>
          <a:xfrm>
            <a:off x="4800600" y="2029968"/>
            <a:ext cx="3566160" cy="365760"/>
          </a:xfrm>
          <a:prstGeom prst="rect">
            <a:avLst/>
          </a:prstGeom>
          <a:noFill/>
        </p:spPr>
        <p:txBody>
          <a:bodyPr wrap="square" anchor="t" lIns="36576" rIns="36576" tIns="36576" bIns="36576">
            <a:spAutoFit/>
          </a:bodyPr>
          <a:lstStyle/>
          <a:p>
            <a:pPr algn="ctr">
              <a:spcAft>
                <a:spcPts val="400"/>
              </a:spcAft>
            </a:pPr>
            <a:r>
              <a:rPr sz="1400" b="1" i="0">
                <a:solidFill>
                  <a:srgbClr val="D7263D"/>
                </a:solidFill>
                <a:latin typeface="Arial"/>
              </a:rPr>
              <a:t>min_samples_leaf = 50</a:t>
            </a:r>
          </a:p>
        </p:txBody>
      </p:sp>
      <p:sp>
        <p:nvSpPr>
          <p:cNvPr id="13" name="Rounded Rectangle 12"/>
          <p:cNvSpPr/>
          <p:nvPr/>
        </p:nvSpPr>
        <p:spPr>
          <a:xfrm>
            <a:off x="5733288" y="2514600"/>
            <a:ext cx="1645920" cy="54864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150" b="1" i="0">
                <a:solidFill>
                  <a:srgbClr val="FFFFFF"/>
                </a:solidFill>
                <a:latin typeface="Arial"/>
              </a:rPr>
              <a:t>nodo: 100 clientes</a:t>
            </a:r>
          </a:p>
        </p:txBody>
      </p:sp>
      <p:cxnSp>
        <p:nvCxnSpPr>
          <p:cNvPr id="14" name="Connector 13"/>
          <p:cNvCxnSpPr/>
          <p:nvPr/>
        </p:nvCxnSpPr>
        <p:spPr>
          <a:xfrm flipH="1">
            <a:off x="5669279" y="3063240"/>
            <a:ext cx="457200" cy="54864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995159" y="3063240"/>
            <a:ext cx="457200" cy="54864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074919" y="3611880"/>
            <a:ext cx="1188720" cy="54864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150" b="1" i="0">
                <a:solidFill>
                  <a:srgbClr val="2A9D8F"/>
                </a:solidFill>
                <a:latin typeface="Arial"/>
              </a:rPr>
              <a:t>99 clientes</a:t>
            </a:r>
          </a:p>
        </p:txBody>
      </p:sp>
      <p:sp>
        <p:nvSpPr>
          <p:cNvPr id="17" name="Rounded Rectangle 16"/>
          <p:cNvSpPr/>
          <p:nvPr/>
        </p:nvSpPr>
        <p:spPr>
          <a:xfrm>
            <a:off x="6857999" y="3611880"/>
            <a:ext cx="1188720" cy="5486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150" b="1" i="0">
                <a:solidFill>
                  <a:srgbClr val="D7263D"/>
                </a:solidFill>
                <a:latin typeface="Arial"/>
              </a:rPr>
              <a:t>1 cliente</a:t>
            </a:r>
          </a:p>
        </p:txBody>
      </p:sp>
      <p:sp>
        <p:nvSpPr>
          <p:cNvPr id="18" name="TextBox 17"/>
          <p:cNvSpPr txBox="1"/>
          <p:nvPr/>
        </p:nvSpPr>
        <p:spPr>
          <a:xfrm>
            <a:off x="4800600" y="4297680"/>
            <a:ext cx="3566160" cy="457200"/>
          </a:xfrm>
          <a:prstGeom prst="rect">
            <a:avLst/>
          </a:prstGeom>
          <a:noFill/>
        </p:spPr>
        <p:txBody>
          <a:bodyPr wrap="square" anchor="t" lIns="36576" rIns="36576" tIns="36576" bIns="36576">
            <a:spAutoFit/>
          </a:bodyPr>
          <a:lstStyle/>
          <a:p>
            <a:pPr algn="ctr">
              <a:spcAft>
                <a:spcPts val="400"/>
              </a:spcAft>
            </a:pPr>
            <a:r>
              <a:rPr sz="1200" b="0" i="0">
                <a:solidFill>
                  <a:srgbClr val="2B2B2B"/>
                </a:solidFill>
                <a:latin typeface="Arial"/>
              </a:rPr>
              <a:t>el corte 99 / 1 está prohibido</a:t>
            </a:r>
          </a:p>
        </p:txBody>
      </p:sp>
      <p:graphicFrame>
        <p:nvGraphicFramePr>
          <p:cNvPr id="19" name="Table 18"/>
          <p:cNvGraphicFramePr>
            <a:graphicFrameLocks noGrp="1"/>
          </p:cNvGraphicFramePr>
          <p:nvPr/>
        </p:nvGraphicFramePr>
        <p:xfrm>
          <a:off x="731520" y="5029200"/>
          <a:ext cx="7772400" cy="1152144"/>
        </p:xfrm>
        <a:graphic>
          <a:graphicData uri="http://schemas.openxmlformats.org/drawingml/2006/table">
            <a:tbl>
              <a:tblPr firstRow="1" bandRow="1">
                <a:tableStyleId>{5C22544A-7EE6-4342-B048-85BDC9FD1C3A}</a:tableStyleId>
              </a:tblPr>
              <a:tblGrid>
                <a:gridCol w="2011680"/>
                <a:gridCol w="4023360"/>
                <a:gridCol w="1737360"/>
              </a:tblGrid>
              <a:tr h="384048">
                <a:tc>
                  <a:txBody>
                    <a:bodyPr wrap="square"/>
                    <a:lstStyle/>
                    <a:p>
                      <a:pPr algn="l"/>
                      <a:r>
                        <a:rPr sz="1200" b="1" i="0">
                          <a:solidFill>
                            <a:srgbClr val="FFFFFF"/>
                          </a:solidFill>
                          <a:latin typeface="Arial"/>
                        </a:rPr>
                        <a:t/>
                      </a:r>
                    </a:p>
                  </a:txBody>
                  <a:tcPr marL="64008" marR="64008" marT="27432" marB="27432" anchor="ctr">
                    <a:solidFill>
                      <a:srgbClr val="242852"/>
                    </a:solidFill>
                  </a:tcPr>
                </a:tc>
                <a:tc>
                  <a:txBody>
                    <a:bodyPr wrap="square"/>
                    <a:lstStyle/>
                    <a:p>
                      <a:pPr algn="ctr"/>
                      <a:r>
                        <a:rPr sz="1200" b="1" i="0">
                          <a:solidFill>
                            <a:srgbClr val="FFFFFF"/>
                          </a:solidFill>
                          <a:latin typeface="Arial"/>
                        </a:rPr>
                        <a:t>Pregunta que responde</a:t>
                      </a:r>
                    </a:p>
                  </a:txBody>
                  <a:tcPr marL="64008" marR="64008" marT="27432" marB="27432" anchor="ctr">
                    <a:solidFill>
                      <a:srgbClr val="242852"/>
                    </a:solidFill>
                  </a:tcPr>
                </a:tc>
                <a:tc>
                  <a:txBody>
                    <a:bodyPr wrap="square"/>
                    <a:lstStyle/>
                    <a:p>
                      <a:pPr algn="ctr"/>
                      <a:r>
                        <a:rPr sz="1200" b="1" i="0">
                          <a:solidFill>
                            <a:srgbClr val="FFFFFF"/>
                          </a:solidFill>
                          <a:latin typeface="Arial"/>
                        </a:rPr>
                        <a:t>Cuándo actúa</a:t>
                      </a:r>
                    </a:p>
                  </a:txBody>
                  <a:tcPr marL="64008" marR="64008" marT="27432" marB="27432" anchor="ctr">
                    <a:solidFill>
                      <a:srgbClr val="242852"/>
                    </a:solidFill>
                  </a:tcPr>
                </a:tc>
              </a:tr>
              <a:tr h="384048">
                <a:tc>
                  <a:txBody>
                    <a:bodyPr wrap="square"/>
                    <a:lstStyle/>
                    <a:p>
                      <a:pPr algn="l"/>
                      <a:r>
                        <a:rPr sz="1200" b="1" i="0">
                          <a:solidFill>
                            <a:srgbClr val="2B2B2B"/>
                          </a:solidFill>
                          <a:latin typeface="Arial"/>
                        </a:rPr>
                        <a:t>min_samples_split</a:t>
                      </a:r>
                    </a:p>
                  </a:txBody>
                  <a:tcPr marL="64008" marR="64008" marT="27432" marB="27432" anchor="ctr">
                    <a:solidFill>
                      <a:srgbClr val="FFFFFF"/>
                    </a:solidFill>
                  </a:tcPr>
                </a:tc>
                <a:tc>
                  <a:txBody>
                    <a:bodyPr wrap="square"/>
                    <a:lstStyle/>
                    <a:p>
                      <a:pPr algn="ctr"/>
                      <a:r>
                        <a:rPr sz="1200" b="0" i="0">
                          <a:solidFill>
                            <a:srgbClr val="2B2B2B"/>
                          </a:solidFill>
                          <a:latin typeface="Arial"/>
                        </a:rPr>
                        <a:t>¿este nodo tiene suficientes filas para preguntar?</a:t>
                      </a:r>
                    </a:p>
                  </a:txBody>
                  <a:tcPr marL="64008" marR="64008" marT="27432" marB="27432" anchor="ctr">
                    <a:solidFill>
                      <a:srgbClr val="FFFFFF"/>
                    </a:solidFill>
                  </a:tcPr>
                </a:tc>
                <a:tc>
                  <a:txBody>
                    <a:bodyPr wrap="square"/>
                    <a:lstStyle/>
                    <a:p>
                      <a:pPr algn="ctr"/>
                      <a:r>
                        <a:rPr sz="1200" b="0" i="0">
                          <a:solidFill>
                            <a:srgbClr val="2B2B2B"/>
                          </a:solidFill>
                          <a:latin typeface="Arial"/>
                        </a:rPr>
                        <a:t>antes de cortar</a:t>
                      </a:r>
                    </a:p>
                  </a:txBody>
                  <a:tcPr marL="64008" marR="64008" marT="27432" marB="27432" anchor="ctr">
                    <a:solidFill>
                      <a:srgbClr val="FFFFFF"/>
                    </a:solidFill>
                  </a:tcPr>
                </a:tc>
              </a:tr>
              <a:tr h="384048">
                <a:tc>
                  <a:txBody>
                    <a:bodyPr wrap="square"/>
                    <a:lstStyle/>
                    <a:p>
                      <a:pPr algn="l"/>
                      <a:r>
                        <a:rPr sz="1200" b="1" i="0">
                          <a:solidFill>
                            <a:srgbClr val="2B2B2B"/>
                          </a:solidFill>
                          <a:latin typeface="Arial"/>
                        </a:rPr>
                        <a:t>min_samples_leaf</a:t>
                      </a:r>
                    </a:p>
                  </a:txBody>
                  <a:tcPr marL="64008" marR="64008" marT="27432" marB="27432" anchor="ctr">
                    <a:solidFill>
                      <a:srgbClr val="F2F3F5"/>
                    </a:solidFill>
                  </a:tcPr>
                </a:tc>
                <a:tc>
                  <a:txBody>
                    <a:bodyPr wrap="square"/>
                    <a:lstStyle/>
                    <a:p>
                      <a:pPr algn="ctr"/>
                      <a:r>
                        <a:rPr sz="1200" b="0" i="0">
                          <a:solidFill>
                            <a:srgbClr val="2B2B2B"/>
                          </a:solidFill>
                          <a:latin typeface="Arial"/>
                        </a:rPr>
                        <a:t>¿cada hoja nueva tendrá suficientes filas?</a:t>
                      </a:r>
                    </a:p>
                  </a:txBody>
                  <a:tcPr marL="64008" marR="64008" marT="27432" marB="27432" anchor="ctr">
                    <a:solidFill>
                      <a:srgbClr val="F2F3F5"/>
                    </a:solidFill>
                  </a:tcPr>
                </a:tc>
                <a:tc>
                  <a:txBody>
                    <a:bodyPr wrap="square"/>
                    <a:lstStyle/>
                    <a:p>
                      <a:pPr algn="ctr"/>
                      <a:r>
                        <a:rPr sz="1200" b="0" i="0">
                          <a:solidFill>
                            <a:srgbClr val="2B2B2B"/>
                          </a:solidFill>
                          <a:latin typeface="Arial"/>
                        </a:rPr>
                        <a:t>después de cortar</a:t>
                      </a:r>
                    </a:p>
                  </a:txBody>
                  <a:tcPr marL="64008" marR="64008" marT="27432" marB="27432" anchor="ctr">
                    <a:solidFill>
                      <a:srgbClr val="F2F3F5"/>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Jugar con max_depth</a:t>
            </a:r>
          </a:p>
        </p:txBody>
      </p:sp>
      <p:pic>
        <p:nvPicPr>
          <p:cNvPr id="3" name="Picture 2" descr="curva_depth.png"/>
          <p:cNvPicPr>
            <a:picLocks noChangeAspect="1"/>
          </p:cNvPicPr>
          <p:nvPr/>
        </p:nvPicPr>
        <p:blipFill>
          <a:blip r:embed="rId3"/>
          <a:stretch>
            <a:fillRect/>
          </a:stretch>
        </p:blipFill>
        <p:spPr>
          <a:xfrm>
            <a:off x="731520" y="2055174"/>
            <a:ext cx="4754880" cy="2564771"/>
          </a:xfrm>
          <a:prstGeom prst="rect">
            <a:avLst/>
          </a:prstGeom>
        </p:spPr>
      </p:pic>
      <p:graphicFrame>
        <p:nvGraphicFramePr>
          <p:cNvPr id="4" name="Table 3"/>
          <p:cNvGraphicFramePr>
            <a:graphicFrameLocks noGrp="1"/>
          </p:cNvGraphicFramePr>
          <p:nvPr/>
        </p:nvGraphicFramePr>
        <p:xfrm>
          <a:off x="5669280" y="2011680"/>
          <a:ext cx="2834640" cy="2304288"/>
        </p:xfrm>
        <a:graphic>
          <a:graphicData uri="http://schemas.openxmlformats.org/drawingml/2006/table">
            <a:tbl>
              <a:tblPr firstRow="1" bandRow="1">
                <a:tableStyleId>{5C22544A-7EE6-4342-B048-85BDC9FD1C3A}</a:tableStyleId>
              </a:tblPr>
              <a:tblGrid>
                <a:gridCol w="777240"/>
                <a:gridCol w="685800"/>
                <a:gridCol w="685800"/>
                <a:gridCol w="685800"/>
              </a:tblGrid>
              <a:tr h="384048">
                <a:tc>
                  <a:txBody>
                    <a:bodyPr wrap="square"/>
                    <a:lstStyle/>
                    <a:p>
                      <a:pPr algn="l"/>
                      <a:r>
                        <a:rPr sz="1150" b="1" i="0">
                          <a:solidFill>
                            <a:srgbClr val="FFFFFF"/>
                          </a:solidFill>
                          <a:latin typeface="Arial"/>
                        </a:rPr>
                        <a:t>Prof.</a:t>
                      </a:r>
                    </a:p>
                  </a:txBody>
                  <a:tcPr marL="64008" marR="64008" marT="27432" marB="27432" anchor="ctr">
                    <a:solidFill>
                      <a:srgbClr val="242852"/>
                    </a:solidFill>
                  </a:tcPr>
                </a:tc>
                <a:tc>
                  <a:txBody>
                    <a:bodyPr wrap="square"/>
                    <a:lstStyle/>
                    <a:p>
                      <a:pPr algn="ctr"/>
                      <a:r>
                        <a:rPr sz="1150" b="1" i="0">
                          <a:solidFill>
                            <a:srgbClr val="FFFFFF"/>
                          </a:solidFill>
                          <a:latin typeface="Arial"/>
                        </a:rPr>
                        <a:t>Hojas</a:t>
                      </a:r>
                    </a:p>
                  </a:txBody>
                  <a:tcPr marL="64008" marR="64008" marT="27432" marB="27432" anchor="ctr">
                    <a:solidFill>
                      <a:srgbClr val="242852"/>
                    </a:solidFill>
                  </a:tcPr>
                </a:tc>
                <a:tc>
                  <a:txBody>
                    <a:bodyPr wrap="square"/>
                    <a:lstStyle/>
                    <a:p>
                      <a:pPr algn="ctr"/>
                      <a:r>
                        <a:rPr sz="1150" b="1" i="0">
                          <a:solidFill>
                            <a:srgbClr val="FFFFFF"/>
                          </a:solidFill>
                          <a:latin typeface="Arial"/>
                        </a:rPr>
                        <a:t>R² Train</a:t>
                      </a:r>
                    </a:p>
                  </a:txBody>
                  <a:tcPr marL="64008" marR="64008" marT="27432" marB="27432" anchor="ctr">
                    <a:solidFill>
                      <a:srgbClr val="242852"/>
                    </a:solidFill>
                  </a:tcPr>
                </a:tc>
                <a:tc>
                  <a:txBody>
                    <a:bodyPr wrap="square"/>
                    <a:lstStyle/>
                    <a:p>
                      <a:pPr algn="ctr"/>
                      <a:r>
                        <a:rPr sz="1150" b="1" i="0">
                          <a:solidFill>
                            <a:srgbClr val="FFFFFF"/>
                          </a:solidFill>
                          <a:latin typeface="Arial"/>
                        </a:rPr>
                        <a:t>R² Val</a:t>
                      </a:r>
                    </a:p>
                  </a:txBody>
                  <a:tcPr marL="64008" marR="64008" marT="27432" marB="27432" anchor="ctr">
                    <a:solidFill>
                      <a:srgbClr val="242852"/>
                    </a:solidFill>
                  </a:tcPr>
                </a:tc>
              </a:tr>
              <a:tr h="384048">
                <a:tc>
                  <a:txBody>
                    <a:bodyPr wrap="square"/>
                    <a:lstStyle/>
                    <a:p>
                      <a:pPr algn="l"/>
                      <a:r>
                        <a:rPr sz="1150" b="1" i="0">
                          <a:solidFill>
                            <a:srgbClr val="2B2B2B"/>
                          </a:solidFill>
                          <a:latin typeface="Arial"/>
                        </a:rPr>
                        <a:t>1</a:t>
                      </a:r>
                    </a:p>
                  </a:txBody>
                  <a:tcPr marL="64008" marR="64008" marT="27432" marB="27432" anchor="ctr">
                    <a:solidFill>
                      <a:srgbClr val="FFFFFF"/>
                    </a:solidFill>
                  </a:tcPr>
                </a:tc>
                <a:tc>
                  <a:txBody>
                    <a:bodyPr wrap="square"/>
                    <a:lstStyle/>
                    <a:p>
                      <a:pPr algn="ctr"/>
                      <a:r>
                        <a:rPr sz="1150" b="0" i="0">
                          <a:solidFill>
                            <a:srgbClr val="2B2B2B"/>
                          </a:solidFill>
                          <a:latin typeface="Arial"/>
                        </a:rPr>
                        <a:t>2</a:t>
                      </a:r>
                    </a:p>
                  </a:txBody>
                  <a:tcPr marL="64008" marR="64008" marT="27432" marB="27432" anchor="ctr">
                    <a:solidFill>
                      <a:srgbClr val="FFFFFF"/>
                    </a:solidFill>
                  </a:tcPr>
                </a:tc>
                <a:tc>
                  <a:txBody>
                    <a:bodyPr wrap="square"/>
                    <a:lstStyle/>
                    <a:p>
                      <a:pPr algn="ctr"/>
                      <a:r>
                        <a:rPr sz="1150" b="0" i="0">
                          <a:solidFill>
                            <a:srgbClr val="2B2B2B"/>
                          </a:solidFill>
                          <a:latin typeface="Arial"/>
                        </a:rPr>
                        <a:t>0,658</a:t>
                      </a:r>
                    </a:p>
                  </a:txBody>
                  <a:tcPr marL="64008" marR="64008" marT="27432" marB="27432" anchor="ctr">
                    <a:solidFill>
                      <a:srgbClr val="FFFFFF"/>
                    </a:solidFill>
                  </a:tcPr>
                </a:tc>
                <a:tc>
                  <a:txBody>
                    <a:bodyPr wrap="square"/>
                    <a:lstStyle/>
                    <a:p>
                      <a:pPr algn="ctr"/>
                      <a:r>
                        <a:rPr sz="1150" b="0" i="0">
                          <a:solidFill>
                            <a:srgbClr val="2B2B2B"/>
                          </a:solidFill>
                          <a:latin typeface="Arial"/>
                        </a:rPr>
                        <a:t>0,608</a:t>
                      </a:r>
                    </a:p>
                  </a:txBody>
                  <a:tcPr marL="64008" marR="64008" marT="27432" marB="27432" anchor="ctr">
                    <a:solidFill>
                      <a:srgbClr val="FFFFFF"/>
                    </a:solidFill>
                  </a:tcPr>
                </a:tc>
              </a:tr>
              <a:tr h="384048">
                <a:tc>
                  <a:txBody>
                    <a:bodyPr wrap="square"/>
                    <a:lstStyle/>
                    <a:p>
                      <a:pPr algn="l"/>
                      <a:r>
                        <a:rPr sz="1150" b="1" i="0">
                          <a:solidFill>
                            <a:srgbClr val="2B2B2B"/>
                          </a:solidFill>
                          <a:latin typeface="Arial"/>
                        </a:rPr>
                        <a:t>3</a:t>
                      </a:r>
                    </a:p>
                  </a:txBody>
                  <a:tcPr marL="64008" marR="64008" marT="27432" marB="27432" anchor="ctr">
                    <a:solidFill>
                      <a:srgbClr val="F2F3F5"/>
                    </a:solidFill>
                  </a:tcPr>
                </a:tc>
                <a:tc>
                  <a:txBody>
                    <a:bodyPr wrap="square"/>
                    <a:lstStyle/>
                    <a:p>
                      <a:pPr algn="ctr"/>
                      <a:r>
                        <a:rPr sz="1150" b="0" i="0">
                          <a:solidFill>
                            <a:srgbClr val="2B2B2B"/>
                          </a:solidFill>
                          <a:latin typeface="Arial"/>
                        </a:rPr>
                        <a:t>8</a:t>
                      </a:r>
                    </a:p>
                  </a:txBody>
                  <a:tcPr marL="64008" marR="64008" marT="27432" marB="27432" anchor="ctr">
                    <a:solidFill>
                      <a:srgbClr val="F2F3F5"/>
                    </a:solidFill>
                  </a:tcPr>
                </a:tc>
                <a:tc>
                  <a:txBody>
                    <a:bodyPr wrap="square"/>
                    <a:lstStyle/>
                    <a:p>
                      <a:pPr algn="ctr"/>
                      <a:r>
                        <a:rPr sz="1150" b="0" i="0">
                          <a:solidFill>
                            <a:srgbClr val="2B2B2B"/>
                          </a:solidFill>
                          <a:latin typeface="Arial"/>
                        </a:rPr>
                        <a:t>0,843</a:t>
                      </a:r>
                    </a:p>
                  </a:txBody>
                  <a:tcPr marL="64008" marR="64008" marT="27432" marB="27432" anchor="ctr">
                    <a:solidFill>
                      <a:srgbClr val="F2F3F5"/>
                    </a:solidFill>
                  </a:tcPr>
                </a:tc>
                <a:tc>
                  <a:txBody>
                    <a:bodyPr wrap="square"/>
                    <a:lstStyle/>
                    <a:p>
                      <a:pPr algn="ctr"/>
                      <a:r>
                        <a:rPr sz="1150" b="0" i="0">
                          <a:solidFill>
                            <a:srgbClr val="2B2B2B"/>
                          </a:solidFill>
                          <a:latin typeface="Arial"/>
                        </a:rPr>
                        <a:t>0,821</a:t>
                      </a:r>
                    </a:p>
                  </a:txBody>
                  <a:tcPr marL="64008" marR="64008" marT="27432" marB="27432" anchor="ctr">
                    <a:solidFill>
                      <a:srgbClr val="F2F3F5"/>
                    </a:solidFill>
                  </a:tcPr>
                </a:tc>
              </a:tr>
              <a:tr h="384048">
                <a:tc>
                  <a:txBody>
                    <a:bodyPr wrap="square"/>
                    <a:lstStyle/>
                    <a:p>
                      <a:pPr algn="l"/>
                      <a:r>
                        <a:rPr sz="1150" b="1" i="0">
                          <a:solidFill>
                            <a:srgbClr val="2B2B2B"/>
                          </a:solidFill>
                          <a:latin typeface="Arial"/>
                        </a:rPr>
                        <a:t>5</a:t>
                      </a:r>
                    </a:p>
                  </a:txBody>
                  <a:tcPr marL="64008" marR="64008" marT="27432" marB="27432" anchor="ctr">
                    <a:solidFill>
                      <a:srgbClr val="E3F3F1"/>
                    </a:solidFill>
                  </a:tcPr>
                </a:tc>
                <a:tc>
                  <a:txBody>
                    <a:bodyPr wrap="square"/>
                    <a:lstStyle/>
                    <a:p>
                      <a:pPr algn="ctr"/>
                      <a:r>
                        <a:rPr sz="1150" b="0" i="0">
                          <a:solidFill>
                            <a:srgbClr val="2B2B2B"/>
                          </a:solidFill>
                          <a:latin typeface="Arial"/>
                        </a:rPr>
                        <a:t>32</a:t>
                      </a:r>
                    </a:p>
                  </a:txBody>
                  <a:tcPr marL="64008" marR="64008" marT="27432" marB="27432" anchor="ctr">
                    <a:solidFill>
                      <a:srgbClr val="E3F3F1"/>
                    </a:solidFill>
                  </a:tcPr>
                </a:tc>
                <a:tc>
                  <a:txBody>
                    <a:bodyPr wrap="square"/>
                    <a:lstStyle/>
                    <a:p>
                      <a:pPr algn="ctr"/>
                      <a:r>
                        <a:rPr sz="1150" b="0" i="0">
                          <a:solidFill>
                            <a:srgbClr val="2B2B2B"/>
                          </a:solidFill>
                          <a:latin typeface="Arial"/>
                        </a:rPr>
                        <a:t>0,879</a:t>
                      </a:r>
                    </a:p>
                  </a:txBody>
                  <a:tcPr marL="64008" marR="64008" marT="27432" marB="27432" anchor="ctr">
                    <a:solidFill>
                      <a:srgbClr val="E3F3F1"/>
                    </a:solidFill>
                  </a:tcPr>
                </a:tc>
                <a:tc>
                  <a:txBody>
                    <a:bodyPr wrap="square"/>
                    <a:lstStyle/>
                    <a:p>
                      <a:pPr algn="ctr"/>
                      <a:r>
                        <a:rPr sz="1150" b="1" i="0">
                          <a:solidFill>
                            <a:srgbClr val="2A9D8F"/>
                          </a:solidFill>
                          <a:latin typeface="Arial"/>
                        </a:rPr>
                        <a:t>0,842</a:t>
                      </a:r>
                    </a:p>
                  </a:txBody>
                  <a:tcPr marL="64008" marR="64008" marT="27432" marB="27432" anchor="ctr">
                    <a:solidFill>
                      <a:srgbClr val="E3F3F1"/>
                    </a:solidFill>
                  </a:tcPr>
                </a:tc>
              </a:tr>
              <a:tr h="384048">
                <a:tc>
                  <a:txBody>
                    <a:bodyPr wrap="square"/>
                    <a:lstStyle/>
                    <a:p>
                      <a:pPr algn="l"/>
                      <a:r>
                        <a:rPr sz="1150" b="1" i="0">
                          <a:solidFill>
                            <a:srgbClr val="2B2B2B"/>
                          </a:solidFill>
                          <a:latin typeface="Arial"/>
                        </a:rPr>
                        <a:t>10</a:t>
                      </a:r>
                    </a:p>
                  </a:txBody>
                  <a:tcPr marL="64008" marR="64008" marT="27432" marB="27432" anchor="ctr">
                    <a:solidFill>
                      <a:srgbClr val="F2F3F5"/>
                    </a:solidFill>
                  </a:tcPr>
                </a:tc>
                <a:tc>
                  <a:txBody>
                    <a:bodyPr wrap="square"/>
                    <a:lstStyle/>
                    <a:p>
                      <a:pPr algn="ctr"/>
                      <a:r>
                        <a:rPr sz="1150" b="0" i="0">
                          <a:solidFill>
                            <a:srgbClr val="2B2B2B"/>
                          </a:solidFill>
                          <a:latin typeface="Arial"/>
                        </a:rPr>
                        <a:t>609</a:t>
                      </a:r>
                    </a:p>
                  </a:txBody>
                  <a:tcPr marL="64008" marR="64008" marT="27432" marB="27432" anchor="ctr">
                    <a:solidFill>
                      <a:srgbClr val="F2F3F5"/>
                    </a:solidFill>
                  </a:tcPr>
                </a:tc>
                <a:tc>
                  <a:txBody>
                    <a:bodyPr wrap="square"/>
                    <a:lstStyle/>
                    <a:p>
                      <a:pPr algn="ctr"/>
                      <a:r>
                        <a:rPr sz="1150" b="0" i="0">
                          <a:solidFill>
                            <a:srgbClr val="2B2B2B"/>
                          </a:solidFill>
                          <a:latin typeface="Arial"/>
                        </a:rPr>
                        <a:t>0,941</a:t>
                      </a:r>
                    </a:p>
                  </a:txBody>
                  <a:tcPr marL="64008" marR="64008" marT="27432" marB="27432" anchor="ctr">
                    <a:solidFill>
                      <a:srgbClr val="F2F3F5"/>
                    </a:solidFill>
                  </a:tcPr>
                </a:tc>
                <a:tc>
                  <a:txBody>
                    <a:bodyPr wrap="square"/>
                    <a:lstStyle/>
                    <a:p>
                      <a:pPr algn="ctr"/>
                      <a:r>
                        <a:rPr sz="1150" b="0" i="0">
                          <a:solidFill>
                            <a:srgbClr val="2B2B2B"/>
                          </a:solidFill>
                          <a:latin typeface="Arial"/>
                        </a:rPr>
                        <a:t>0,780</a:t>
                      </a:r>
                    </a:p>
                  </a:txBody>
                  <a:tcPr marL="64008" marR="64008" marT="27432" marB="27432" anchor="ctr">
                    <a:solidFill>
                      <a:srgbClr val="F2F3F5"/>
                    </a:solidFill>
                  </a:tcPr>
                </a:tc>
              </a:tr>
              <a:tr h="384048">
                <a:tc>
                  <a:txBody>
                    <a:bodyPr wrap="square"/>
                    <a:lstStyle/>
                    <a:p>
                      <a:pPr algn="l"/>
                      <a:r>
                        <a:rPr sz="1150" b="1" i="0">
                          <a:solidFill>
                            <a:srgbClr val="2B2B2B"/>
                          </a:solidFill>
                          <a:latin typeface="Arial"/>
                        </a:rPr>
                        <a:t>20</a:t>
                      </a:r>
                    </a:p>
                  </a:txBody>
                  <a:tcPr marL="64008" marR="64008" marT="27432" marB="27432" anchor="ctr">
                    <a:solidFill>
                      <a:srgbClr val="FFFFFF"/>
                    </a:solidFill>
                  </a:tcPr>
                </a:tc>
                <a:tc>
                  <a:txBody>
                    <a:bodyPr wrap="square"/>
                    <a:lstStyle/>
                    <a:p>
                      <a:pPr algn="ctr"/>
                      <a:r>
                        <a:rPr sz="1150" b="0" i="0">
                          <a:solidFill>
                            <a:srgbClr val="2B2B2B"/>
                          </a:solidFill>
                          <a:latin typeface="Arial"/>
                        </a:rPr>
                        <a:t>5 321</a:t>
                      </a:r>
                    </a:p>
                  </a:txBody>
                  <a:tcPr marL="64008" marR="64008" marT="27432" marB="27432" anchor="ctr">
                    <a:solidFill>
                      <a:srgbClr val="FFFFFF"/>
                    </a:solidFill>
                  </a:tcPr>
                </a:tc>
                <a:tc>
                  <a:txBody>
                    <a:bodyPr wrap="square"/>
                    <a:lstStyle/>
                    <a:p>
                      <a:pPr algn="ctr"/>
                      <a:r>
                        <a:rPr sz="1150" b="0" i="0">
                          <a:solidFill>
                            <a:srgbClr val="2B2B2B"/>
                          </a:solidFill>
                          <a:latin typeface="Arial"/>
                        </a:rPr>
                        <a:t>0,997</a:t>
                      </a:r>
                    </a:p>
                  </a:txBody>
                  <a:tcPr marL="64008" marR="64008" marT="27432" marB="27432" anchor="ctr">
                    <a:solidFill>
                      <a:srgbClr val="FFFFFF"/>
                    </a:solidFill>
                  </a:tcPr>
                </a:tc>
                <a:tc>
                  <a:txBody>
                    <a:bodyPr wrap="square"/>
                    <a:lstStyle/>
                    <a:p>
                      <a:pPr algn="ctr"/>
                      <a:r>
                        <a:rPr sz="1150" b="1" i="0">
                          <a:solidFill>
                            <a:srgbClr val="D7263D"/>
                          </a:solidFill>
                          <a:latin typeface="Arial"/>
                        </a:rPr>
                        <a:t>0,718</a:t>
                      </a:r>
                    </a:p>
                  </a:txBody>
                  <a:tcPr marL="64008" marR="64008" marT="27432" marB="27432" anchor="ctr">
                    <a:solidFill>
                      <a:srgbClr val="FFFFFF"/>
                    </a:solidFill>
                  </a:tcPr>
                </a:tc>
              </a:tr>
            </a:tbl>
          </a:graphicData>
        </a:graphic>
      </p:graphicFrame>
      <p:sp>
        <p:nvSpPr>
          <p:cNvPr id="5" name="Rounded Rectangle 4"/>
          <p:cNvSpPr/>
          <p:nvPr/>
        </p:nvSpPr>
        <p:spPr>
          <a:xfrm>
            <a:off x="731520" y="5029200"/>
            <a:ext cx="7772400" cy="7772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Subajuste </a:t>
            </a:r>
            <a:r>
              <a:rPr sz="1200" b="0" i="0">
                <a:solidFill>
                  <a:srgbClr val="2B2B2B"/>
                </a:solidFill>
                <a:latin typeface="Arial"/>
              </a:rPr>
              <a:t>con profundidad 1 (malo en ambos). </a:t>
            </a:r>
            <a:r>
              <a:rPr sz="1200" b="1" i="0">
                <a:solidFill>
                  <a:srgbClr val="D7263D"/>
                </a:solidFill>
                <a:latin typeface="Arial"/>
              </a:rPr>
              <a:t>Sobreajuste </a:t>
            </a:r>
            <a:r>
              <a:rPr sz="1200" b="0" i="0">
                <a:solidFill>
                  <a:srgbClr val="2B2B2B"/>
                </a:solidFill>
                <a:latin typeface="Arial"/>
              </a:rPr>
              <a:t>desde profundidad 8: Train sigue subiendo y Validation baja. El punto intermedio está cerca de 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Jugar con min_samples_leaf</a:t>
            </a:r>
          </a:p>
        </p:txBody>
      </p:sp>
      <p:pic>
        <p:nvPicPr>
          <p:cNvPr id="3" name="Picture 2" descr="curva_leaf.png"/>
          <p:cNvPicPr>
            <a:picLocks noChangeAspect="1"/>
          </p:cNvPicPr>
          <p:nvPr/>
        </p:nvPicPr>
        <p:blipFill>
          <a:blip r:embed="rId3"/>
          <a:stretch>
            <a:fillRect/>
          </a:stretch>
        </p:blipFill>
        <p:spPr>
          <a:xfrm>
            <a:off x="731520" y="1948382"/>
            <a:ext cx="4754880" cy="2778354"/>
          </a:xfrm>
          <a:prstGeom prst="rect">
            <a:avLst/>
          </a:prstGeom>
        </p:spPr>
      </p:pic>
      <p:graphicFrame>
        <p:nvGraphicFramePr>
          <p:cNvPr id="4" name="Table 3"/>
          <p:cNvGraphicFramePr>
            <a:graphicFrameLocks noGrp="1"/>
          </p:cNvGraphicFramePr>
          <p:nvPr/>
        </p:nvGraphicFramePr>
        <p:xfrm>
          <a:off x="5669280" y="2011680"/>
          <a:ext cx="2834640" cy="2304288"/>
        </p:xfrm>
        <a:graphic>
          <a:graphicData uri="http://schemas.openxmlformats.org/drawingml/2006/table">
            <a:tbl>
              <a:tblPr firstRow="1" bandRow="1">
                <a:tableStyleId>{5C22544A-7EE6-4342-B048-85BDC9FD1C3A}</a:tableStyleId>
              </a:tblPr>
              <a:tblGrid>
                <a:gridCol w="914400"/>
                <a:gridCol w="640080"/>
                <a:gridCol w="640080"/>
                <a:gridCol w="640080"/>
              </a:tblGrid>
              <a:tr h="384048">
                <a:tc>
                  <a:txBody>
                    <a:bodyPr wrap="square"/>
                    <a:lstStyle/>
                    <a:p>
                      <a:pPr algn="l"/>
                      <a:r>
                        <a:rPr sz="1150" b="1" i="0">
                          <a:solidFill>
                            <a:srgbClr val="FFFFFF"/>
                          </a:solidFill>
                          <a:latin typeface="Arial"/>
                        </a:rPr>
                        <a:t>mín. por hoja</a:t>
                      </a:r>
                    </a:p>
                  </a:txBody>
                  <a:tcPr marL="64008" marR="64008" marT="27432" marB="27432" anchor="ctr">
                    <a:solidFill>
                      <a:srgbClr val="242852"/>
                    </a:solidFill>
                  </a:tcPr>
                </a:tc>
                <a:tc>
                  <a:txBody>
                    <a:bodyPr wrap="square"/>
                    <a:lstStyle/>
                    <a:p>
                      <a:pPr algn="ctr"/>
                      <a:r>
                        <a:rPr sz="1150" b="1" i="0">
                          <a:solidFill>
                            <a:srgbClr val="FFFFFF"/>
                          </a:solidFill>
                          <a:latin typeface="Arial"/>
                        </a:rPr>
                        <a:t>Hojas</a:t>
                      </a:r>
                    </a:p>
                  </a:txBody>
                  <a:tcPr marL="64008" marR="64008" marT="27432" marB="27432" anchor="ctr">
                    <a:solidFill>
                      <a:srgbClr val="242852"/>
                    </a:solidFill>
                  </a:tcPr>
                </a:tc>
                <a:tc>
                  <a:txBody>
                    <a:bodyPr wrap="square"/>
                    <a:lstStyle/>
                    <a:p>
                      <a:pPr algn="ctr"/>
                      <a:r>
                        <a:rPr sz="1150" b="1" i="0">
                          <a:solidFill>
                            <a:srgbClr val="FFFFFF"/>
                          </a:solidFill>
                          <a:latin typeface="Arial"/>
                        </a:rPr>
                        <a:t>R² Train</a:t>
                      </a:r>
                    </a:p>
                  </a:txBody>
                  <a:tcPr marL="64008" marR="64008" marT="27432" marB="27432" anchor="ctr">
                    <a:solidFill>
                      <a:srgbClr val="242852"/>
                    </a:solidFill>
                  </a:tcPr>
                </a:tc>
                <a:tc>
                  <a:txBody>
                    <a:bodyPr wrap="square"/>
                    <a:lstStyle/>
                    <a:p>
                      <a:pPr algn="ctr"/>
                      <a:r>
                        <a:rPr sz="1150" b="1" i="0">
                          <a:solidFill>
                            <a:srgbClr val="FFFFFF"/>
                          </a:solidFill>
                          <a:latin typeface="Arial"/>
                        </a:rPr>
                        <a:t>R² Val</a:t>
                      </a:r>
                    </a:p>
                  </a:txBody>
                  <a:tcPr marL="64008" marR="64008" marT="27432" marB="27432" anchor="ctr">
                    <a:solidFill>
                      <a:srgbClr val="242852"/>
                    </a:solidFill>
                  </a:tcPr>
                </a:tc>
              </a:tr>
              <a:tr h="384048">
                <a:tc>
                  <a:txBody>
                    <a:bodyPr wrap="square"/>
                    <a:lstStyle/>
                    <a:p>
                      <a:pPr algn="l"/>
                      <a:r>
                        <a:rPr sz="1150" b="1" i="0">
                          <a:solidFill>
                            <a:srgbClr val="2B2B2B"/>
                          </a:solidFill>
                          <a:latin typeface="Arial"/>
                        </a:rPr>
                        <a:t>1</a:t>
                      </a:r>
                    </a:p>
                  </a:txBody>
                  <a:tcPr marL="64008" marR="64008" marT="27432" marB="27432" anchor="ctr">
                    <a:solidFill>
                      <a:srgbClr val="FFFFFF"/>
                    </a:solidFill>
                  </a:tcPr>
                </a:tc>
                <a:tc>
                  <a:txBody>
                    <a:bodyPr wrap="square"/>
                    <a:lstStyle/>
                    <a:p>
                      <a:pPr algn="ctr"/>
                      <a:r>
                        <a:rPr sz="1150" b="0" i="0">
                          <a:solidFill>
                            <a:srgbClr val="2B2B2B"/>
                          </a:solidFill>
                          <a:latin typeface="Arial"/>
                        </a:rPr>
                        <a:t>7 080</a:t>
                      </a:r>
                    </a:p>
                  </a:txBody>
                  <a:tcPr marL="64008" marR="64008" marT="27432" marB="27432" anchor="ctr">
                    <a:solidFill>
                      <a:srgbClr val="FFFFFF"/>
                    </a:solidFill>
                  </a:tcPr>
                </a:tc>
                <a:tc>
                  <a:txBody>
                    <a:bodyPr wrap="square"/>
                    <a:lstStyle/>
                    <a:p>
                      <a:pPr algn="ctr"/>
                      <a:r>
                        <a:rPr sz="1150" b="0" i="0">
                          <a:solidFill>
                            <a:srgbClr val="2B2B2B"/>
                          </a:solidFill>
                          <a:latin typeface="Arial"/>
                        </a:rPr>
                        <a:t>1,000</a:t>
                      </a:r>
                    </a:p>
                  </a:txBody>
                  <a:tcPr marL="64008" marR="64008" marT="27432" marB="27432" anchor="ctr">
                    <a:solidFill>
                      <a:srgbClr val="FFFFFF"/>
                    </a:solidFill>
                  </a:tcPr>
                </a:tc>
                <a:tc>
                  <a:txBody>
                    <a:bodyPr wrap="square"/>
                    <a:lstStyle/>
                    <a:p>
                      <a:pPr algn="ctr"/>
                      <a:r>
                        <a:rPr sz="1150" b="1" i="0">
                          <a:solidFill>
                            <a:srgbClr val="D7263D"/>
                          </a:solidFill>
                          <a:latin typeface="Arial"/>
                        </a:rPr>
                        <a:t>0,724</a:t>
                      </a:r>
                    </a:p>
                  </a:txBody>
                  <a:tcPr marL="64008" marR="64008" marT="27432" marB="27432" anchor="ctr">
                    <a:solidFill>
                      <a:srgbClr val="FFFFFF"/>
                    </a:solidFill>
                  </a:tcPr>
                </a:tc>
              </a:tr>
              <a:tr h="384048">
                <a:tc>
                  <a:txBody>
                    <a:bodyPr wrap="square"/>
                    <a:lstStyle/>
                    <a:p>
                      <a:pPr algn="l"/>
                      <a:r>
                        <a:rPr sz="1150" b="1" i="0">
                          <a:solidFill>
                            <a:srgbClr val="2B2B2B"/>
                          </a:solidFill>
                          <a:latin typeface="Arial"/>
                        </a:rPr>
                        <a:t>5</a:t>
                      </a:r>
                    </a:p>
                  </a:txBody>
                  <a:tcPr marL="64008" marR="64008" marT="27432" marB="27432" anchor="ctr">
                    <a:solidFill>
                      <a:srgbClr val="F2F3F5"/>
                    </a:solidFill>
                  </a:tcPr>
                </a:tc>
                <a:tc>
                  <a:txBody>
                    <a:bodyPr wrap="square"/>
                    <a:lstStyle/>
                    <a:p>
                      <a:pPr algn="ctr"/>
                      <a:r>
                        <a:rPr sz="1150" b="0" i="0">
                          <a:solidFill>
                            <a:srgbClr val="2B2B2B"/>
                          </a:solidFill>
                          <a:latin typeface="Arial"/>
                        </a:rPr>
                        <a:t>1 135</a:t>
                      </a:r>
                    </a:p>
                  </a:txBody>
                  <a:tcPr marL="64008" marR="64008" marT="27432" marB="27432" anchor="ctr">
                    <a:solidFill>
                      <a:srgbClr val="F2F3F5"/>
                    </a:solidFill>
                  </a:tcPr>
                </a:tc>
                <a:tc>
                  <a:txBody>
                    <a:bodyPr wrap="square"/>
                    <a:lstStyle/>
                    <a:p>
                      <a:pPr algn="ctr"/>
                      <a:r>
                        <a:rPr sz="1150" b="0" i="0">
                          <a:solidFill>
                            <a:srgbClr val="2B2B2B"/>
                          </a:solidFill>
                          <a:latin typeface="Arial"/>
                        </a:rPr>
                        <a:t>0,936</a:t>
                      </a:r>
                    </a:p>
                  </a:txBody>
                  <a:tcPr marL="64008" marR="64008" marT="27432" marB="27432" anchor="ctr">
                    <a:solidFill>
                      <a:srgbClr val="F2F3F5"/>
                    </a:solidFill>
                  </a:tcPr>
                </a:tc>
                <a:tc>
                  <a:txBody>
                    <a:bodyPr wrap="square"/>
                    <a:lstStyle/>
                    <a:p>
                      <a:pPr algn="ctr"/>
                      <a:r>
                        <a:rPr sz="1150" b="0" i="0">
                          <a:solidFill>
                            <a:srgbClr val="2B2B2B"/>
                          </a:solidFill>
                          <a:latin typeface="Arial"/>
                        </a:rPr>
                        <a:t>0,809</a:t>
                      </a:r>
                    </a:p>
                  </a:txBody>
                  <a:tcPr marL="64008" marR="64008" marT="27432" marB="27432" anchor="ctr">
                    <a:solidFill>
                      <a:srgbClr val="F2F3F5"/>
                    </a:solidFill>
                  </a:tcPr>
                </a:tc>
              </a:tr>
              <a:tr h="384048">
                <a:tc>
                  <a:txBody>
                    <a:bodyPr wrap="square"/>
                    <a:lstStyle/>
                    <a:p>
                      <a:pPr algn="l"/>
                      <a:r>
                        <a:rPr sz="1150" b="1" i="0">
                          <a:solidFill>
                            <a:srgbClr val="2B2B2B"/>
                          </a:solidFill>
                          <a:latin typeface="Arial"/>
                        </a:rPr>
                        <a:t>20</a:t>
                      </a:r>
                    </a:p>
                  </a:txBody>
                  <a:tcPr marL="64008" marR="64008" marT="27432" marB="27432" anchor="ctr">
                    <a:solidFill>
                      <a:srgbClr val="E3F3F1"/>
                    </a:solidFill>
                  </a:tcPr>
                </a:tc>
                <a:tc>
                  <a:txBody>
                    <a:bodyPr wrap="square"/>
                    <a:lstStyle/>
                    <a:p>
                      <a:pPr algn="ctr"/>
                      <a:r>
                        <a:rPr sz="1150" b="0" i="0">
                          <a:solidFill>
                            <a:srgbClr val="2B2B2B"/>
                          </a:solidFill>
                          <a:latin typeface="Arial"/>
                        </a:rPr>
                        <a:t>272</a:t>
                      </a:r>
                    </a:p>
                  </a:txBody>
                  <a:tcPr marL="64008" marR="64008" marT="27432" marB="27432" anchor="ctr">
                    <a:solidFill>
                      <a:srgbClr val="E3F3F1"/>
                    </a:solidFill>
                  </a:tcPr>
                </a:tc>
                <a:tc>
                  <a:txBody>
                    <a:bodyPr wrap="square"/>
                    <a:lstStyle/>
                    <a:p>
                      <a:pPr algn="ctr"/>
                      <a:r>
                        <a:rPr sz="1150" b="0" i="0">
                          <a:solidFill>
                            <a:srgbClr val="2B2B2B"/>
                          </a:solidFill>
                          <a:latin typeface="Arial"/>
                        </a:rPr>
                        <a:t>0,894</a:t>
                      </a:r>
                    </a:p>
                  </a:txBody>
                  <a:tcPr marL="64008" marR="64008" marT="27432" marB="27432" anchor="ctr">
                    <a:solidFill>
                      <a:srgbClr val="E3F3F1"/>
                    </a:solidFill>
                  </a:tcPr>
                </a:tc>
                <a:tc>
                  <a:txBody>
                    <a:bodyPr wrap="square"/>
                    <a:lstStyle/>
                    <a:p>
                      <a:pPr algn="ctr"/>
                      <a:r>
                        <a:rPr sz="1150" b="1" i="0">
                          <a:solidFill>
                            <a:srgbClr val="2A9D8F"/>
                          </a:solidFill>
                          <a:latin typeface="Arial"/>
                        </a:rPr>
                        <a:t>0,848</a:t>
                      </a:r>
                    </a:p>
                  </a:txBody>
                  <a:tcPr marL="64008" marR="64008" marT="27432" marB="27432" anchor="ctr">
                    <a:solidFill>
                      <a:srgbClr val="E3F3F1"/>
                    </a:solidFill>
                  </a:tcPr>
                </a:tc>
              </a:tr>
              <a:tr h="384048">
                <a:tc>
                  <a:txBody>
                    <a:bodyPr wrap="square"/>
                    <a:lstStyle/>
                    <a:p>
                      <a:pPr algn="l"/>
                      <a:r>
                        <a:rPr sz="1150" b="1" i="0">
                          <a:solidFill>
                            <a:srgbClr val="2B2B2B"/>
                          </a:solidFill>
                          <a:latin typeface="Arial"/>
                        </a:rPr>
                        <a:t>200</a:t>
                      </a:r>
                    </a:p>
                  </a:txBody>
                  <a:tcPr marL="64008" marR="64008" marT="27432" marB="27432" anchor="ctr">
                    <a:solidFill>
                      <a:srgbClr val="F2F3F5"/>
                    </a:solidFill>
                  </a:tcPr>
                </a:tc>
                <a:tc>
                  <a:txBody>
                    <a:bodyPr wrap="square"/>
                    <a:lstStyle/>
                    <a:p>
                      <a:pPr algn="ctr"/>
                      <a:r>
                        <a:rPr sz="1150" b="0" i="0">
                          <a:solidFill>
                            <a:srgbClr val="2B2B2B"/>
                          </a:solidFill>
                          <a:latin typeface="Arial"/>
                        </a:rPr>
                        <a:t>26</a:t>
                      </a:r>
                    </a:p>
                  </a:txBody>
                  <a:tcPr marL="64008" marR="64008" marT="27432" marB="27432" anchor="ctr">
                    <a:solidFill>
                      <a:srgbClr val="F2F3F5"/>
                    </a:solidFill>
                  </a:tcPr>
                </a:tc>
                <a:tc>
                  <a:txBody>
                    <a:bodyPr wrap="square"/>
                    <a:lstStyle/>
                    <a:p>
                      <a:pPr algn="ctr"/>
                      <a:r>
                        <a:rPr sz="1150" b="0" i="0">
                          <a:solidFill>
                            <a:srgbClr val="2B2B2B"/>
                          </a:solidFill>
                          <a:latin typeface="Arial"/>
                        </a:rPr>
                        <a:t>0,855</a:t>
                      </a:r>
                    </a:p>
                  </a:txBody>
                  <a:tcPr marL="64008" marR="64008" marT="27432" marB="27432" anchor="ctr">
                    <a:solidFill>
                      <a:srgbClr val="F2F3F5"/>
                    </a:solidFill>
                  </a:tcPr>
                </a:tc>
                <a:tc>
                  <a:txBody>
                    <a:bodyPr wrap="square"/>
                    <a:lstStyle/>
                    <a:p>
                      <a:pPr algn="ctr"/>
                      <a:r>
                        <a:rPr sz="1150" b="0" i="0">
                          <a:solidFill>
                            <a:srgbClr val="2B2B2B"/>
                          </a:solidFill>
                          <a:latin typeface="Arial"/>
                        </a:rPr>
                        <a:t>0,829</a:t>
                      </a:r>
                    </a:p>
                  </a:txBody>
                  <a:tcPr marL="64008" marR="64008" marT="27432" marB="27432" anchor="ctr">
                    <a:solidFill>
                      <a:srgbClr val="F2F3F5"/>
                    </a:solidFill>
                  </a:tcPr>
                </a:tc>
              </a:tr>
              <a:tr h="384048">
                <a:tc>
                  <a:txBody>
                    <a:bodyPr wrap="square"/>
                    <a:lstStyle/>
                    <a:p>
                      <a:pPr algn="l"/>
                      <a:r>
                        <a:rPr sz="1150" b="1" i="0">
                          <a:solidFill>
                            <a:srgbClr val="2B2B2B"/>
                          </a:solidFill>
                          <a:latin typeface="Arial"/>
                        </a:rPr>
                        <a:t>1 000</a:t>
                      </a:r>
                    </a:p>
                  </a:txBody>
                  <a:tcPr marL="64008" marR="64008" marT="27432" marB="27432" anchor="ctr">
                    <a:solidFill>
                      <a:srgbClr val="FFFFFF"/>
                    </a:solidFill>
                  </a:tcPr>
                </a:tc>
                <a:tc>
                  <a:txBody>
                    <a:bodyPr wrap="square"/>
                    <a:lstStyle/>
                    <a:p>
                      <a:pPr algn="ctr"/>
                      <a:r>
                        <a:rPr sz="1150" b="0" i="0">
                          <a:solidFill>
                            <a:srgbClr val="2B2B2B"/>
                          </a:solidFill>
                          <a:latin typeface="Arial"/>
                        </a:rPr>
                        <a:t>5</a:t>
                      </a:r>
                    </a:p>
                  </a:txBody>
                  <a:tcPr marL="64008" marR="64008" marT="27432" marB="27432" anchor="ctr">
                    <a:solidFill>
                      <a:srgbClr val="FFFFFF"/>
                    </a:solidFill>
                  </a:tcPr>
                </a:tc>
                <a:tc>
                  <a:txBody>
                    <a:bodyPr wrap="square"/>
                    <a:lstStyle/>
                    <a:p>
                      <a:pPr algn="ctr"/>
                      <a:r>
                        <a:rPr sz="1150" b="0" i="0">
                          <a:solidFill>
                            <a:srgbClr val="2B2B2B"/>
                          </a:solidFill>
                          <a:latin typeface="Arial"/>
                        </a:rPr>
                        <a:t>0,670</a:t>
                      </a:r>
                    </a:p>
                  </a:txBody>
                  <a:tcPr marL="64008" marR="64008" marT="27432" marB="27432" anchor="ctr">
                    <a:solidFill>
                      <a:srgbClr val="FFFFFF"/>
                    </a:solidFill>
                  </a:tcPr>
                </a:tc>
                <a:tc>
                  <a:txBody>
                    <a:bodyPr wrap="square"/>
                    <a:lstStyle/>
                    <a:p>
                      <a:pPr algn="ctr"/>
                      <a:r>
                        <a:rPr sz="1150" b="1" i="0">
                          <a:solidFill>
                            <a:srgbClr val="D7263D"/>
                          </a:solidFill>
                          <a:latin typeface="Arial"/>
                        </a:rPr>
                        <a:t>0,660</a:t>
                      </a:r>
                    </a:p>
                  </a:txBody>
                  <a:tcPr marL="64008" marR="64008" marT="27432" marB="27432" anchor="ctr">
                    <a:solidFill>
                      <a:srgbClr val="FFFFFF"/>
                    </a:solidFill>
                  </a:tcPr>
                </a:tc>
              </a:tr>
            </a:tbl>
          </a:graphicData>
        </a:graphic>
      </p:graphicFrame>
      <p:sp>
        <p:nvSpPr>
          <p:cNvPr id="5" name="Rounded Rectangle 4"/>
          <p:cNvSpPr/>
          <p:nvPr/>
        </p:nvSpPr>
        <p:spPr>
          <a:xfrm>
            <a:off x="731520" y="5029200"/>
            <a:ext cx="7772400" cy="7772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Lectura: </a:t>
            </a:r>
            <a:r>
              <a:rPr sz="1200" b="0" i="0">
                <a:solidFill>
                  <a:srgbClr val="2B2B2B"/>
                </a:solidFill>
                <a:latin typeface="Arial"/>
              </a:rPr>
              <a:t>subir el mínimo cierra la brecha entre Train y Validation… hasta que el árbol queda demasiado simple. Ni hojas de un cliente, ni hojas gigantes.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Jugar con min_samples_split</a:t>
            </a:r>
          </a:p>
        </p:txBody>
      </p:sp>
      <p:pic>
        <p:nvPicPr>
          <p:cNvPr id="3" name="Picture 2" descr="curva_split.png"/>
          <p:cNvPicPr>
            <a:picLocks noChangeAspect="1"/>
          </p:cNvPicPr>
          <p:nvPr/>
        </p:nvPicPr>
        <p:blipFill>
          <a:blip r:embed="rId3"/>
          <a:stretch>
            <a:fillRect/>
          </a:stretch>
        </p:blipFill>
        <p:spPr>
          <a:xfrm>
            <a:off x="731520" y="1948382"/>
            <a:ext cx="4754880" cy="2778354"/>
          </a:xfrm>
          <a:prstGeom prst="rect">
            <a:avLst/>
          </a:prstGeom>
        </p:spPr>
      </p:pic>
      <p:graphicFrame>
        <p:nvGraphicFramePr>
          <p:cNvPr id="4" name="Table 3"/>
          <p:cNvGraphicFramePr>
            <a:graphicFrameLocks noGrp="1"/>
          </p:cNvGraphicFramePr>
          <p:nvPr/>
        </p:nvGraphicFramePr>
        <p:xfrm>
          <a:off x="5669280" y="2011680"/>
          <a:ext cx="2834640" cy="2304288"/>
        </p:xfrm>
        <a:graphic>
          <a:graphicData uri="http://schemas.openxmlformats.org/drawingml/2006/table">
            <a:tbl>
              <a:tblPr firstRow="1" bandRow="1">
                <a:tableStyleId>{5C22544A-7EE6-4342-B048-85BDC9FD1C3A}</a:tableStyleId>
              </a:tblPr>
              <a:tblGrid>
                <a:gridCol w="914400"/>
                <a:gridCol w="640080"/>
                <a:gridCol w="640080"/>
                <a:gridCol w="640080"/>
              </a:tblGrid>
              <a:tr h="384048">
                <a:tc>
                  <a:txBody>
                    <a:bodyPr wrap="square"/>
                    <a:lstStyle/>
                    <a:p>
                      <a:pPr algn="l"/>
                      <a:r>
                        <a:rPr sz="1150" b="1" i="0">
                          <a:solidFill>
                            <a:srgbClr val="FFFFFF"/>
                          </a:solidFill>
                          <a:latin typeface="Arial"/>
                        </a:rPr>
                        <a:t>mín. para dividir</a:t>
                      </a:r>
                    </a:p>
                  </a:txBody>
                  <a:tcPr marL="64008" marR="64008" marT="27432" marB="27432" anchor="ctr">
                    <a:solidFill>
                      <a:srgbClr val="242852"/>
                    </a:solidFill>
                  </a:tcPr>
                </a:tc>
                <a:tc>
                  <a:txBody>
                    <a:bodyPr wrap="square"/>
                    <a:lstStyle/>
                    <a:p>
                      <a:pPr algn="ctr"/>
                      <a:r>
                        <a:rPr sz="1150" b="1" i="0">
                          <a:solidFill>
                            <a:srgbClr val="FFFFFF"/>
                          </a:solidFill>
                          <a:latin typeface="Arial"/>
                        </a:rPr>
                        <a:t>Hojas</a:t>
                      </a:r>
                    </a:p>
                  </a:txBody>
                  <a:tcPr marL="64008" marR="64008" marT="27432" marB="27432" anchor="ctr">
                    <a:solidFill>
                      <a:srgbClr val="242852"/>
                    </a:solidFill>
                  </a:tcPr>
                </a:tc>
                <a:tc>
                  <a:txBody>
                    <a:bodyPr wrap="square"/>
                    <a:lstStyle/>
                    <a:p>
                      <a:pPr algn="ctr"/>
                      <a:r>
                        <a:rPr sz="1150" b="1" i="0">
                          <a:solidFill>
                            <a:srgbClr val="FFFFFF"/>
                          </a:solidFill>
                          <a:latin typeface="Arial"/>
                        </a:rPr>
                        <a:t>R² Train</a:t>
                      </a:r>
                    </a:p>
                  </a:txBody>
                  <a:tcPr marL="64008" marR="64008" marT="27432" marB="27432" anchor="ctr">
                    <a:solidFill>
                      <a:srgbClr val="242852"/>
                    </a:solidFill>
                  </a:tcPr>
                </a:tc>
                <a:tc>
                  <a:txBody>
                    <a:bodyPr wrap="square"/>
                    <a:lstStyle/>
                    <a:p>
                      <a:pPr algn="ctr"/>
                      <a:r>
                        <a:rPr sz="1150" b="1" i="0">
                          <a:solidFill>
                            <a:srgbClr val="FFFFFF"/>
                          </a:solidFill>
                          <a:latin typeface="Arial"/>
                        </a:rPr>
                        <a:t>R² Val</a:t>
                      </a:r>
                    </a:p>
                  </a:txBody>
                  <a:tcPr marL="64008" marR="64008" marT="27432" marB="27432" anchor="ctr">
                    <a:solidFill>
                      <a:srgbClr val="242852"/>
                    </a:solidFill>
                  </a:tcPr>
                </a:tc>
              </a:tr>
              <a:tr h="384048">
                <a:tc>
                  <a:txBody>
                    <a:bodyPr wrap="square"/>
                    <a:lstStyle/>
                    <a:p>
                      <a:pPr algn="l"/>
                      <a:r>
                        <a:rPr sz="1150" b="1" i="0">
                          <a:solidFill>
                            <a:srgbClr val="2B2B2B"/>
                          </a:solidFill>
                          <a:latin typeface="Arial"/>
                        </a:rPr>
                        <a:t>2</a:t>
                      </a:r>
                    </a:p>
                  </a:txBody>
                  <a:tcPr marL="64008" marR="64008" marT="27432" marB="27432" anchor="ctr">
                    <a:solidFill>
                      <a:srgbClr val="FFFFFF"/>
                    </a:solidFill>
                  </a:tcPr>
                </a:tc>
                <a:tc>
                  <a:txBody>
                    <a:bodyPr wrap="square"/>
                    <a:lstStyle/>
                    <a:p>
                      <a:pPr algn="ctr"/>
                      <a:r>
                        <a:rPr sz="1150" b="0" i="0">
                          <a:solidFill>
                            <a:srgbClr val="2B2B2B"/>
                          </a:solidFill>
                          <a:latin typeface="Arial"/>
                        </a:rPr>
                        <a:t>7 080</a:t>
                      </a:r>
                    </a:p>
                  </a:txBody>
                  <a:tcPr marL="64008" marR="64008" marT="27432" marB="27432" anchor="ctr">
                    <a:solidFill>
                      <a:srgbClr val="FFFFFF"/>
                    </a:solidFill>
                  </a:tcPr>
                </a:tc>
                <a:tc>
                  <a:txBody>
                    <a:bodyPr wrap="square"/>
                    <a:lstStyle/>
                    <a:p>
                      <a:pPr algn="ctr"/>
                      <a:r>
                        <a:rPr sz="1150" b="0" i="0">
                          <a:solidFill>
                            <a:srgbClr val="2B2B2B"/>
                          </a:solidFill>
                          <a:latin typeface="Arial"/>
                        </a:rPr>
                        <a:t>1,000</a:t>
                      </a:r>
                    </a:p>
                  </a:txBody>
                  <a:tcPr marL="64008" marR="64008" marT="27432" marB="27432" anchor="ctr">
                    <a:solidFill>
                      <a:srgbClr val="FFFFFF"/>
                    </a:solidFill>
                  </a:tcPr>
                </a:tc>
                <a:tc>
                  <a:txBody>
                    <a:bodyPr wrap="square"/>
                    <a:lstStyle/>
                    <a:p>
                      <a:pPr algn="ctr"/>
                      <a:r>
                        <a:rPr sz="1150" b="1" i="0">
                          <a:solidFill>
                            <a:srgbClr val="D7263D"/>
                          </a:solidFill>
                          <a:latin typeface="Arial"/>
                        </a:rPr>
                        <a:t>0,724</a:t>
                      </a:r>
                    </a:p>
                  </a:txBody>
                  <a:tcPr marL="64008" marR="64008" marT="27432" marB="27432" anchor="ctr">
                    <a:solidFill>
                      <a:srgbClr val="FFFFFF"/>
                    </a:solidFill>
                  </a:tcPr>
                </a:tc>
              </a:tr>
              <a:tr h="384048">
                <a:tc>
                  <a:txBody>
                    <a:bodyPr wrap="square"/>
                    <a:lstStyle/>
                    <a:p>
                      <a:pPr algn="l"/>
                      <a:r>
                        <a:rPr sz="1150" b="1" i="0">
                          <a:solidFill>
                            <a:srgbClr val="2B2B2B"/>
                          </a:solidFill>
                          <a:latin typeface="Arial"/>
                        </a:rPr>
                        <a:t>10</a:t>
                      </a:r>
                    </a:p>
                  </a:txBody>
                  <a:tcPr marL="64008" marR="64008" marT="27432" marB="27432" anchor="ctr">
                    <a:solidFill>
                      <a:srgbClr val="F2F3F5"/>
                    </a:solidFill>
                  </a:tcPr>
                </a:tc>
                <a:tc>
                  <a:txBody>
                    <a:bodyPr wrap="square"/>
                    <a:lstStyle/>
                    <a:p>
                      <a:pPr algn="ctr"/>
                      <a:r>
                        <a:rPr sz="1150" b="0" i="0">
                          <a:solidFill>
                            <a:srgbClr val="2B2B2B"/>
                          </a:solidFill>
                          <a:latin typeface="Arial"/>
                        </a:rPr>
                        <a:t>1 523</a:t>
                      </a:r>
                    </a:p>
                  </a:txBody>
                  <a:tcPr marL="64008" marR="64008" marT="27432" marB="27432" anchor="ctr">
                    <a:solidFill>
                      <a:srgbClr val="F2F3F5"/>
                    </a:solidFill>
                  </a:tcPr>
                </a:tc>
                <a:tc>
                  <a:txBody>
                    <a:bodyPr wrap="square"/>
                    <a:lstStyle/>
                    <a:p>
                      <a:pPr algn="ctr"/>
                      <a:r>
                        <a:rPr sz="1150" b="0" i="0">
                          <a:solidFill>
                            <a:srgbClr val="2B2B2B"/>
                          </a:solidFill>
                          <a:latin typeface="Arial"/>
                        </a:rPr>
                        <a:t>0,954</a:t>
                      </a:r>
                    </a:p>
                  </a:txBody>
                  <a:tcPr marL="64008" marR="64008" marT="27432" marB="27432" anchor="ctr">
                    <a:solidFill>
                      <a:srgbClr val="F2F3F5"/>
                    </a:solidFill>
                  </a:tcPr>
                </a:tc>
                <a:tc>
                  <a:txBody>
                    <a:bodyPr wrap="square"/>
                    <a:lstStyle/>
                    <a:p>
                      <a:pPr algn="ctr"/>
                      <a:r>
                        <a:rPr sz="1150" b="0" i="0">
                          <a:solidFill>
                            <a:srgbClr val="2B2B2B"/>
                          </a:solidFill>
                          <a:latin typeface="Arial"/>
                        </a:rPr>
                        <a:t>0,784</a:t>
                      </a:r>
                    </a:p>
                  </a:txBody>
                  <a:tcPr marL="64008" marR="64008" marT="27432" marB="27432" anchor="ctr">
                    <a:solidFill>
                      <a:srgbClr val="F2F3F5"/>
                    </a:solidFill>
                  </a:tcPr>
                </a:tc>
              </a:tr>
              <a:tr h="384048">
                <a:tc>
                  <a:txBody>
                    <a:bodyPr wrap="square"/>
                    <a:lstStyle/>
                    <a:p>
                      <a:pPr algn="l"/>
                      <a:r>
                        <a:rPr sz="1150" b="1" i="0">
                          <a:solidFill>
                            <a:srgbClr val="2B2B2B"/>
                          </a:solidFill>
                          <a:latin typeface="Arial"/>
                        </a:rPr>
                        <a:t>100</a:t>
                      </a:r>
                    </a:p>
                  </a:txBody>
                  <a:tcPr marL="64008" marR="64008" marT="27432" marB="27432" anchor="ctr">
                    <a:solidFill>
                      <a:srgbClr val="E3F3F1"/>
                    </a:solidFill>
                  </a:tcPr>
                </a:tc>
                <a:tc>
                  <a:txBody>
                    <a:bodyPr wrap="square"/>
                    <a:lstStyle/>
                    <a:p>
                      <a:pPr algn="ctr"/>
                      <a:r>
                        <a:rPr sz="1150" b="0" i="0">
                          <a:solidFill>
                            <a:srgbClr val="2B2B2B"/>
                          </a:solidFill>
                          <a:latin typeface="Arial"/>
                        </a:rPr>
                        <a:t>166</a:t>
                      </a:r>
                    </a:p>
                  </a:txBody>
                  <a:tcPr marL="64008" marR="64008" marT="27432" marB="27432" anchor="ctr">
                    <a:solidFill>
                      <a:srgbClr val="E3F3F1"/>
                    </a:solidFill>
                  </a:tcPr>
                </a:tc>
                <a:tc>
                  <a:txBody>
                    <a:bodyPr wrap="square"/>
                    <a:lstStyle/>
                    <a:p>
                      <a:pPr algn="ctr"/>
                      <a:r>
                        <a:rPr sz="1150" b="0" i="0">
                          <a:solidFill>
                            <a:srgbClr val="2B2B2B"/>
                          </a:solidFill>
                          <a:latin typeface="Arial"/>
                        </a:rPr>
                        <a:t>0,888</a:t>
                      </a:r>
                    </a:p>
                  </a:txBody>
                  <a:tcPr marL="64008" marR="64008" marT="27432" marB="27432" anchor="ctr">
                    <a:solidFill>
                      <a:srgbClr val="E3F3F1"/>
                    </a:solidFill>
                  </a:tcPr>
                </a:tc>
                <a:tc>
                  <a:txBody>
                    <a:bodyPr wrap="square"/>
                    <a:lstStyle/>
                    <a:p>
                      <a:pPr algn="ctr"/>
                      <a:r>
                        <a:rPr sz="1150" b="1" i="0">
                          <a:solidFill>
                            <a:srgbClr val="2A9D8F"/>
                          </a:solidFill>
                          <a:latin typeface="Arial"/>
                        </a:rPr>
                        <a:t>0,847</a:t>
                      </a:r>
                    </a:p>
                  </a:txBody>
                  <a:tcPr marL="64008" marR="64008" marT="27432" marB="27432" anchor="ctr">
                    <a:solidFill>
                      <a:srgbClr val="E3F3F1"/>
                    </a:solidFill>
                  </a:tcPr>
                </a:tc>
              </a:tr>
              <a:tr h="384048">
                <a:tc>
                  <a:txBody>
                    <a:bodyPr wrap="square"/>
                    <a:lstStyle/>
                    <a:p>
                      <a:pPr algn="l"/>
                      <a:r>
                        <a:rPr sz="1150" b="1" i="0">
                          <a:solidFill>
                            <a:srgbClr val="2B2B2B"/>
                          </a:solidFill>
                          <a:latin typeface="Arial"/>
                        </a:rPr>
                        <a:t>500</a:t>
                      </a:r>
                    </a:p>
                  </a:txBody>
                  <a:tcPr marL="64008" marR="64008" marT="27432" marB="27432" anchor="ctr">
                    <a:solidFill>
                      <a:srgbClr val="F2F3F5"/>
                    </a:solidFill>
                  </a:tcPr>
                </a:tc>
                <a:tc>
                  <a:txBody>
                    <a:bodyPr wrap="square"/>
                    <a:lstStyle/>
                    <a:p>
                      <a:pPr algn="ctr"/>
                      <a:r>
                        <a:rPr sz="1150" b="0" i="0">
                          <a:solidFill>
                            <a:srgbClr val="2B2B2B"/>
                          </a:solidFill>
                          <a:latin typeface="Arial"/>
                        </a:rPr>
                        <a:t>24</a:t>
                      </a:r>
                    </a:p>
                  </a:txBody>
                  <a:tcPr marL="64008" marR="64008" marT="27432" marB="27432" anchor="ctr">
                    <a:solidFill>
                      <a:srgbClr val="F2F3F5"/>
                    </a:solidFill>
                  </a:tcPr>
                </a:tc>
                <a:tc>
                  <a:txBody>
                    <a:bodyPr wrap="square"/>
                    <a:lstStyle/>
                    <a:p>
                      <a:pPr algn="ctr"/>
                      <a:r>
                        <a:rPr sz="1150" b="0" i="0">
                          <a:solidFill>
                            <a:srgbClr val="2B2B2B"/>
                          </a:solidFill>
                          <a:latin typeface="Arial"/>
                        </a:rPr>
                        <a:t>0,853</a:t>
                      </a:r>
                    </a:p>
                  </a:txBody>
                  <a:tcPr marL="64008" marR="64008" marT="27432" marB="27432" anchor="ctr">
                    <a:solidFill>
                      <a:srgbClr val="F2F3F5"/>
                    </a:solidFill>
                  </a:tcPr>
                </a:tc>
                <a:tc>
                  <a:txBody>
                    <a:bodyPr wrap="square"/>
                    <a:lstStyle/>
                    <a:p>
                      <a:pPr algn="ctr"/>
                      <a:r>
                        <a:rPr sz="1150" b="0" i="0">
                          <a:solidFill>
                            <a:srgbClr val="2B2B2B"/>
                          </a:solidFill>
                          <a:latin typeface="Arial"/>
                        </a:rPr>
                        <a:t>0,828</a:t>
                      </a:r>
                    </a:p>
                  </a:txBody>
                  <a:tcPr marL="64008" marR="64008" marT="27432" marB="27432" anchor="ctr">
                    <a:solidFill>
                      <a:srgbClr val="F2F3F5"/>
                    </a:solidFill>
                  </a:tcPr>
                </a:tc>
              </a:tr>
              <a:tr h="384048">
                <a:tc>
                  <a:txBody>
                    <a:bodyPr wrap="square"/>
                    <a:lstStyle/>
                    <a:p>
                      <a:pPr algn="l"/>
                      <a:r>
                        <a:rPr sz="1150" b="1" i="0">
                          <a:solidFill>
                            <a:srgbClr val="2B2B2B"/>
                          </a:solidFill>
                          <a:latin typeface="Arial"/>
                        </a:rPr>
                        <a:t>2 000</a:t>
                      </a:r>
                    </a:p>
                  </a:txBody>
                  <a:tcPr marL="64008" marR="64008" marT="27432" marB="27432" anchor="ctr">
                    <a:solidFill>
                      <a:srgbClr val="FFFFFF"/>
                    </a:solidFill>
                  </a:tcPr>
                </a:tc>
                <a:tc>
                  <a:txBody>
                    <a:bodyPr wrap="square"/>
                    <a:lstStyle/>
                    <a:p>
                      <a:pPr algn="ctr"/>
                      <a:r>
                        <a:rPr sz="1150" b="0" i="0">
                          <a:solidFill>
                            <a:srgbClr val="2B2B2B"/>
                          </a:solidFill>
                          <a:latin typeface="Arial"/>
                        </a:rPr>
                        <a:t>6</a:t>
                      </a:r>
                    </a:p>
                  </a:txBody>
                  <a:tcPr marL="64008" marR="64008" marT="27432" marB="27432" anchor="ctr">
                    <a:solidFill>
                      <a:srgbClr val="FFFFFF"/>
                    </a:solidFill>
                  </a:tcPr>
                </a:tc>
                <a:tc>
                  <a:txBody>
                    <a:bodyPr wrap="square"/>
                    <a:lstStyle/>
                    <a:p>
                      <a:pPr algn="ctr"/>
                      <a:r>
                        <a:rPr sz="1150" b="0" i="0">
                          <a:solidFill>
                            <a:srgbClr val="2B2B2B"/>
                          </a:solidFill>
                          <a:latin typeface="Arial"/>
                        </a:rPr>
                        <a:t>0,811</a:t>
                      </a:r>
                    </a:p>
                  </a:txBody>
                  <a:tcPr marL="64008" marR="64008" marT="27432" marB="27432" anchor="ctr">
                    <a:solidFill>
                      <a:srgbClr val="FFFFFF"/>
                    </a:solidFill>
                  </a:tcPr>
                </a:tc>
                <a:tc>
                  <a:txBody>
                    <a:bodyPr wrap="square"/>
                    <a:lstStyle/>
                    <a:p>
                      <a:pPr algn="ctr"/>
                      <a:r>
                        <a:rPr sz="1150" b="0" i="0">
                          <a:solidFill>
                            <a:srgbClr val="2B2B2B"/>
                          </a:solidFill>
                          <a:latin typeface="Arial"/>
                        </a:rPr>
                        <a:t>0,791</a:t>
                      </a:r>
                    </a:p>
                  </a:txBody>
                  <a:tcPr marL="64008" marR="64008" marT="27432" marB="27432" anchor="ctr">
                    <a:solidFill>
                      <a:srgbClr val="FFFFFF"/>
                    </a:solidFill>
                  </a:tcPr>
                </a:tc>
              </a:tr>
            </a:tbl>
          </a:graphicData>
        </a:graphic>
      </p:graphicFrame>
      <p:sp>
        <p:nvSpPr>
          <p:cNvPr id="5" name="Rounded Rectangle 4"/>
          <p:cNvSpPr/>
          <p:nvPr/>
        </p:nvSpPr>
        <p:spPr>
          <a:xfrm>
            <a:off x="731520" y="5029200"/>
            <a:ext cx="7772400" cy="7772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Los tres hiperparámetros </a:t>
            </a:r>
            <a:r>
              <a:rPr sz="1200" b="0" i="0">
                <a:solidFill>
                  <a:srgbClr val="2B2B2B"/>
                </a:solidFill>
                <a:latin typeface="Arial"/>
              </a:rPr>
              <a:t>tienen el mismo patrón: muy poco control memoriza, demasiado control simplifica. Se elige el punto intermedio en Validation.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El mismo árbol con distintos hiperparámetros</a:t>
            </a:r>
          </a:p>
        </p:txBody>
      </p:sp>
      <p:pic>
        <p:nvPicPr>
          <p:cNvPr id="3" name="Picture 2" descr="arbol_B.png"/>
          <p:cNvPicPr>
            <a:picLocks noChangeAspect="1"/>
          </p:cNvPicPr>
          <p:nvPr/>
        </p:nvPicPr>
        <p:blipFill>
          <a:blip r:embed="rId3"/>
          <a:stretch>
            <a:fillRect/>
          </a:stretch>
        </p:blipFill>
        <p:spPr>
          <a:xfrm>
            <a:off x="770472" y="1874519"/>
            <a:ext cx="4402655" cy="2331720"/>
          </a:xfrm>
          <a:prstGeom prst="rect">
            <a:avLst/>
          </a:prstGeom>
        </p:spPr>
      </p:pic>
      <p:pic>
        <p:nvPicPr>
          <p:cNvPr id="4" name="Picture 3" descr="arbol_C.png"/>
          <p:cNvPicPr>
            <a:picLocks noChangeAspect="1"/>
          </p:cNvPicPr>
          <p:nvPr/>
        </p:nvPicPr>
        <p:blipFill>
          <a:blip r:embed="rId4"/>
          <a:stretch>
            <a:fillRect/>
          </a:stretch>
        </p:blipFill>
        <p:spPr>
          <a:xfrm>
            <a:off x="5349240" y="2190719"/>
            <a:ext cx="3154680" cy="1699320"/>
          </a:xfrm>
          <a:prstGeom prst="rect">
            <a:avLst/>
          </a:prstGeom>
        </p:spPr>
      </p:pic>
      <p:graphicFrame>
        <p:nvGraphicFramePr>
          <p:cNvPr id="5" name="Table 4"/>
          <p:cNvGraphicFramePr>
            <a:graphicFrameLocks noGrp="1"/>
          </p:cNvGraphicFramePr>
          <p:nvPr/>
        </p:nvGraphicFramePr>
        <p:xfrm>
          <a:off x="731520" y="4343400"/>
          <a:ext cx="7772400" cy="1463040"/>
        </p:xfrm>
        <a:graphic>
          <a:graphicData uri="http://schemas.openxmlformats.org/drawingml/2006/table">
            <a:tbl>
              <a:tblPr firstRow="1" bandRow="1">
                <a:tableStyleId>{5C22544A-7EE6-4342-B048-85BDC9FD1C3A}</a:tableStyleId>
              </a:tblPr>
              <a:tblGrid>
                <a:gridCol w="731520"/>
                <a:gridCol w="2743200"/>
                <a:gridCol w="822960"/>
                <a:gridCol w="1737360"/>
                <a:gridCol w="1737360"/>
              </a:tblGrid>
              <a:tr h="365760">
                <a:tc>
                  <a:txBody>
                    <a:bodyPr wrap="square"/>
                    <a:lstStyle/>
                    <a:p>
                      <a:pPr algn="l"/>
                      <a:r>
                        <a:rPr sz="1150" b="1" i="0">
                          <a:solidFill>
                            <a:srgbClr val="FFFFFF"/>
                          </a:solidFill>
                          <a:latin typeface="Arial"/>
                        </a:rPr>
                        <a:t>Árbol</a:t>
                      </a:r>
                    </a:p>
                  </a:txBody>
                  <a:tcPr marL="64008" marR="64008" marT="27432" marB="27432" anchor="ctr">
                    <a:solidFill>
                      <a:srgbClr val="242852"/>
                    </a:solidFill>
                  </a:tcPr>
                </a:tc>
                <a:tc>
                  <a:txBody>
                    <a:bodyPr wrap="square"/>
                    <a:lstStyle/>
                    <a:p>
                      <a:pPr algn="ctr"/>
                      <a:r>
                        <a:rPr sz="1150" b="1" i="0">
                          <a:solidFill>
                            <a:srgbClr val="FFFFFF"/>
                          </a:solidFill>
                          <a:latin typeface="Arial"/>
                        </a:rPr>
                        <a:t>Hiperparámetros</a:t>
                      </a:r>
                    </a:p>
                  </a:txBody>
                  <a:tcPr marL="64008" marR="64008" marT="27432" marB="27432" anchor="ctr">
                    <a:solidFill>
                      <a:srgbClr val="242852"/>
                    </a:solidFill>
                  </a:tcPr>
                </a:tc>
                <a:tc>
                  <a:txBody>
                    <a:bodyPr wrap="square"/>
                    <a:lstStyle/>
                    <a:p>
                      <a:pPr algn="ctr"/>
                      <a:r>
                        <a:rPr sz="1150" b="1" i="0">
                          <a:solidFill>
                            <a:srgbClr val="FFFFFF"/>
                          </a:solidFill>
                          <a:latin typeface="Arial"/>
                        </a:rPr>
                        <a:t>Hojas</a:t>
                      </a:r>
                    </a:p>
                  </a:txBody>
                  <a:tcPr marL="64008" marR="64008" marT="27432" marB="27432" anchor="ctr">
                    <a:solidFill>
                      <a:srgbClr val="242852"/>
                    </a:solidFill>
                  </a:tcPr>
                </a:tc>
                <a:tc>
                  <a:txBody>
                    <a:bodyPr wrap="square"/>
                    <a:lstStyle/>
                    <a:p>
                      <a:pPr algn="ctr"/>
                      <a:r>
                        <a:rPr sz="1150" b="1" i="0">
                          <a:solidFill>
                            <a:srgbClr val="FFFFFF"/>
                          </a:solidFill>
                          <a:latin typeface="Arial"/>
                        </a:rPr>
                        <a:t>Hoja más pequeña</a:t>
                      </a:r>
                    </a:p>
                  </a:txBody>
                  <a:tcPr marL="64008" marR="64008" marT="27432" marB="27432" anchor="ctr">
                    <a:solidFill>
                      <a:srgbClr val="242852"/>
                    </a:solidFill>
                  </a:tcPr>
                </a:tc>
                <a:tc>
                  <a:txBody>
                    <a:bodyPr wrap="square"/>
                    <a:lstStyle/>
                    <a:p>
                      <a:pPr algn="ctr"/>
                      <a:r>
                        <a:rPr sz="1150" b="1" i="0">
                          <a:solidFill>
                            <a:srgbClr val="FFFFFF"/>
                          </a:solidFill>
                          <a:latin typeface="Arial"/>
                        </a:rPr>
                        <a:t>R² Validation</a:t>
                      </a:r>
                    </a:p>
                  </a:txBody>
                  <a:tcPr marL="64008" marR="64008" marT="27432" marB="27432" anchor="ctr">
                    <a:solidFill>
                      <a:srgbClr val="242852"/>
                    </a:solidFill>
                  </a:tcPr>
                </a:tc>
              </a:tr>
              <a:tr h="365760">
                <a:tc>
                  <a:txBody>
                    <a:bodyPr wrap="square"/>
                    <a:lstStyle/>
                    <a:p>
                      <a:pPr algn="l"/>
                      <a:r>
                        <a:rPr sz="1150" b="1" i="0">
                          <a:solidFill>
                            <a:srgbClr val="2B2B2B"/>
                          </a:solidFill>
                          <a:latin typeface="Arial"/>
                        </a:rPr>
                        <a:t>A</a:t>
                      </a:r>
                    </a:p>
                  </a:txBody>
                  <a:tcPr marL="64008" marR="64008" marT="27432" marB="27432" anchor="ctr">
                    <a:solidFill>
                      <a:srgbClr val="FFFFFF"/>
                    </a:solidFill>
                  </a:tcPr>
                </a:tc>
                <a:tc>
                  <a:txBody>
                    <a:bodyPr wrap="square"/>
                    <a:lstStyle/>
                    <a:p>
                      <a:pPr algn="ctr"/>
                      <a:r>
                        <a:rPr sz="1150" b="0" i="0">
                          <a:solidFill>
                            <a:srgbClr val="2B2B2B"/>
                          </a:solidFill>
                          <a:latin typeface="Arial"/>
                        </a:rPr>
                        <a:t>max_depth = 3</a:t>
                      </a:r>
                    </a:p>
                  </a:txBody>
                  <a:tcPr marL="64008" marR="64008" marT="27432" marB="27432" anchor="ctr">
                    <a:solidFill>
                      <a:srgbClr val="FFFFFF"/>
                    </a:solidFill>
                  </a:tcPr>
                </a:tc>
                <a:tc>
                  <a:txBody>
                    <a:bodyPr wrap="square"/>
                    <a:lstStyle/>
                    <a:p>
                      <a:pPr algn="ctr"/>
                      <a:r>
                        <a:rPr sz="1150" b="0" i="0">
                          <a:solidFill>
                            <a:srgbClr val="2B2B2B"/>
                          </a:solidFill>
                          <a:latin typeface="Arial"/>
                        </a:rPr>
                        <a:t>8</a:t>
                      </a:r>
                    </a:p>
                  </a:txBody>
                  <a:tcPr marL="64008" marR="64008" marT="27432" marB="27432" anchor="ctr">
                    <a:solidFill>
                      <a:srgbClr val="FFFFFF"/>
                    </a:solidFill>
                  </a:tcPr>
                </a:tc>
                <a:tc>
                  <a:txBody>
                    <a:bodyPr wrap="square"/>
                    <a:lstStyle/>
                    <a:p>
                      <a:pPr algn="ctr"/>
                      <a:r>
                        <a:rPr sz="1150" b="0" i="0">
                          <a:solidFill>
                            <a:srgbClr val="2B2B2B"/>
                          </a:solidFill>
                          <a:latin typeface="Arial"/>
                        </a:rPr>
                        <a:t>80 clientes</a:t>
                      </a:r>
                    </a:p>
                  </a:txBody>
                  <a:tcPr marL="64008" marR="64008" marT="27432" marB="27432" anchor="ctr">
                    <a:solidFill>
                      <a:srgbClr val="FFFFFF"/>
                    </a:solidFill>
                  </a:tcPr>
                </a:tc>
                <a:tc>
                  <a:txBody>
                    <a:bodyPr wrap="square"/>
                    <a:lstStyle/>
                    <a:p>
                      <a:pPr algn="ctr"/>
                      <a:r>
                        <a:rPr sz="1150" b="0" i="0">
                          <a:solidFill>
                            <a:srgbClr val="2B2B2B"/>
                          </a:solidFill>
                          <a:latin typeface="Arial"/>
                        </a:rPr>
                        <a:t>0,821</a:t>
                      </a:r>
                    </a:p>
                  </a:txBody>
                  <a:tcPr marL="64008" marR="64008" marT="27432" marB="27432" anchor="ctr">
                    <a:solidFill>
                      <a:srgbClr val="FFFFFF"/>
                    </a:solidFill>
                  </a:tcPr>
                </a:tc>
              </a:tr>
              <a:tr h="365760">
                <a:tc>
                  <a:txBody>
                    <a:bodyPr wrap="square"/>
                    <a:lstStyle/>
                    <a:p>
                      <a:pPr algn="l"/>
                      <a:r>
                        <a:rPr sz="1150" b="1" i="0">
                          <a:solidFill>
                            <a:srgbClr val="2B2B2B"/>
                          </a:solidFill>
                          <a:latin typeface="Arial"/>
                        </a:rPr>
                        <a:t>B</a:t>
                      </a:r>
                    </a:p>
                  </a:txBody>
                  <a:tcPr marL="64008" marR="64008" marT="27432" marB="27432" anchor="ctr">
                    <a:solidFill>
                      <a:srgbClr val="F2F3F5"/>
                    </a:solidFill>
                  </a:tcPr>
                </a:tc>
                <a:tc>
                  <a:txBody>
                    <a:bodyPr wrap="square"/>
                    <a:lstStyle/>
                    <a:p>
                      <a:pPr algn="ctr"/>
                      <a:r>
                        <a:rPr sz="1150" b="0" i="0">
                          <a:solidFill>
                            <a:srgbClr val="2B2B2B"/>
                          </a:solidFill>
                          <a:latin typeface="Arial"/>
                        </a:rPr>
                        <a:t>+ min_samples_leaf = 600</a:t>
                      </a:r>
                    </a:p>
                  </a:txBody>
                  <a:tcPr marL="64008" marR="64008" marT="27432" marB="27432" anchor="ctr">
                    <a:solidFill>
                      <a:srgbClr val="F2F3F5"/>
                    </a:solidFill>
                  </a:tcPr>
                </a:tc>
                <a:tc>
                  <a:txBody>
                    <a:bodyPr wrap="square"/>
                    <a:lstStyle/>
                    <a:p>
                      <a:pPr algn="ctr"/>
                      <a:r>
                        <a:rPr sz="1150" b="0" i="0">
                          <a:solidFill>
                            <a:srgbClr val="2B2B2B"/>
                          </a:solidFill>
                          <a:latin typeface="Arial"/>
                        </a:rPr>
                        <a:t>5</a:t>
                      </a:r>
                    </a:p>
                  </a:txBody>
                  <a:tcPr marL="64008" marR="64008" marT="27432" marB="27432" anchor="ctr">
                    <a:solidFill>
                      <a:srgbClr val="F2F3F5"/>
                    </a:solidFill>
                  </a:tcPr>
                </a:tc>
                <a:tc>
                  <a:txBody>
                    <a:bodyPr wrap="square"/>
                    <a:lstStyle/>
                    <a:p>
                      <a:pPr algn="ctr"/>
                      <a:r>
                        <a:rPr sz="1150" b="0" i="0">
                          <a:solidFill>
                            <a:srgbClr val="2B2B2B"/>
                          </a:solidFill>
                          <a:latin typeface="Arial"/>
                        </a:rPr>
                        <a:t>686 clientes</a:t>
                      </a:r>
                    </a:p>
                  </a:txBody>
                  <a:tcPr marL="64008" marR="64008" marT="27432" marB="27432" anchor="ctr">
                    <a:solidFill>
                      <a:srgbClr val="F2F3F5"/>
                    </a:solidFill>
                  </a:tcPr>
                </a:tc>
                <a:tc>
                  <a:txBody>
                    <a:bodyPr wrap="square"/>
                    <a:lstStyle/>
                    <a:p>
                      <a:pPr algn="ctr"/>
                      <a:r>
                        <a:rPr sz="1150" b="0" i="0">
                          <a:solidFill>
                            <a:srgbClr val="2B2B2B"/>
                          </a:solidFill>
                          <a:latin typeface="Arial"/>
                        </a:rPr>
                        <a:t>0,785</a:t>
                      </a:r>
                    </a:p>
                  </a:txBody>
                  <a:tcPr marL="64008" marR="64008" marT="27432" marB="27432" anchor="ctr">
                    <a:solidFill>
                      <a:srgbClr val="F2F3F5"/>
                    </a:solidFill>
                  </a:tcPr>
                </a:tc>
              </a:tr>
              <a:tr h="365760">
                <a:tc>
                  <a:txBody>
                    <a:bodyPr wrap="square"/>
                    <a:lstStyle/>
                    <a:p>
                      <a:pPr algn="l"/>
                      <a:r>
                        <a:rPr sz="1150" b="1" i="0">
                          <a:solidFill>
                            <a:srgbClr val="2B2B2B"/>
                          </a:solidFill>
                          <a:latin typeface="Arial"/>
                        </a:rPr>
                        <a:t>C</a:t>
                      </a:r>
                    </a:p>
                  </a:txBody>
                  <a:tcPr marL="64008" marR="64008" marT="27432" marB="27432" anchor="ctr">
                    <a:solidFill>
                      <a:srgbClr val="FFFFFF"/>
                    </a:solidFill>
                  </a:tcPr>
                </a:tc>
                <a:tc>
                  <a:txBody>
                    <a:bodyPr wrap="square"/>
                    <a:lstStyle/>
                    <a:p>
                      <a:pPr algn="ctr"/>
                      <a:r>
                        <a:rPr sz="1150" b="0" i="0">
                          <a:solidFill>
                            <a:srgbClr val="2B2B2B"/>
                          </a:solidFill>
                          <a:latin typeface="Arial"/>
                        </a:rPr>
                        <a:t>+ min_samples_split = 4 000</a:t>
                      </a:r>
                    </a:p>
                  </a:txBody>
                  <a:tcPr marL="64008" marR="64008" marT="27432" marB="27432" anchor="ctr">
                    <a:solidFill>
                      <a:srgbClr val="FFFFFF"/>
                    </a:solidFill>
                  </a:tcPr>
                </a:tc>
                <a:tc>
                  <a:txBody>
                    <a:bodyPr wrap="square"/>
                    <a:lstStyle/>
                    <a:p>
                      <a:pPr algn="ctr"/>
                      <a:r>
                        <a:rPr sz="1150" b="0" i="0">
                          <a:solidFill>
                            <a:srgbClr val="2B2B2B"/>
                          </a:solidFill>
                          <a:latin typeface="Arial"/>
                        </a:rPr>
                        <a:t>3</a:t>
                      </a:r>
                    </a:p>
                  </a:txBody>
                  <a:tcPr marL="64008" marR="64008" marT="27432" marB="27432" anchor="ctr">
                    <a:solidFill>
                      <a:srgbClr val="FFFFFF"/>
                    </a:solidFill>
                  </a:tcPr>
                </a:tc>
                <a:tc>
                  <a:txBody>
                    <a:bodyPr wrap="square"/>
                    <a:lstStyle/>
                    <a:p>
                      <a:pPr algn="ctr"/>
                      <a:r>
                        <a:rPr sz="1150" b="0" i="0">
                          <a:solidFill>
                            <a:srgbClr val="2B2B2B"/>
                          </a:solidFill>
                          <a:latin typeface="Arial"/>
                        </a:rPr>
                        <a:t>686 clientes</a:t>
                      </a:r>
                    </a:p>
                  </a:txBody>
                  <a:tcPr marL="64008" marR="64008" marT="27432" marB="27432" anchor="ctr">
                    <a:solidFill>
                      <a:srgbClr val="FFFFFF"/>
                    </a:solidFill>
                  </a:tcPr>
                </a:tc>
                <a:tc>
                  <a:txBody>
                    <a:bodyPr wrap="square"/>
                    <a:lstStyle/>
                    <a:p>
                      <a:pPr algn="ctr"/>
                      <a:r>
                        <a:rPr sz="1150" b="0" i="0">
                          <a:solidFill>
                            <a:srgbClr val="2B2B2B"/>
                          </a:solidFill>
                          <a:latin typeface="Arial"/>
                        </a:rPr>
                        <a:t>0,750</a:t>
                      </a:r>
                    </a:p>
                  </a:txBody>
                  <a:tcPr marL="64008" marR="64008" marT="27432" marB="27432" anchor="ctr">
                    <a:solidFill>
                      <a:srgbClr val="FFFFFF"/>
                    </a:solidFill>
                  </a:tcPr>
                </a:tc>
              </a:tr>
            </a:tbl>
          </a:graphicData>
        </a:graphic>
      </p:graphicFrame>
      <p:sp>
        <p:nvSpPr>
          <p:cNvPr id="6" name="Rounded Rectangle 5"/>
          <p:cNvSpPr/>
          <p:nvPr/>
        </p:nvSpPr>
        <p:spPr>
          <a:xfrm>
            <a:off x="731520" y="5897880"/>
            <a:ext cx="7772400" cy="45720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Aquí </a:t>
            </a:r>
            <a:r>
              <a:rPr sz="1200" b="0" i="0">
                <a:solidFill>
                  <a:srgbClr val="2B2B2B"/>
                </a:solidFill>
                <a:latin typeface="Arial"/>
              </a:rPr>
              <a:t>B y C son demasiado estrictos: pierden R². En el notebook (9.6) pueden probar sus propios valores y ver el dibujo.</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Subajuste y sobreajuste: tres árboles</a:t>
            </a:r>
          </a:p>
        </p:txBody>
      </p:sp>
      <p:graphicFrame>
        <p:nvGraphicFramePr>
          <p:cNvPr id="3" name="Table 2"/>
          <p:cNvGraphicFramePr>
            <a:graphicFrameLocks noGrp="1"/>
          </p:cNvGraphicFramePr>
          <p:nvPr/>
        </p:nvGraphicFramePr>
        <p:xfrm>
          <a:off x="731520" y="2011680"/>
          <a:ext cx="7772400" cy="1828800"/>
        </p:xfrm>
        <a:graphic>
          <a:graphicData uri="http://schemas.openxmlformats.org/drawingml/2006/table">
            <a:tbl>
              <a:tblPr firstRow="1" bandRow="1">
                <a:tableStyleId>{5C22544A-7EE6-4342-B048-85BDC9FD1C3A}</a:tableStyleId>
              </a:tblPr>
              <a:tblGrid>
                <a:gridCol w="1463040"/>
                <a:gridCol w="914400"/>
                <a:gridCol w="1097280"/>
                <a:gridCol w="1097280"/>
                <a:gridCol w="1051560"/>
                <a:gridCol w="1051560"/>
                <a:gridCol w="1097280"/>
              </a:tblGrid>
              <a:tr h="457200">
                <a:tc>
                  <a:txBody>
                    <a:bodyPr wrap="square"/>
                    <a:lstStyle/>
                    <a:p>
                      <a:pPr algn="l"/>
                      <a:r>
                        <a:rPr sz="1250" b="1" i="0">
                          <a:solidFill>
                            <a:srgbClr val="FFFFFF"/>
                          </a:solidFill>
                          <a:latin typeface="Arial"/>
                        </a:rPr>
                        <a:t>Árbol</a:t>
                      </a:r>
                    </a:p>
                  </a:txBody>
                  <a:tcPr marL="64008" marR="64008" marT="27432" marB="27432" anchor="ctr">
                    <a:solidFill>
                      <a:srgbClr val="242852"/>
                    </a:solidFill>
                  </a:tcPr>
                </a:tc>
                <a:tc>
                  <a:txBody>
                    <a:bodyPr wrap="square"/>
                    <a:lstStyle/>
                    <a:p>
                      <a:pPr algn="ctr"/>
                      <a:r>
                        <a:rPr sz="1250" b="1" i="0">
                          <a:solidFill>
                            <a:srgbClr val="FFFFFF"/>
                          </a:solidFill>
                          <a:latin typeface="Arial"/>
                        </a:rPr>
                        <a:t>Hojas</a:t>
                      </a:r>
                    </a:p>
                  </a:txBody>
                  <a:tcPr marL="64008" marR="64008" marT="27432" marB="27432" anchor="ctr">
                    <a:solidFill>
                      <a:srgbClr val="242852"/>
                    </a:solidFill>
                  </a:tcPr>
                </a:tc>
                <a:tc>
                  <a:txBody>
                    <a:bodyPr wrap="square"/>
                    <a:lstStyle/>
                    <a:p>
                      <a:pPr algn="ctr"/>
                      <a:r>
                        <a:rPr sz="1250" b="1" i="0">
                          <a:solidFill>
                            <a:srgbClr val="FFFFFF"/>
                          </a:solidFill>
                          <a:latin typeface="Arial"/>
                        </a:rPr>
                        <a:t>MAE Train</a:t>
                      </a:r>
                    </a:p>
                  </a:txBody>
                  <a:tcPr marL="64008" marR="64008" marT="27432" marB="27432" anchor="ctr">
                    <a:solidFill>
                      <a:srgbClr val="242852"/>
                    </a:solidFill>
                  </a:tcPr>
                </a:tc>
                <a:tc>
                  <a:txBody>
                    <a:bodyPr wrap="square"/>
                    <a:lstStyle/>
                    <a:p>
                      <a:pPr algn="ctr"/>
                      <a:r>
                        <a:rPr sz="1250" b="1" i="0">
                          <a:solidFill>
                            <a:srgbClr val="FFFFFF"/>
                          </a:solidFill>
                          <a:latin typeface="Arial"/>
                        </a:rPr>
                        <a:t>MAE Val</a:t>
                      </a:r>
                    </a:p>
                  </a:txBody>
                  <a:tcPr marL="64008" marR="64008" marT="27432" marB="27432" anchor="ctr">
                    <a:solidFill>
                      <a:srgbClr val="242852"/>
                    </a:solidFill>
                  </a:tcPr>
                </a:tc>
                <a:tc>
                  <a:txBody>
                    <a:bodyPr wrap="square"/>
                    <a:lstStyle/>
                    <a:p>
                      <a:pPr algn="ctr"/>
                      <a:r>
                        <a:rPr sz="1250" b="1" i="0">
                          <a:solidFill>
                            <a:srgbClr val="FFFFFF"/>
                          </a:solidFill>
                          <a:latin typeface="Arial"/>
                        </a:rPr>
                        <a:t>R² Train</a:t>
                      </a:r>
                    </a:p>
                  </a:txBody>
                  <a:tcPr marL="64008" marR="64008" marT="27432" marB="27432" anchor="ctr">
                    <a:solidFill>
                      <a:srgbClr val="242852"/>
                    </a:solidFill>
                  </a:tcPr>
                </a:tc>
                <a:tc>
                  <a:txBody>
                    <a:bodyPr wrap="square"/>
                    <a:lstStyle/>
                    <a:p>
                      <a:pPr algn="ctr"/>
                      <a:r>
                        <a:rPr sz="1250" b="1" i="0">
                          <a:solidFill>
                            <a:srgbClr val="FFFFFF"/>
                          </a:solidFill>
                          <a:latin typeface="Arial"/>
                        </a:rPr>
                        <a:t>R² Val</a:t>
                      </a:r>
                    </a:p>
                  </a:txBody>
                  <a:tcPr marL="64008" marR="64008" marT="27432" marB="27432" anchor="ctr">
                    <a:solidFill>
                      <a:srgbClr val="242852"/>
                    </a:solidFill>
                  </a:tcPr>
                </a:tc>
                <a:tc>
                  <a:txBody>
                    <a:bodyPr wrap="square"/>
                    <a:lstStyle/>
                    <a:p>
                      <a:pPr algn="ctr"/>
                      <a:r>
                        <a:rPr sz="1250" b="1" i="0">
                          <a:solidFill>
                            <a:srgbClr val="FFFFFF"/>
                          </a:solidFill>
                          <a:latin typeface="Arial"/>
                        </a:rPr>
                        <a:t>Brecha R²</a:t>
                      </a:r>
                    </a:p>
                  </a:txBody>
                  <a:tcPr marL="64008" marR="64008" marT="27432" marB="27432" anchor="ctr">
                    <a:solidFill>
                      <a:srgbClr val="242852"/>
                    </a:solidFill>
                  </a:tcPr>
                </a:tc>
              </a:tr>
              <a:tr h="457200">
                <a:tc>
                  <a:txBody>
                    <a:bodyPr wrap="square"/>
                    <a:lstStyle/>
                    <a:p>
                      <a:pPr algn="l"/>
                      <a:r>
                        <a:rPr sz="1250" b="1" i="0">
                          <a:solidFill>
                            <a:srgbClr val="2B2B2B"/>
                          </a:solidFill>
                          <a:latin typeface="Arial"/>
                        </a:rPr>
                        <a:t>Prof. 1</a:t>
                      </a:r>
                    </a:p>
                  </a:txBody>
                  <a:tcPr marL="64008" marR="64008" marT="27432" marB="27432" anchor="ctr">
                    <a:solidFill>
                      <a:srgbClr val="FFFFFF"/>
                    </a:solidFill>
                  </a:tcPr>
                </a:tc>
                <a:tc>
                  <a:txBody>
                    <a:bodyPr wrap="square"/>
                    <a:lstStyle/>
                    <a:p>
                      <a:pPr algn="ctr"/>
                      <a:r>
                        <a:rPr sz="1250" b="0" i="0">
                          <a:solidFill>
                            <a:srgbClr val="2B2B2B"/>
                          </a:solidFill>
                          <a:latin typeface="Arial"/>
                        </a:rPr>
                        <a:t>2</a:t>
                      </a:r>
                    </a:p>
                  </a:txBody>
                  <a:tcPr marL="64008" marR="64008" marT="27432" marB="27432" anchor="ctr">
                    <a:solidFill>
                      <a:srgbClr val="FFFFFF"/>
                    </a:solidFill>
                  </a:tcPr>
                </a:tc>
                <a:tc>
                  <a:txBody>
                    <a:bodyPr wrap="square"/>
                    <a:lstStyle/>
                    <a:p>
                      <a:pPr algn="ctr"/>
                      <a:r>
                        <a:rPr sz="1250" b="0" i="0">
                          <a:solidFill>
                            <a:srgbClr val="2B2B2B"/>
                          </a:solidFill>
                          <a:latin typeface="Arial"/>
                        </a:rPr>
                        <a:t>1 515</a:t>
                      </a:r>
                    </a:p>
                  </a:txBody>
                  <a:tcPr marL="64008" marR="64008" marT="27432" marB="27432" anchor="ctr">
                    <a:solidFill>
                      <a:srgbClr val="FFFFFF"/>
                    </a:solidFill>
                  </a:tcPr>
                </a:tc>
                <a:tc>
                  <a:txBody>
                    <a:bodyPr wrap="square"/>
                    <a:lstStyle/>
                    <a:p>
                      <a:pPr algn="ctr"/>
                      <a:r>
                        <a:rPr sz="1250" b="0" i="0">
                          <a:solidFill>
                            <a:srgbClr val="2B2B2B"/>
                          </a:solidFill>
                          <a:latin typeface="Arial"/>
                        </a:rPr>
                        <a:t>1 554</a:t>
                      </a:r>
                    </a:p>
                  </a:txBody>
                  <a:tcPr marL="64008" marR="64008" marT="27432" marB="27432" anchor="ctr">
                    <a:solidFill>
                      <a:srgbClr val="FFFFFF"/>
                    </a:solidFill>
                  </a:tcPr>
                </a:tc>
                <a:tc>
                  <a:txBody>
                    <a:bodyPr wrap="square"/>
                    <a:lstStyle/>
                    <a:p>
                      <a:pPr algn="ctr"/>
                      <a:r>
                        <a:rPr sz="1250" b="0" i="0">
                          <a:solidFill>
                            <a:srgbClr val="2B2B2B"/>
                          </a:solidFill>
                          <a:latin typeface="Arial"/>
                        </a:rPr>
                        <a:t>0,658</a:t>
                      </a:r>
                    </a:p>
                  </a:txBody>
                  <a:tcPr marL="64008" marR="64008" marT="27432" marB="27432" anchor="ctr">
                    <a:solidFill>
                      <a:srgbClr val="FFFFFF"/>
                    </a:solidFill>
                  </a:tcPr>
                </a:tc>
                <a:tc>
                  <a:txBody>
                    <a:bodyPr wrap="square"/>
                    <a:lstStyle/>
                    <a:p>
                      <a:pPr algn="ctr"/>
                      <a:r>
                        <a:rPr sz="1250" b="0" i="0">
                          <a:solidFill>
                            <a:srgbClr val="2B2B2B"/>
                          </a:solidFill>
                          <a:latin typeface="Arial"/>
                        </a:rPr>
                        <a:t>0,608</a:t>
                      </a:r>
                    </a:p>
                  </a:txBody>
                  <a:tcPr marL="64008" marR="64008" marT="27432" marB="27432" anchor="ctr">
                    <a:solidFill>
                      <a:srgbClr val="FFFFFF"/>
                    </a:solidFill>
                  </a:tcPr>
                </a:tc>
                <a:tc>
                  <a:txBody>
                    <a:bodyPr wrap="square"/>
                    <a:lstStyle/>
                    <a:p>
                      <a:pPr algn="ctr"/>
                      <a:r>
                        <a:rPr sz="1250" b="0" i="0">
                          <a:solidFill>
                            <a:srgbClr val="2B2B2B"/>
                          </a:solidFill>
                          <a:latin typeface="Arial"/>
                        </a:rPr>
                        <a:t>0,05</a:t>
                      </a:r>
                    </a:p>
                  </a:txBody>
                  <a:tcPr marL="64008" marR="64008" marT="27432" marB="27432" anchor="ctr">
                    <a:solidFill>
                      <a:srgbClr val="FFFFFF"/>
                    </a:solidFill>
                  </a:tcPr>
                </a:tc>
              </a:tr>
              <a:tr h="457200">
                <a:tc>
                  <a:txBody>
                    <a:bodyPr wrap="square"/>
                    <a:lstStyle/>
                    <a:p>
                      <a:pPr algn="l"/>
                      <a:r>
                        <a:rPr sz="1250" b="1" i="0">
                          <a:solidFill>
                            <a:srgbClr val="2B2B2B"/>
                          </a:solidFill>
                          <a:latin typeface="Arial"/>
                        </a:rPr>
                        <a:t>Prof. 4</a:t>
                      </a:r>
                    </a:p>
                  </a:txBody>
                  <a:tcPr marL="64008" marR="64008" marT="27432" marB="27432" anchor="ctr">
                    <a:solidFill>
                      <a:srgbClr val="E3F3F1"/>
                    </a:solidFill>
                  </a:tcPr>
                </a:tc>
                <a:tc>
                  <a:txBody>
                    <a:bodyPr wrap="square"/>
                    <a:lstStyle/>
                    <a:p>
                      <a:pPr algn="ctr"/>
                      <a:r>
                        <a:rPr sz="1250" b="0" i="0">
                          <a:solidFill>
                            <a:srgbClr val="2B2B2B"/>
                          </a:solidFill>
                          <a:latin typeface="Arial"/>
                        </a:rPr>
                        <a:t>16</a:t>
                      </a:r>
                    </a:p>
                  </a:txBody>
                  <a:tcPr marL="64008" marR="64008" marT="27432" marB="27432" anchor="ctr">
                    <a:solidFill>
                      <a:srgbClr val="E3F3F1"/>
                    </a:solidFill>
                  </a:tcPr>
                </a:tc>
                <a:tc>
                  <a:txBody>
                    <a:bodyPr wrap="square"/>
                    <a:lstStyle/>
                    <a:p>
                      <a:pPr algn="ctr"/>
                      <a:r>
                        <a:rPr sz="1250" b="0" i="0">
                          <a:solidFill>
                            <a:srgbClr val="2B2B2B"/>
                          </a:solidFill>
                          <a:latin typeface="Arial"/>
                        </a:rPr>
                        <a:t>739</a:t>
                      </a:r>
                    </a:p>
                  </a:txBody>
                  <a:tcPr marL="64008" marR="64008" marT="27432" marB="27432" anchor="ctr">
                    <a:solidFill>
                      <a:srgbClr val="E3F3F1"/>
                    </a:solidFill>
                  </a:tcPr>
                </a:tc>
                <a:tc>
                  <a:txBody>
                    <a:bodyPr wrap="square"/>
                    <a:lstStyle/>
                    <a:p>
                      <a:pPr algn="ctr"/>
                      <a:r>
                        <a:rPr sz="1250" b="0" i="0">
                          <a:solidFill>
                            <a:srgbClr val="2B2B2B"/>
                          </a:solidFill>
                          <a:latin typeface="Arial"/>
                        </a:rPr>
                        <a:t>772</a:t>
                      </a:r>
                    </a:p>
                  </a:txBody>
                  <a:tcPr marL="64008" marR="64008" marT="27432" marB="27432" anchor="ctr">
                    <a:solidFill>
                      <a:srgbClr val="E3F3F1"/>
                    </a:solidFill>
                  </a:tcPr>
                </a:tc>
                <a:tc>
                  <a:txBody>
                    <a:bodyPr wrap="square"/>
                    <a:lstStyle/>
                    <a:p>
                      <a:pPr algn="ctr"/>
                      <a:r>
                        <a:rPr sz="1250" b="0" i="0">
                          <a:solidFill>
                            <a:srgbClr val="2B2B2B"/>
                          </a:solidFill>
                          <a:latin typeface="Arial"/>
                        </a:rPr>
                        <a:t>0,868</a:t>
                      </a:r>
                    </a:p>
                  </a:txBody>
                  <a:tcPr marL="64008" marR="64008" marT="27432" marB="27432" anchor="ctr">
                    <a:solidFill>
                      <a:srgbClr val="E3F3F1"/>
                    </a:solidFill>
                  </a:tcPr>
                </a:tc>
                <a:tc>
                  <a:txBody>
                    <a:bodyPr wrap="square"/>
                    <a:lstStyle/>
                    <a:p>
                      <a:pPr algn="ctr"/>
                      <a:r>
                        <a:rPr sz="1250" b="0" i="0">
                          <a:solidFill>
                            <a:srgbClr val="2B2B2B"/>
                          </a:solidFill>
                          <a:latin typeface="Arial"/>
                        </a:rPr>
                        <a:t>0,838</a:t>
                      </a:r>
                    </a:p>
                  </a:txBody>
                  <a:tcPr marL="64008" marR="64008" marT="27432" marB="27432" anchor="ctr">
                    <a:solidFill>
                      <a:srgbClr val="E3F3F1"/>
                    </a:solidFill>
                  </a:tcPr>
                </a:tc>
                <a:tc>
                  <a:txBody>
                    <a:bodyPr wrap="square"/>
                    <a:lstStyle/>
                    <a:p>
                      <a:pPr algn="ctr"/>
                      <a:r>
                        <a:rPr sz="1250" b="0" i="0">
                          <a:solidFill>
                            <a:srgbClr val="2B2B2B"/>
                          </a:solidFill>
                          <a:latin typeface="Arial"/>
                        </a:rPr>
                        <a:t>0,03</a:t>
                      </a:r>
                    </a:p>
                  </a:txBody>
                  <a:tcPr marL="64008" marR="64008" marT="27432" marB="27432" anchor="ctr">
                    <a:solidFill>
                      <a:srgbClr val="E3F3F1"/>
                    </a:solidFill>
                  </a:tcPr>
                </a:tc>
              </a:tr>
              <a:tr h="457200">
                <a:tc>
                  <a:txBody>
                    <a:bodyPr wrap="square"/>
                    <a:lstStyle/>
                    <a:p>
                      <a:pPr algn="l"/>
                      <a:r>
                        <a:rPr sz="1250" b="1" i="0">
                          <a:solidFill>
                            <a:srgbClr val="2B2B2B"/>
                          </a:solidFill>
                          <a:latin typeface="Arial"/>
                        </a:rPr>
                        <a:t>Sin límite</a:t>
                      </a:r>
                    </a:p>
                  </a:txBody>
                  <a:tcPr marL="64008" marR="64008" marT="27432" marB="27432" anchor="ctr">
                    <a:solidFill>
                      <a:srgbClr val="FFFFFF"/>
                    </a:solidFill>
                  </a:tcPr>
                </a:tc>
                <a:tc>
                  <a:txBody>
                    <a:bodyPr wrap="square"/>
                    <a:lstStyle/>
                    <a:p>
                      <a:pPr algn="ctr"/>
                      <a:r>
                        <a:rPr sz="1250" b="0" i="0">
                          <a:solidFill>
                            <a:srgbClr val="2B2B2B"/>
                          </a:solidFill>
                          <a:latin typeface="Arial"/>
                        </a:rPr>
                        <a:t>7 080</a:t>
                      </a:r>
                    </a:p>
                  </a:txBody>
                  <a:tcPr marL="64008" marR="64008" marT="27432" marB="27432" anchor="ctr">
                    <a:solidFill>
                      <a:srgbClr val="FFFFFF"/>
                    </a:solidFill>
                  </a:tcPr>
                </a:tc>
                <a:tc>
                  <a:txBody>
                    <a:bodyPr wrap="square"/>
                    <a:lstStyle/>
                    <a:p>
                      <a:pPr algn="ctr"/>
                      <a:r>
                        <a:rPr sz="1250" b="0" i="0">
                          <a:solidFill>
                            <a:srgbClr val="2B2B2B"/>
                          </a:solidFill>
                          <a:latin typeface="Arial"/>
                        </a:rPr>
                        <a:t>0,7</a:t>
                      </a:r>
                    </a:p>
                  </a:txBody>
                  <a:tcPr marL="64008" marR="64008" marT="27432" marB="27432" anchor="ctr">
                    <a:solidFill>
                      <a:srgbClr val="FFFFFF"/>
                    </a:solidFill>
                  </a:tcPr>
                </a:tc>
                <a:tc>
                  <a:txBody>
                    <a:bodyPr wrap="square"/>
                    <a:lstStyle/>
                    <a:p>
                      <a:pPr algn="ctr"/>
                      <a:r>
                        <a:rPr sz="1250" b="0" i="0">
                          <a:solidFill>
                            <a:srgbClr val="2B2B2B"/>
                          </a:solidFill>
                          <a:latin typeface="Arial"/>
                        </a:rPr>
                        <a:t>962</a:t>
                      </a:r>
                    </a:p>
                  </a:txBody>
                  <a:tcPr marL="64008" marR="64008" marT="27432" marB="27432" anchor="ctr">
                    <a:solidFill>
                      <a:srgbClr val="FFFFFF"/>
                    </a:solidFill>
                  </a:tcPr>
                </a:tc>
                <a:tc>
                  <a:txBody>
                    <a:bodyPr wrap="square"/>
                    <a:lstStyle/>
                    <a:p>
                      <a:pPr algn="ctr"/>
                      <a:r>
                        <a:rPr sz="1250" b="0" i="0">
                          <a:solidFill>
                            <a:srgbClr val="2B2B2B"/>
                          </a:solidFill>
                          <a:latin typeface="Arial"/>
                        </a:rPr>
                        <a:t>1,000</a:t>
                      </a:r>
                    </a:p>
                  </a:txBody>
                  <a:tcPr marL="64008" marR="64008" marT="27432" marB="27432" anchor="ctr">
                    <a:solidFill>
                      <a:srgbClr val="FFFFFF"/>
                    </a:solidFill>
                  </a:tcPr>
                </a:tc>
                <a:tc>
                  <a:txBody>
                    <a:bodyPr wrap="square"/>
                    <a:lstStyle/>
                    <a:p>
                      <a:pPr algn="ctr"/>
                      <a:r>
                        <a:rPr sz="1250" b="0" i="0">
                          <a:solidFill>
                            <a:srgbClr val="2B2B2B"/>
                          </a:solidFill>
                          <a:latin typeface="Arial"/>
                        </a:rPr>
                        <a:t>0,724</a:t>
                      </a:r>
                    </a:p>
                  </a:txBody>
                  <a:tcPr marL="64008" marR="64008" marT="27432" marB="27432" anchor="ctr">
                    <a:solidFill>
                      <a:srgbClr val="FFFFFF"/>
                    </a:solidFill>
                  </a:tcPr>
                </a:tc>
                <a:tc>
                  <a:txBody>
                    <a:bodyPr wrap="square"/>
                    <a:lstStyle/>
                    <a:p>
                      <a:pPr algn="ctr"/>
                      <a:r>
                        <a:rPr sz="1250" b="1" i="0">
                          <a:solidFill>
                            <a:srgbClr val="D7263D"/>
                          </a:solidFill>
                          <a:latin typeface="Arial"/>
                        </a:rPr>
                        <a:t>0,28</a:t>
                      </a:r>
                    </a:p>
                  </a:txBody>
                  <a:tcPr marL="64008" marR="64008" marT="27432" marB="27432" anchor="ctr">
                    <a:solidFill>
                      <a:srgbClr val="FFFFFF"/>
                    </a:solidFill>
                  </a:tcPr>
                </a:tc>
              </a:tr>
            </a:tbl>
          </a:graphicData>
        </a:graphic>
      </p:graphicFrame>
      <p:sp>
        <p:nvSpPr>
          <p:cNvPr id="4" name="Rounded Rectangle 3"/>
          <p:cNvSpPr/>
          <p:nvPr/>
        </p:nvSpPr>
        <p:spPr>
          <a:xfrm>
            <a:off x="731520" y="4069080"/>
            <a:ext cx="2487168" cy="109728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242852"/>
                </a:solidFill>
                <a:latin typeface="Arial"/>
              </a:rPr>
              <a:t>Subajuste</a:t>
            </a:r>
          </a:p>
          <a:p>
            <a:pPr algn="ctr">
              <a:spcAft>
                <a:spcPts val="300"/>
              </a:spcAft>
            </a:pPr>
            <a:r>
              <a:rPr sz="1150" b="0" i="0">
                <a:solidFill>
                  <a:srgbClr val="2B2B2B"/>
                </a:solidFill>
                <a:latin typeface="Arial"/>
              </a:rPr>
              <a:t>muy simple: falla en todo</a:t>
            </a:r>
          </a:p>
        </p:txBody>
      </p:sp>
      <p:sp>
        <p:nvSpPr>
          <p:cNvPr id="5" name="Rounded Rectangle 4"/>
          <p:cNvSpPr/>
          <p:nvPr/>
        </p:nvSpPr>
        <p:spPr>
          <a:xfrm>
            <a:off x="3355848" y="4069080"/>
            <a:ext cx="2487168" cy="109728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2A9D8F"/>
                </a:solidFill>
                <a:latin typeface="Arial"/>
              </a:rPr>
              <a:t>Equilibrio</a:t>
            </a:r>
          </a:p>
          <a:p>
            <a:pPr algn="ctr">
              <a:spcAft>
                <a:spcPts val="300"/>
              </a:spcAft>
            </a:pPr>
            <a:r>
              <a:rPr sz="1150" b="0" i="0">
                <a:solidFill>
                  <a:srgbClr val="2B2B2B"/>
                </a:solidFill>
                <a:latin typeface="Arial"/>
              </a:rPr>
              <a:t>aprende sin memorizar</a:t>
            </a:r>
          </a:p>
        </p:txBody>
      </p:sp>
      <p:sp>
        <p:nvSpPr>
          <p:cNvPr id="6" name="Rounded Rectangle 5"/>
          <p:cNvSpPr/>
          <p:nvPr/>
        </p:nvSpPr>
        <p:spPr>
          <a:xfrm>
            <a:off x="5980176" y="4069080"/>
            <a:ext cx="2487168" cy="109728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D7263D"/>
                </a:solidFill>
                <a:latin typeface="Arial"/>
              </a:rPr>
              <a:t>Sobreajuste</a:t>
            </a:r>
          </a:p>
          <a:p>
            <a:pPr algn="ctr">
              <a:spcAft>
                <a:spcPts val="300"/>
              </a:spcAft>
            </a:pPr>
            <a:r>
              <a:rPr sz="1150" b="0" i="0">
                <a:solidFill>
                  <a:srgbClr val="2B2B2B"/>
                </a:solidFill>
                <a:latin typeface="Arial"/>
              </a:rPr>
              <a:t>perfecto en Train, peor en datos nuevos</a:t>
            </a:r>
          </a:p>
        </p:txBody>
      </p:sp>
      <p:sp>
        <p:nvSpPr>
          <p:cNvPr id="7" name="Rounded Rectangle 6"/>
          <p:cNvSpPr/>
          <p:nvPr/>
        </p:nvSpPr>
        <p:spPr>
          <a:xfrm>
            <a:off x="731520" y="544068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La señal: </a:t>
            </a:r>
            <a:r>
              <a:rPr sz="1200" b="0" i="0">
                <a:solidFill>
                  <a:srgbClr val="2B2B2B"/>
                </a:solidFill>
                <a:latin typeface="Arial"/>
              </a:rPr>
              <a:t>no es el valor de Train, sino la distancia entre Train y Validation.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Estabilidad con K-Fold: árbol vs recta</a:t>
            </a:r>
          </a:p>
        </p:txBody>
      </p:sp>
      <p:graphicFrame>
        <p:nvGraphicFramePr>
          <p:cNvPr id="3" name="Chart 2"/>
          <p:cNvGraphicFramePr>
            <a:graphicFrameLocks noGrp="1"/>
          </p:cNvGraphicFramePr>
          <p:nvPr/>
        </p:nvGraphicFramePr>
        <p:xfrm>
          <a:off x="731520" y="1920240"/>
          <a:ext cx="3794760" cy="2926080"/>
        </p:xfrm>
        <a:graphic>
          <a:graphicData uri="http://schemas.openxmlformats.org/drawingml/2006/chart">
            <c:chart xmlns:c="http://schemas.openxmlformats.org/drawingml/2006/chart" r:id="rId3"/>
          </a:graphicData>
        </a:graphic>
      </p:graphicFrame>
      <p:graphicFrame>
        <p:nvGraphicFramePr>
          <p:cNvPr id="4" name="Chart 3"/>
          <p:cNvGraphicFramePr>
            <a:graphicFrameLocks noGrp="1"/>
          </p:cNvGraphicFramePr>
          <p:nvPr/>
        </p:nvGraphicFramePr>
        <p:xfrm>
          <a:off x="4709160" y="1920240"/>
          <a:ext cx="3794760" cy="2926080"/>
        </p:xfrm>
        <a:graphic>
          <a:graphicData uri="http://schemas.openxmlformats.org/drawingml/2006/chart">
            <c:chart xmlns:c="http://schemas.openxmlformats.org/drawingml/2006/chart" r:id="rId4"/>
          </a:graphicData>
        </a:graphic>
      </p:graphicFrame>
      <p:sp>
        <p:nvSpPr>
          <p:cNvPr id="5" name="Rounded Rectangle 4"/>
          <p:cNvSpPr/>
          <p:nvPr/>
        </p:nvSpPr>
        <p:spPr>
          <a:xfrm>
            <a:off x="731520" y="5120640"/>
            <a:ext cx="7772400" cy="7772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Con miles de filas </a:t>
            </a:r>
            <a:r>
              <a:rPr sz="1200" b="0" i="0">
                <a:solidFill>
                  <a:srgbClr val="2B2B2B"/>
                </a:solidFill>
                <a:latin typeface="Arial"/>
              </a:rPr>
              <a:t>las cinco vueltas se parecen mucho (desviación ≈ 25 USD). Con 107 filas del Banco Mundial cada vuelta cambiaba bastante.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26280"/>
            <a:ext cx="7589520" cy="365760"/>
          </a:xfrm>
          <a:prstGeom prst="rect">
            <a:avLst/>
          </a:prstGeom>
          <a:noFill/>
        </p:spPr>
        <p:txBody>
          <a:bodyPr wrap="square" anchor="t" lIns="36576" rIns="36576" tIns="36576" bIns="36576">
            <a:spAutoFit/>
          </a:bodyPr>
          <a:lstStyle/>
          <a:p>
            <a:pPr algn="l">
              <a:spcAft>
                <a:spcPts val="400"/>
              </a:spcAft>
            </a:pPr>
            <a:r>
              <a:rPr sz="1300" b="1" i="0">
                <a:solidFill>
                  <a:srgbClr val="5F6368"/>
                </a:solidFill>
                <a:latin typeface="Arial"/>
              </a:rPr>
              <a:t>En esta sección</a:t>
            </a:r>
          </a:p>
        </p:txBody>
      </p:sp>
      <p:sp>
        <p:nvSpPr>
          <p:cNvPr id="3" name="Rounded Rectangle 2"/>
          <p:cNvSpPr/>
          <p:nvPr/>
        </p:nvSpPr>
        <p:spPr>
          <a:xfrm>
            <a:off x="914400" y="4937760"/>
            <a:ext cx="1794510"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La idea</a:t>
            </a:r>
          </a:p>
        </p:txBody>
      </p:sp>
      <p:sp>
        <p:nvSpPr>
          <p:cNvPr id="4" name="Rounded Rectangle 3"/>
          <p:cNvSpPr/>
          <p:nvPr/>
        </p:nvSpPr>
        <p:spPr>
          <a:xfrm>
            <a:off x="2846070" y="4937760"/>
            <a:ext cx="1794510"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Bootstrap a mano</a:t>
            </a:r>
          </a:p>
        </p:txBody>
      </p:sp>
      <p:sp>
        <p:nvSpPr>
          <p:cNvPr id="5" name="Rounded Rectangle 4"/>
          <p:cNvSpPr/>
          <p:nvPr/>
        </p:nvSpPr>
        <p:spPr>
          <a:xfrm>
            <a:off x="4777740" y="4937760"/>
            <a:ext cx="1794510"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Promediar</a:t>
            </a:r>
          </a:p>
        </p:txBody>
      </p:sp>
      <p:sp>
        <p:nvSpPr>
          <p:cNvPr id="6" name="Rounded Rectangle 5"/>
          <p:cNvSpPr/>
          <p:nvPr/>
        </p:nvSpPr>
        <p:spPr>
          <a:xfrm>
            <a:off x="6709410" y="4937760"/>
            <a:ext cx="1794510"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Resultados</a:t>
            </a:r>
          </a:p>
        </p:txBody>
      </p:sp>
      <p:sp>
        <p:nvSpPr>
          <p:cNvPr id="7" name="Oval 6"/>
          <p:cNvSpPr/>
          <p:nvPr/>
        </p:nvSpPr>
        <p:spPr>
          <a:xfrm>
            <a:off x="914400" y="2148840"/>
            <a:ext cx="1463040" cy="146304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5400" b="1" i="0">
                <a:solidFill>
                  <a:srgbClr val="FFFFFF"/>
                </a:solidFill>
                <a:latin typeface="Arial"/>
              </a:rPr>
              <a:t>5</a:t>
            </a:r>
          </a:p>
        </p:txBody>
      </p:sp>
      <p:sp>
        <p:nvSpPr>
          <p:cNvPr id="8" name="TextBox 7"/>
          <p:cNvSpPr txBox="1"/>
          <p:nvPr/>
        </p:nvSpPr>
        <p:spPr>
          <a:xfrm>
            <a:off x="2651760" y="1828800"/>
            <a:ext cx="5852160" cy="1371600"/>
          </a:xfrm>
          <a:prstGeom prst="rect">
            <a:avLst/>
          </a:prstGeom>
          <a:noFill/>
        </p:spPr>
        <p:txBody>
          <a:bodyPr wrap="square" anchor="b" lIns="36576" rIns="36576" tIns="36576" bIns="36576">
            <a:spAutoFit/>
          </a:bodyPr>
          <a:lstStyle/>
          <a:p>
            <a:pPr algn="l">
              <a:spcAft>
                <a:spcPts val="400"/>
              </a:spcAft>
            </a:pPr>
            <a:r>
              <a:rPr sz="3200" b="1" i="0">
                <a:solidFill>
                  <a:srgbClr val="242852"/>
                </a:solidFill>
                <a:latin typeface="Arial"/>
              </a:rPr>
              <a:t>Random Forest</a:t>
            </a:r>
          </a:p>
        </p:txBody>
      </p:sp>
      <p:sp>
        <p:nvSpPr>
          <p:cNvPr id="9" name="TextBox 8"/>
          <p:cNvSpPr txBox="1"/>
          <p:nvPr/>
        </p:nvSpPr>
        <p:spPr>
          <a:xfrm>
            <a:off x="2651760" y="3291840"/>
            <a:ext cx="5852160" cy="1097280"/>
          </a:xfrm>
          <a:prstGeom prst="rect">
            <a:avLst/>
          </a:prstGeom>
          <a:noFill/>
        </p:spPr>
        <p:txBody>
          <a:bodyPr wrap="square" anchor="t" lIns="36576" rIns="36576" tIns="36576" bIns="36576">
            <a:spAutoFit/>
          </a:bodyPr>
          <a:lstStyle/>
          <a:p>
            <a:pPr algn="l">
              <a:spcAft>
                <a:spcPts val="400"/>
              </a:spcAft>
            </a:pPr>
            <a:r>
              <a:rPr sz="1600" b="0" i="0">
                <a:solidFill>
                  <a:srgbClr val="5F6368"/>
                </a:solidFill>
                <a:latin typeface="Arial"/>
              </a:rPr>
              <a:t>Un árbol solo es inestable. Muchos árboles distintos, promediados, se equivocan menos al azar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La idea: la sabiduría de la multitud</a:t>
            </a:r>
          </a:p>
        </p:txBody>
      </p:sp>
      <p:sp>
        <p:nvSpPr>
          <p:cNvPr id="3" name="Rounded Rectangle 2"/>
          <p:cNvSpPr/>
          <p:nvPr/>
        </p:nvSpPr>
        <p:spPr>
          <a:xfrm>
            <a:off x="868680" y="2057400"/>
            <a:ext cx="1005840" cy="100584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100" b="1" i="0">
                <a:solidFill>
                  <a:srgbClr val="FFFFFF"/>
                </a:solidFill>
                <a:latin typeface="Arial"/>
              </a:rPr>
              <a:t>Árbol 1</a:t>
            </a:r>
          </a:p>
          <a:p>
            <a:pPr algn="ctr">
              <a:spcAft>
                <a:spcPts val="300"/>
              </a:spcAft>
            </a:pPr>
            <a:r>
              <a:rPr sz="1500" b="1" i="0">
                <a:solidFill>
                  <a:srgbClr val="FFFFFF"/>
                </a:solidFill>
                <a:latin typeface="Arial"/>
              </a:rPr>
              <a:t>3.8</a:t>
            </a:r>
          </a:p>
        </p:txBody>
      </p:sp>
      <p:cxnSp>
        <p:nvCxnSpPr>
          <p:cNvPr id="4" name="Connector 3"/>
          <p:cNvCxnSpPr/>
          <p:nvPr/>
        </p:nvCxnSpPr>
        <p:spPr>
          <a:xfrm>
            <a:off x="1371600" y="3063240"/>
            <a:ext cx="2926080" cy="59436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2057400" y="2057400"/>
            <a:ext cx="1005840" cy="1005840"/>
          </a:xfrm>
          <a:prstGeom prst="roundRect">
            <a:avLst>
              <a:gd name="adj" fmla="val 8000"/>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100" b="1" i="0">
                <a:solidFill>
                  <a:srgbClr val="FFFFFF"/>
                </a:solidFill>
                <a:latin typeface="Arial"/>
              </a:rPr>
              <a:t>Árbol 2</a:t>
            </a:r>
          </a:p>
          <a:p>
            <a:pPr algn="ctr">
              <a:spcAft>
                <a:spcPts val="300"/>
              </a:spcAft>
            </a:pPr>
            <a:r>
              <a:rPr sz="1500" b="1" i="0">
                <a:solidFill>
                  <a:srgbClr val="FFFFFF"/>
                </a:solidFill>
                <a:latin typeface="Arial"/>
              </a:rPr>
              <a:t>4.6</a:t>
            </a:r>
          </a:p>
        </p:txBody>
      </p:sp>
      <p:cxnSp>
        <p:nvCxnSpPr>
          <p:cNvPr id="6" name="Connector 5"/>
          <p:cNvCxnSpPr/>
          <p:nvPr/>
        </p:nvCxnSpPr>
        <p:spPr>
          <a:xfrm>
            <a:off x="2560320" y="3063240"/>
            <a:ext cx="1737360" cy="59436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246120" y="2057400"/>
            <a:ext cx="1005840" cy="1005840"/>
          </a:xfrm>
          <a:prstGeom prst="roundRect">
            <a:avLst>
              <a:gd name="adj" fmla="val 8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100" b="1" i="0">
                <a:solidFill>
                  <a:srgbClr val="FFFFFF"/>
                </a:solidFill>
                <a:latin typeface="Arial"/>
              </a:rPr>
              <a:t>Árbol 3</a:t>
            </a:r>
          </a:p>
          <a:p>
            <a:pPr algn="ctr">
              <a:spcAft>
                <a:spcPts val="300"/>
              </a:spcAft>
            </a:pPr>
            <a:r>
              <a:rPr sz="1500" b="1" i="0">
                <a:solidFill>
                  <a:srgbClr val="FFFFFF"/>
                </a:solidFill>
                <a:latin typeface="Arial"/>
              </a:rPr>
              <a:t>2.9</a:t>
            </a:r>
          </a:p>
        </p:txBody>
      </p:sp>
      <p:cxnSp>
        <p:nvCxnSpPr>
          <p:cNvPr id="8" name="Connector 7"/>
          <p:cNvCxnSpPr/>
          <p:nvPr/>
        </p:nvCxnSpPr>
        <p:spPr>
          <a:xfrm>
            <a:off x="3749039" y="3063240"/>
            <a:ext cx="548641" cy="59436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434840" y="2057400"/>
            <a:ext cx="1005840" cy="1005840"/>
          </a:xfrm>
          <a:prstGeom prst="roundRect">
            <a:avLst>
              <a:gd name="adj" fmla="val 8000"/>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100" b="1" i="0">
                <a:solidFill>
                  <a:srgbClr val="FFFFFF"/>
                </a:solidFill>
                <a:latin typeface="Arial"/>
              </a:rPr>
              <a:t>Árbol 4</a:t>
            </a:r>
          </a:p>
          <a:p>
            <a:pPr algn="ctr">
              <a:spcAft>
                <a:spcPts val="300"/>
              </a:spcAft>
            </a:pPr>
            <a:r>
              <a:rPr sz="1500" b="1" i="0">
                <a:solidFill>
                  <a:srgbClr val="FFFFFF"/>
                </a:solidFill>
                <a:latin typeface="Arial"/>
              </a:rPr>
              <a:t>4.1</a:t>
            </a:r>
          </a:p>
        </p:txBody>
      </p:sp>
      <p:cxnSp>
        <p:nvCxnSpPr>
          <p:cNvPr id="10" name="Connector 9"/>
          <p:cNvCxnSpPr/>
          <p:nvPr/>
        </p:nvCxnSpPr>
        <p:spPr>
          <a:xfrm flipH="1">
            <a:off x="4297680" y="3063240"/>
            <a:ext cx="640080" cy="59436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623560" y="2057400"/>
            <a:ext cx="1005840" cy="100584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100" b="1" i="0">
                <a:solidFill>
                  <a:srgbClr val="FFFFFF"/>
                </a:solidFill>
                <a:latin typeface="Arial"/>
              </a:rPr>
              <a:t>Árbol 5</a:t>
            </a:r>
          </a:p>
          <a:p>
            <a:pPr algn="ctr">
              <a:spcAft>
                <a:spcPts val="300"/>
              </a:spcAft>
            </a:pPr>
            <a:r>
              <a:rPr sz="1500" b="1" i="0">
                <a:solidFill>
                  <a:srgbClr val="FFFFFF"/>
                </a:solidFill>
                <a:latin typeface="Arial"/>
              </a:rPr>
              <a:t>3.6</a:t>
            </a:r>
          </a:p>
        </p:txBody>
      </p:sp>
      <p:cxnSp>
        <p:nvCxnSpPr>
          <p:cNvPr id="12" name="Connector 11"/>
          <p:cNvCxnSpPr/>
          <p:nvPr/>
        </p:nvCxnSpPr>
        <p:spPr>
          <a:xfrm flipH="1">
            <a:off x="4297680" y="3063240"/>
            <a:ext cx="1828800" cy="59436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200400" y="3657600"/>
            <a:ext cx="2194560" cy="868680"/>
          </a:xfrm>
          <a:prstGeom prst="roundRect">
            <a:avLst>
              <a:gd name="adj" fmla="val 8000"/>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FBE8EA"/>
                </a:solidFill>
                <a:latin typeface="Arial"/>
              </a:rPr>
              <a:t>Promedio</a:t>
            </a:r>
          </a:p>
          <a:p>
            <a:pPr algn="ctr">
              <a:spcAft>
                <a:spcPts val="300"/>
              </a:spcAft>
            </a:pPr>
            <a:r>
              <a:rPr sz="1800" b="1" i="0">
                <a:solidFill>
                  <a:srgbClr val="FFFFFF"/>
                </a:solidFill>
                <a:latin typeface="Arial"/>
              </a:rPr>
              <a:t>ŷ = 3.8 %</a:t>
            </a:r>
          </a:p>
        </p:txBody>
      </p:sp>
      <p:sp>
        <p:nvSpPr>
          <p:cNvPr id="14" name="TextBox 13"/>
          <p:cNvSpPr txBox="1"/>
          <p:nvPr/>
        </p:nvSpPr>
        <p:spPr>
          <a:xfrm>
            <a:off x="6949440" y="2194560"/>
            <a:ext cx="1554480" cy="914400"/>
          </a:xfrm>
          <a:prstGeom prst="rect">
            <a:avLst/>
          </a:prstGeom>
          <a:noFill/>
        </p:spPr>
        <p:txBody>
          <a:bodyPr wrap="square" anchor="t" lIns="36576" rIns="36576" tIns="36576" bIns="36576">
            <a:spAutoFit/>
          </a:bodyPr>
          <a:lstStyle/>
          <a:p>
            <a:pPr algn="l">
              <a:spcAft>
                <a:spcPts val="0"/>
              </a:spcAft>
            </a:pPr>
            <a:r>
              <a:rPr sz="1200" b="1" i="0">
                <a:solidFill>
                  <a:srgbClr val="242852"/>
                </a:solidFill>
                <a:latin typeface="Arial"/>
              </a:rPr>
              <a:t>Cada árbol opina</a:t>
            </a:r>
          </a:p>
          <a:p>
            <a:pPr algn="l">
              <a:spcAft>
                <a:spcPts val="0"/>
              </a:spcAft>
            </a:pPr>
            <a:r>
              <a:rPr sz="1000" b="0" i="1">
                <a:solidFill>
                  <a:srgbClr val="5F6368"/>
                </a:solidFill>
                <a:latin typeface="Arial"/>
              </a:rPr>
              <a:t>valores ilustrativos</a:t>
            </a:r>
          </a:p>
        </p:txBody>
      </p:sp>
      <p:sp>
        <p:nvSpPr>
          <p:cNvPr id="15" name="Rounded Rectangle 14"/>
          <p:cNvSpPr/>
          <p:nvPr/>
        </p:nvSpPr>
        <p:spPr>
          <a:xfrm>
            <a:off x="731520" y="4709160"/>
            <a:ext cx="3794760" cy="155448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TextBox 15"/>
          <p:cNvSpPr txBox="1"/>
          <p:nvPr/>
        </p:nvSpPr>
        <p:spPr>
          <a:xfrm>
            <a:off x="868680" y="4818888"/>
            <a:ext cx="3566160" cy="502920"/>
          </a:xfrm>
          <a:prstGeom prst="rect">
            <a:avLst/>
          </a:prstGeom>
          <a:noFill/>
        </p:spPr>
        <p:txBody>
          <a:bodyPr wrap="square" anchor="ctr" lIns="36576" rIns="36576" tIns="36576" bIns="36576">
            <a:spAutoFit/>
          </a:bodyPr>
          <a:lstStyle/>
          <a:p>
            <a:pPr algn="l">
              <a:spcAft>
                <a:spcPts val="400"/>
              </a:spcAft>
            </a:pPr>
            <a:r>
              <a:rPr sz="1400" b="1" i="0">
                <a:solidFill>
                  <a:srgbClr val="242852"/>
                </a:solidFill>
                <a:latin typeface="Arial"/>
              </a:rPr>
              <a:t>Random = azar</a:t>
            </a:r>
          </a:p>
        </p:txBody>
      </p:sp>
      <p:sp>
        <p:nvSpPr>
          <p:cNvPr id="17" name="TextBox 16"/>
          <p:cNvSpPr txBox="1"/>
          <p:nvPr/>
        </p:nvSpPr>
        <p:spPr>
          <a:xfrm>
            <a:off x="868680" y="5367528"/>
            <a:ext cx="3520440" cy="822959"/>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Cada árbol ve una muestra distinta de filas y de variables.</a:t>
            </a:r>
          </a:p>
        </p:txBody>
      </p:sp>
      <p:sp>
        <p:nvSpPr>
          <p:cNvPr id="18" name="Rounded Rectangle 17"/>
          <p:cNvSpPr/>
          <p:nvPr/>
        </p:nvSpPr>
        <p:spPr>
          <a:xfrm>
            <a:off x="4709160" y="4709160"/>
            <a:ext cx="3794760" cy="155448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9" name="TextBox 18"/>
          <p:cNvSpPr txBox="1"/>
          <p:nvPr/>
        </p:nvSpPr>
        <p:spPr>
          <a:xfrm>
            <a:off x="4846320" y="4818888"/>
            <a:ext cx="3566160" cy="502920"/>
          </a:xfrm>
          <a:prstGeom prst="rect">
            <a:avLst/>
          </a:prstGeom>
          <a:noFill/>
        </p:spPr>
        <p:txBody>
          <a:bodyPr wrap="square" anchor="ctr" lIns="36576" rIns="36576" tIns="36576" bIns="36576">
            <a:spAutoFit/>
          </a:bodyPr>
          <a:lstStyle/>
          <a:p>
            <a:pPr algn="l">
              <a:spcAft>
                <a:spcPts val="400"/>
              </a:spcAft>
            </a:pPr>
            <a:r>
              <a:rPr sz="1400" b="1" i="0">
                <a:solidFill>
                  <a:srgbClr val="2A9D8F"/>
                </a:solidFill>
                <a:latin typeface="Arial"/>
              </a:rPr>
              <a:t>Forest = bosque</a:t>
            </a:r>
          </a:p>
        </p:txBody>
      </p:sp>
      <p:sp>
        <p:nvSpPr>
          <p:cNvPr id="20" name="TextBox 19"/>
          <p:cNvSpPr txBox="1"/>
          <p:nvPr/>
        </p:nvSpPr>
        <p:spPr>
          <a:xfrm>
            <a:off x="4846320" y="5367528"/>
            <a:ext cx="3520440" cy="822959"/>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Muchos árboles; la predicción final es el promedio de todos.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200" b="1">
                <a:solidFill>
                  <a:srgbClr val="242852"/>
                </a:solidFill>
              </a:rPr>
              <a:t>Paso 1: bootstrap, sortear filas con reemplazo</a:t>
            </a:r>
          </a:p>
        </p:txBody>
      </p:sp>
      <p:sp>
        <p:nvSpPr>
          <p:cNvPr id="3" name="TextBox 2"/>
          <p:cNvSpPr txBox="1"/>
          <p:nvPr/>
        </p:nvSpPr>
        <p:spPr>
          <a:xfrm>
            <a:off x="731520" y="1965960"/>
            <a:ext cx="1828800" cy="365760"/>
          </a:xfrm>
          <a:prstGeom prst="rect">
            <a:avLst/>
          </a:prstGeom>
          <a:noFill/>
        </p:spPr>
        <p:txBody>
          <a:bodyPr wrap="square" anchor="t" lIns="36576" rIns="36576" tIns="36576" bIns="36576">
            <a:spAutoFit/>
          </a:bodyPr>
          <a:lstStyle/>
          <a:p>
            <a:pPr algn="l">
              <a:spcAft>
                <a:spcPts val="400"/>
              </a:spcAft>
            </a:pPr>
            <a:r>
              <a:rPr sz="1300" b="1" i="0">
                <a:solidFill>
                  <a:srgbClr val="242852"/>
                </a:solidFill>
                <a:latin typeface="Arial"/>
              </a:rPr>
              <a:t>Datos originales</a:t>
            </a:r>
          </a:p>
        </p:txBody>
      </p:sp>
      <p:sp>
        <p:nvSpPr>
          <p:cNvPr id="4" name="Rectangle 3"/>
          <p:cNvSpPr/>
          <p:nvPr/>
        </p:nvSpPr>
        <p:spPr>
          <a:xfrm>
            <a:off x="2651760" y="1938528"/>
            <a:ext cx="640080" cy="45720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FFFFFF"/>
                </a:solidFill>
                <a:latin typeface="Arial"/>
              </a:rPr>
              <a:t>A</a:t>
            </a:r>
          </a:p>
        </p:txBody>
      </p:sp>
      <p:sp>
        <p:nvSpPr>
          <p:cNvPr id="5" name="Rectangle 4"/>
          <p:cNvSpPr/>
          <p:nvPr/>
        </p:nvSpPr>
        <p:spPr>
          <a:xfrm>
            <a:off x="3364991" y="1938528"/>
            <a:ext cx="640080" cy="45720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FFFFFF"/>
                </a:solidFill>
                <a:latin typeface="Arial"/>
              </a:rPr>
              <a:t>B</a:t>
            </a:r>
          </a:p>
        </p:txBody>
      </p:sp>
      <p:sp>
        <p:nvSpPr>
          <p:cNvPr id="6" name="Rectangle 5"/>
          <p:cNvSpPr/>
          <p:nvPr/>
        </p:nvSpPr>
        <p:spPr>
          <a:xfrm>
            <a:off x="4078224" y="1938528"/>
            <a:ext cx="640080" cy="45720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FFFFFF"/>
                </a:solidFill>
                <a:latin typeface="Arial"/>
              </a:rPr>
              <a:t>C</a:t>
            </a:r>
          </a:p>
        </p:txBody>
      </p:sp>
      <p:sp>
        <p:nvSpPr>
          <p:cNvPr id="7" name="Rectangle 6"/>
          <p:cNvSpPr/>
          <p:nvPr/>
        </p:nvSpPr>
        <p:spPr>
          <a:xfrm>
            <a:off x="4791456" y="1938528"/>
            <a:ext cx="640080" cy="45720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FFFFFF"/>
                </a:solidFill>
                <a:latin typeface="Arial"/>
              </a:rPr>
              <a:t>D</a:t>
            </a:r>
          </a:p>
        </p:txBody>
      </p:sp>
      <p:sp>
        <p:nvSpPr>
          <p:cNvPr id="8" name="Rectangle 7"/>
          <p:cNvSpPr/>
          <p:nvPr/>
        </p:nvSpPr>
        <p:spPr>
          <a:xfrm>
            <a:off x="5504688" y="1938528"/>
            <a:ext cx="640080" cy="45720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FFFFFF"/>
                </a:solidFill>
                <a:latin typeface="Arial"/>
              </a:rPr>
              <a:t>E</a:t>
            </a:r>
          </a:p>
        </p:txBody>
      </p:sp>
      <p:sp>
        <p:nvSpPr>
          <p:cNvPr id="9" name="Rectangle 8"/>
          <p:cNvSpPr/>
          <p:nvPr/>
        </p:nvSpPr>
        <p:spPr>
          <a:xfrm>
            <a:off x="6217920" y="1938528"/>
            <a:ext cx="640080" cy="45720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FFFFFF"/>
                </a:solidFill>
                <a:latin typeface="Arial"/>
              </a:rPr>
              <a:t>F</a:t>
            </a:r>
          </a:p>
        </p:txBody>
      </p:sp>
      <p:sp>
        <p:nvSpPr>
          <p:cNvPr id="10" name="Rectangle 9"/>
          <p:cNvSpPr/>
          <p:nvPr/>
        </p:nvSpPr>
        <p:spPr>
          <a:xfrm>
            <a:off x="6931152" y="1938528"/>
            <a:ext cx="640080" cy="45720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FFFFFF"/>
                </a:solidFill>
                <a:latin typeface="Arial"/>
              </a:rPr>
              <a:t>G</a:t>
            </a:r>
          </a:p>
        </p:txBody>
      </p:sp>
      <p:sp>
        <p:nvSpPr>
          <p:cNvPr id="11" name="Rectangle 10"/>
          <p:cNvSpPr/>
          <p:nvPr/>
        </p:nvSpPr>
        <p:spPr>
          <a:xfrm>
            <a:off x="7644383" y="1938528"/>
            <a:ext cx="640080" cy="457200"/>
          </a:xfrm>
          <a:prstGeom prst="rect">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FFFFFF"/>
                </a:solidFill>
                <a:latin typeface="Arial"/>
              </a:rPr>
              <a:t>H</a:t>
            </a:r>
          </a:p>
        </p:txBody>
      </p:sp>
      <p:sp>
        <p:nvSpPr>
          <p:cNvPr id="12" name="TextBox 11"/>
          <p:cNvSpPr txBox="1"/>
          <p:nvPr/>
        </p:nvSpPr>
        <p:spPr>
          <a:xfrm>
            <a:off x="731520" y="2788920"/>
            <a:ext cx="1828800" cy="411480"/>
          </a:xfrm>
          <a:prstGeom prst="rect">
            <a:avLst/>
          </a:prstGeom>
          <a:noFill/>
        </p:spPr>
        <p:txBody>
          <a:bodyPr wrap="square" anchor="t" lIns="36576" rIns="36576" tIns="36576" bIns="36576">
            <a:spAutoFit/>
          </a:bodyPr>
          <a:lstStyle/>
          <a:p>
            <a:pPr algn="l">
              <a:spcAft>
                <a:spcPts val="400"/>
              </a:spcAft>
            </a:pPr>
            <a:r>
              <a:rPr sz="1300" b="1" i="0">
                <a:solidFill>
                  <a:srgbClr val="3D5A99"/>
                </a:solidFill>
                <a:latin typeface="Arial"/>
              </a:rPr>
              <a:t>Árbol 1</a:t>
            </a:r>
          </a:p>
        </p:txBody>
      </p:sp>
      <p:sp>
        <p:nvSpPr>
          <p:cNvPr id="13" name="Rectangle 12"/>
          <p:cNvSpPr/>
          <p:nvPr/>
        </p:nvSpPr>
        <p:spPr>
          <a:xfrm>
            <a:off x="2651760" y="2743200"/>
            <a:ext cx="640080" cy="457200"/>
          </a:xfrm>
          <a:prstGeom prst="rect">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242852"/>
                </a:solidFill>
                <a:latin typeface="Arial"/>
              </a:rPr>
              <a:t>A</a:t>
            </a:r>
          </a:p>
        </p:txBody>
      </p:sp>
      <p:sp>
        <p:nvSpPr>
          <p:cNvPr id="14" name="Rectangle 13"/>
          <p:cNvSpPr/>
          <p:nvPr/>
        </p:nvSpPr>
        <p:spPr>
          <a:xfrm>
            <a:off x="3364991" y="2743200"/>
            <a:ext cx="640080" cy="457200"/>
          </a:xfrm>
          <a:prstGeom prst="rect">
            <a:avLst/>
          </a:prstGeom>
          <a:solidFill>
            <a:srgbClr val="FBE8EA"/>
          </a:solidFill>
          <a:ln w="15875">
            <a:solidFill>
              <a:srgbClr val="D7263D"/>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D7263D"/>
                </a:solidFill>
                <a:latin typeface="Arial"/>
              </a:rPr>
              <a:t>A</a:t>
            </a:r>
          </a:p>
        </p:txBody>
      </p:sp>
      <p:sp>
        <p:nvSpPr>
          <p:cNvPr id="15" name="Rectangle 14"/>
          <p:cNvSpPr/>
          <p:nvPr/>
        </p:nvSpPr>
        <p:spPr>
          <a:xfrm>
            <a:off x="4078224" y="2743200"/>
            <a:ext cx="640080" cy="457200"/>
          </a:xfrm>
          <a:prstGeom prst="rect">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242852"/>
                </a:solidFill>
                <a:latin typeface="Arial"/>
              </a:rPr>
              <a:t>C</a:t>
            </a:r>
          </a:p>
        </p:txBody>
      </p:sp>
      <p:sp>
        <p:nvSpPr>
          <p:cNvPr id="16" name="Rectangle 15"/>
          <p:cNvSpPr/>
          <p:nvPr/>
        </p:nvSpPr>
        <p:spPr>
          <a:xfrm>
            <a:off x="4791456" y="2743200"/>
            <a:ext cx="640080" cy="457200"/>
          </a:xfrm>
          <a:prstGeom prst="rect">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242852"/>
                </a:solidFill>
                <a:latin typeface="Arial"/>
              </a:rPr>
              <a:t>D</a:t>
            </a:r>
          </a:p>
        </p:txBody>
      </p:sp>
      <p:sp>
        <p:nvSpPr>
          <p:cNvPr id="17" name="Rectangle 16"/>
          <p:cNvSpPr/>
          <p:nvPr/>
        </p:nvSpPr>
        <p:spPr>
          <a:xfrm>
            <a:off x="5504688" y="2743200"/>
            <a:ext cx="640080" cy="457200"/>
          </a:xfrm>
          <a:prstGeom prst="rect">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242852"/>
                </a:solidFill>
                <a:latin typeface="Arial"/>
              </a:rPr>
              <a:t>E</a:t>
            </a:r>
          </a:p>
        </p:txBody>
      </p:sp>
      <p:sp>
        <p:nvSpPr>
          <p:cNvPr id="18" name="Rectangle 17"/>
          <p:cNvSpPr/>
          <p:nvPr/>
        </p:nvSpPr>
        <p:spPr>
          <a:xfrm>
            <a:off x="6217920" y="2743200"/>
            <a:ext cx="640080" cy="457200"/>
          </a:xfrm>
          <a:prstGeom prst="rect">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242852"/>
                </a:solidFill>
                <a:latin typeface="Arial"/>
              </a:rPr>
              <a:t>F</a:t>
            </a:r>
          </a:p>
        </p:txBody>
      </p:sp>
      <p:sp>
        <p:nvSpPr>
          <p:cNvPr id="19" name="Rectangle 18"/>
          <p:cNvSpPr/>
          <p:nvPr/>
        </p:nvSpPr>
        <p:spPr>
          <a:xfrm>
            <a:off x="6931152" y="2743200"/>
            <a:ext cx="640080" cy="457200"/>
          </a:xfrm>
          <a:prstGeom prst="rect">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242852"/>
                </a:solidFill>
                <a:latin typeface="Arial"/>
              </a:rPr>
              <a:t>G</a:t>
            </a:r>
          </a:p>
        </p:txBody>
      </p:sp>
      <p:sp>
        <p:nvSpPr>
          <p:cNvPr id="20" name="Rectangle 19"/>
          <p:cNvSpPr/>
          <p:nvPr/>
        </p:nvSpPr>
        <p:spPr>
          <a:xfrm>
            <a:off x="7644383" y="2743200"/>
            <a:ext cx="640080" cy="457200"/>
          </a:xfrm>
          <a:prstGeom prst="rect">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242852"/>
                </a:solidFill>
                <a:latin typeface="Arial"/>
              </a:rPr>
              <a:t>H</a:t>
            </a:r>
          </a:p>
        </p:txBody>
      </p:sp>
      <p:sp>
        <p:nvSpPr>
          <p:cNvPr id="21" name="TextBox 20"/>
          <p:cNvSpPr txBox="1"/>
          <p:nvPr/>
        </p:nvSpPr>
        <p:spPr>
          <a:xfrm>
            <a:off x="2651760" y="3218688"/>
            <a:ext cx="5669280" cy="274320"/>
          </a:xfrm>
          <a:prstGeom prst="rect">
            <a:avLst/>
          </a:prstGeom>
          <a:noFill/>
        </p:spPr>
        <p:txBody>
          <a:bodyPr wrap="square" anchor="t" lIns="0" rIns="0" tIns="0" bIns="0">
            <a:spAutoFit/>
          </a:bodyPr>
          <a:lstStyle/>
          <a:p>
            <a:pPr algn="l">
              <a:spcAft>
                <a:spcPts val="400"/>
              </a:spcAft>
            </a:pPr>
            <a:r>
              <a:rPr sz="1050" b="0" i="0">
                <a:solidFill>
                  <a:srgbClr val="5F6368"/>
                </a:solidFill>
                <a:latin typeface="Arial"/>
              </a:rPr>
              <a:t>fuera (OOB): </a:t>
            </a:r>
            <a:r>
              <a:rPr sz="1050" b="1" i="0">
                <a:solidFill>
                  <a:srgbClr val="5F6368"/>
                </a:solidFill>
                <a:latin typeface="Arial"/>
              </a:rPr>
              <a:t>B</a:t>
            </a:r>
          </a:p>
        </p:txBody>
      </p:sp>
      <p:sp>
        <p:nvSpPr>
          <p:cNvPr id="22" name="TextBox 21"/>
          <p:cNvSpPr txBox="1"/>
          <p:nvPr/>
        </p:nvSpPr>
        <p:spPr>
          <a:xfrm>
            <a:off x="731520" y="3611879"/>
            <a:ext cx="1828800" cy="411480"/>
          </a:xfrm>
          <a:prstGeom prst="rect">
            <a:avLst/>
          </a:prstGeom>
          <a:noFill/>
        </p:spPr>
        <p:txBody>
          <a:bodyPr wrap="square" anchor="t" lIns="36576" rIns="36576" tIns="36576" bIns="36576">
            <a:spAutoFit/>
          </a:bodyPr>
          <a:lstStyle/>
          <a:p>
            <a:pPr algn="l">
              <a:spcAft>
                <a:spcPts val="400"/>
              </a:spcAft>
            </a:pPr>
            <a:r>
              <a:rPr sz="1300" b="1" i="0">
                <a:solidFill>
                  <a:srgbClr val="2A9D8F"/>
                </a:solidFill>
                <a:latin typeface="Arial"/>
              </a:rPr>
              <a:t>Árbol 2</a:t>
            </a:r>
          </a:p>
        </p:txBody>
      </p:sp>
      <p:sp>
        <p:nvSpPr>
          <p:cNvPr id="23" name="Rectangle 22"/>
          <p:cNvSpPr/>
          <p:nvPr/>
        </p:nvSpPr>
        <p:spPr>
          <a:xfrm>
            <a:off x="2651760" y="3566160"/>
            <a:ext cx="640080" cy="457200"/>
          </a:xfrm>
          <a:prstGeom prst="rect">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242852"/>
                </a:solidFill>
                <a:latin typeface="Arial"/>
              </a:rPr>
              <a:t>B</a:t>
            </a:r>
          </a:p>
        </p:txBody>
      </p:sp>
      <p:sp>
        <p:nvSpPr>
          <p:cNvPr id="24" name="Rectangle 23"/>
          <p:cNvSpPr/>
          <p:nvPr/>
        </p:nvSpPr>
        <p:spPr>
          <a:xfrm>
            <a:off x="3364991" y="3566160"/>
            <a:ext cx="640080" cy="457200"/>
          </a:xfrm>
          <a:prstGeom prst="rect">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242852"/>
                </a:solidFill>
                <a:latin typeface="Arial"/>
              </a:rPr>
              <a:t>C</a:t>
            </a:r>
          </a:p>
        </p:txBody>
      </p:sp>
      <p:sp>
        <p:nvSpPr>
          <p:cNvPr id="25" name="Rectangle 24"/>
          <p:cNvSpPr/>
          <p:nvPr/>
        </p:nvSpPr>
        <p:spPr>
          <a:xfrm>
            <a:off x="4078224" y="3566160"/>
            <a:ext cx="640080" cy="457200"/>
          </a:xfrm>
          <a:prstGeom prst="rect">
            <a:avLst/>
          </a:prstGeom>
          <a:solidFill>
            <a:srgbClr val="FBE8EA"/>
          </a:solidFill>
          <a:ln w="15875">
            <a:solidFill>
              <a:srgbClr val="D7263D"/>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D7263D"/>
                </a:solidFill>
                <a:latin typeface="Arial"/>
              </a:rPr>
              <a:t>C</a:t>
            </a:r>
          </a:p>
        </p:txBody>
      </p:sp>
      <p:sp>
        <p:nvSpPr>
          <p:cNvPr id="26" name="Rectangle 25"/>
          <p:cNvSpPr/>
          <p:nvPr/>
        </p:nvSpPr>
        <p:spPr>
          <a:xfrm>
            <a:off x="4791456" y="3566160"/>
            <a:ext cx="640080" cy="457200"/>
          </a:xfrm>
          <a:prstGeom prst="rect">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242852"/>
                </a:solidFill>
                <a:latin typeface="Arial"/>
              </a:rPr>
              <a:t>D</a:t>
            </a:r>
          </a:p>
        </p:txBody>
      </p:sp>
      <p:sp>
        <p:nvSpPr>
          <p:cNvPr id="27" name="Rectangle 26"/>
          <p:cNvSpPr/>
          <p:nvPr/>
        </p:nvSpPr>
        <p:spPr>
          <a:xfrm>
            <a:off x="5504688" y="3566160"/>
            <a:ext cx="640080" cy="457200"/>
          </a:xfrm>
          <a:prstGeom prst="rect">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242852"/>
                </a:solidFill>
                <a:latin typeface="Arial"/>
              </a:rPr>
              <a:t>E</a:t>
            </a:r>
          </a:p>
        </p:txBody>
      </p:sp>
      <p:sp>
        <p:nvSpPr>
          <p:cNvPr id="28" name="Rectangle 27"/>
          <p:cNvSpPr/>
          <p:nvPr/>
        </p:nvSpPr>
        <p:spPr>
          <a:xfrm>
            <a:off x="6217920" y="3566160"/>
            <a:ext cx="640080" cy="457200"/>
          </a:xfrm>
          <a:prstGeom prst="rect">
            <a:avLst/>
          </a:prstGeom>
          <a:solidFill>
            <a:srgbClr val="FBE8EA"/>
          </a:solidFill>
          <a:ln w="15875">
            <a:solidFill>
              <a:srgbClr val="D7263D"/>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D7263D"/>
                </a:solidFill>
                <a:latin typeface="Arial"/>
              </a:rPr>
              <a:t>E</a:t>
            </a:r>
          </a:p>
        </p:txBody>
      </p:sp>
      <p:sp>
        <p:nvSpPr>
          <p:cNvPr id="29" name="Rectangle 28"/>
          <p:cNvSpPr/>
          <p:nvPr/>
        </p:nvSpPr>
        <p:spPr>
          <a:xfrm>
            <a:off x="6931152" y="3566160"/>
            <a:ext cx="640080" cy="457200"/>
          </a:xfrm>
          <a:prstGeom prst="rect">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242852"/>
                </a:solidFill>
                <a:latin typeface="Arial"/>
              </a:rPr>
              <a:t>G</a:t>
            </a:r>
          </a:p>
        </p:txBody>
      </p:sp>
      <p:sp>
        <p:nvSpPr>
          <p:cNvPr id="30" name="Rectangle 29"/>
          <p:cNvSpPr/>
          <p:nvPr/>
        </p:nvSpPr>
        <p:spPr>
          <a:xfrm>
            <a:off x="7644383" y="3566160"/>
            <a:ext cx="640080" cy="457200"/>
          </a:xfrm>
          <a:prstGeom prst="rect">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242852"/>
                </a:solidFill>
                <a:latin typeface="Arial"/>
              </a:rPr>
              <a:t>H</a:t>
            </a:r>
          </a:p>
        </p:txBody>
      </p:sp>
      <p:sp>
        <p:nvSpPr>
          <p:cNvPr id="31" name="TextBox 30"/>
          <p:cNvSpPr txBox="1"/>
          <p:nvPr/>
        </p:nvSpPr>
        <p:spPr>
          <a:xfrm>
            <a:off x="2651760" y="4041648"/>
            <a:ext cx="5669280" cy="274320"/>
          </a:xfrm>
          <a:prstGeom prst="rect">
            <a:avLst/>
          </a:prstGeom>
          <a:noFill/>
        </p:spPr>
        <p:txBody>
          <a:bodyPr wrap="square" anchor="t" lIns="0" rIns="0" tIns="0" bIns="0">
            <a:spAutoFit/>
          </a:bodyPr>
          <a:lstStyle/>
          <a:p>
            <a:pPr algn="l">
              <a:spcAft>
                <a:spcPts val="400"/>
              </a:spcAft>
            </a:pPr>
            <a:r>
              <a:rPr sz="1050" b="0" i="0">
                <a:solidFill>
                  <a:srgbClr val="5F6368"/>
                </a:solidFill>
                <a:latin typeface="Arial"/>
              </a:rPr>
              <a:t>fuera (OOB): </a:t>
            </a:r>
            <a:r>
              <a:rPr sz="1050" b="1" i="0">
                <a:solidFill>
                  <a:srgbClr val="5F6368"/>
                </a:solidFill>
                <a:latin typeface="Arial"/>
              </a:rPr>
              <a:t>A, F</a:t>
            </a:r>
          </a:p>
        </p:txBody>
      </p:sp>
      <p:sp>
        <p:nvSpPr>
          <p:cNvPr id="32" name="TextBox 31"/>
          <p:cNvSpPr txBox="1"/>
          <p:nvPr/>
        </p:nvSpPr>
        <p:spPr>
          <a:xfrm>
            <a:off x="731520" y="4434840"/>
            <a:ext cx="1828800" cy="411480"/>
          </a:xfrm>
          <a:prstGeom prst="rect">
            <a:avLst/>
          </a:prstGeom>
          <a:noFill/>
        </p:spPr>
        <p:txBody>
          <a:bodyPr wrap="square" anchor="t" lIns="36576" rIns="36576" tIns="36576" bIns="36576">
            <a:spAutoFit/>
          </a:bodyPr>
          <a:lstStyle/>
          <a:p>
            <a:pPr algn="l">
              <a:spcAft>
                <a:spcPts val="400"/>
              </a:spcAft>
            </a:pPr>
            <a:r>
              <a:rPr sz="1300" b="1" i="0">
                <a:solidFill>
                  <a:srgbClr val="D7263D"/>
                </a:solidFill>
                <a:latin typeface="Arial"/>
              </a:rPr>
              <a:t>Árbol 3</a:t>
            </a:r>
          </a:p>
        </p:txBody>
      </p:sp>
      <p:sp>
        <p:nvSpPr>
          <p:cNvPr id="33" name="Rectangle 32"/>
          <p:cNvSpPr/>
          <p:nvPr/>
        </p:nvSpPr>
        <p:spPr>
          <a:xfrm>
            <a:off x="2651760" y="4389120"/>
            <a:ext cx="640080" cy="457200"/>
          </a:xfrm>
          <a:prstGeom prst="rect">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242852"/>
                </a:solidFill>
                <a:latin typeface="Arial"/>
              </a:rPr>
              <a:t>A</a:t>
            </a:r>
          </a:p>
        </p:txBody>
      </p:sp>
      <p:sp>
        <p:nvSpPr>
          <p:cNvPr id="34" name="Rectangle 33"/>
          <p:cNvSpPr/>
          <p:nvPr/>
        </p:nvSpPr>
        <p:spPr>
          <a:xfrm>
            <a:off x="3364991" y="4389120"/>
            <a:ext cx="640080" cy="457200"/>
          </a:xfrm>
          <a:prstGeom prst="rect">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242852"/>
                </a:solidFill>
                <a:latin typeface="Arial"/>
              </a:rPr>
              <a:t>B</a:t>
            </a:r>
          </a:p>
        </p:txBody>
      </p:sp>
      <p:sp>
        <p:nvSpPr>
          <p:cNvPr id="35" name="Rectangle 34"/>
          <p:cNvSpPr/>
          <p:nvPr/>
        </p:nvSpPr>
        <p:spPr>
          <a:xfrm>
            <a:off x="4078224" y="4389120"/>
            <a:ext cx="640080" cy="457200"/>
          </a:xfrm>
          <a:prstGeom prst="rect">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242852"/>
                </a:solidFill>
                <a:latin typeface="Arial"/>
              </a:rPr>
              <a:t>D</a:t>
            </a:r>
          </a:p>
        </p:txBody>
      </p:sp>
      <p:sp>
        <p:nvSpPr>
          <p:cNvPr id="36" name="Rectangle 35"/>
          <p:cNvSpPr/>
          <p:nvPr/>
        </p:nvSpPr>
        <p:spPr>
          <a:xfrm>
            <a:off x="4791456" y="4389120"/>
            <a:ext cx="640080" cy="457200"/>
          </a:xfrm>
          <a:prstGeom prst="rect">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242852"/>
                </a:solidFill>
                <a:latin typeface="Arial"/>
              </a:rPr>
              <a:t>F</a:t>
            </a:r>
          </a:p>
        </p:txBody>
      </p:sp>
      <p:sp>
        <p:nvSpPr>
          <p:cNvPr id="37" name="Rectangle 36"/>
          <p:cNvSpPr/>
          <p:nvPr/>
        </p:nvSpPr>
        <p:spPr>
          <a:xfrm>
            <a:off x="5504688" y="4389120"/>
            <a:ext cx="640080" cy="457200"/>
          </a:xfrm>
          <a:prstGeom prst="rect">
            <a:avLst/>
          </a:prstGeom>
          <a:solidFill>
            <a:srgbClr val="FBE8EA"/>
          </a:solidFill>
          <a:ln w="15875">
            <a:solidFill>
              <a:srgbClr val="D7263D"/>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D7263D"/>
                </a:solidFill>
                <a:latin typeface="Arial"/>
              </a:rPr>
              <a:t>F</a:t>
            </a:r>
          </a:p>
        </p:txBody>
      </p:sp>
      <p:sp>
        <p:nvSpPr>
          <p:cNvPr id="38" name="Rectangle 37"/>
          <p:cNvSpPr/>
          <p:nvPr/>
        </p:nvSpPr>
        <p:spPr>
          <a:xfrm>
            <a:off x="6217920" y="4389120"/>
            <a:ext cx="640080" cy="457200"/>
          </a:xfrm>
          <a:prstGeom prst="rect">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242852"/>
                </a:solidFill>
                <a:latin typeface="Arial"/>
              </a:rPr>
              <a:t>G</a:t>
            </a:r>
          </a:p>
        </p:txBody>
      </p:sp>
      <p:sp>
        <p:nvSpPr>
          <p:cNvPr id="39" name="Rectangle 38"/>
          <p:cNvSpPr/>
          <p:nvPr/>
        </p:nvSpPr>
        <p:spPr>
          <a:xfrm>
            <a:off x="6931152" y="4389120"/>
            <a:ext cx="640080" cy="457200"/>
          </a:xfrm>
          <a:prstGeom prst="rect">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242852"/>
                </a:solidFill>
                <a:latin typeface="Arial"/>
              </a:rPr>
              <a:t>H</a:t>
            </a:r>
          </a:p>
        </p:txBody>
      </p:sp>
      <p:sp>
        <p:nvSpPr>
          <p:cNvPr id="40" name="Rectangle 39"/>
          <p:cNvSpPr/>
          <p:nvPr/>
        </p:nvSpPr>
        <p:spPr>
          <a:xfrm>
            <a:off x="7644383" y="4389120"/>
            <a:ext cx="640080" cy="457200"/>
          </a:xfrm>
          <a:prstGeom prst="rect">
            <a:avLst/>
          </a:prstGeom>
          <a:solidFill>
            <a:srgbClr val="FBE8EA"/>
          </a:solidFill>
          <a:ln w="15875">
            <a:solidFill>
              <a:srgbClr val="D7263D"/>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D7263D"/>
                </a:solidFill>
                <a:latin typeface="Arial"/>
              </a:rPr>
              <a:t>H</a:t>
            </a:r>
          </a:p>
        </p:txBody>
      </p:sp>
      <p:sp>
        <p:nvSpPr>
          <p:cNvPr id="41" name="TextBox 40"/>
          <p:cNvSpPr txBox="1"/>
          <p:nvPr/>
        </p:nvSpPr>
        <p:spPr>
          <a:xfrm>
            <a:off x="2651760" y="4864608"/>
            <a:ext cx="5669280" cy="274320"/>
          </a:xfrm>
          <a:prstGeom prst="rect">
            <a:avLst/>
          </a:prstGeom>
          <a:noFill/>
        </p:spPr>
        <p:txBody>
          <a:bodyPr wrap="square" anchor="t" lIns="0" rIns="0" tIns="0" bIns="0">
            <a:spAutoFit/>
          </a:bodyPr>
          <a:lstStyle/>
          <a:p>
            <a:pPr algn="l">
              <a:spcAft>
                <a:spcPts val="400"/>
              </a:spcAft>
            </a:pPr>
            <a:r>
              <a:rPr sz="1050" b="0" i="0">
                <a:solidFill>
                  <a:srgbClr val="5F6368"/>
                </a:solidFill>
                <a:latin typeface="Arial"/>
              </a:rPr>
              <a:t>fuera (OOB): </a:t>
            </a:r>
            <a:r>
              <a:rPr sz="1050" b="1" i="0">
                <a:solidFill>
                  <a:srgbClr val="5F6368"/>
                </a:solidFill>
                <a:latin typeface="Arial"/>
              </a:rPr>
              <a:t>C, E</a:t>
            </a:r>
          </a:p>
        </p:txBody>
      </p:sp>
      <p:sp>
        <p:nvSpPr>
          <p:cNvPr id="42" name="Rounded Rectangle 41"/>
          <p:cNvSpPr/>
          <p:nvPr/>
        </p:nvSpPr>
        <p:spPr>
          <a:xfrm>
            <a:off x="731520" y="5349240"/>
            <a:ext cx="3794760" cy="91440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Recuadro rojo</a:t>
            </a:r>
          </a:p>
          <a:p>
            <a:pPr algn="ctr">
              <a:spcAft>
                <a:spcPts val="300"/>
              </a:spcAft>
            </a:pPr>
            <a:r>
              <a:rPr sz="1150" b="0" i="0">
                <a:solidFill>
                  <a:srgbClr val="2B2B2B"/>
                </a:solidFill>
                <a:latin typeface="Arial"/>
              </a:rPr>
              <a:t>fila repetida en la muestra</a:t>
            </a:r>
          </a:p>
        </p:txBody>
      </p:sp>
      <p:sp>
        <p:nvSpPr>
          <p:cNvPr id="43" name="Rounded Rectangle 42"/>
          <p:cNvSpPr/>
          <p:nvPr/>
        </p:nvSpPr>
        <p:spPr>
          <a:xfrm>
            <a:off x="4709160" y="5349240"/>
            <a:ext cx="3794760" cy="91440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Out-of-bag</a:t>
            </a:r>
          </a:p>
          <a:p>
            <a:pPr algn="ctr">
              <a:spcAft>
                <a:spcPts val="300"/>
              </a:spcAft>
            </a:pPr>
            <a:r>
              <a:rPr sz="1150" b="0" i="0">
                <a:solidFill>
                  <a:srgbClr val="2B2B2B"/>
                </a:solidFill>
                <a:latin typeface="Arial"/>
              </a:rPr>
              <a:t>filas que ese árbol nunca vio</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200" b="1">
                <a:solidFill>
                  <a:srgbClr val="242852"/>
                </a:solidFill>
              </a:rPr>
              <a:t>Paso 2: cada muestra produce un árbol distinto</a:t>
            </a:r>
          </a:p>
        </p:txBody>
      </p:sp>
      <p:sp>
        <p:nvSpPr>
          <p:cNvPr id="3" name="TextBox 2"/>
          <p:cNvSpPr txBox="1"/>
          <p:nvPr/>
        </p:nvSpPr>
        <p:spPr>
          <a:xfrm>
            <a:off x="822960" y="1920240"/>
            <a:ext cx="2377440" cy="320040"/>
          </a:xfrm>
          <a:prstGeom prst="rect">
            <a:avLst/>
          </a:prstGeom>
          <a:noFill/>
        </p:spPr>
        <p:txBody>
          <a:bodyPr wrap="square" anchor="t" lIns="36576" rIns="36576" tIns="36576" bIns="36576">
            <a:spAutoFit/>
          </a:bodyPr>
          <a:lstStyle/>
          <a:p>
            <a:pPr algn="ctr">
              <a:spcAft>
                <a:spcPts val="400"/>
              </a:spcAft>
            </a:pPr>
            <a:r>
              <a:rPr sz="1150" b="1" i="0">
                <a:solidFill>
                  <a:srgbClr val="3D5A99"/>
                </a:solidFill>
                <a:latin typeface="Arial"/>
              </a:rPr>
              <a:t>Árbol 1  (AACDEFGH)</a:t>
            </a:r>
          </a:p>
        </p:txBody>
      </p:sp>
      <p:sp>
        <p:nvSpPr>
          <p:cNvPr id="4" name="Rounded Rectangle 3"/>
          <p:cNvSpPr/>
          <p:nvPr/>
        </p:nvSpPr>
        <p:spPr>
          <a:xfrm>
            <a:off x="1005840" y="2286000"/>
            <a:ext cx="2011680" cy="502920"/>
          </a:xfrm>
          <a:prstGeom prst="roundRect">
            <a:avLst>
              <a:gd name="adj" fmla="val 8000"/>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300" b="1" i="0">
                <a:solidFill>
                  <a:srgbClr val="FFFFFF"/>
                </a:solidFill>
                <a:latin typeface="Arial"/>
              </a:rPr>
              <a:t>¿X ≤ 19.5?</a:t>
            </a:r>
          </a:p>
        </p:txBody>
      </p:sp>
      <p:cxnSp>
        <p:nvCxnSpPr>
          <p:cNvPr id="5" name="Connector 4"/>
          <p:cNvCxnSpPr/>
          <p:nvPr/>
        </p:nvCxnSpPr>
        <p:spPr>
          <a:xfrm flipH="1">
            <a:off x="1325880" y="2788920"/>
            <a:ext cx="228600" cy="59436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20140" y="2903220"/>
            <a:ext cx="640080" cy="274320"/>
          </a:xfrm>
          <a:prstGeom prst="rect">
            <a:avLst/>
          </a:prstGeom>
          <a:noFill/>
        </p:spPr>
        <p:txBody>
          <a:bodyPr wrap="square" anchor="t" lIns="0" rIns="0" tIns="0" bIns="0">
            <a:spAutoFit/>
          </a:bodyPr>
          <a:lstStyle/>
          <a:p>
            <a:pPr algn="ctr">
              <a:spcAft>
                <a:spcPts val="400"/>
              </a:spcAft>
            </a:pPr>
            <a:r>
              <a:rPr sz="1000" b="1" i="0">
                <a:solidFill>
                  <a:srgbClr val="6D6E71"/>
                </a:solidFill>
                <a:latin typeface="Arial"/>
              </a:rPr>
              <a:t>sí</a:t>
            </a:r>
          </a:p>
        </p:txBody>
      </p:sp>
      <p:cxnSp>
        <p:nvCxnSpPr>
          <p:cNvPr id="7" name="Connector 6"/>
          <p:cNvCxnSpPr/>
          <p:nvPr/>
        </p:nvCxnSpPr>
        <p:spPr>
          <a:xfrm>
            <a:off x="2468880" y="2788920"/>
            <a:ext cx="228600" cy="59436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263140" y="2903220"/>
            <a:ext cx="640080" cy="274320"/>
          </a:xfrm>
          <a:prstGeom prst="rect">
            <a:avLst/>
          </a:prstGeom>
          <a:noFill/>
        </p:spPr>
        <p:txBody>
          <a:bodyPr wrap="square" anchor="t" lIns="0" rIns="0" tIns="0" bIns="0">
            <a:spAutoFit/>
          </a:bodyPr>
          <a:lstStyle/>
          <a:p>
            <a:pPr algn="ctr">
              <a:spcAft>
                <a:spcPts val="400"/>
              </a:spcAft>
            </a:pPr>
            <a:r>
              <a:rPr sz="1000" b="1" i="0">
                <a:solidFill>
                  <a:srgbClr val="6D6E71"/>
                </a:solidFill>
                <a:latin typeface="Arial"/>
              </a:rPr>
              <a:t>no</a:t>
            </a:r>
          </a:p>
        </p:txBody>
      </p:sp>
      <p:sp>
        <p:nvSpPr>
          <p:cNvPr id="9" name="Rounded Rectangle 8"/>
          <p:cNvSpPr/>
          <p:nvPr/>
        </p:nvSpPr>
        <p:spPr>
          <a:xfrm>
            <a:off x="800100" y="3383280"/>
            <a:ext cx="1051560" cy="54864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400" b="1" i="0">
                <a:solidFill>
                  <a:srgbClr val="3D5A99"/>
                </a:solidFill>
                <a:latin typeface="Arial"/>
              </a:rPr>
              <a:t>−0.25</a:t>
            </a:r>
          </a:p>
        </p:txBody>
      </p:sp>
      <p:sp>
        <p:nvSpPr>
          <p:cNvPr id="10" name="Rounded Rectangle 9"/>
          <p:cNvSpPr/>
          <p:nvPr/>
        </p:nvSpPr>
        <p:spPr>
          <a:xfrm>
            <a:off x="2171700" y="3383280"/>
            <a:ext cx="1051560" cy="54864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400" b="1" i="0">
                <a:solidFill>
                  <a:srgbClr val="3D5A99"/>
                </a:solidFill>
                <a:latin typeface="Arial"/>
              </a:rPr>
              <a:t>4.00</a:t>
            </a:r>
          </a:p>
        </p:txBody>
      </p:sp>
      <p:sp>
        <p:nvSpPr>
          <p:cNvPr id="11" name="TextBox 10"/>
          <p:cNvSpPr txBox="1"/>
          <p:nvPr/>
        </p:nvSpPr>
        <p:spPr>
          <a:xfrm>
            <a:off x="3429000" y="1920240"/>
            <a:ext cx="2377440" cy="320040"/>
          </a:xfrm>
          <a:prstGeom prst="rect">
            <a:avLst/>
          </a:prstGeom>
          <a:noFill/>
        </p:spPr>
        <p:txBody>
          <a:bodyPr wrap="square" anchor="t" lIns="36576" rIns="36576" tIns="36576" bIns="36576">
            <a:spAutoFit/>
          </a:bodyPr>
          <a:lstStyle/>
          <a:p>
            <a:pPr algn="ctr">
              <a:spcAft>
                <a:spcPts val="400"/>
              </a:spcAft>
            </a:pPr>
            <a:r>
              <a:rPr sz="1150" b="1" i="0">
                <a:solidFill>
                  <a:srgbClr val="2A9D8F"/>
                </a:solidFill>
                <a:latin typeface="Arial"/>
              </a:rPr>
              <a:t>Árbol 2  (BCCDEEGH)</a:t>
            </a:r>
          </a:p>
        </p:txBody>
      </p:sp>
      <p:sp>
        <p:nvSpPr>
          <p:cNvPr id="12" name="Rounded Rectangle 11"/>
          <p:cNvSpPr/>
          <p:nvPr/>
        </p:nvSpPr>
        <p:spPr>
          <a:xfrm>
            <a:off x="3611880" y="2286000"/>
            <a:ext cx="2011680" cy="502920"/>
          </a:xfrm>
          <a:prstGeom prst="roundRect">
            <a:avLst>
              <a:gd name="adj" fmla="val 8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300" b="1" i="0">
                <a:solidFill>
                  <a:srgbClr val="FFFFFF"/>
                </a:solidFill>
                <a:latin typeface="Arial"/>
              </a:rPr>
              <a:t>¿X ≤ 19.5?</a:t>
            </a:r>
          </a:p>
        </p:txBody>
      </p:sp>
      <p:cxnSp>
        <p:nvCxnSpPr>
          <p:cNvPr id="13" name="Connector 12"/>
          <p:cNvCxnSpPr/>
          <p:nvPr/>
        </p:nvCxnSpPr>
        <p:spPr>
          <a:xfrm flipH="1">
            <a:off x="3931920" y="2788920"/>
            <a:ext cx="228600" cy="59436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726180" y="2903220"/>
            <a:ext cx="640080" cy="274320"/>
          </a:xfrm>
          <a:prstGeom prst="rect">
            <a:avLst/>
          </a:prstGeom>
          <a:noFill/>
        </p:spPr>
        <p:txBody>
          <a:bodyPr wrap="square" anchor="t" lIns="0" rIns="0" tIns="0" bIns="0">
            <a:spAutoFit/>
          </a:bodyPr>
          <a:lstStyle/>
          <a:p>
            <a:pPr algn="ctr">
              <a:spcAft>
                <a:spcPts val="400"/>
              </a:spcAft>
            </a:pPr>
            <a:r>
              <a:rPr sz="1000" b="1" i="0">
                <a:solidFill>
                  <a:srgbClr val="6D6E71"/>
                </a:solidFill>
                <a:latin typeface="Arial"/>
              </a:rPr>
              <a:t>sí</a:t>
            </a:r>
          </a:p>
        </p:txBody>
      </p:sp>
      <p:cxnSp>
        <p:nvCxnSpPr>
          <p:cNvPr id="15" name="Connector 14"/>
          <p:cNvCxnSpPr/>
          <p:nvPr/>
        </p:nvCxnSpPr>
        <p:spPr>
          <a:xfrm>
            <a:off x="5074920" y="2788920"/>
            <a:ext cx="228600" cy="59436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869180" y="2903220"/>
            <a:ext cx="640080" cy="274320"/>
          </a:xfrm>
          <a:prstGeom prst="rect">
            <a:avLst/>
          </a:prstGeom>
          <a:noFill/>
        </p:spPr>
        <p:txBody>
          <a:bodyPr wrap="square" anchor="t" lIns="0" rIns="0" tIns="0" bIns="0">
            <a:spAutoFit/>
          </a:bodyPr>
          <a:lstStyle/>
          <a:p>
            <a:pPr algn="ctr">
              <a:spcAft>
                <a:spcPts val="400"/>
              </a:spcAft>
            </a:pPr>
            <a:r>
              <a:rPr sz="1000" b="1" i="0">
                <a:solidFill>
                  <a:srgbClr val="6D6E71"/>
                </a:solidFill>
                <a:latin typeface="Arial"/>
              </a:rPr>
              <a:t>no</a:t>
            </a:r>
          </a:p>
        </p:txBody>
      </p:sp>
      <p:sp>
        <p:nvSpPr>
          <p:cNvPr id="17" name="Rounded Rectangle 16"/>
          <p:cNvSpPr/>
          <p:nvPr/>
        </p:nvSpPr>
        <p:spPr>
          <a:xfrm>
            <a:off x="3406140" y="3383280"/>
            <a:ext cx="1051560" cy="54864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400" b="1" i="0">
                <a:solidFill>
                  <a:srgbClr val="2A9D8F"/>
                </a:solidFill>
                <a:latin typeface="Arial"/>
              </a:rPr>
              <a:t>0.50</a:t>
            </a:r>
          </a:p>
        </p:txBody>
      </p:sp>
      <p:sp>
        <p:nvSpPr>
          <p:cNvPr id="18" name="Rounded Rectangle 17"/>
          <p:cNvSpPr/>
          <p:nvPr/>
        </p:nvSpPr>
        <p:spPr>
          <a:xfrm>
            <a:off x="4777740" y="3383280"/>
            <a:ext cx="1051560" cy="54864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400" b="1" i="0">
                <a:solidFill>
                  <a:srgbClr val="2A9D8F"/>
                </a:solidFill>
                <a:latin typeface="Arial"/>
              </a:rPr>
              <a:t>3.75</a:t>
            </a:r>
          </a:p>
        </p:txBody>
      </p:sp>
      <p:sp>
        <p:nvSpPr>
          <p:cNvPr id="19" name="TextBox 18"/>
          <p:cNvSpPr txBox="1"/>
          <p:nvPr/>
        </p:nvSpPr>
        <p:spPr>
          <a:xfrm>
            <a:off x="6035040" y="1920240"/>
            <a:ext cx="2377440" cy="320040"/>
          </a:xfrm>
          <a:prstGeom prst="rect">
            <a:avLst/>
          </a:prstGeom>
          <a:noFill/>
        </p:spPr>
        <p:txBody>
          <a:bodyPr wrap="square" anchor="t" lIns="36576" rIns="36576" tIns="36576" bIns="36576">
            <a:spAutoFit/>
          </a:bodyPr>
          <a:lstStyle/>
          <a:p>
            <a:pPr algn="ctr">
              <a:spcAft>
                <a:spcPts val="400"/>
              </a:spcAft>
            </a:pPr>
            <a:r>
              <a:rPr sz="1150" b="1" i="0">
                <a:solidFill>
                  <a:srgbClr val="D7263D"/>
                </a:solidFill>
                <a:latin typeface="Arial"/>
              </a:rPr>
              <a:t>Árbol 3  (ABDFFGHH)</a:t>
            </a:r>
          </a:p>
        </p:txBody>
      </p:sp>
      <p:sp>
        <p:nvSpPr>
          <p:cNvPr id="20" name="Rounded Rectangle 19"/>
          <p:cNvSpPr/>
          <p:nvPr/>
        </p:nvSpPr>
        <p:spPr>
          <a:xfrm>
            <a:off x="6217920" y="2286000"/>
            <a:ext cx="2011680" cy="502920"/>
          </a:xfrm>
          <a:prstGeom prst="roundRect">
            <a:avLst>
              <a:gd name="adj" fmla="val 8000"/>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300" b="1" i="0">
                <a:solidFill>
                  <a:srgbClr val="FFFFFF"/>
                </a:solidFill>
                <a:latin typeface="Arial"/>
              </a:rPr>
              <a:t>¿X ≤ 20.0?</a:t>
            </a:r>
          </a:p>
        </p:txBody>
      </p:sp>
      <p:cxnSp>
        <p:nvCxnSpPr>
          <p:cNvPr id="21" name="Connector 20"/>
          <p:cNvCxnSpPr/>
          <p:nvPr/>
        </p:nvCxnSpPr>
        <p:spPr>
          <a:xfrm flipH="1">
            <a:off x="6537960" y="2788920"/>
            <a:ext cx="228600" cy="59436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32220" y="2903220"/>
            <a:ext cx="640080" cy="274320"/>
          </a:xfrm>
          <a:prstGeom prst="rect">
            <a:avLst/>
          </a:prstGeom>
          <a:noFill/>
        </p:spPr>
        <p:txBody>
          <a:bodyPr wrap="square" anchor="t" lIns="0" rIns="0" tIns="0" bIns="0">
            <a:spAutoFit/>
          </a:bodyPr>
          <a:lstStyle/>
          <a:p>
            <a:pPr algn="ctr">
              <a:spcAft>
                <a:spcPts val="400"/>
              </a:spcAft>
            </a:pPr>
            <a:r>
              <a:rPr sz="1000" b="1" i="0">
                <a:solidFill>
                  <a:srgbClr val="6D6E71"/>
                </a:solidFill>
                <a:latin typeface="Arial"/>
              </a:rPr>
              <a:t>sí</a:t>
            </a:r>
          </a:p>
        </p:txBody>
      </p:sp>
      <p:cxnSp>
        <p:nvCxnSpPr>
          <p:cNvPr id="23" name="Connector 22"/>
          <p:cNvCxnSpPr/>
          <p:nvPr/>
        </p:nvCxnSpPr>
        <p:spPr>
          <a:xfrm>
            <a:off x="7680960" y="2788920"/>
            <a:ext cx="228600" cy="59436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475220" y="2903220"/>
            <a:ext cx="640080" cy="274320"/>
          </a:xfrm>
          <a:prstGeom prst="rect">
            <a:avLst/>
          </a:prstGeom>
          <a:noFill/>
        </p:spPr>
        <p:txBody>
          <a:bodyPr wrap="square" anchor="t" lIns="0" rIns="0" tIns="0" bIns="0">
            <a:spAutoFit/>
          </a:bodyPr>
          <a:lstStyle/>
          <a:p>
            <a:pPr algn="ctr">
              <a:spcAft>
                <a:spcPts val="400"/>
              </a:spcAft>
            </a:pPr>
            <a:r>
              <a:rPr sz="1000" b="1" i="0">
                <a:solidFill>
                  <a:srgbClr val="6D6E71"/>
                </a:solidFill>
                <a:latin typeface="Arial"/>
              </a:rPr>
              <a:t>no</a:t>
            </a:r>
          </a:p>
        </p:txBody>
      </p:sp>
      <p:sp>
        <p:nvSpPr>
          <p:cNvPr id="25" name="Rounded Rectangle 24"/>
          <p:cNvSpPr/>
          <p:nvPr/>
        </p:nvSpPr>
        <p:spPr>
          <a:xfrm>
            <a:off x="6012180" y="3383280"/>
            <a:ext cx="1051560" cy="54864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400" b="1" i="0">
                <a:solidFill>
                  <a:srgbClr val="D7263D"/>
                </a:solidFill>
                <a:latin typeface="Arial"/>
              </a:rPr>
              <a:t>−0.33</a:t>
            </a:r>
          </a:p>
        </p:txBody>
      </p:sp>
      <p:sp>
        <p:nvSpPr>
          <p:cNvPr id="26" name="Rounded Rectangle 25"/>
          <p:cNvSpPr/>
          <p:nvPr/>
        </p:nvSpPr>
        <p:spPr>
          <a:xfrm>
            <a:off x="7383780" y="3383280"/>
            <a:ext cx="1051560" cy="54864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400" b="1" i="0">
                <a:solidFill>
                  <a:srgbClr val="D7263D"/>
                </a:solidFill>
                <a:latin typeface="Arial"/>
              </a:rPr>
              <a:t>4.20</a:t>
            </a:r>
          </a:p>
        </p:txBody>
      </p:sp>
      <p:graphicFrame>
        <p:nvGraphicFramePr>
          <p:cNvPr id="27" name="Table 26"/>
          <p:cNvGraphicFramePr>
            <a:graphicFrameLocks noGrp="1"/>
          </p:cNvGraphicFramePr>
          <p:nvPr/>
        </p:nvGraphicFramePr>
        <p:xfrm>
          <a:off x="731520" y="4114800"/>
          <a:ext cx="7772400" cy="1463040"/>
        </p:xfrm>
        <a:graphic>
          <a:graphicData uri="http://schemas.openxmlformats.org/drawingml/2006/table">
            <a:tbl>
              <a:tblPr firstRow="1" bandRow="1">
                <a:tableStyleId>{5C22544A-7EE6-4342-B048-85BDC9FD1C3A}</a:tableStyleId>
              </a:tblPr>
              <a:tblGrid>
                <a:gridCol w="2286000"/>
                <a:gridCol w="1828800"/>
                <a:gridCol w="1828800"/>
                <a:gridCol w="1828800"/>
              </a:tblGrid>
              <a:tr h="365760">
                <a:tc>
                  <a:txBody>
                    <a:bodyPr wrap="square"/>
                    <a:lstStyle/>
                    <a:p>
                      <a:pPr algn="l"/>
                      <a:r>
                        <a:rPr sz="1250" b="1" i="0">
                          <a:solidFill>
                            <a:srgbClr val="FFFFFF"/>
                          </a:solidFill>
                          <a:latin typeface="Arial"/>
                        </a:rPr>
                        <a:t/>
                      </a:r>
                    </a:p>
                  </a:txBody>
                  <a:tcPr marL="64008" marR="64008" marT="27432" marB="27432" anchor="ctr">
                    <a:solidFill>
                      <a:srgbClr val="242852"/>
                    </a:solidFill>
                  </a:tcPr>
                </a:tc>
                <a:tc>
                  <a:txBody>
                    <a:bodyPr wrap="square"/>
                    <a:lstStyle/>
                    <a:p>
                      <a:pPr algn="ctr"/>
                      <a:r>
                        <a:rPr sz="1250" b="1" i="0">
                          <a:solidFill>
                            <a:srgbClr val="FFFFFF"/>
                          </a:solidFill>
                          <a:latin typeface="Arial"/>
                        </a:rPr>
                        <a:t>Árbol 1</a:t>
                      </a:r>
                    </a:p>
                  </a:txBody>
                  <a:tcPr marL="64008" marR="64008" marT="27432" marB="27432" anchor="ctr">
                    <a:solidFill>
                      <a:srgbClr val="242852"/>
                    </a:solidFill>
                  </a:tcPr>
                </a:tc>
                <a:tc>
                  <a:txBody>
                    <a:bodyPr wrap="square"/>
                    <a:lstStyle/>
                    <a:p>
                      <a:pPr algn="ctr"/>
                      <a:r>
                        <a:rPr sz="1250" b="1" i="0">
                          <a:solidFill>
                            <a:srgbClr val="FFFFFF"/>
                          </a:solidFill>
                          <a:latin typeface="Arial"/>
                        </a:rPr>
                        <a:t>Árbol 2</a:t>
                      </a:r>
                    </a:p>
                  </a:txBody>
                  <a:tcPr marL="64008" marR="64008" marT="27432" marB="27432" anchor="ctr">
                    <a:solidFill>
                      <a:srgbClr val="242852"/>
                    </a:solidFill>
                  </a:tcPr>
                </a:tc>
                <a:tc>
                  <a:txBody>
                    <a:bodyPr wrap="square"/>
                    <a:lstStyle/>
                    <a:p>
                      <a:pPr algn="ctr"/>
                      <a:r>
                        <a:rPr sz="1250" b="1" i="0">
                          <a:solidFill>
                            <a:srgbClr val="FFFFFF"/>
                          </a:solidFill>
                          <a:latin typeface="Arial"/>
                        </a:rPr>
                        <a:t>Árbol 3</a:t>
                      </a:r>
                    </a:p>
                  </a:txBody>
                  <a:tcPr marL="64008" marR="64008" marT="27432" marB="27432" anchor="ctr">
                    <a:solidFill>
                      <a:srgbClr val="242852"/>
                    </a:solidFill>
                  </a:tcPr>
                </a:tc>
              </a:tr>
              <a:tr h="365760">
                <a:tc>
                  <a:txBody>
                    <a:bodyPr wrap="square"/>
                    <a:lstStyle/>
                    <a:p>
                      <a:pPr algn="l"/>
                      <a:r>
                        <a:rPr sz="1250" b="1" i="0">
                          <a:solidFill>
                            <a:srgbClr val="2B2B2B"/>
                          </a:solidFill>
                          <a:latin typeface="Arial"/>
                        </a:rPr>
                        <a:t>Corte</a:t>
                      </a:r>
                    </a:p>
                  </a:txBody>
                  <a:tcPr marL="64008" marR="64008" marT="27432" marB="27432" anchor="ctr">
                    <a:solidFill>
                      <a:srgbClr val="FFFFFF"/>
                    </a:solidFill>
                  </a:tcPr>
                </a:tc>
                <a:tc>
                  <a:txBody>
                    <a:bodyPr wrap="square"/>
                    <a:lstStyle/>
                    <a:p>
                      <a:pPr algn="ctr"/>
                      <a:r>
                        <a:rPr sz="1250" b="0" i="0">
                          <a:solidFill>
                            <a:srgbClr val="2B2B2B"/>
                          </a:solidFill>
                          <a:latin typeface="Arial"/>
                        </a:rPr>
                        <a:t>19.5</a:t>
                      </a:r>
                    </a:p>
                  </a:txBody>
                  <a:tcPr marL="64008" marR="64008" marT="27432" marB="27432" anchor="ctr">
                    <a:solidFill>
                      <a:srgbClr val="FFFFFF"/>
                    </a:solidFill>
                  </a:tcPr>
                </a:tc>
                <a:tc>
                  <a:txBody>
                    <a:bodyPr wrap="square"/>
                    <a:lstStyle/>
                    <a:p>
                      <a:pPr algn="ctr"/>
                      <a:r>
                        <a:rPr sz="1250" b="0" i="0">
                          <a:solidFill>
                            <a:srgbClr val="2B2B2B"/>
                          </a:solidFill>
                          <a:latin typeface="Arial"/>
                        </a:rPr>
                        <a:t>19.5</a:t>
                      </a:r>
                    </a:p>
                  </a:txBody>
                  <a:tcPr marL="64008" marR="64008" marT="27432" marB="27432" anchor="ctr">
                    <a:solidFill>
                      <a:srgbClr val="FFFFFF"/>
                    </a:solidFill>
                  </a:tcPr>
                </a:tc>
                <a:tc>
                  <a:txBody>
                    <a:bodyPr wrap="square"/>
                    <a:lstStyle/>
                    <a:p>
                      <a:pPr algn="ctr"/>
                      <a:r>
                        <a:rPr sz="1250" b="1" i="0">
                          <a:solidFill>
                            <a:srgbClr val="D7263D"/>
                          </a:solidFill>
                          <a:latin typeface="Arial"/>
                        </a:rPr>
                        <a:t>20.0</a:t>
                      </a:r>
                    </a:p>
                  </a:txBody>
                  <a:tcPr marL="64008" marR="64008" marT="27432" marB="27432" anchor="ctr">
                    <a:solidFill>
                      <a:srgbClr val="FFFFFF"/>
                    </a:solidFill>
                  </a:tcPr>
                </a:tc>
              </a:tr>
              <a:tr h="365760">
                <a:tc>
                  <a:txBody>
                    <a:bodyPr wrap="square"/>
                    <a:lstStyle/>
                    <a:p>
                      <a:pPr algn="l"/>
                      <a:r>
                        <a:rPr sz="1250" b="1" i="0">
                          <a:solidFill>
                            <a:srgbClr val="2B2B2B"/>
                          </a:solidFill>
                          <a:latin typeface="Arial"/>
                        </a:rPr>
                        <a:t>Hoja izquierda</a:t>
                      </a:r>
                    </a:p>
                  </a:txBody>
                  <a:tcPr marL="64008" marR="64008" marT="27432" marB="27432" anchor="ctr">
                    <a:solidFill>
                      <a:srgbClr val="F2F3F5"/>
                    </a:solidFill>
                  </a:tcPr>
                </a:tc>
                <a:tc>
                  <a:txBody>
                    <a:bodyPr wrap="square"/>
                    <a:lstStyle/>
                    <a:p>
                      <a:pPr algn="ctr"/>
                      <a:r>
                        <a:rPr sz="1250" b="0" i="0">
                          <a:solidFill>
                            <a:srgbClr val="2B2B2B"/>
                          </a:solidFill>
                          <a:latin typeface="Arial"/>
                        </a:rPr>
                        <a:t>−0.25</a:t>
                      </a:r>
                    </a:p>
                  </a:txBody>
                  <a:tcPr marL="64008" marR="64008" marT="27432" marB="27432" anchor="ctr">
                    <a:solidFill>
                      <a:srgbClr val="F2F3F5"/>
                    </a:solidFill>
                  </a:tcPr>
                </a:tc>
                <a:tc>
                  <a:txBody>
                    <a:bodyPr wrap="square"/>
                    <a:lstStyle/>
                    <a:p>
                      <a:pPr algn="ctr"/>
                      <a:r>
                        <a:rPr sz="1250" b="0" i="0">
                          <a:solidFill>
                            <a:srgbClr val="2B2B2B"/>
                          </a:solidFill>
                          <a:latin typeface="Arial"/>
                        </a:rPr>
                        <a:t>0.50</a:t>
                      </a:r>
                    </a:p>
                  </a:txBody>
                  <a:tcPr marL="64008" marR="64008" marT="27432" marB="27432" anchor="ctr">
                    <a:solidFill>
                      <a:srgbClr val="F2F3F5"/>
                    </a:solidFill>
                  </a:tcPr>
                </a:tc>
                <a:tc>
                  <a:txBody>
                    <a:bodyPr wrap="square"/>
                    <a:lstStyle/>
                    <a:p>
                      <a:pPr algn="ctr"/>
                      <a:r>
                        <a:rPr sz="1250" b="0" i="0">
                          <a:solidFill>
                            <a:srgbClr val="2B2B2B"/>
                          </a:solidFill>
                          <a:latin typeface="Arial"/>
                        </a:rPr>
                        <a:t>−0.33</a:t>
                      </a:r>
                    </a:p>
                  </a:txBody>
                  <a:tcPr marL="64008" marR="64008" marT="27432" marB="27432" anchor="ctr">
                    <a:solidFill>
                      <a:srgbClr val="F2F3F5"/>
                    </a:solidFill>
                  </a:tcPr>
                </a:tc>
              </a:tr>
              <a:tr h="365760">
                <a:tc>
                  <a:txBody>
                    <a:bodyPr wrap="square"/>
                    <a:lstStyle/>
                    <a:p>
                      <a:pPr algn="l"/>
                      <a:r>
                        <a:rPr sz="1250" b="1" i="0">
                          <a:solidFill>
                            <a:srgbClr val="2B2B2B"/>
                          </a:solidFill>
                          <a:latin typeface="Arial"/>
                        </a:rPr>
                        <a:t>Hoja derecha</a:t>
                      </a:r>
                    </a:p>
                  </a:txBody>
                  <a:tcPr marL="64008" marR="64008" marT="27432" marB="27432" anchor="ctr">
                    <a:solidFill>
                      <a:srgbClr val="FFFFFF"/>
                    </a:solidFill>
                  </a:tcPr>
                </a:tc>
                <a:tc>
                  <a:txBody>
                    <a:bodyPr wrap="square"/>
                    <a:lstStyle/>
                    <a:p>
                      <a:pPr algn="ctr"/>
                      <a:r>
                        <a:rPr sz="1250" b="0" i="0">
                          <a:solidFill>
                            <a:srgbClr val="2B2B2B"/>
                          </a:solidFill>
                          <a:latin typeface="Arial"/>
                        </a:rPr>
                        <a:t>4.00</a:t>
                      </a:r>
                    </a:p>
                  </a:txBody>
                  <a:tcPr marL="64008" marR="64008" marT="27432" marB="27432" anchor="ctr">
                    <a:solidFill>
                      <a:srgbClr val="FFFFFF"/>
                    </a:solidFill>
                  </a:tcPr>
                </a:tc>
                <a:tc>
                  <a:txBody>
                    <a:bodyPr wrap="square"/>
                    <a:lstStyle/>
                    <a:p>
                      <a:pPr algn="ctr"/>
                      <a:r>
                        <a:rPr sz="1250" b="0" i="0">
                          <a:solidFill>
                            <a:srgbClr val="2B2B2B"/>
                          </a:solidFill>
                          <a:latin typeface="Arial"/>
                        </a:rPr>
                        <a:t>3.75</a:t>
                      </a:r>
                    </a:p>
                  </a:txBody>
                  <a:tcPr marL="64008" marR="64008" marT="27432" marB="27432" anchor="ctr">
                    <a:solidFill>
                      <a:srgbClr val="FFFFFF"/>
                    </a:solidFill>
                  </a:tcPr>
                </a:tc>
                <a:tc>
                  <a:txBody>
                    <a:bodyPr wrap="square"/>
                    <a:lstStyle/>
                    <a:p>
                      <a:pPr algn="ctr"/>
                      <a:r>
                        <a:rPr sz="1250" b="0" i="0">
                          <a:solidFill>
                            <a:srgbClr val="2B2B2B"/>
                          </a:solidFill>
                          <a:latin typeface="Arial"/>
                        </a:rPr>
                        <a:t>4.20</a:t>
                      </a:r>
                    </a:p>
                  </a:txBody>
                  <a:tcPr marL="64008" marR="64008" marT="27432" marB="27432" anchor="ctr">
                    <a:solidFill>
                      <a:srgbClr val="FFFFFF"/>
                    </a:solidFill>
                  </a:tcPr>
                </a:tc>
              </a:tr>
            </a:tbl>
          </a:graphicData>
        </a:graphic>
      </p:graphicFrame>
      <p:sp>
        <p:nvSpPr>
          <p:cNvPr id="28" name="Rounded Rectangle 27"/>
          <p:cNvSpPr/>
          <p:nvPr/>
        </p:nvSpPr>
        <p:spPr>
          <a:xfrm>
            <a:off x="731520" y="5760720"/>
            <a:ext cx="7772400" cy="530352"/>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Varianza: </a:t>
            </a:r>
            <a:r>
              <a:rPr sz="1200" b="0" i="0">
                <a:solidFill>
                  <a:srgbClr val="2B2B2B"/>
                </a:solidFill>
                <a:latin typeface="Arial"/>
              </a:rPr>
              <a:t>el mismo algoritmo, con datos casi iguales, da reglas distintas. Random Forest aprovecha esa diversidad.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Paso 3: promediar las predicciones a mano</a:t>
            </a:r>
          </a:p>
        </p:txBody>
      </p:sp>
      <p:graphicFrame>
        <p:nvGraphicFramePr>
          <p:cNvPr id="3" name="Table 2"/>
          <p:cNvGraphicFramePr>
            <a:graphicFrameLocks noGrp="1"/>
          </p:cNvGraphicFramePr>
          <p:nvPr/>
        </p:nvGraphicFramePr>
        <p:xfrm>
          <a:off x="731520" y="1965960"/>
          <a:ext cx="7772400" cy="1508760"/>
        </p:xfrm>
        <a:graphic>
          <a:graphicData uri="http://schemas.openxmlformats.org/drawingml/2006/table">
            <a:tbl>
              <a:tblPr firstRow="1" bandRow="1">
                <a:tableStyleId>{5C22544A-7EE6-4342-B048-85BDC9FD1C3A}</a:tableStyleId>
              </a:tblPr>
              <a:tblGrid>
                <a:gridCol w="1097280"/>
                <a:gridCol w="868680"/>
                <a:gridCol w="868680"/>
                <a:gridCol w="868680"/>
                <a:gridCol w="2971800"/>
                <a:gridCol w="1097280"/>
              </a:tblGrid>
              <a:tr h="502920">
                <a:tc>
                  <a:txBody>
                    <a:bodyPr wrap="square"/>
                    <a:lstStyle/>
                    <a:p>
                      <a:pPr algn="l"/>
                      <a:r>
                        <a:rPr sz="1200" b="1" i="0">
                          <a:solidFill>
                            <a:srgbClr val="FFFFFF"/>
                          </a:solidFill>
                          <a:latin typeface="Arial"/>
                        </a:rPr>
                        <a:t>Nuevo caso</a:t>
                      </a:r>
                    </a:p>
                  </a:txBody>
                  <a:tcPr marL="64008" marR="64008" marT="27432" marB="27432" anchor="ctr">
                    <a:solidFill>
                      <a:srgbClr val="242852"/>
                    </a:solidFill>
                  </a:tcPr>
                </a:tc>
                <a:tc>
                  <a:txBody>
                    <a:bodyPr wrap="square"/>
                    <a:lstStyle/>
                    <a:p>
                      <a:pPr algn="ctr"/>
                      <a:r>
                        <a:rPr sz="1200" b="1" i="0">
                          <a:solidFill>
                            <a:srgbClr val="FFFFFF"/>
                          </a:solidFill>
                          <a:latin typeface="Arial"/>
                        </a:rPr>
                        <a:t>Árbol 1</a:t>
                      </a:r>
                    </a:p>
                  </a:txBody>
                  <a:tcPr marL="64008" marR="64008" marT="27432" marB="27432" anchor="ctr">
                    <a:solidFill>
                      <a:srgbClr val="242852"/>
                    </a:solidFill>
                  </a:tcPr>
                </a:tc>
                <a:tc>
                  <a:txBody>
                    <a:bodyPr wrap="square"/>
                    <a:lstStyle/>
                    <a:p>
                      <a:pPr algn="ctr"/>
                      <a:r>
                        <a:rPr sz="1200" b="1" i="0">
                          <a:solidFill>
                            <a:srgbClr val="FFFFFF"/>
                          </a:solidFill>
                          <a:latin typeface="Arial"/>
                        </a:rPr>
                        <a:t>Árbol 2</a:t>
                      </a:r>
                    </a:p>
                  </a:txBody>
                  <a:tcPr marL="64008" marR="64008" marT="27432" marB="27432" anchor="ctr">
                    <a:solidFill>
                      <a:srgbClr val="242852"/>
                    </a:solidFill>
                  </a:tcPr>
                </a:tc>
                <a:tc>
                  <a:txBody>
                    <a:bodyPr wrap="square"/>
                    <a:lstStyle/>
                    <a:p>
                      <a:pPr algn="ctr"/>
                      <a:r>
                        <a:rPr sz="1200" b="1" i="0">
                          <a:solidFill>
                            <a:srgbClr val="FFFFFF"/>
                          </a:solidFill>
                          <a:latin typeface="Arial"/>
                        </a:rPr>
                        <a:t>Árbol 3</a:t>
                      </a:r>
                    </a:p>
                  </a:txBody>
                  <a:tcPr marL="64008" marR="64008" marT="27432" marB="27432" anchor="ctr">
                    <a:solidFill>
                      <a:srgbClr val="242852"/>
                    </a:solidFill>
                  </a:tcPr>
                </a:tc>
                <a:tc>
                  <a:txBody>
                    <a:bodyPr wrap="square"/>
                    <a:lstStyle/>
                    <a:p>
                      <a:pPr algn="ctr"/>
                      <a:r>
                        <a:rPr sz="1200" b="1" i="0">
                          <a:solidFill>
                            <a:srgbClr val="FFFFFF"/>
                          </a:solidFill>
                          <a:latin typeface="Arial"/>
                        </a:rPr>
                        <a:t>Promedio (bosque)</a:t>
                      </a:r>
                    </a:p>
                  </a:txBody>
                  <a:tcPr marL="64008" marR="64008" marT="27432" marB="27432" anchor="ctr">
                    <a:solidFill>
                      <a:srgbClr val="242852"/>
                    </a:solidFill>
                  </a:tcPr>
                </a:tc>
                <a:tc>
                  <a:txBody>
                    <a:bodyPr wrap="square"/>
                    <a:lstStyle/>
                    <a:p>
                      <a:pPr algn="ctr"/>
                      <a:r>
                        <a:rPr sz="1200" b="1" i="0">
                          <a:solidFill>
                            <a:srgbClr val="FFFFFF"/>
                          </a:solidFill>
                          <a:latin typeface="Arial"/>
                        </a:rPr>
                        <a:t>Árbol original</a:t>
                      </a:r>
                    </a:p>
                  </a:txBody>
                  <a:tcPr marL="64008" marR="64008" marT="27432" marB="27432" anchor="ctr">
                    <a:solidFill>
                      <a:srgbClr val="242852"/>
                    </a:solidFill>
                  </a:tcPr>
                </a:tc>
              </a:tr>
              <a:tr h="502920">
                <a:tc>
                  <a:txBody>
                    <a:bodyPr wrap="square"/>
                    <a:lstStyle/>
                    <a:p>
                      <a:pPr algn="l"/>
                      <a:r>
                        <a:rPr sz="1200" b="1" i="0">
                          <a:solidFill>
                            <a:srgbClr val="2B2B2B"/>
                          </a:solidFill>
                          <a:latin typeface="Arial"/>
                        </a:rPr>
                        <a:t>X = 17</a:t>
                      </a:r>
                    </a:p>
                  </a:txBody>
                  <a:tcPr marL="64008" marR="64008" marT="27432" marB="27432" anchor="ctr">
                    <a:solidFill>
                      <a:srgbClr val="FFFFFF"/>
                    </a:solidFill>
                  </a:tcPr>
                </a:tc>
                <a:tc>
                  <a:txBody>
                    <a:bodyPr wrap="square"/>
                    <a:lstStyle/>
                    <a:p>
                      <a:pPr algn="ctr"/>
                      <a:r>
                        <a:rPr sz="1200" b="0" i="0">
                          <a:solidFill>
                            <a:srgbClr val="2B2B2B"/>
                          </a:solidFill>
                          <a:latin typeface="Arial"/>
                        </a:rPr>
                        <a:t>−0.25</a:t>
                      </a:r>
                    </a:p>
                  </a:txBody>
                  <a:tcPr marL="64008" marR="64008" marT="27432" marB="27432" anchor="ctr">
                    <a:solidFill>
                      <a:srgbClr val="FFFFFF"/>
                    </a:solidFill>
                  </a:tcPr>
                </a:tc>
                <a:tc>
                  <a:txBody>
                    <a:bodyPr wrap="square"/>
                    <a:lstStyle/>
                    <a:p>
                      <a:pPr algn="ctr"/>
                      <a:r>
                        <a:rPr sz="1200" b="0" i="0">
                          <a:solidFill>
                            <a:srgbClr val="2B2B2B"/>
                          </a:solidFill>
                          <a:latin typeface="Arial"/>
                        </a:rPr>
                        <a:t>0.50</a:t>
                      </a:r>
                    </a:p>
                  </a:txBody>
                  <a:tcPr marL="64008" marR="64008" marT="27432" marB="27432" anchor="ctr">
                    <a:solidFill>
                      <a:srgbClr val="FFFFFF"/>
                    </a:solidFill>
                  </a:tcPr>
                </a:tc>
                <a:tc>
                  <a:txBody>
                    <a:bodyPr wrap="square"/>
                    <a:lstStyle/>
                    <a:p>
                      <a:pPr algn="ctr"/>
                      <a:r>
                        <a:rPr sz="1200" b="0" i="0">
                          <a:solidFill>
                            <a:srgbClr val="2B2B2B"/>
                          </a:solidFill>
                          <a:latin typeface="Arial"/>
                        </a:rPr>
                        <a:t>−0.33</a:t>
                      </a:r>
                    </a:p>
                  </a:txBody>
                  <a:tcPr marL="64008" marR="64008" marT="27432" marB="27432" anchor="ctr">
                    <a:solidFill>
                      <a:srgbClr val="FFFFFF"/>
                    </a:solidFill>
                  </a:tcPr>
                </a:tc>
                <a:tc>
                  <a:txBody>
                    <a:bodyPr wrap="square"/>
                    <a:lstStyle/>
                    <a:p>
                      <a:pPr algn="ctr"/>
                      <a:r>
                        <a:rPr sz="1200" b="1" i="0">
                          <a:solidFill>
                            <a:srgbClr val="242852"/>
                          </a:solidFill>
                          <a:latin typeface="Arial"/>
                        </a:rPr>
                        <a:t>(−0.25 + 0.50 − 0.33) / 3 = −0.03</a:t>
                      </a:r>
                    </a:p>
                  </a:txBody>
                  <a:tcPr marL="64008" marR="64008" marT="27432" marB="27432" anchor="ctr">
                    <a:solidFill>
                      <a:srgbClr val="FFFFFF"/>
                    </a:solidFill>
                  </a:tcPr>
                </a:tc>
                <a:tc>
                  <a:txBody>
                    <a:bodyPr wrap="square"/>
                    <a:lstStyle/>
                    <a:p>
                      <a:pPr algn="ctr"/>
                      <a:r>
                        <a:rPr sz="1200" b="0" i="0">
                          <a:solidFill>
                            <a:srgbClr val="2B2B2B"/>
                          </a:solidFill>
                          <a:latin typeface="Arial"/>
                        </a:rPr>
                        <a:t>0.0</a:t>
                      </a:r>
                    </a:p>
                  </a:txBody>
                  <a:tcPr marL="64008" marR="64008" marT="27432" marB="27432" anchor="ctr">
                    <a:solidFill>
                      <a:srgbClr val="FFFFFF"/>
                    </a:solidFill>
                  </a:tcPr>
                </a:tc>
              </a:tr>
              <a:tr h="502920">
                <a:tc>
                  <a:txBody>
                    <a:bodyPr wrap="square"/>
                    <a:lstStyle/>
                    <a:p>
                      <a:pPr algn="l"/>
                      <a:r>
                        <a:rPr sz="1200" b="1" i="0">
                          <a:solidFill>
                            <a:srgbClr val="2B2B2B"/>
                          </a:solidFill>
                          <a:latin typeface="Arial"/>
                        </a:rPr>
                        <a:t>X = 20</a:t>
                      </a:r>
                    </a:p>
                  </a:txBody>
                  <a:tcPr marL="64008" marR="64008" marT="27432" marB="27432" anchor="ctr">
                    <a:solidFill>
                      <a:srgbClr val="FBE8EA"/>
                    </a:solidFill>
                  </a:tcPr>
                </a:tc>
                <a:tc>
                  <a:txBody>
                    <a:bodyPr wrap="square"/>
                    <a:lstStyle/>
                    <a:p>
                      <a:pPr algn="ctr"/>
                      <a:r>
                        <a:rPr sz="1200" b="0" i="0">
                          <a:solidFill>
                            <a:srgbClr val="2B2B2B"/>
                          </a:solidFill>
                          <a:latin typeface="Arial"/>
                        </a:rPr>
                        <a:t>4.00</a:t>
                      </a:r>
                    </a:p>
                  </a:txBody>
                  <a:tcPr marL="64008" marR="64008" marT="27432" marB="27432" anchor="ctr">
                    <a:solidFill>
                      <a:srgbClr val="FBE8EA"/>
                    </a:solidFill>
                  </a:tcPr>
                </a:tc>
                <a:tc>
                  <a:txBody>
                    <a:bodyPr wrap="square"/>
                    <a:lstStyle/>
                    <a:p>
                      <a:pPr algn="ctr"/>
                      <a:r>
                        <a:rPr sz="1200" b="0" i="0">
                          <a:solidFill>
                            <a:srgbClr val="2B2B2B"/>
                          </a:solidFill>
                          <a:latin typeface="Arial"/>
                        </a:rPr>
                        <a:t>3.75</a:t>
                      </a:r>
                    </a:p>
                  </a:txBody>
                  <a:tcPr marL="64008" marR="64008" marT="27432" marB="27432" anchor="ctr">
                    <a:solidFill>
                      <a:srgbClr val="FBE8EA"/>
                    </a:solidFill>
                  </a:tcPr>
                </a:tc>
                <a:tc>
                  <a:txBody>
                    <a:bodyPr wrap="square"/>
                    <a:lstStyle/>
                    <a:p>
                      <a:pPr algn="ctr"/>
                      <a:r>
                        <a:rPr sz="1200" b="1" i="0">
                          <a:solidFill>
                            <a:srgbClr val="D7263D"/>
                          </a:solidFill>
                          <a:latin typeface="Arial"/>
                        </a:rPr>
                        <a:t>−0.33</a:t>
                      </a:r>
                    </a:p>
                  </a:txBody>
                  <a:tcPr marL="64008" marR="64008" marT="27432" marB="27432" anchor="ctr">
                    <a:solidFill>
                      <a:srgbClr val="FBE8EA"/>
                    </a:solidFill>
                  </a:tcPr>
                </a:tc>
                <a:tc>
                  <a:txBody>
                    <a:bodyPr wrap="square"/>
                    <a:lstStyle/>
                    <a:p>
                      <a:pPr algn="ctr"/>
                      <a:r>
                        <a:rPr sz="1200" b="1" i="0">
                          <a:solidFill>
                            <a:srgbClr val="D7263D"/>
                          </a:solidFill>
                          <a:latin typeface="Arial"/>
                        </a:rPr>
                        <a:t>(4.00 + 3.75 − 0.33) / 3 = 2.47</a:t>
                      </a:r>
                    </a:p>
                  </a:txBody>
                  <a:tcPr marL="64008" marR="64008" marT="27432" marB="27432" anchor="ctr">
                    <a:solidFill>
                      <a:srgbClr val="FBE8EA"/>
                    </a:solidFill>
                  </a:tcPr>
                </a:tc>
                <a:tc>
                  <a:txBody>
                    <a:bodyPr wrap="square"/>
                    <a:lstStyle/>
                    <a:p>
                      <a:pPr algn="ctr"/>
                      <a:r>
                        <a:rPr sz="1200" b="0" i="0">
                          <a:solidFill>
                            <a:srgbClr val="2B2B2B"/>
                          </a:solidFill>
                          <a:latin typeface="Arial"/>
                        </a:rPr>
                        <a:t>4.0</a:t>
                      </a:r>
                    </a:p>
                  </a:txBody>
                  <a:tcPr marL="64008" marR="64008" marT="27432" marB="27432" anchor="ctr">
                    <a:solidFill>
                      <a:srgbClr val="FBE8EA"/>
                    </a:solidFill>
                  </a:tcPr>
                </a:tc>
              </a:tr>
            </a:tbl>
          </a:graphicData>
        </a:graphic>
      </p:graphicFrame>
      <p:pic>
        <p:nvPicPr>
          <p:cNvPr id="4" name="Picture 3" descr="t_depths_rf.png"/>
          <p:cNvPicPr>
            <a:picLocks noChangeAspect="1"/>
          </p:cNvPicPr>
          <p:nvPr/>
        </p:nvPicPr>
        <p:blipFill>
          <a:blip r:embed="rId3"/>
          <a:stretch>
            <a:fillRect/>
          </a:stretch>
        </p:blipFill>
        <p:spPr>
          <a:xfrm>
            <a:off x="731520" y="3715562"/>
            <a:ext cx="7772400" cy="1850034"/>
          </a:xfrm>
          <a:prstGeom prst="rect">
            <a:avLst/>
          </a:prstGeom>
        </p:spPr>
      </p:pic>
      <p:sp>
        <p:nvSpPr>
          <p:cNvPr id="5" name="Rounded Rectangle 4"/>
          <p:cNvSpPr/>
          <p:nvPr/>
        </p:nvSpPr>
        <p:spPr>
          <a:xfrm>
            <a:off x="731520" y="5760720"/>
            <a:ext cx="7772400" cy="530352"/>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En la imagen: </a:t>
            </a:r>
            <a:r>
              <a:rPr sz="1200" b="0" i="0">
                <a:solidFill>
                  <a:srgbClr val="2B2B2B"/>
                </a:solidFill>
                <a:latin typeface="Arial"/>
              </a:rPr>
              <a:t>un árbol forma escalones bruscos; el bosque de 200 árboles promedia y produce una curva más suave.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Paso 4: azar también en las variables</a:t>
            </a:r>
          </a:p>
        </p:txBody>
      </p:sp>
      <p:sp>
        <p:nvSpPr>
          <p:cNvPr id="3" name="TextBox 2"/>
          <p:cNvSpPr txBox="1"/>
          <p:nvPr/>
        </p:nvSpPr>
        <p:spPr>
          <a:xfrm>
            <a:off x="731520" y="2167127"/>
            <a:ext cx="1188720" cy="411480"/>
          </a:xfrm>
          <a:prstGeom prst="rect">
            <a:avLst/>
          </a:prstGeom>
          <a:noFill/>
        </p:spPr>
        <p:txBody>
          <a:bodyPr wrap="square" anchor="t" lIns="36576" rIns="36576" tIns="36576" bIns="36576">
            <a:spAutoFit/>
          </a:bodyPr>
          <a:lstStyle/>
          <a:p>
            <a:pPr algn="l">
              <a:spcAft>
                <a:spcPts val="400"/>
              </a:spcAft>
            </a:pPr>
            <a:r>
              <a:rPr sz="1300" b="1" i="0">
                <a:solidFill>
                  <a:srgbClr val="3D5A99"/>
                </a:solidFill>
                <a:latin typeface="Arial"/>
              </a:rPr>
              <a:t>Árbol 1</a:t>
            </a:r>
          </a:p>
        </p:txBody>
      </p:sp>
      <p:sp>
        <p:nvSpPr>
          <p:cNvPr id="4" name="Rounded Rectangle 3"/>
          <p:cNvSpPr/>
          <p:nvPr/>
        </p:nvSpPr>
        <p:spPr>
          <a:xfrm>
            <a:off x="1965960" y="2103120"/>
            <a:ext cx="1234440" cy="502920"/>
          </a:xfrm>
          <a:prstGeom prst="roundRect">
            <a:avLst>
              <a:gd name="adj" fmla="val 8000"/>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100" b="1" i="0">
                <a:solidFill>
                  <a:srgbClr val="FFFFFF"/>
                </a:solidFill>
                <a:latin typeface="Arial"/>
              </a:rPr>
              <a:t>Transacciones</a:t>
            </a:r>
          </a:p>
        </p:txBody>
      </p:sp>
      <p:sp>
        <p:nvSpPr>
          <p:cNvPr id="5" name="Rounded Rectangle 4"/>
          <p:cNvSpPr/>
          <p:nvPr/>
        </p:nvSpPr>
        <p:spPr>
          <a:xfrm>
            <a:off x="3273552" y="2103120"/>
            <a:ext cx="1234440" cy="50292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100" b="0" i="0">
                <a:solidFill>
                  <a:srgbClr val="5F6368"/>
                </a:solidFill>
                <a:latin typeface="Arial"/>
              </a:rPr>
              <a:t>Cambio Q4/Q1</a:t>
            </a:r>
          </a:p>
        </p:txBody>
      </p:sp>
      <p:sp>
        <p:nvSpPr>
          <p:cNvPr id="6" name="Rounded Rectangle 5"/>
          <p:cNvSpPr/>
          <p:nvPr/>
        </p:nvSpPr>
        <p:spPr>
          <a:xfrm>
            <a:off x="4581144" y="2103120"/>
            <a:ext cx="1234440" cy="50292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100" b="0" i="0">
                <a:solidFill>
                  <a:srgbClr val="5F6368"/>
                </a:solidFill>
                <a:latin typeface="Arial"/>
              </a:rPr>
              <a:t>Productos</a:t>
            </a:r>
          </a:p>
        </p:txBody>
      </p:sp>
      <p:sp>
        <p:nvSpPr>
          <p:cNvPr id="7" name="Rounded Rectangle 6"/>
          <p:cNvSpPr/>
          <p:nvPr/>
        </p:nvSpPr>
        <p:spPr>
          <a:xfrm>
            <a:off x="5888736" y="2103120"/>
            <a:ext cx="1234440" cy="502920"/>
          </a:xfrm>
          <a:prstGeom prst="roundRect">
            <a:avLst>
              <a:gd name="adj" fmla="val 8000"/>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100" b="1" i="0">
                <a:solidFill>
                  <a:srgbClr val="FFFFFF"/>
                </a:solidFill>
                <a:latin typeface="Arial"/>
              </a:rPr>
              <a:t>Edad</a:t>
            </a:r>
          </a:p>
        </p:txBody>
      </p:sp>
      <p:sp>
        <p:nvSpPr>
          <p:cNvPr id="8" name="Rounded Rectangle 7"/>
          <p:cNvSpPr/>
          <p:nvPr/>
        </p:nvSpPr>
        <p:spPr>
          <a:xfrm>
            <a:off x="7196327" y="2103120"/>
            <a:ext cx="1234440" cy="50292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100" b="0" i="0">
                <a:solidFill>
                  <a:srgbClr val="5F6368"/>
                </a:solidFill>
                <a:latin typeface="Arial"/>
              </a:rPr>
              <a:t>Límite</a:t>
            </a:r>
          </a:p>
        </p:txBody>
      </p:sp>
      <p:sp>
        <p:nvSpPr>
          <p:cNvPr id="9" name="TextBox 8"/>
          <p:cNvSpPr txBox="1"/>
          <p:nvPr/>
        </p:nvSpPr>
        <p:spPr>
          <a:xfrm>
            <a:off x="731520" y="2944368"/>
            <a:ext cx="1188720" cy="411480"/>
          </a:xfrm>
          <a:prstGeom prst="rect">
            <a:avLst/>
          </a:prstGeom>
          <a:noFill/>
        </p:spPr>
        <p:txBody>
          <a:bodyPr wrap="square" anchor="t" lIns="36576" rIns="36576" tIns="36576" bIns="36576">
            <a:spAutoFit/>
          </a:bodyPr>
          <a:lstStyle/>
          <a:p>
            <a:pPr algn="l">
              <a:spcAft>
                <a:spcPts val="400"/>
              </a:spcAft>
            </a:pPr>
            <a:r>
              <a:rPr sz="1300" b="1" i="0">
                <a:solidFill>
                  <a:srgbClr val="2A9D8F"/>
                </a:solidFill>
                <a:latin typeface="Arial"/>
              </a:rPr>
              <a:t>Árbol 2</a:t>
            </a:r>
          </a:p>
        </p:txBody>
      </p:sp>
      <p:sp>
        <p:nvSpPr>
          <p:cNvPr id="10" name="Rounded Rectangle 9"/>
          <p:cNvSpPr/>
          <p:nvPr/>
        </p:nvSpPr>
        <p:spPr>
          <a:xfrm>
            <a:off x="1965960" y="2880360"/>
            <a:ext cx="1234440" cy="50292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100" b="0" i="0">
                <a:solidFill>
                  <a:srgbClr val="5F6368"/>
                </a:solidFill>
                <a:latin typeface="Arial"/>
              </a:rPr>
              <a:t>Transacciones</a:t>
            </a:r>
          </a:p>
        </p:txBody>
      </p:sp>
      <p:sp>
        <p:nvSpPr>
          <p:cNvPr id="11" name="Rounded Rectangle 10"/>
          <p:cNvSpPr/>
          <p:nvPr/>
        </p:nvSpPr>
        <p:spPr>
          <a:xfrm>
            <a:off x="3273552" y="2880360"/>
            <a:ext cx="1234440" cy="502920"/>
          </a:xfrm>
          <a:prstGeom prst="roundRect">
            <a:avLst>
              <a:gd name="adj" fmla="val 8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100" b="1" i="0">
                <a:solidFill>
                  <a:srgbClr val="FFFFFF"/>
                </a:solidFill>
                <a:latin typeface="Arial"/>
              </a:rPr>
              <a:t>Cambio Q4/Q1</a:t>
            </a:r>
          </a:p>
        </p:txBody>
      </p:sp>
      <p:sp>
        <p:nvSpPr>
          <p:cNvPr id="12" name="Rounded Rectangle 11"/>
          <p:cNvSpPr/>
          <p:nvPr/>
        </p:nvSpPr>
        <p:spPr>
          <a:xfrm>
            <a:off x="4581144" y="2880360"/>
            <a:ext cx="1234440" cy="50292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100" b="0" i="0">
                <a:solidFill>
                  <a:srgbClr val="5F6368"/>
                </a:solidFill>
                <a:latin typeface="Arial"/>
              </a:rPr>
              <a:t>Productos</a:t>
            </a:r>
          </a:p>
        </p:txBody>
      </p:sp>
      <p:sp>
        <p:nvSpPr>
          <p:cNvPr id="13" name="Rounded Rectangle 12"/>
          <p:cNvSpPr/>
          <p:nvPr/>
        </p:nvSpPr>
        <p:spPr>
          <a:xfrm>
            <a:off x="5888736" y="2880360"/>
            <a:ext cx="1234440" cy="50292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100" b="0" i="0">
                <a:solidFill>
                  <a:srgbClr val="5F6368"/>
                </a:solidFill>
                <a:latin typeface="Arial"/>
              </a:rPr>
              <a:t>Edad</a:t>
            </a:r>
          </a:p>
        </p:txBody>
      </p:sp>
      <p:sp>
        <p:nvSpPr>
          <p:cNvPr id="14" name="Rounded Rectangle 13"/>
          <p:cNvSpPr/>
          <p:nvPr/>
        </p:nvSpPr>
        <p:spPr>
          <a:xfrm>
            <a:off x="7196327" y="2880360"/>
            <a:ext cx="1234440" cy="502920"/>
          </a:xfrm>
          <a:prstGeom prst="roundRect">
            <a:avLst>
              <a:gd name="adj" fmla="val 8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100" b="1" i="0">
                <a:solidFill>
                  <a:srgbClr val="FFFFFF"/>
                </a:solidFill>
                <a:latin typeface="Arial"/>
              </a:rPr>
              <a:t>Límite</a:t>
            </a:r>
          </a:p>
        </p:txBody>
      </p:sp>
      <p:sp>
        <p:nvSpPr>
          <p:cNvPr id="15" name="TextBox 14"/>
          <p:cNvSpPr txBox="1"/>
          <p:nvPr/>
        </p:nvSpPr>
        <p:spPr>
          <a:xfrm>
            <a:off x="731520" y="3721608"/>
            <a:ext cx="1188720" cy="411480"/>
          </a:xfrm>
          <a:prstGeom prst="rect">
            <a:avLst/>
          </a:prstGeom>
          <a:noFill/>
        </p:spPr>
        <p:txBody>
          <a:bodyPr wrap="square" anchor="t" lIns="36576" rIns="36576" tIns="36576" bIns="36576">
            <a:spAutoFit/>
          </a:bodyPr>
          <a:lstStyle/>
          <a:p>
            <a:pPr algn="l">
              <a:spcAft>
                <a:spcPts val="400"/>
              </a:spcAft>
            </a:pPr>
            <a:r>
              <a:rPr sz="1300" b="1" i="0">
                <a:solidFill>
                  <a:srgbClr val="D7263D"/>
                </a:solidFill>
                <a:latin typeface="Arial"/>
              </a:rPr>
              <a:t>Árbol 3</a:t>
            </a:r>
          </a:p>
        </p:txBody>
      </p:sp>
      <p:sp>
        <p:nvSpPr>
          <p:cNvPr id="16" name="Rounded Rectangle 15"/>
          <p:cNvSpPr/>
          <p:nvPr/>
        </p:nvSpPr>
        <p:spPr>
          <a:xfrm>
            <a:off x="1965960" y="3657600"/>
            <a:ext cx="1234440" cy="502920"/>
          </a:xfrm>
          <a:prstGeom prst="roundRect">
            <a:avLst>
              <a:gd name="adj" fmla="val 8000"/>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100" b="1" i="0">
                <a:solidFill>
                  <a:srgbClr val="FFFFFF"/>
                </a:solidFill>
                <a:latin typeface="Arial"/>
              </a:rPr>
              <a:t>Transacciones</a:t>
            </a:r>
          </a:p>
        </p:txBody>
      </p:sp>
      <p:sp>
        <p:nvSpPr>
          <p:cNvPr id="17" name="Rounded Rectangle 16"/>
          <p:cNvSpPr/>
          <p:nvPr/>
        </p:nvSpPr>
        <p:spPr>
          <a:xfrm>
            <a:off x="3273552" y="3657600"/>
            <a:ext cx="1234440" cy="50292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100" b="0" i="0">
                <a:solidFill>
                  <a:srgbClr val="5F6368"/>
                </a:solidFill>
                <a:latin typeface="Arial"/>
              </a:rPr>
              <a:t>Cambio Q4/Q1</a:t>
            </a:r>
          </a:p>
        </p:txBody>
      </p:sp>
      <p:sp>
        <p:nvSpPr>
          <p:cNvPr id="18" name="Rounded Rectangle 17"/>
          <p:cNvSpPr/>
          <p:nvPr/>
        </p:nvSpPr>
        <p:spPr>
          <a:xfrm>
            <a:off x="4581144" y="3657600"/>
            <a:ext cx="1234440" cy="502920"/>
          </a:xfrm>
          <a:prstGeom prst="roundRect">
            <a:avLst>
              <a:gd name="adj" fmla="val 8000"/>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100" b="1" i="0">
                <a:solidFill>
                  <a:srgbClr val="FFFFFF"/>
                </a:solidFill>
                <a:latin typeface="Arial"/>
              </a:rPr>
              <a:t>Productos</a:t>
            </a:r>
          </a:p>
        </p:txBody>
      </p:sp>
      <p:sp>
        <p:nvSpPr>
          <p:cNvPr id="19" name="Rounded Rectangle 18"/>
          <p:cNvSpPr/>
          <p:nvPr/>
        </p:nvSpPr>
        <p:spPr>
          <a:xfrm>
            <a:off x="5888736" y="3657600"/>
            <a:ext cx="1234440" cy="50292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100" b="0" i="0">
                <a:solidFill>
                  <a:srgbClr val="5F6368"/>
                </a:solidFill>
                <a:latin typeface="Arial"/>
              </a:rPr>
              <a:t>Edad</a:t>
            </a:r>
          </a:p>
        </p:txBody>
      </p:sp>
      <p:sp>
        <p:nvSpPr>
          <p:cNvPr id="20" name="Rounded Rectangle 19"/>
          <p:cNvSpPr/>
          <p:nvPr/>
        </p:nvSpPr>
        <p:spPr>
          <a:xfrm>
            <a:off x="7196327" y="3657600"/>
            <a:ext cx="1234440" cy="50292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100" b="0" i="0">
                <a:solidFill>
                  <a:srgbClr val="5F6368"/>
                </a:solidFill>
                <a:latin typeface="Arial"/>
              </a:rPr>
              <a:t>Límite</a:t>
            </a:r>
          </a:p>
        </p:txBody>
      </p:sp>
      <p:sp>
        <p:nvSpPr>
          <p:cNvPr id="21" name="TextBox 20"/>
          <p:cNvSpPr txBox="1"/>
          <p:nvPr/>
        </p:nvSpPr>
        <p:spPr>
          <a:xfrm>
            <a:off x="1965960" y="4434840"/>
            <a:ext cx="6492240" cy="320040"/>
          </a:xfrm>
          <a:prstGeom prst="rect">
            <a:avLst/>
          </a:prstGeom>
          <a:noFill/>
        </p:spPr>
        <p:txBody>
          <a:bodyPr wrap="square" anchor="t" lIns="36576" rIns="36576" tIns="36576" bIns="36576">
            <a:spAutoFit/>
          </a:bodyPr>
          <a:lstStyle/>
          <a:p>
            <a:pPr algn="l">
              <a:spcAft>
                <a:spcPts val="400"/>
              </a:spcAft>
            </a:pPr>
            <a:r>
              <a:rPr sz="1050" b="0" i="1">
                <a:solidFill>
                  <a:srgbClr val="5F6368"/>
                </a:solidFill>
                <a:latin typeface="Arial"/>
              </a:rPr>
              <a:t>En color: variables que ese árbol puede usar en su primer corte (ejemplo ilustrativo)</a:t>
            </a:r>
          </a:p>
        </p:txBody>
      </p:sp>
      <p:sp>
        <p:nvSpPr>
          <p:cNvPr id="22" name="Rounded Rectangle 21"/>
          <p:cNvSpPr/>
          <p:nvPr/>
        </p:nvSpPr>
        <p:spPr>
          <a:xfrm>
            <a:off x="731520" y="4846320"/>
            <a:ext cx="3794760" cy="141732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3" name="TextBox 22"/>
          <p:cNvSpPr txBox="1"/>
          <p:nvPr/>
        </p:nvSpPr>
        <p:spPr>
          <a:xfrm>
            <a:off x="868680" y="495604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Sin este azar</a:t>
            </a:r>
          </a:p>
        </p:txBody>
      </p:sp>
      <p:sp>
        <p:nvSpPr>
          <p:cNvPr id="24" name="TextBox 23"/>
          <p:cNvSpPr txBox="1"/>
          <p:nvPr/>
        </p:nvSpPr>
        <p:spPr>
          <a:xfrm>
            <a:off x="868680" y="5504688"/>
            <a:ext cx="3520440" cy="68580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Todos los árboles se parecerían: promediar copias no ayuda.</a:t>
            </a:r>
          </a:p>
        </p:txBody>
      </p:sp>
      <p:sp>
        <p:nvSpPr>
          <p:cNvPr id="25" name="Rounded Rectangle 24"/>
          <p:cNvSpPr/>
          <p:nvPr/>
        </p:nvSpPr>
        <p:spPr>
          <a:xfrm>
            <a:off x="4709160" y="4846320"/>
            <a:ext cx="3794760" cy="141732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6" name="TextBox 25"/>
          <p:cNvSpPr txBox="1"/>
          <p:nvPr/>
        </p:nvSpPr>
        <p:spPr>
          <a:xfrm>
            <a:off x="4846320" y="495604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2A9D8F"/>
                </a:solidFill>
                <a:latin typeface="Arial"/>
              </a:rPr>
              <a:t>Con este azar</a:t>
            </a:r>
          </a:p>
        </p:txBody>
      </p:sp>
      <p:sp>
        <p:nvSpPr>
          <p:cNvPr id="27" name="TextBox 26"/>
          <p:cNvSpPr txBox="1"/>
          <p:nvPr/>
        </p:nvSpPr>
        <p:spPr>
          <a:xfrm>
            <a:off x="4846320" y="5504688"/>
            <a:ext cx="3520440" cy="68580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Árboles diversos: sus errores se compensan al promediar.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Los hiperparámetros del bosque</a:t>
            </a:r>
          </a:p>
        </p:txBody>
      </p:sp>
      <p:sp>
        <p:nvSpPr>
          <p:cNvPr id="3" name="Rounded Rectangle 2"/>
          <p:cNvSpPr/>
          <p:nvPr/>
        </p:nvSpPr>
        <p:spPr>
          <a:xfrm>
            <a:off x="731520" y="1965960"/>
            <a:ext cx="3794760" cy="17373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Rounded Rectangle 3"/>
          <p:cNvSpPr/>
          <p:nvPr/>
        </p:nvSpPr>
        <p:spPr>
          <a:xfrm>
            <a:off x="868680" y="2103120"/>
            <a:ext cx="1920240" cy="41148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150" b="1" i="0">
                <a:solidFill>
                  <a:srgbClr val="FFFFFF"/>
                </a:solidFill>
                <a:latin typeface="Arial"/>
              </a:rPr>
              <a:t>n_estimators</a:t>
            </a:r>
          </a:p>
        </p:txBody>
      </p:sp>
      <p:sp>
        <p:nvSpPr>
          <p:cNvPr id="5" name="TextBox 4"/>
          <p:cNvSpPr txBox="1"/>
          <p:nvPr/>
        </p:nvSpPr>
        <p:spPr>
          <a:xfrm>
            <a:off x="2926080" y="2057400"/>
            <a:ext cx="1508760" cy="502920"/>
          </a:xfrm>
          <a:prstGeom prst="rect">
            <a:avLst/>
          </a:prstGeom>
          <a:noFill/>
        </p:spPr>
        <p:txBody>
          <a:bodyPr wrap="square" anchor="ctr" lIns="36576" rIns="36576" tIns="36576" bIns="36576">
            <a:spAutoFit/>
          </a:bodyPr>
          <a:lstStyle/>
          <a:p>
            <a:pPr algn="l">
              <a:spcAft>
                <a:spcPts val="400"/>
              </a:spcAft>
            </a:pPr>
            <a:r>
              <a:rPr sz="1100" b="0" i="0">
                <a:solidFill>
                  <a:srgbClr val="5F6368"/>
                </a:solidFill>
                <a:latin typeface="Arial"/>
              </a:rPr>
              <a:t>valor: </a:t>
            </a:r>
            <a:r>
              <a:rPr sz="1500" b="1" i="0">
                <a:solidFill>
                  <a:srgbClr val="242852"/>
                </a:solidFill>
                <a:latin typeface="Arial"/>
              </a:rPr>
              <a:t>100</a:t>
            </a:r>
          </a:p>
        </p:txBody>
      </p:sp>
      <p:sp>
        <p:nvSpPr>
          <p:cNvPr id="6" name="TextBox 5"/>
          <p:cNvSpPr txBox="1"/>
          <p:nvPr/>
        </p:nvSpPr>
        <p:spPr>
          <a:xfrm>
            <a:off x="868680" y="2651760"/>
            <a:ext cx="3520440" cy="1005840"/>
          </a:xfrm>
          <a:prstGeom prst="rect">
            <a:avLst/>
          </a:prstGeom>
          <a:noFill/>
        </p:spPr>
        <p:txBody>
          <a:bodyPr wrap="square" anchor="t" lIns="36576" rIns="36576" tIns="36576" bIns="36576">
            <a:spAutoFit/>
          </a:bodyPr>
          <a:lstStyle/>
          <a:p>
            <a:pPr algn="l">
              <a:spcAft>
                <a:spcPts val="400"/>
              </a:spcAft>
            </a:pPr>
            <a:r>
              <a:rPr sz="1300" b="1" i="0">
                <a:solidFill>
                  <a:srgbClr val="242852"/>
                </a:solidFill>
                <a:latin typeface="Arial"/>
              </a:rPr>
              <a:t>Número de árboles</a:t>
            </a:r>
          </a:p>
          <a:p>
            <a:pPr algn="l">
              <a:spcAft>
                <a:spcPts val="400"/>
              </a:spcAft>
            </a:pPr>
            <a:r>
              <a:rPr sz="1200" b="0" i="0">
                <a:solidFill>
                  <a:srgbClr val="2B2B2B"/>
                </a:solidFill>
                <a:latin typeface="Arial"/>
              </a:rPr>
              <a:t>Más árboles: promedio más estable</a:t>
            </a:r>
          </a:p>
        </p:txBody>
      </p:sp>
      <p:sp>
        <p:nvSpPr>
          <p:cNvPr id="7" name="Rounded Rectangle 6"/>
          <p:cNvSpPr/>
          <p:nvPr/>
        </p:nvSpPr>
        <p:spPr>
          <a:xfrm>
            <a:off x="4663440" y="1965960"/>
            <a:ext cx="3794760" cy="17373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Rounded Rectangle 7"/>
          <p:cNvSpPr/>
          <p:nvPr/>
        </p:nvSpPr>
        <p:spPr>
          <a:xfrm>
            <a:off x="4800600" y="2103120"/>
            <a:ext cx="1920240" cy="411480"/>
          </a:xfrm>
          <a:prstGeom prst="roundRect">
            <a:avLst>
              <a:gd name="adj" fmla="val 8000"/>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150" b="1" i="0">
                <a:solidFill>
                  <a:srgbClr val="FFFFFF"/>
                </a:solidFill>
                <a:latin typeface="Arial"/>
              </a:rPr>
              <a:t>max_depth</a:t>
            </a:r>
          </a:p>
        </p:txBody>
      </p:sp>
      <p:sp>
        <p:nvSpPr>
          <p:cNvPr id="9" name="TextBox 8"/>
          <p:cNvSpPr txBox="1"/>
          <p:nvPr/>
        </p:nvSpPr>
        <p:spPr>
          <a:xfrm>
            <a:off x="6858000" y="2057400"/>
            <a:ext cx="1508760" cy="502920"/>
          </a:xfrm>
          <a:prstGeom prst="rect">
            <a:avLst/>
          </a:prstGeom>
          <a:noFill/>
        </p:spPr>
        <p:txBody>
          <a:bodyPr wrap="square" anchor="ctr" lIns="36576" rIns="36576" tIns="36576" bIns="36576">
            <a:spAutoFit/>
          </a:bodyPr>
          <a:lstStyle/>
          <a:p>
            <a:pPr algn="l">
              <a:spcAft>
                <a:spcPts val="400"/>
              </a:spcAft>
            </a:pPr>
            <a:r>
              <a:rPr sz="1100" b="0" i="0">
                <a:solidFill>
                  <a:srgbClr val="5F6368"/>
                </a:solidFill>
                <a:latin typeface="Arial"/>
              </a:rPr>
              <a:t>valor: </a:t>
            </a:r>
            <a:r>
              <a:rPr sz="1500" b="1" i="0">
                <a:solidFill>
                  <a:srgbClr val="D7263D"/>
                </a:solidFill>
                <a:latin typeface="Arial"/>
              </a:rPr>
              <a:t>8</a:t>
            </a:r>
          </a:p>
        </p:txBody>
      </p:sp>
      <p:sp>
        <p:nvSpPr>
          <p:cNvPr id="10" name="TextBox 9"/>
          <p:cNvSpPr txBox="1"/>
          <p:nvPr/>
        </p:nvSpPr>
        <p:spPr>
          <a:xfrm>
            <a:off x="4800600" y="2651760"/>
            <a:ext cx="3520440" cy="1005840"/>
          </a:xfrm>
          <a:prstGeom prst="rect">
            <a:avLst/>
          </a:prstGeom>
          <a:noFill/>
        </p:spPr>
        <p:txBody>
          <a:bodyPr wrap="square" anchor="t" lIns="36576" rIns="36576" tIns="36576" bIns="36576">
            <a:spAutoFit/>
          </a:bodyPr>
          <a:lstStyle/>
          <a:p>
            <a:pPr algn="l">
              <a:spcAft>
                <a:spcPts val="400"/>
              </a:spcAft>
            </a:pPr>
            <a:r>
              <a:rPr sz="1300" b="1" i="0">
                <a:solidFill>
                  <a:srgbClr val="D7263D"/>
                </a:solidFill>
                <a:latin typeface="Arial"/>
              </a:rPr>
              <a:t>Profundidad de cada árbol</a:t>
            </a:r>
          </a:p>
          <a:p>
            <a:pPr algn="l">
              <a:spcAft>
                <a:spcPts val="400"/>
              </a:spcAft>
            </a:pPr>
            <a:r>
              <a:rPr sz="1200" b="0" i="0">
                <a:solidFill>
                  <a:srgbClr val="2B2B2B"/>
                </a:solidFill>
                <a:latin typeface="Arial"/>
              </a:rPr>
              <a:t>Limita cuántas preguntas hace</a:t>
            </a:r>
          </a:p>
        </p:txBody>
      </p:sp>
      <p:sp>
        <p:nvSpPr>
          <p:cNvPr id="11" name="Rounded Rectangle 10"/>
          <p:cNvSpPr/>
          <p:nvPr/>
        </p:nvSpPr>
        <p:spPr>
          <a:xfrm>
            <a:off x="731520" y="3840479"/>
            <a:ext cx="3794760" cy="17373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 name="Rounded Rectangle 11"/>
          <p:cNvSpPr/>
          <p:nvPr/>
        </p:nvSpPr>
        <p:spPr>
          <a:xfrm>
            <a:off x="868680" y="3977639"/>
            <a:ext cx="1920240" cy="411480"/>
          </a:xfrm>
          <a:prstGeom prst="roundRect">
            <a:avLst>
              <a:gd name="adj" fmla="val 8000"/>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150" b="1" i="0">
                <a:solidFill>
                  <a:srgbClr val="FFFFFF"/>
                </a:solidFill>
                <a:latin typeface="Arial"/>
              </a:rPr>
              <a:t>min_samples_leaf</a:t>
            </a:r>
          </a:p>
        </p:txBody>
      </p:sp>
      <p:sp>
        <p:nvSpPr>
          <p:cNvPr id="13" name="TextBox 12"/>
          <p:cNvSpPr txBox="1"/>
          <p:nvPr/>
        </p:nvSpPr>
        <p:spPr>
          <a:xfrm>
            <a:off x="2926080" y="3931919"/>
            <a:ext cx="1508760" cy="502920"/>
          </a:xfrm>
          <a:prstGeom prst="rect">
            <a:avLst/>
          </a:prstGeom>
          <a:noFill/>
        </p:spPr>
        <p:txBody>
          <a:bodyPr wrap="square" anchor="ctr" lIns="36576" rIns="36576" tIns="36576" bIns="36576">
            <a:spAutoFit/>
          </a:bodyPr>
          <a:lstStyle/>
          <a:p>
            <a:pPr algn="l">
              <a:spcAft>
                <a:spcPts val="400"/>
              </a:spcAft>
            </a:pPr>
            <a:r>
              <a:rPr sz="1100" b="0" i="0">
                <a:solidFill>
                  <a:srgbClr val="5F6368"/>
                </a:solidFill>
                <a:latin typeface="Arial"/>
              </a:rPr>
              <a:t>valor: </a:t>
            </a:r>
            <a:r>
              <a:rPr sz="1500" b="1" i="0">
                <a:solidFill>
                  <a:srgbClr val="D7263D"/>
                </a:solidFill>
                <a:latin typeface="Arial"/>
              </a:rPr>
              <a:t>5</a:t>
            </a:r>
          </a:p>
        </p:txBody>
      </p:sp>
      <p:sp>
        <p:nvSpPr>
          <p:cNvPr id="14" name="TextBox 13"/>
          <p:cNvSpPr txBox="1"/>
          <p:nvPr/>
        </p:nvSpPr>
        <p:spPr>
          <a:xfrm>
            <a:off x="868680" y="4526279"/>
            <a:ext cx="3520440" cy="1005840"/>
          </a:xfrm>
          <a:prstGeom prst="rect">
            <a:avLst/>
          </a:prstGeom>
          <a:noFill/>
        </p:spPr>
        <p:txBody>
          <a:bodyPr wrap="square" anchor="t" lIns="36576" rIns="36576" tIns="36576" bIns="36576">
            <a:spAutoFit/>
          </a:bodyPr>
          <a:lstStyle/>
          <a:p>
            <a:pPr algn="l">
              <a:spcAft>
                <a:spcPts val="400"/>
              </a:spcAft>
            </a:pPr>
            <a:r>
              <a:rPr sz="1300" b="1" i="0">
                <a:solidFill>
                  <a:srgbClr val="D7263D"/>
                </a:solidFill>
                <a:latin typeface="Arial"/>
              </a:rPr>
              <a:t>Filas mínimas por hoja</a:t>
            </a:r>
          </a:p>
          <a:p>
            <a:pPr algn="l">
              <a:spcAft>
                <a:spcPts val="400"/>
              </a:spcAft>
            </a:pPr>
            <a:r>
              <a:rPr sz="1200" b="0" i="0">
                <a:solidFill>
                  <a:srgbClr val="2B2B2B"/>
                </a:solidFill>
                <a:latin typeface="Arial"/>
              </a:rPr>
              <a:t>Evita hojas de casos aislados</a:t>
            </a:r>
          </a:p>
        </p:txBody>
      </p:sp>
      <p:sp>
        <p:nvSpPr>
          <p:cNvPr id="15" name="Rounded Rectangle 14"/>
          <p:cNvSpPr/>
          <p:nvPr/>
        </p:nvSpPr>
        <p:spPr>
          <a:xfrm>
            <a:off x="4663440" y="3840479"/>
            <a:ext cx="3794760" cy="17373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Rounded Rectangle 15"/>
          <p:cNvSpPr/>
          <p:nvPr/>
        </p:nvSpPr>
        <p:spPr>
          <a:xfrm>
            <a:off x="4800600" y="3977639"/>
            <a:ext cx="1920240" cy="41148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150" b="1" i="0">
                <a:solidFill>
                  <a:srgbClr val="FFFFFF"/>
                </a:solidFill>
                <a:latin typeface="Arial"/>
              </a:rPr>
              <a:t>max_features</a:t>
            </a:r>
          </a:p>
        </p:txBody>
      </p:sp>
      <p:sp>
        <p:nvSpPr>
          <p:cNvPr id="17" name="TextBox 16"/>
          <p:cNvSpPr txBox="1"/>
          <p:nvPr/>
        </p:nvSpPr>
        <p:spPr>
          <a:xfrm>
            <a:off x="6858000" y="3931919"/>
            <a:ext cx="1508760" cy="502920"/>
          </a:xfrm>
          <a:prstGeom prst="rect">
            <a:avLst/>
          </a:prstGeom>
          <a:noFill/>
        </p:spPr>
        <p:txBody>
          <a:bodyPr wrap="square" anchor="ctr" lIns="36576" rIns="36576" tIns="36576" bIns="36576">
            <a:spAutoFit/>
          </a:bodyPr>
          <a:lstStyle/>
          <a:p>
            <a:pPr algn="l">
              <a:spcAft>
                <a:spcPts val="400"/>
              </a:spcAft>
            </a:pPr>
            <a:r>
              <a:rPr sz="1100" b="0" i="0">
                <a:solidFill>
                  <a:srgbClr val="5F6368"/>
                </a:solidFill>
                <a:latin typeface="Arial"/>
              </a:rPr>
              <a:t>valor: </a:t>
            </a:r>
            <a:r>
              <a:rPr sz="1500" b="1" i="0">
                <a:solidFill>
                  <a:srgbClr val="242852"/>
                </a:solidFill>
                <a:latin typeface="Arial"/>
              </a:rPr>
              <a:t>azar</a:t>
            </a:r>
          </a:p>
        </p:txBody>
      </p:sp>
      <p:sp>
        <p:nvSpPr>
          <p:cNvPr id="18" name="TextBox 17"/>
          <p:cNvSpPr txBox="1"/>
          <p:nvPr/>
        </p:nvSpPr>
        <p:spPr>
          <a:xfrm>
            <a:off x="4800600" y="4526279"/>
            <a:ext cx="3520440" cy="1005840"/>
          </a:xfrm>
          <a:prstGeom prst="rect">
            <a:avLst/>
          </a:prstGeom>
          <a:noFill/>
        </p:spPr>
        <p:txBody>
          <a:bodyPr wrap="square" anchor="t" lIns="36576" rIns="36576" tIns="36576" bIns="36576">
            <a:spAutoFit/>
          </a:bodyPr>
          <a:lstStyle/>
          <a:p>
            <a:pPr algn="l">
              <a:spcAft>
                <a:spcPts val="400"/>
              </a:spcAft>
            </a:pPr>
            <a:r>
              <a:rPr sz="1300" b="1" i="0">
                <a:solidFill>
                  <a:srgbClr val="242852"/>
                </a:solidFill>
                <a:latin typeface="Arial"/>
              </a:rPr>
              <a:t>Variables por corte</a:t>
            </a:r>
          </a:p>
          <a:p>
            <a:pPr algn="l">
              <a:spcAft>
                <a:spcPts val="400"/>
              </a:spcAft>
            </a:pPr>
            <a:r>
              <a:rPr sz="1200" b="0" i="0">
                <a:solidFill>
                  <a:srgbClr val="2B2B2B"/>
                </a:solidFill>
                <a:latin typeface="Arial"/>
              </a:rPr>
              <a:t>Hace a los árboles diversos</a:t>
            </a:r>
          </a:p>
        </p:txBody>
      </p:sp>
      <p:sp>
        <p:nvSpPr>
          <p:cNvPr id="19" name="Rounded Rectangle 18"/>
          <p:cNvSpPr/>
          <p:nvPr/>
        </p:nvSpPr>
        <p:spPr>
          <a:xfrm>
            <a:off x="731520" y="5760720"/>
            <a:ext cx="7772400" cy="530352"/>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Igual que antes: </a:t>
            </a:r>
            <a:r>
              <a:rPr sz="1200" b="0" i="0">
                <a:solidFill>
                  <a:srgbClr val="2B2B2B"/>
                </a:solidFill>
                <a:latin typeface="Arial"/>
              </a:rPr>
              <a:t>se eligen comparando en Validation o con K-Fold, nunca mirando Test.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Resultados: ¿quién predice mejor?</a:t>
            </a:r>
          </a:p>
        </p:txBody>
      </p:sp>
      <p:graphicFrame>
        <p:nvGraphicFramePr>
          <p:cNvPr id="3" name="Chart 2"/>
          <p:cNvGraphicFramePr>
            <a:graphicFrameLocks noGrp="1"/>
          </p:cNvGraphicFramePr>
          <p:nvPr/>
        </p:nvGraphicFramePr>
        <p:xfrm>
          <a:off x="731520" y="1920240"/>
          <a:ext cx="4206240" cy="3200400"/>
        </p:xfrm>
        <a:graphic>
          <a:graphicData uri="http://schemas.openxmlformats.org/drawingml/2006/chart">
            <c:chart xmlns:c="http://schemas.openxmlformats.org/drawingml/2006/chart" r:id="rId3"/>
          </a:graphicData>
        </a:graphic>
      </p:graphicFrame>
      <p:graphicFrame>
        <p:nvGraphicFramePr>
          <p:cNvPr id="4" name="Table 3"/>
          <p:cNvGraphicFramePr>
            <a:graphicFrameLocks noGrp="1"/>
          </p:cNvGraphicFramePr>
          <p:nvPr/>
        </p:nvGraphicFramePr>
        <p:xfrm>
          <a:off x="5120640" y="2011680"/>
          <a:ext cx="3383280" cy="1920240"/>
        </p:xfrm>
        <a:graphic>
          <a:graphicData uri="http://schemas.openxmlformats.org/drawingml/2006/table">
            <a:tbl>
              <a:tblPr firstRow="1" bandRow="1">
                <a:tableStyleId>{5C22544A-7EE6-4342-B048-85BDC9FD1C3A}</a:tableStyleId>
              </a:tblPr>
              <a:tblGrid>
                <a:gridCol w="1188720"/>
                <a:gridCol w="1097280"/>
                <a:gridCol w="1097280"/>
              </a:tblGrid>
              <a:tr h="384048">
                <a:tc>
                  <a:txBody>
                    <a:bodyPr wrap="square"/>
                    <a:lstStyle/>
                    <a:p>
                      <a:pPr algn="l"/>
                      <a:r>
                        <a:rPr sz="1200" b="1" i="0">
                          <a:solidFill>
                            <a:srgbClr val="FFFFFF"/>
                          </a:solidFill>
                          <a:latin typeface="Arial"/>
                        </a:rPr>
                        <a:t>Random Forest</a:t>
                      </a:r>
                    </a:p>
                  </a:txBody>
                  <a:tcPr marL="64008" marR="64008" marT="27432" marB="27432" anchor="ctr">
                    <a:solidFill>
                      <a:srgbClr val="242852"/>
                    </a:solidFill>
                  </a:tcPr>
                </a:tc>
                <a:tc>
                  <a:txBody>
                    <a:bodyPr wrap="square"/>
                    <a:lstStyle/>
                    <a:p>
                      <a:pPr algn="ctr"/>
                      <a:r>
                        <a:rPr sz="1200" b="1" i="0">
                          <a:solidFill>
                            <a:srgbClr val="FFFFFF"/>
                          </a:solidFill>
                          <a:latin typeface="Arial"/>
                        </a:rPr>
                        <a:t>Train</a:t>
                      </a:r>
                    </a:p>
                  </a:txBody>
                  <a:tcPr marL="64008" marR="64008" marT="27432" marB="27432" anchor="ctr">
                    <a:solidFill>
                      <a:srgbClr val="242852"/>
                    </a:solidFill>
                  </a:tcPr>
                </a:tc>
                <a:tc>
                  <a:txBody>
                    <a:bodyPr wrap="square"/>
                    <a:lstStyle/>
                    <a:p>
                      <a:pPr algn="ctr"/>
                      <a:r>
                        <a:rPr sz="1200" b="1" i="0">
                          <a:solidFill>
                            <a:srgbClr val="FFFFFF"/>
                          </a:solidFill>
                          <a:latin typeface="Arial"/>
                        </a:rPr>
                        <a:t>Validation</a:t>
                      </a:r>
                    </a:p>
                  </a:txBody>
                  <a:tcPr marL="64008" marR="64008" marT="27432" marB="27432" anchor="ctr">
                    <a:solidFill>
                      <a:srgbClr val="242852"/>
                    </a:solidFill>
                  </a:tcPr>
                </a:tc>
              </a:tr>
              <a:tr h="384048">
                <a:tc>
                  <a:txBody>
                    <a:bodyPr wrap="square"/>
                    <a:lstStyle/>
                    <a:p>
                      <a:pPr algn="l"/>
                      <a:r>
                        <a:rPr sz="1200" b="1" i="0">
                          <a:solidFill>
                            <a:srgbClr val="2B2B2B"/>
                          </a:solidFill>
                          <a:latin typeface="Arial"/>
                        </a:rPr>
                        <a:t>MAE (USD)</a:t>
                      </a:r>
                    </a:p>
                  </a:txBody>
                  <a:tcPr marL="64008" marR="64008" marT="27432" marB="27432" anchor="ctr">
                    <a:solidFill>
                      <a:srgbClr val="FFFFFF"/>
                    </a:solidFill>
                  </a:tcPr>
                </a:tc>
                <a:tc>
                  <a:txBody>
                    <a:bodyPr wrap="square"/>
                    <a:lstStyle/>
                    <a:p>
                      <a:pPr algn="ctr"/>
                      <a:r>
                        <a:rPr sz="1200" b="0" i="0">
                          <a:solidFill>
                            <a:srgbClr val="2B2B2B"/>
                          </a:solidFill>
                          <a:latin typeface="Arial"/>
                        </a:rPr>
                        <a:t>612</a:t>
                      </a:r>
                    </a:p>
                  </a:txBody>
                  <a:tcPr marL="64008" marR="64008" marT="27432" marB="27432" anchor="ctr">
                    <a:solidFill>
                      <a:srgbClr val="FFFFFF"/>
                    </a:solidFill>
                  </a:tcPr>
                </a:tc>
                <a:tc>
                  <a:txBody>
                    <a:bodyPr wrap="square"/>
                    <a:lstStyle/>
                    <a:p>
                      <a:pPr algn="ctr"/>
                      <a:r>
                        <a:rPr sz="1200" b="0" i="0">
                          <a:solidFill>
                            <a:srgbClr val="2B2B2B"/>
                          </a:solidFill>
                          <a:latin typeface="Arial"/>
                        </a:rPr>
                        <a:t>710</a:t>
                      </a:r>
                    </a:p>
                  </a:txBody>
                  <a:tcPr marL="64008" marR="64008" marT="27432" marB="27432" anchor="ctr">
                    <a:solidFill>
                      <a:srgbClr val="FFFFFF"/>
                    </a:solidFill>
                  </a:tcPr>
                </a:tc>
              </a:tr>
              <a:tr h="384048">
                <a:tc>
                  <a:txBody>
                    <a:bodyPr wrap="square"/>
                    <a:lstStyle/>
                    <a:p>
                      <a:pPr algn="l"/>
                      <a:r>
                        <a:rPr sz="1200" b="1" i="0">
                          <a:solidFill>
                            <a:srgbClr val="2B2B2B"/>
                          </a:solidFill>
                          <a:latin typeface="Arial"/>
                        </a:rPr>
                        <a:t>RMSE (USD)</a:t>
                      </a:r>
                    </a:p>
                  </a:txBody>
                  <a:tcPr marL="64008" marR="64008" marT="27432" marB="27432" anchor="ctr">
                    <a:solidFill>
                      <a:srgbClr val="F2F3F5"/>
                    </a:solidFill>
                  </a:tcPr>
                </a:tc>
                <a:tc>
                  <a:txBody>
                    <a:bodyPr wrap="square"/>
                    <a:lstStyle/>
                    <a:p>
                      <a:pPr algn="ctr"/>
                      <a:r>
                        <a:rPr sz="1200" b="0" i="0">
                          <a:solidFill>
                            <a:srgbClr val="2B2B2B"/>
                          </a:solidFill>
                          <a:latin typeface="Arial"/>
                        </a:rPr>
                        <a:t>1 026</a:t>
                      </a:r>
                    </a:p>
                  </a:txBody>
                  <a:tcPr marL="64008" marR="64008" marT="27432" marB="27432" anchor="ctr">
                    <a:solidFill>
                      <a:srgbClr val="F2F3F5"/>
                    </a:solidFill>
                  </a:tcPr>
                </a:tc>
                <a:tc>
                  <a:txBody>
                    <a:bodyPr wrap="square"/>
                    <a:lstStyle/>
                    <a:p>
                      <a:pPr algn="ctr"/>
                      <a:r>
                        <a:rPr sz="1200" b="0" i="0">
                          <a:solidFill>
                            <a:srgbClr val="2B2B2B"/>
                          </a:solidFill>
                          <a:latin typeface="Arial"/>
                        </a:rPr>
                        <a:t>1 213</a:t>
                      </a:r>
                    </a:p>
                  </a:txBody>
                  <a:tcPr marL="64008" marR="64008" marT="27432" marB="27432" anchor="ctr">
                    <a:solidFill>
                      <a:srgbClr val="F2F3F5"/>
                    </a:solidFill>
                  </a:tcPr>
                </a:tc>
              </a:tr>
              <a:tr h="384048">
                <a:tc>
                  <a:txBody>
                    <a:bodyPr wrap="square"/>
                    <a:lstStyle/>
                    <a:p>
                      <a:pPr algn="l"/>
                      <a:r>
                        <a:rPr sz="1200" b="1" i="0">
                          <a:solidFill>
                            <a:srgbClr val="2B2B2B"/>
                          </a:solidFill>
                          <a:latin typeface="Arial"/>
                        </a:rPr>
                        <a:t>R²</a:t>
                      </a:r>
                    </a:p>
                  </a:txBody>
                  <a:tcPr marL="64008" marR="64008" marT="27432" marB="27432" anchor="ctr">
                    <a:solidFill>
                      <a:srgbClr val="FFFFFF"/>
                    </a:solidFill>
                  </a:tcPr>
                </a:tc>
                <a:tc>
                  <a:txBody>
                    <a:bodyPr wrap="square"/>
                    <a:lstStyle/>
                    <a:p>
                      <a:pPr algn="ctr"/>
                      <a:r>
                        <a:rPr sz="1200" b="0" i="0">
                          <a:solidFill>
                            <a:srgbClr val="2B2B2B"/>
                          </a:solidFill>
                          <a:latin typeface="Arial"/>
                        </a:rPr>
                        <a:t>0,912</a:t>
                      </a:r>
                    </a:p>
                  </a:txBody>
                  <a:tcPr marL="64008" marR="64008" marT="27432" marB="27432" anchor="ctr">
                    <a:solidFill>
                      <a:srgbClr val="FFFFFF"/>
                    </a:solidFill>
                  </a:tcPr>
                </a:tc>
                <a:tc>
                  <a:txBody>
                    <a:bodyPr wrap="square"/>
                    <a:lstStyle/>
                    <a:p>
                      <a:pPr algn="ctr"/>
                      <a:r>
                        <a:rPr sz="1200" b="0" i="0">
                          <a:solidFill>
                            <a:srgbClr val="2B2B2B"/>
                          </a:solidFill>
                          <a:latin typeface="Arial"/>
                        </a:rPr>
                        <a:t>0,863</a:t>
                      </a:r>
                    </a:p>
                  </a:txBody>
                  <a:tcPr marL="64008" marR="64008" marT="27432" marB="27432" anchor="ctr">
                    <a:solidFill>
                      <a:srgbClr val="FFFFFF"/>
                    </a:solidFill>
                  </a:tcPr>
                </a:tc>
              </a:tr>
              <a:tr h="384048">
                <a:tc>
                  <a:txBody>
                    <a:bodyPr wrap="square"/>
                    <a:lstStyle/>
                    <a:p>
                      <a:pPr algn="l"/>
                      <a:r>
                        <a:rPr sz="1200" b="1" i="0">
                          <a:solidFill>
                            <a:srgbClr val="2B2B2B"/>
                          </a:solidFill>
                          <a:latin typeface="Arial"/>
                        </a:rPr>
                        <a:t>Bias (USD)</a:t>
                      </a:r>
                    </a:p>
                  </a:txBody>
                  <a:tcPr marL="64008" marR="64008" marT="27432" marB="27432" anchor="ctr">
                    <a:solidFill>
                      <a:srgbClr val="F2F3F5"/>
                    </a:solidFill>
                  </a:tcPr>
                </a:tc>
                <a:tc>
                  <a:txBody>
                    <a:bodyPr wrap="square"/>
                    <a:lstStyle/>
                    <a:p>
                      <a:pPr algn="ctr"/>
                      <a:r>
                        <a:rPr sz="1200" b="0" i="0">
                          <a:solidFill>
                            <a:srgbClr val="2B2B2B"/>
                          </a:solidFill>
                          <a:latin typeface="Arial"/>
                        </a:rPr>
                        <a:t>−2</a:t>
                      </a:r>
                    </a:p>
                  </a:txBody>
                  <a:tcPr marL="64008" marR="64008" marT="27432" marB="27432" anchor="ctr">
                    <a:solidFill>
                      <a:srgbClr val="F2F3F5"/>
                    </a:solidFill>
                  </a:tcPr>
                </a:tc>
                <a:tc>
                  <a:txBody>
                    <a:bodyPr wrap="square"/>
                    <a:lstStyle/>
                    <a:p>
                      <a:pPr algn="ctr"/>
                      <a:r>
                        <a:rPr sz="1200" b="0" i="0">
                          <a:solidFill>
                            <a:srgbClr val="2B2B2B"/>
                          </a:solidFill>
                          <a:latin typeface="Arial"/>
                        </a:rPr>
                        <a:t>−33</a:t>
                      </a:r>
                    </a:p>
                  </a:txBody>
                  <a:tcPr marL="64008" marR="64008" marT="27432" marB="27432" anchor="ctr">
                    <a:solidFill>
                      <a:srgbClr val="F2F3F5"/>
                    </a:solidFill>
                  </a:tcPr>
                </a:tc>
              </a:tr>
            </a:tbl>
          </a:graphicData>
        </a:graphic>
      </p:graphicFrame>
      <p:sp>
        <p:nvSpPr>
          <p:cNvPr id="5" name="Rounded Rectangle 4"/>
          <p:cNvSpPr/>
          <p:nvPr/>
        </p:nvSpPr>
        <p:spPr>
          <a:xfrm>
            <a:off x="5120640" y="4114800"/>
            <a:ext cx="3383280" cy="100584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300" b="1" i="0">
                <a:solidFill>
                  <a:srgbClr val="2A9D8F"/>
                </a:solidFill>
                <a:latin typeface="Arial"/>
              </a:rPr>
              <a:t>Bosque vs árbol solo</a:t>
            </a:r>
          </a:p>
          <a:p>
            <a:pPr algn="ctr">
              <a:spcAft>
                <a:spcPts val="300"/>
              </a:spcAft>
            </a:pPr>
            <a:r>
              <a:rPr sz="1200" b="0" i="0">
                <a:solidFill>
                  <a:srgbClr val="2B2B2B"/>
                </a:solidFill>
                <a:latin typeface="Arial"/>
              </a:rPr>
              <a:t>MAE baja de 772 a 710 USD</a:t>
            </a:r>
          </a:p>
        </p:txBody>
      </p:sp>
      <p:sp>
        <p:nvSpPr>
          <p:cNvPr id="6" name="Rounded Rectangle 5"/>
          <p:cNvSpPr/>
          <p:nvPr/>
        </p:nvSpPr>
        <p:spPr>
          <a:xfrm>
            <a:off x="731520" y="5349240"/>
            <a:ext cx="7772400" cy="91440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300" b="1" i="0">
                <a:solidFill>
                  <a:srgbClr val="242852"/>
                </a:solidFill>
                <a:latin typeface="Arial"/>
              </a:rPr>
              <a:t>Lección doble: </a:t>
            </a:r>
            <a:r>
              <a:rPr sz="1300" b="0" i="0">
                <a:solidFill>
                  <a:srgbClr val="2B2B2B"/>
                </a:solidFill>
                <a:latin typeface="Arial"/>
              </a:rPr>
              <a:t>con el Banco Mundial (127 filas) la recta ganó; con 10 127 clientes ganan el árbol y el bosque. Siempre comparar en los mismos datos.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¿Qué variables usa más el bosque?</a:t>
            </a:r>
          </a:p>
        </p:txBody>
      </p:sp>
      <p:graphicFrame>
        <p:nvGraphicFramePr>
          <p:cNvPr id="3" name="Chart 2"/>
          <p:cNvGraphicFramePr>
            <a:graphicFrameLocks noGrp="1"/>
          </p:cNvGraphicFramePr>
          <p:nvPr/>
        </p:nvGraphicFramePr>
        <p:xfrm>
          <a:off x="731520" y="1920240"/>
          <a:ext cx="4754880" cy="3291840"/>
        </p:xfrm>
        <a:graphic>
          <a:graphicData uri="http://schemas.openxmlformats.org/drawingml/2006/chart">
            <c:chart xmlns:c="http://schemas.openxmlformats.org/drawingml/2006/chart" r:id="rId3"/>
          </a:graphicData>
        </a:graphic>
      </p:graphicFrame>
      <p:sp>
        <p:nvSpPr>
          <p:cNvPr id="4" name="Rounded Rectangle 3"/>
          <p:cNvSpPr/>
          <p:nvPr/>
        </p:nvSpPr>
        <p:spPr>
          <a:xfrm>
            <a:off x="5669280" y="1965960"/>
            <a:ext cx="2834640" cy="155448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TextBox 4"/>
          <p:cNvSpPr txBox="1"/>
          <p:nvPr/>
        </p:nvSpPr>
        <p:spPr>
          <a:xfrm>
            <a:off x="5806440" y="2075688"/>
            <a:ext cx="2606040" cy="502920"/>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Cómo se lee</a:t>
            </a:r>
          </a:p>
        </p:txBody>
      </p:sp>
      <p:sp>
        <p:nvSpPr>
          <p:cNvPr id="6" name="TextBox 5"/>
          <p:cNvSpPr txBox="1"/>
          <p:nvPr/>
        </p:nvSpPr>
        <p:spPr>
          <a:xfrm>
            <a:off x="5806440" y="2624328"/>
            <a:ext cx="2560320" cy="822959"/>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Transacciones aportó 91 % de toda la reducción del error.</a:t>
            </a:r>
          </a:p>
        </p:txBody>
      </p:sp>
      <p:sp>
        <p:nvSpPr>
          <p:cNvPr id="7" name="Rounded Rectangle 6"/>
          <p:cNvSpPr/>
          <p:nvPr/>
        </p:nvSpPr>
        <p:spPr>
          <a:xfrm>
            <a:off x="5669280" y="3657600"/>
            <a:ext cx="2834640" cy="155448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5806440" y="3767328"/>
            <a:ext cx="2606040" cy="502920"/>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Qué NO dice</a:t>
            </a:r>
          </a:p>
        </p:txBody>
      </p:sp>
      <p:sp>
        <p:nvSpPr>
          <p:cNvPr id="9" name="TextBox 8"/>
          <p:cNvSpPr txBox="1"/>
          <p:nvPr/>
        </p:nvSpPr>
        <p:spPr>
          <a:xfrm>
            <a:off x="5806440" y="4315968"/>
            <a:ext cx="2560320" cy="822959"/>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Ni causa, ni si aumenta o disminuye el monto.</a:t>
            </a:r>
          </a:p>
        </p:txBody>
      </p:sp>
      <p:sp>
        <p:nvSpPr>
          <p:cNvPr id="10" name="Rounded Rectangle 9"/>
          <p:cNvSpPr/>
          <p:nvPr/>
        </p:nvSpPr>
        <p:spPr>
          <a:xfrm>
            <a:off x="731520" y="5440680"/>
            <a:ext cx="7772400" cy="7772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Coherente con el árbol: </a:t>
            </a:r>
            <a:r>
              <a:rPr sz="1200" b="0" i="0">
                <a:solidFill>
                  <a:srgbClr val="2B2B2B"/>
                </a:solidFill>
                <a:latin typeface="Arial"/>
              </a:rPr>
              <a:t>sus tres primeras preguntas también fueron sobre transacciones.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Ideas clave del día</a:t>
            </a:r>
          </a:p>
        </p:txBody>
      </p:sp>
      <p:sp>
        <p:nvSpPr>
          <p:cNvPr id="3" name="Rounded Rectangle 2"/>
          <p:cNvSpPr/>
          <p:nvPr/>
        </p:nvSpPr>
        <p:spPr>
          <a:xfrm>
            <a:off x="731520" y="2011680"/>
            <a:ext cx="3794760" cy="12801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Oval 3"/>
          <p:cNvSpPr/>
          <p:nvPr/>
        </p:nvSpPr>
        <p:spPr>
          <a:xfrm>
            <a:off x="868680" y="2286000"/>
            <a:ext cx="685800" cy="68580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800" b="1" i="0">
                <a:solidFill>
                  <a:srgbClr val="FFFFFF"/>
                </a:solidFill>
                <a:latin typeface="Arial"/>
              </a:rPr>
              <a:t>1</a:t>
            </a:r>
          </a:p>
        </p:txBody>
      </p:sp>
      <p:sp>
        <p:nvSpPr>
          <p:cNvPr id="5" name="TextBox 4"/>
          <p:cNvSpPr txBox="1"/>
          <p:nvPr/>
        </p:nvSpPr>
        <p:spPr>
          <a:xfrm>
            <a:off x="1691640" y="2121408"/>
            <a:ext cx="2743200" cy="1097280"/>
          </a:xfrm>
          <a:prstGeom prst="rect">
            <a:avLst/>
          </a:prstGeom>
          <a:noFill/>
        </p:spPr>
        <p:txBody>
          <a:bodyPr wrap="square" anchor="ctr" lIns="36576" rIns="36576" tIns="36576" bIns="36576">
            <a:spAutoFit/>
          </a:bodyPr>
          <a:lstStyle/>
          <a:p>
            <a:pPr algn="l">
              <a:spcAft>
                <a:spcPts val="400"/>
              </a:spcAft>
            </a:pPr>
            <a:r>
              <a:rPr sz="1400" b="1" i="0">
                <a:solidFill>
                  <a:srgbClr val="242852"/>
                </a:solidFill>
                <a:latin typeface="Arial"/>
              </a:rPr>
              <a:t>K-Fold evalúa mejor</a:t>
            </a:r>
          </a:p>
          <a:p>
            <a:pPr algn="l">
              <a:spcAft>
                <a:spcPts val="400"/>
              </a:spcAft>
            </a:pPr>
            <a:r>
              <a:rPr sz="1200" b="0" i="0">
                <a:solidFill>
                  <a:srgbClr val="2B2B2B"/>
                </a:solidFill>
                <a:latin typeface="Arial"/>
              </a:rPr>
              <a:t>Promedia 5 Validations en lugar de confiar en una.</a:t>
            </a:r>
          </a:p>
        </p:txBody>
      </p:sp>
      <p:sp>
        <p:nvSpPr>
          <p:cNvPr id="6" name="Rounded Rectangle 5"/>
          <p:cNvSpPr/>
          <p:nvPr/>
        </p:nvSpPr>
        <p:spPr>
          <a:xfrm>
            <a:off x="4663440" y="2011680"/>
            <a:ext cx="3794760" cy="12801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Oval 6"/>
          <p:cNvSpPr/>
          <p:nvPr/>
        </p:nvSpPr>
        <p:spPr>
          <a:xfrm>
            <a:off x="4800600" y="2286000"/>
            <a:ext cx="685800" cy="68580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800" b="1" i="0">
                <a:solidFill>
                  <a:srgbClr val="FFFFFF"/>
                </a:solidFill>
                <a:latin typeface="Arial"/>
              </a:rPr>
              <a:t>2</a:t>
            </a:r>
          </a:p>
        </p:txBody>
      </p:sp>
      <p:sp>
        <p:nvSpPr>
          <p:cNvPr id="8" name="TextBox 7"/>
          <p:cNvSpPr txBox="1"/>
          <p:nvPr/>
        </p:nvSpPr>
        <p:spPr>
          <a:xfrm>
            <a:off x="5623559" y="2121408"/>
            <a:ext cx="2743200" cy="1097280"/>
          </a:xfrm>
          <a:prstGeom prst="rect">
            <a:avLst/>
          </a:prstGeom>
          <a:noFill/>
        </p:spPr>
        <p:txBody>
          <a:bodyPr wrap="square" anchor="ctr" lIns="36576" rIns="36576" tIns="36576" bIns="36576">
            <a:spAutoFit/>
          </a:bodyPr>
          <a:lstStyle/>
          <a:p>
            <a:pPr algn="l">
              <a:spcAft>
                <a:spcPts val="400"/>
              </a:spcAft>
            </a:pPr>
            <a:r>
              <a:rPr sz="1400" b="1" i="0">
                <a:solidFill>
                  <a:srgbClr val="D7263D"/>
                </a:solidFill>
                <a:latin typeface="Arial"/>
              </a:rPr>
              <a:t>El árbol pregunta</a:t>
            </a:r>
          </a:p>
          <a:p>
            <a:pPr algn="l">
              <a:spcAft>
                <a:spcPts val="400"/>
              </a:spcAft>
            </a:pPr>
            <a:r>
              <a:rPr sz="1200" b="0" i="0">
                <a:solidFill>
                  <a:srgbClr val="2B2B2B"/>
                </a:solidFill>
                <a:latin typeface="Arial"/>
              </a:rPr>
              <a:t>Elige el corte con menor SSE; la hoja predice un promedio.</a:t>
            </a:r>
          </a:p>
        </p:txBody>
      </p:sp>
      <p:sp>
        <p:nvSpPr>
          <p:cNvPr id="9" name="Rounded Rectangle 8"/>
          <p:cNvSpPr/>
          <p:nvPr/>
        </p:nvSpPr>
        <p:spPr>
          <a:xfrm>
            <a:off x="731520" y="3429000"/>
            <a:ext cx="3794760" cy="12801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Oval 9"/>
          <p:cNvSpPr/>
          <p:nvPr/>
        </p:nvSpPr>
        <p:spPr>
          <a:xfrm>
            <a:off x="868680" y="3703320"/>
            <a:ext cx="685800" cy="68580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800" b="1" i="0">
                <a:solidFill>
                  <a:srgbClr val="FFFFFF"/>
                </a:solidFill>
                <a:latin typeface="Arial"/>
              </a:rPr>
              <a:t>3</a:t>
            </a:r>
          </a:p>
        </p:txBody>
      </p:sp>
      <p:sp>
        <p:nvSpPr>
          <p:cNvPr id="11" name="TextBox 10"/>
          <p:cNvSpPr txBox="1"/>
          <p:nvPr/>
        </p:nvSpPr>
        <p:spPr>
          <a:xfrm>
            <a:off x="1691640" y="3538728"/>
            <a:ext cx="2743200" cy="1097280"/>
          </a:xfrm>
          <a:prstGeom prst="rect">
            <a:avLst/>
          </a:prstGeom>
          <a:noFill/>
        </p:spPr>
        <p:txBody>
          <a:bodyPr wrap="square" anchor="ctr" lIns="36576" rIns="36576" tIns="36576" bIns="36576">
            <a:spAutoFit/>
          </a:bodyPr>
          <a:lstStyle/>
          <a:p>
            <a:pPr algn="l">
              <a:spcAft>
                <a:spcPts val="400"/>
              </a:spcAft>
            </a:pPr>
            <a:r>
              <a:rPr sz="1400" b="1" i="0">
                <a:solidFill>
                  <a:srgbClr val="D7263D"/>
                </a:solidFill>
                <a:latin typeface="Arial"/>
              </a:rPr>
              <a:t>SSE = 0 es memorizar</a:t>
            </a:r>
          </a:p>
          <a:p>
            <a:pPr algn="l">
              <a:spcAft>
                <a:spcPts val="400"/>
              </a:spcAft>
            </a:pPr>
            <a:r>
              <a:rPr sz="1200" b="0" i="0">
                <a:solidFill>
                  <a:srgbClr val="2B2B2B"/>
                </a:solidFill>
                <a:latin typeface="Arial"/>
              </a:rPr>
              <a:t>Hojas de una fila no generalizan.</a:t>
            </a:r>
          </a:p>
        </p:txBody>
      </p:sp>
      <p:sp>
        <p:nvSpPr>
          <p:cNvPr id="12" name="Rounded Rectangle 11"/>
          <p:cNvSpPr/>
          <p:nvPr/>
        </p:nvSpPr>
        <p:spPr>
          <a:xfrm>
            <a:off x="4663440" y="3429000"/>
            <a:ext cx="3794760" cy="12801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Oval 12"/>
          <p:cNvSpPr/>
          <p:nvPr/>
        </p:nvSpPr>
        <p:spPr>
          <a:xfrm>
            <a:off x="4800600" y="3703320"/>
            <a:ext cx="685800" cy="68580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800" b="1" i="0">
                <a:solidFill>
                  <a:srgbClr val="FFFFFF"/>
                </a:solidFill>
                <a:latin typeface="Arial"/>
              </a:rPr>
              <a:t>4</a:t>
            </a:r>
          </a:p>
        </p:txBody>
      </p:sp>
      <p:sp>
        <p:nvSpPr>
          <p:cNvPr id="14" name="TextBox 13"/>
          <p:cNvSpPr txBox="1"/>
          <p:nvPr/>
        </p:nvSpPr>
        <p:spPr>
          <a:xfrm>
            <a:off x="5623559" y="3538728"/>
            <a:ext cx="2743200" cy="1097280"/>
          </a:xfrm>
          <a:prstGeom prst="rect">
            <a:avLst/>
          </a:prstGeom>
          <a:noFill/>
        </p:spPr>
        <p:txBody>
          <a:bodyPr wrap="square" anchor="ctr" lIns="36576" rIns="36576" tIns="36576" bIns="36576">
            <a:spAutoFit/>
          </a:bodyPr>
          <a:lstStyle/>
          <a:p>
            <a:pPr algn="l">
              <a:spcAft>
                <a:spcPts val="400"/>
              </a:spcAft>
            </a:pPr>
            <a:r>
              <a:rPr sz="1400" b="1" i="0">
                <a:solidFill>
                  <a:srgbClr val="242852"/>
                </a:solidFill>
                <a:latin typeface="Arial"/>
              </a:rPr>
              <a:t>Tres hiperparámetros</a:t>
            </a:r>
          </a:p>
          <a:p>
            <a:pPr algn="l">
              <a:spcAft>
                <a:spcPts val="400"/>
              </a:spcAft>
            </a:pPr>
            <a:r>
              <a:rPr sz="1200" b="0" i="0">
                <a:solidFill>
                  <a:srgbClr val="2B2B2B"/>
                </a:solidFill>
                <a:latin typeface="Arial"/>
              </a:rPr>
              <a:t>max_depth, min_samples_split y min_samples_leaf.</a:t>
            </a:r>
          </a:p>
        </p:txBody>
      </p:sp>
      <p:sp>
        <p:nvSpPr>
          <p:cNvPr id="15" name="Rounded Rectangle 14"/>
          <p:cNvSpPr/>
          <p:nvPr/>
        </p:nvSpPr>
        <p:spPr>
          <a:xfrm>
            <a:off x="731520" y="4846320"/>
            <a:ext cx="3794760" cy="12801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Oval 15"/>
          <p:cNvSpPr/>
          <p:nvPr/>
        </p:nvSpPr>
        <p:spPr>
          <a:xfrm>
            <a:off x="868680" y="5120640"/>
            <a:ext cx="685800" cy="68580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800" b="1" i="0">
                <a:solidFill>
                  <a:srgbClr val="FFFFFF"/>
                </a:solidFill>
                <a:latin typeface="Arial"/>
              </a:rPr>
              <a:t>5</a:t>
            </a:r>
          </a:p>
        </p:txBody>
      </p:sp>
      <p:sp>
        <p:nvSpPr>
          <p:cNvPr id="17" name="TextBox 16"/>
          <p:cNvSpPr txBox="1"/>
          <p:nvPr/>
        </p:nvSpPr>
        <p:spPr>
          <a:xfrm>
            <a:off x="1691640" y="4956048"/>
            <a:ext cx="2743200" cy="1097280"/>
          </a:xfrm>
          <a:prstGeom prst="rect">
            <a:avLst/>
          </a:prstGeom>
          <a:noFill/>
        </p:spPr>
        <p:txBody>
          <a:bodyPr wrap="square" anchor="ctr" lIns="36576" rIns="36576" tIns="36576" bIns="36576">
            <a:spAutoFit/>
          </a:bodyPr>
          <a:lstStyle/>
          <a:p>
            <a:pPr algn="l">
              <a:spcAft>
                <a:spcPts val="400"/>
              </a:spcAft>
            </a:pPr>
            <a:r>
              <a:rPr sz="1400" b="1" i="0">
                <a:solidFill>
                  <a:srgbClr val="242852"/>
                </a:solidFill>
                <a:latin typeface="Arial"/>
              </a:rPr>
              <a:t>El bosque promedia</a:t>
            </a:r>
          </a:p>
          <a:p>
            <a:pPr algn="l">
              <a:spcAft>
                <a:spcPts val="400"/>
              </a:spcAft>
            </a:pPr>
            <a:r>
              <a:rPr sz="1200" b="0" i="0">
                <a:solidFill>
                  <a:srgbClr val="2B2B2B"/>
                </a:solidFill>
                <a:latin typeface="Arial"/>
              </a:rPr>
              <a:t>Bootstrap + azar en variables + promedio = más estable.</a:t>
            </a:r>
          </a:p>
        </p:txBody>
      </p:sp>
      <p:sp>
        <p:nvSpPr>
          <p:cNvPr id="18" name="Rounded Rectangle 17"/>
          <p:cNvSpPr/>
          <p:nvPr/>
        </p:nvSpPr>
        <p:spPr>
          <a:xfrm>
            <a:off x="4663440" y="4846320"/>
            <a:ext cx="3794760" cy="12801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9" name="Oval 18"/>
          <p:cNvSpPr/>
          <p:nvPr/>
        </p:nvSpPr>
        <p:spPr>
          <a:xfrm>
            <a:off x="4800600" y="5120640"/>
            <a:ext cx="685800" cy="68580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800" b="1" i="0">
                <a:solidFill>
                  <a:srgbClr val="FFFFFF"/>
                </a:solidFill>
                <a:latin typeface="Arial"/>
              </a:rPr>
              <a:t>6</a:t>
            </a:r>
          </a:p>
        </p:txBody>
      </p:sp>
      <p:sp>
        <p:nvSpPr>
          <p:cNvPr id="20" name="TextBox 19"/>
          <p:cNvSpPr txBox="1"/>
          <p:nvPr/>
        </p:nvSpPr>
        <p:spPr>
          <a:xfrm>
            <a:off x="5623559" y="4956048"/>
            <a:ext cx="2743200" cy="1097280"/>
          </a:xfrm>
          <a:prstGeom prst="rect">
            <a:avLst/>
          </a:prstGeom>
          <a:noFill/>
        </p:spPr>
        <p:txBody>
          <a:bodyPr wrap="square" anchor="ctr" lIns="36576" rIns="36576" tIns="36576" bIns="36576">
            <a:spAutoFit/>
          </a:bodyPr>
          <a:lstStyle/>
          <a:p>
            <a:pPr algn="l">
              <a:spcAft>
                <a:spcPts val="400"/>
              </a:spcAft>
            </a:pPr>
            <a:r>
              <a:rPr sz="1400" b="1" i="0">
                <a:solidFill>
                  <a:srgbClr val="D7263D"/>
                </a:solidFill>
                <a:latin typeface="Arial"/>
              </a:rPr>
              <a:t>Depende de los datos</a:t>
            </a:r>
          </a:p>
          <a:p>
            <a:pPr algn="l">
              <a:spcAft>
                <a:spcPts val="400"/>
              </a:spcAft>
            </a:pPr>
            <a:r>
              <a:rPr sz="1200" b="0" i="0">
                <a:solidFill>
                  <a:srgbClr val="2B2B2B"/>
                </a:solidFill>
                <a:latin typeface="Arial"/>
              </a:rPr>
              <a:t>127 filas: ganó la recta. 10 127 clientes: el bosque.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Del papel al notebook</a:t>
            </a:r>
          </a:p>
        </p:txBody>
      </p:sp>
      <p:graphicFrame>
        <p:nvGraphicFramePr>
          <p:cNvPr id="3" name="Table 2"/>
          <p:cNvGraphicFramePr>
            <a:graphicFrameLocks noGrp="1"/>
          </p:cNvGraphicFramePr>
          <p:nvPr/>
        </p:nvGraphicFramePr>
        <p:xfrm>
          <a:off x="731520" y="1965960"/>
          <a:ext cx="7772400" cy="2880360"/>
        </p:xfrm>
        <a:graphic>
          <a:graphicData uri="http://schemas.openxmlformats.org/drawingml/2006/table">
            <a:tbl>
              <a:tblPr firstRow="1" bandRow="1">
                <a:tableStyleId>{5C22544A-7EE6-4342-B048-85BDC9FD1C3A}</a:tableStyleId>
              </a:tblPr>
              <a:tblGrid>
                <a:gridCol w="2377440"/>
                <a:gridCol w="3200400"/>
                <a:gridCol w="2194560"/>
              </a:tblGrid>
              <a:tr h="411480">
                <a:tc>
                  <a:txBody>
                    <a:bodyPr wrap="square"/>
                    <a:lstStyle/>
                    <a:p>
                      <a:pPr algn="l"/>
                      <a:r>
                        <a:rPr sz="1200" b="1" i="0">
                          <a:solidFill>
                            <a:srgbClr val="FFFFFF"/>
                          </a:solidFill>
                          <a:latin typeface="Arial"/>
                        </a:rPr>
                        <a:t>Lo que hicimos a mano</a:t>
                      </a:r>
                    </a:p>
                  </a:txBody>
                  <a:tcPr marL="64008" marR="64008" marT="27432" marB="27432" anchor="ctr">
                    <a:solidFill>
                      <a:srgbClr val="242852"/>
                    </a:solidFill>
                  </a:tcPr>
                </a:tc>
                <a:tc>
                  <a:txBody>
                    <a:bodyPr wrap="square"/>
                    <a:lstStyle/>
                    <a:p>
                      <a:pPr algn="l"/>
                      <a:r>
                        <a:rPr sz="1200" b="1" i="0">
                          <a:solidFill>
                            <a:srgbClr val="FFFFFF"/>
                          </a:solidFill>
                          <a:latin typeface="Arial"/>
                        </a:rPr>
                        <a:t>Lo que verán en el notebook</a:t>
                      </a:r>
                    </a:p>
                  </a:txBody>
                  <a:tcPr marL="64008" marR="64008" marT="27432" marB="27432" anchor="ctr">
                    <a:solidFill>
                      <a:srgbClr val="242852"/>
                    </a:solidFill>
                  </a:tcPr>
                </a:tc>
                <a:tc>
                  <a:txBody>
                    <a:bodyPr wrap="square"/>
                    <a:lstStyle/>
                    <a:p>
                      <a:pPr algn="l"/>
                      <a:r>
                        <a:rPr sz="1200" b="1" i="0">
                          <a:solidFill>
                            <a:srgbClr val="FFFFFF"/>
                          </a:solidFill>
                          <a:latin typeface="Arial"/>
                        </a:rPr>
                        <a:t>Debe dar…</a:t>
                      </a:r>
                    </a:p>
                  </a:txBody>
                  <a:tcPr marL="64008" marR="64008" marT="27432" marB="27432" anchor="ctr">
                    <a:solidFill>
                      <a:srgbClr val="242852"/>
                    </a:solidFill>
                  </a:tcPr>
                </a:tc>
              </a:tr>
              <a:tr h="411480">
                <a:tc>
                  <a:txBody>
                    <a:bodyPr wrap="square"/>
                    <a:lstStyle/>
                    <a:p>
                      <a:pPr algn="l"/>
                      <a:r>
                        <a:rPr sz="1200" b="0" i="0">
                          <a:solidFill>
                            <a:srgbClr val="2B2B2B"/>
                          </a:solidFill>
                          <a:latin typeface="Arial"/>
                        </a:rPr>
                        <a:t>Eliminar faltantes</a:t>
                      </a:r>
                    </a:p>
                  </a:txBody>
                  <a:tcPr marL="64008" marR="64008" marT="27432" marB="27432" anchor="ctr">
                    <a:solidFill>
                      <a:srgbClr val="FFFFFF"/>
                    </a:solidFill>
                  </a:tcPr>
                </a:tc>
                <a:tc>
                  <a:txBody>
                    <a:bodyPr wrap="square"/>
                    <a:lstStyle/>
                    <a:p>
                      <a:pPr algn="l"/>
                      <a:r>
                        <a:rPr sz="1200" b="0" i="0">
                          <a:solidFill>
                            <a:srgbClr val="2B2B2B"/>
                          </a:solidFill>
                          <a:latin typeface="Arial"/>
                        </a:rPr>
                        <a:t>Contar nulos y quedarse con filas completas</a:t>
                      </a:r>
                    </a:p>
                  </a:txBody>
                  <a:tcPr marL="64008" marR="64008" marT="27432" marB="27432" anchor="ctr">
                    <a:solidFill>
                      <a:srgbClr val="FFFFFF"/>
                    </a:solidFill>
                  </a:tcPr>
                </a:tc>
                <a:tc>
                  <a:txBody>
                    <a:bodyPr wrap="square"/>
                    <a:lstStyle/>
                    <a:p>
                      <a:pPr algn="l"/>
                      <a:r>
                        <a:rPr sz="1200" b="0" i="0">
                          <a:solidFill>
                            <a:srgbClr val="2B2B2B"/>
                          </a:solidFill>
                          <a:latin typeface="Arial"/>
                        </a:rPr>
                        <a:t>140 → 127 filas</a:t>
                      </a:r>
                    </a:p>
                  </a:txBody>
                  <a:tcPr marL="64008" marR="64008" marT="27432" marB="27432" anchor="ctr">
                    <a:solidFill>
                      <a:srgbClr val="FFFFFF"/>
                    </a:solidFill>
                  </a:tcPr>
                </a:tc>
              </a:tr>
              <a:tr h="411480">
                <a:tc>
                  <a:txBody>
                    <a:bodyPr wrap="square"/>
                    <a:lstStyle/>
                    <a:p>
                      <a:pPr algn="l"/>
                      <a:r>
                        <a:rPr sz="1200" b="0" i="0">
                          <a:solidFill>
                            <a:srgbClr val="2B2B2B"/>
                          </a:solidFill>
                          <a:latin typeface="Arial"/>
                        </a:rPr>
                        <a:t>Las 5 vueltas A–E</a:t>
                      </a:r>
                    </a:p>
                  </a:txBody>
                  <a:tcPr marL="64008" marR="64008" marT="27432" marB="27432" anchor="ctr">
                    <a:solidFill>
                      <a:srgbClr val="F2F3F5"/>
                    </a:solidFill>
                  </a:tcPr>
                </a:tc>
                <a:tc>
                  <a:txBody>
                    <a:bodyPr wrap="square"/>
                    <a:lstStyle/>
                    <a:p>
                      <a:pPr algn="l"/>
                      <a:r>
                        <a:rPr sz="1200" b="0" i="0">
                          <a:solidFill>
                            <a:srgbClr val="2B2B2B"/>
                          </a:solidFill>
                          <a:latin typeface="Arial"/>
                        </a:rPr>
                        <a:t>Validación cruzada con 5 bloques</a:t>
                      </a:r>
                    </a:p>
                  </a:txBody>
                  <a:tcPr marL="64008" marR="64008" marT="27432" marB="27432" anchor="ctr">
                    <a:solidFill>
                      <a:srgbClr val="F2F3F5"/>
                    </a:solidFill>
                  </a:tcPr>
                </a:tc>
                <a:tc>
                  <a:txBody>
                    <a:bodyPr wrap="square"/>
                    <a:lstStyle/>
                    <a:p>
                      <a:pPr algn="l"/>
                      <a:r>
                        <a:rPr sz="1200" b="0" i="0">
                          <a:solidFill>
                            <a:srgbClr val="2B2B2B"/>
                          </a:solidFill>
                          <a:latin typeface="Arial"/>
                        </a:rPr>
                        <a:t>MAE promedio 3.11</a:t>
                      </a:r>
                    </a:p>
                  </a:txBody>
                  <a:tcPr marL="64008" marR="64008" marT="27432" marB="27432" anchor="ctr">
                    <a:solidFill>
                      <a:srgbClr val="F2F3F5"/>
                    </a:solidFill>
                  </a:tcPr>
                </a:tc>
              </a:tr>
              <a:tr h="411480">
                <a:tc>
                  <a:txBody>
                    <a:bodyPr wrap="square"/>
                    <a:lstStyle/>
                    <a:p>
                      <a:pPr algn="l"/>
                      <a:r>
                        <a:rPr sz="1200" b="0" i="0">
                          <a:solidFill>
                            <a:srgbClr val="2B2B2B"/>
                          </a:solidFill>
                          <a:latin typeface="Arial"/>
                        </a:rPr>
                        <a:t>SSE de un corte</a:t>
                      </a:r>
                    </a:p>
                  </a:txBody>
                  <a:tcPr marL="64008" marR="64008" marT="27432" marB="27432" anchor="ctr">
                    <a:solidFill>
                      <a:srgbClr val="FFFFFF"/>
                    </a:solidFill>
                  </a:tcPr>
                </a:tc>
                <a:tc>
                  <a:txBody>
                    <a:bodyPr wrap="square"/>
                    <a:lstStyle/>
                    <a:p>
                      <a:pPr algn="l"/>
                      <a:r>
                        <a:rPr sz="1200" b="0" i="0">
                          <a:solidFill>
                            <a:srgbClr val="2B2B2B"/>
                          </a:solidFill>
                          <a:latin typeface="Arial"/>
                        </a:rPr>
                        <a:t>El ejemplo y = [1, 2, 8, 9]</a:t>
                      </a:r>
                    </a:p>
                  </a:txBody>
                  <a:tcPr marL="64008" marR="64008" marT="27432" marB="27432" anchor="ctr">
                    <a:solidFill>
                      <a:srgbClr val="FFFFFF"/>
                    </a:solidFill>
                  </a:tcPr>
                </a:tc>
                <a:tc>
                  <a:txBody>
                    <a:bodyPr wrap="square"/>
                    <a:lstStyle/>
                    <a:p>
                      <a:pPr algn="l"/>
                      <a:r>
                        <a:rPr sz="1200" b="0" i="0">
                          <a:solidFill>
                            <a:srgbClr val="2B2B2B"/>
                          </a:solidFill>
                          <a:latin typeface="Arial"/>
                        </a:rPr>
                        <a:t>SSE 50 → 1</a:t>
                      </a:r>
                    </a:p>
                  </a:txBody>
                  <a:tcPr marL="64008" marR="64008" marT="27432" marB="27432" anchor="ctr">
                    <a:solidFill>
                      <a:srgbClr val="FFFFFF"/>
                    </a:solidFill>
                  </a:tcPr>
                </a:tc>
              </a:tr>
              <a:tr h="411480">
                <a:tc>
                  <a:txBody>
                    <a:bodyPr wrap="square"/>
                    <a:lstStyle/>
                    <a:p>
                      <a:pPr algn="l"/>
                      <a:r>
                        <a:rPr sz="1200" b="0" i="0">
                          <a:solidFill>
                            <a:srgbClr val="2B2B2B"/>
                          </a:solidFill>
                          <a:latin typeface="Arial"/>
                        </a:rPr>
                        <a:t>Árbol de profundidad 3</a:t>
                      </a:r>
                    </a:p>
                  </a:txBody>
                  <a:tcPr marL="64008" marR="64008" marT="27432" marB="27432" anchor="ctr">
                    <a:solidFill>
                      <a:srgbClr val="F2F3F5"/>
                    </a:solidFill>
                  </a:tcPr>
                </a:tc>
                <a:tc>
                  <a:txBody>
                    <a:bodyPr wrap="square"/>
                    <a:lstStyle/>
                    <a:p>
                      <a:pPr algn="l"/>
                      <a:r>
                        <a:rPr sz="1200" b="0" i="0">
                          <a:solidFill>
                            <a:srgbClr val="2B2B2B"/>
                          </a:solidFill>
                          <a:latin typeface="Arial"/>
                        </a:rPr>
                        <a:t>plot_tree con BankChurners</a:t>
                      </a:r>
                    </a:p>
                  </a:txBody>
                  <a:tcPr marL="64008" marR="64008" marT="27432" marB="27432" anchor="ctr">
                    <a:solidFill>
                      <a:srgbClr val="F2F3F5"/>
                    </a:solidFill>
                  </a:tcPr>
                </a:tc>
                <a:tc>
                  <a:txBody>
                    <a:bodyPr wrap="square"/>
                    <a:lstStyle/>
                    <a:p>
                      <a:pPr algn="l"/>
                      <a:r>
                        <a:rPr sz="1200" b="0" i="0">
                          <a:solidFill>
                            <a:srgbClr val="2B2B2B"/>
                          </a:solidFill>
                          <a:latin typeface="Arial"/>
                        </a:rPr>
                        <a:t>raíz: transacciones ≤ 93,5</a:t>
                      </a:r>
                    </a:p>
                  </a:txBody>
                  <a:tcPr marL="64008" marR="64008" marT="27432" marB="27432" anchor="ctr">
                    <a:solidFill>
                      <a:srgbClr val="F2F3F5"/>
                    </a:solidFill>
                  </a:tcPr>
                </a:tc>
              </a:tr>
              <a:tr h="411480">
                <a:tc>
                  <a:txBody>
                    <a:bodyPr wrap="square"/>
                    <a:lstStyle/>
                    <a:p>
                      <a:pPr algn="l"/>
                      <a:r>
                        <a:rPr sz="1200" b="0" i="0">
                          <a:solidFill>
                            <a:srgbClr val="2B2B2B"/>
                          </a:solidFill>
                          <a:latin typeface="Arial"/>
                        </a:rPr>
                        <a:t>Los tres hiperparámetros</a:t>
                      </a:r>
                    </a:p>
                  </a:txBody>
                  <a:tcPr marL="64008" marR="64008" marT="27432" marB="27432" anchor="ctr">
                    <a:solidFill>
                      <a:srgbClr val="FFFFFF"/>
                    </a:solidFill>
                  </a:tcPr>
                </a:tc>
                <a:tc>
                  <a:txBody>
                    <a:bodyPr wrap="square"/>
                    <a:lstStyle/>
                    <a:p>
                      <a:pPr algn="l"/>
                      <a:r>
                        <a:rPr sz="1200" b="0" i="0">
                          <a:solidFill>
                            <a:srgbClr val="2B2B2B"/>
                          </a:solidFill>
                          <a:latin typeface="Arial"/>
                        </a:rPr>
                        <a:t>Tablas de max_depth, leaf y split</a:t>
                      </a:r>
                    </a:p>
                  </a:txBody>
                  <a:tcPr marL="64008" marR="64008" marT="27432" marB="27432" anchor="ctr">
                    <a:solidFill>
                      <a:srgbClr val="FFFFFF"/>
                    </a:solidFill>
                  </a:tcPr>
                </a:tc>
                <a:tc>
                  <a:txBody>
                    <a:bodyPr wrap="square"/>
                    <a:lstStyle/>
                    <a:p>
                      <a:pPr algn="l"/>
                      <a:r>
                        <a:rPr sz="1200" b="0" i="0">
                          <a:solidFill>
                            <a:srgbClr val="2B2B2B"/>
                          </a:solidFill>
                          <a:latin typeface="Arial"/>
                        </a:rPr>
                        <a:t>mejor R² Val. ≈ 0,85</a:t>
                      </a:r>
                    </a:p>
                  </a:txBody>
                  <a:tcPr marL="64008" marR="64008" marT="27432" marB="27432" anchor="ctr">
                    <a:solidFill>
                      <a:srgbClr val="FFFFFF"/>
                    </a:solidFill>
                  </a:tcPr>
                </a:tc>
              </a:tr>
              <a:tr h="411480">
                <a:tc>
                  <a:txBody>
                    <a:bodyPr wrap="square"/>
                    <a:lstStyle/>
                    <a:p>
                      <a:pPr algn="l"/>
                      <a:r>
                        <a:rPr sz="1200" b="0" i="0">
                          <a:solidFill>
                            <a:srgbClr val="2B2B2B"/>
                          </a:solidFill>
                          <a:latin typeface="Arial"/>
                        </a:rPr>
                        <a:t>Bootstrap y promedio</a:t>
                      </a:r>
                    </a:p>
                  </a:txBody>
                  <a:tcPr marL="64008" marR="64008" marT="27432" marB="27432" anchor="ctr">
                    <a:solidFill>
                      <a:srgbClr val="F2F3F5"/>
                    </a:solidFill>
                  </a:tcPr>
                </a:tc>
                <a:tc>
                  <a:txBody>
                    <a:bodyPr wrap="square"/>
                    <a:lstStyle/>
                    <a:p>
                      <a:pPr algn="l"/>
                      <a:r>
                        <a:rPr sz="1200" b="0" i="0">
                          <a:solidFill>
                            <a:srgbClr val="2B2B2B"/>
                          </a:solidFill>
                          <a:latin typeface="Arial"/>
                        </a:rPr>
                        <a:t>Random Forest de 100 árboles</a:t>
                      </a:r>
                    </a:p>
                  </a:txBody>
                  <a:tcPr marL="64008" marR="64008" marT="27432" marB="27432" anchor="ctr">
                    <a:solidFill>
                      <a:srgbClr val="F2F3F5"/>
                    </a:solidFill>
                  </a:tcPr>
                </a:tc>
                <a:tc>
                  <a:txBody>
                    <a:bodyPr wrap="square"/>
                    <a:lstStyle/>
                    <a:p>
                      <a:pPr algn="l"/>
                      <a:r>
                        <a:rPr sz="1200" b="0" i="0">
                          <a:solidFill>
                            <a:srgbClr val="2B2B2B"/>
                          </a:solidFill>
                          <a:latin typeface="Arial"/>
                        </a:rPr>
                        <a:t>MAE Validation 710 USD</a:t>
                      </a:r>
                    </a:p>
                  </a:txBody>
                  <a:tcPr marL="64008" marR="64008" marT="27432" marB="27432" anchor="ctr">
                    <a:solidFill>
                      <a:srgbClr val="F2F3F5"/>
                    </a:solidFill>
                  </a:tcPr>
                </a:tc>
              </a:tr>
            </a:tbl>
          </a:graphicData>
        </a:graphic>
      </p:graphicFrame>
      <p:sp>
        <p:nvSpPr>
          <p:cNvPr id="4" name="Rounded Rectangle 3"/>
          <p:cNvSpPr/>
          <p:nvPr/>
        </p:nvSpPr>
        <p:spPr>
          <a:xfrm>
            <a:off x="731520" y="5029200"/>
            <a:ext cx="7772400" cy="123444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FFFFFF"/>
                </a:solidFill>
                <a:latin typeface="Arial"/>
              </a:rPr>
              <a:t>Su rol con el agente de IA</a:t>
            </a:r>
          </a:p>
          <a:p>
            <a:pPr algn="ctr">
              <a:spcAft>
                <a:spcPts val="300"/>
              </a:spcAft>
            </a:pPr>
            <a:r>
              <a:rPr sz="1250" b="0" i="0">
                <a:solidFill>
                  <a:srgbClr val="FFFFFF"/>
                </a:solidFill>
                <a:latin typeface="Arial"/>
              </a:rPr>
              <a:t>Pidan que explique cada línea y verifiquen los números. Si un resultado no coincide con lo calculado a mano, pregunten por qué.</a:t>
            </a:r>
          </a:p>
        </p:txBody>
      </p:sp>
    </p:spTree>
  </p:cSld>
  <p:clrMapOvr>
    <a:masterClrMapping/>
  </p:clrMapOvr>
</p:sld>
</file>

<file path=ppt/theme/theme1.xml><?xml version="1.0" encoding="utf-8"?>
<a:theme xmlns:a="http://schemas.openxmlformats.org/drawingml/2006/main" name="Tema de Office">
  <a:themeElements>
    <a:clrScheme name="Elemental">
      <a:dk1>
        <a:srgbClr val="000000"/>
      </a:dk1>
      <a:lt1>
        <a:srgbClr val="FFFFFF"/>
      </a:lt1>
      <a:dk2>
        <a:srgbClr val="242852"/>
      </a:dk2>
      <a:lt2>
        <a:srgbClr val="ACCBF9"/>
      </a:lt2>
      <a:accent1>
        <a:srgbClr val="629DD1"/>
      </a:accent1>
      <a:accent2>
        <a:srgbClr val="297FD5"/>
      </a:accent2>
      <a:accent3>
        <a:srgbClr val="7F8FA9"/>
      </a:accent3>
      <a:accent4>
        <a:srgbClr val="4A66AC"/>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174</TotalTime>
  <Words>45</Words>
  <Application>Microsoft Office PowerPoint</Application>
  <PresentationFormat>Presentación en pantalla (4:3)</PresentationFormat>
  <Paragraphs>4</Paragraphs>
  <Slides>3</Slides>
  <Notes>3</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3</vt:i4>
      </vt:variant>
    </vt:vector>
  </HeadingPairs>
  <TitlesOfParts>
    <vt:vector size="6" baseType="lpstr">
      <vt:lpstr>Arial</vt:lpstr>
      <vt:lpstr>Verdana</vt:lpstr>
      <vt:lpstr>Tema de Office</vt:lpstr>
      <vt:lpstr>Nombre del curso</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TÍTULO DEL CURSO</dc:title>
  <dc:creator>Cristhian Castillo</dc:creator>
  <cp:lastModifiedBy>CRISTHIAN PATRICIO CASTILLO MARTINEZ</cp:lastModifiedBy>
  <cp:revision>20</cp:revision>
  <dcterms:created xsi:type="dcterms:W3CDTF">2016-01-08T19:37:53Z</dcterms:created>
  <dcterms:modified xsi:type="dcterms:W3CDTF">2025-06-20T21:34:20Z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9D330DD4-BC3D-40FB-B4DD-0656CB3809F6</vt:lpwstr>
  </property>
  <property fmtid="{D5CDD505-2E9C-101B-9397-08002B2CF9AE}" pid="3" name="ArticulatePath">
    <vt:lpwstr>Presentación1</vt:lpwstr>
  </property>
</Properties>
</file>