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handoutMasters/handoutMaster1.xml" ContentType="application/vnd.openxmlformats-officedocument.presentationml.handoutMaster+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
  </p:notesMasterIdLst>
  <p:handoutMasterIdLst>
    <p:handoutMasterId r:id="rId6"/>
  </p:handoutMasterIdLst>
  <p:sldIdLst>
    <p:sldId id="256" r:id="rId2"/>
    <p:sldId id="257" r:id="rId8"/>
    <p:sldId id="258" r:id="rId7"/>
    <p:sldId id="259" r:id="rId4"/>
    <p:sldId id="260" r:id="rId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 roundtripDataSignature="AMtx7mj3cbRC9Ql1GxZ1vbtqfmyQYJzC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746" y="96"/>
      </p:cViewPr>
      <p:guideLst>
        <p:guide orient="horz" pos="2160"/>
        <p:guide pos="2880"/>
      </p:guideLst>
    </p:cSldViewPr>
  </p:slideViewPr>
  <p:notesTextViewPr>
    <p:cViewPr>
      <p:scale>
        <a:sx n="1" d="1"/>
        <a:sy n="1" d="1"/>
      </p:scale>
      <p:origin x="0" y="0"/>
    </p:cViewPr>
  </p:notesTextViewPr>
  <p:notesViewPr>
    <p:cSldViewPr snapToGrid="0">
      <p:cViewPr varScale="1">
        <p:scale>
          <a:sx n="86" d="100"/>
          <a:sy n="86" d="100"/>
        </p:scale>
        <p:origin x="386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slide" Target="slides/slide3.xml"/><Relationship Id="rId8" Type="http://schemas.openxmlformats.org/officeDocument/2006/relationships/slide" Target="slides/slide2.xml"/><Relationship Id="rId9" Type="http://customschemas.google.com/relationships/presentationmetadata" Target="meta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 de la clase positiva</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D7263D"/>
              </a:solidFill>
            </c:spPr>
          </c:dPt>
          <c:dPt>
            <c:idx val="1"/>
            <c:spPr>
              <a:solidFill>
                <a:srgbClr val="D7263D"/>
              </a:solidFill>
            </c:spPr>
          </c:dPt>
          <c:dPt>
            <c:idx val="2"/>
            <c:spPr>
              <a:solidFill>
                <a:srgbClr val="3D5A99"/>
              </a:solidFill>
            </c:spPr>
          </c:dPt>
          <c:dPt>
            <c:idx val="3"/>
            <c:spPr>
              <a:solidFill>
                <a:srgbClr val="3D5A99"/>
              </a:solidFill>
            </c:spPr>
          </c:dPt>
          <c:dPt>
            <c:idx val="4"/>
            <c:spPr>
              <a:solidFill>
                <a:srgbClr val="2A9D8F"/>
              </a:solidFill>
            </c:spPr>
          </c:dPt>
          <c:cat>
            <c:strRef>
              <c:f>Sheet1!$A$2:$A$6</c:f>
              <c:strCache>
                <c:ptCount val="5"/>
                <c:pt idx="0">
                  <c:v>PaySim (archivo real)</c:v>
                </c:pt>
                <c:pt idx="1">
                  <c:v>PaySim (muestra)</c:v>
                </c:pt>
                <c:pt idx="2">
                  <c:v>BankChurners</c:v>
                </c:pt>
                <c:pt idx="3">
                  <c:v>Credit Risk</c:v>
                </c:pt>
                <c:pt idx="4">
                  <c:v>Balanceado</c:v>
                </c:pt>
              </c:strCache>
            </c:strRef>
          </c:cat>
          <c:val>
            <c:numRef>
              <c:f>Sheet1!$B$2:$B$6</c:f>
              <c:numCache>
                <c:formatCode>General</c:formatCode>
                <c:ptCount val="5"/>
                <c:pt idx="0">
                  <c:v>0.0013</c:v>
                </c:pt>
                <c:pt idx="1">
                  <c:v>0.082</c:v>
                </c:pt>
                <c:pt idx="2">
                  <c:v>0.161</c:v>
                </c:pt>
                <c:pt idx="3">
                  <c:v>0.218</c:v>
                </c:pt>
                <c:pt idx="4">
                  <c:v>0.5</c:v>
                </c:pt>
              </c:numCache>
            </c:numRef>
          </c:val>
        </c:ser>
        <c:dLbls>
          <c:numFmt formatCode="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6"/>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Gini según el % de fraude en la hoja</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2A9D8F"/>
              </a:solidFill>
            </c:spPr>
          </c:dPt>
          <c:dPt>
            <c:idx val="1"/>
            <c:spPr>
              <a:solidFill>
                <a:srgbClr val="3D5A99"/>
              </a:solidFill>
            </c:spPr>
          </c:dPt>
          <c:dPt>
            <c:idx val="2"/>
            <c:spPr>
              <a:solidFill>
                <a:srgbClr val="3D5A99"/>
              </a:solidFill>
            </c:spPr>
          </c:dPt>
          <c:dPt>
            <c:idx val="3"/>
            <c:spPr>
              <a:solidFill>
                <a:srgbClr val="3D5A99"/>
              </a:solidFill>
            </c:spPr>
          </c:dPt>
          <c:dPt>
            <c:idx val="4"/>
            <c:spPr>
              <a:solidFill>
                <a:srgbClr val="3D5A99"/>
              </a:solidFill>
            </c:spPr>
          </c:dPt>
          <c:dPt>
            <c:idx val="5"/>
            <c:spPr>
              <a:solidFill>
                <a:srgbClr val="D7263D"/>
              </a:solidFill>
            </c:spPr>
          </c:dPt>
          <c:cat>
            <c:strRef>
              <c:f>Sheet1!$A$2:$A$7</c:f>
              <c:strCache>
                <c:ptCount val="6"/>
                <c:pt idx="0">
                  <c:v>0 % fraude</c:v>
                </c:pt>
                <c:pt idx="1">
                  <c:v>10 % fraude</c:v>
                </c:pt>
                <c:pt idx="2">
                  <c:v>20 % fraude</c:v>
                </c:pt>
                <c:pt idx="3">
                  <c:v>30 % fraude</c:v>
                </c:pt>
                <c:pt idx="4">
                  <c:v>40 % fraude</c:v>
                </c:pt>
                <c:pt idx="5">
                  <c:v>50 % fraude</c:v>
                </c:pt>
              </c:strCache>
            </c:strRef>
          </c:cat>
          <c:val>
            <c:numRef>
              <c:f>Sheet1!$B$2:$B$7</c:f>
              <c:numCache>
                <c:formatCode>General</c:formatCode>
                <c:ptCount val="6"/>
                <c:pt idx="0">
                  <c:v>0.0</c:v>
                </c:pt>
                <c:pt idx="1">
                  <c:v>0.18</c:v>
                </c:pt>
                <c:pt idx="2">
                  <c:v>0.32</c:v>
                </c:pt>
                <c:pt idx="3">
                  <c:v>0.42</c:v>
                </c:pt>
                <c:pt idx="4">
                  <c:v>0.48</c:v>
                </c:pt>
                <c:pt idx="5">
                  <c:v>0.5</c:v>
                </c:pt>
              </c:numCache>
            </c:numRef>
          </c:val>
        </c:ser>
        <c:dLbls>
          <c:numFmt formatCode="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6"/>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Importancia en el Random Forest (suma 100 %)</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3D5A99"/>
              </a:solidFill>
            </c:spPr>
          </c:dPt>
          <c:dPt>
            <c:idx val="1"/>
            <c:spPr>
              <a:solidFill>
                <a:srgbClr val="3D5A99"/>
              </a:solidFill>
            </c:spPr>
          </c:dPt>
          <c:dPt>
            <c:idx val="2"/>
            <c:spPr>
              <a:solidFill>
                <a:srgbClr val="242852"/>
              </a:solidFill>
            </c:spPr>
          </c:dPt>
          <c:cat>
            <c:strRef>
              <c:f>Sheet1!$A$2:$A$4</c:f>
              <c:strCache>
                <c:ptCount val="3"/>
                <c:pt idx="0">
                  <c:v>transfer_o_retiro</c:v>
                </c:pt>
                <c:pt idx="1">
                  <c:v>amount (monto)</c:v>
                </c:pt>
                <c:pt idx="2">
                  <c:v>hora</c:v>
                </c:pt>
              </c:strCache>
            </c:strRef>
          </c:cat>
          <c:val>
            <c:numRef>
              <c:f>Sheet1!$B$2:$B$4</c:f>
              <c:numCache>
                <c:formatCode>General</c:formatCode>
                <c:ptCount val="3"/>
                <c:pt idx="0">
                  <c:v>0.175</c:v>
                </c:pt>
                <c:pt idx="1">
                  <c:v>0.38</c:v>
                </c:pt>
                <c:pt idx="2">
                  <c:v>0.445</c:v>
                </c:pt>
              </c:numCache>
            </c:numRef>
          </c:val>
        </c:ser>
        <c:dLbls>
          <c:numFmt formatCode="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55"/>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F1 en Validation, KNN k = 15</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2A9D8F"/>
              </a:solidFill>
            </c:spPr>
          </c:dPt>
          <c:dPt>
            <c:idx val="1"/>
            <c:spPr>
              <a:solidFill>
                <a:srgbClr val="D7263D"/>
              </a:solidFill>
            </c:spPr>
          </c:dPt>
          <c:cat>
            <c:strRef>
              <c:f>Sheet1!$A$2:$A$3</c:f>
              <c:strCache>
                <c:ptCount val="2"/>
                <c:pt idx="0">
                  <c:v>11 numéricas</c:v>
                </c:pt>
                <c:pt idx="1">
                  <c:v>Todas (37 columnas)</c:v>
                </c:pt>
              </c:strCache>
            </c:strRef>
          </c:cat>
          <c:val>
            <c:numRef>
              <c:f>Sheet1!$B$2:$B$3</c:f>
              <c:numCache>
                <c:formatCode>General</c:formatCode>
                <c:ptCount val="2"/>
                <c:pt idx="0">
                  <c:v>0.688</c:v>
                </c:pt>
                <c:pt idx="1">
                  <c:v>0.601</c:v>
                </c:pt>
              </c:numCache>
            </c:numRef>
          </c:val>
        </c:ser>
        <c:dLbls>
          <c:numFmt formatCode="0.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8"/>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F1 en Validation (BankChurners)</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D7263D"/>
              </a:solidFill>
            </c:spPr>
          </c:dPt>
          <c:dPt>
            <c:idx val="1"/>
            <c:spPr>
              <a:solidFill>
                <a:srgbClr val="3D5A99"/>
              </a:solidFill>
            </c:spPr>
          </c:dPt>
          <c:dPt>
            <c:idx val="2"/>
            <c:spPr>
              <a:solidFill>
                <a:srgbClr val="242852"/>
              </a:solidFill>
            </c:spPr>
          </c:dPt>
          <c:cat>
            <c:strRef>
              <c:f>Sheet1!$A$2:$A$4</c:f>
              <c:strCache>
                <c:ptCount val="3"/>
                <c:pt idx="0">
                  <c:v>KNN k = 15</c:v>
                </c:pt>
                <c:pt idx="1">
                  <c:v>Random Forest</c:v>
                </c:pt>
                <c:pt idx="2">
                  <c:v>Árbol prof. 5</c:v>
                </c:pt>
              </c:strCache>
            </c:strRef>
          </c:cat>
          <c:val>
            <c:numRef>
              <c:f>Sheet1!$B$2:$B$4</c:f>
              <c:numCache>
                <c:formatCode>General</c:formatCode>
                <c:ptCount val="3"/>
                <c:pt idx="0">
                  <c:v>0.688</c:v>
                </c:pt>
                <c:pt idx="1">
                  <c:v>0.745</c:v>
                </c:pt>
                <c:pt idx="2">
                  <c:v>0.777</c:v>
                </c:pt>
              </c:numCache>
            </c:numRef>
          </c:val>
        </c:ser>
        <c:dLbls>
          <c:numFmt formatCode="0.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9"/>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 de impago por grado</a:t>
            </a:r>
          </a:p>
        </c:rich>
      </c:tx>
      <c:layout/>
      <c:overlay val="0"/>
    </c:title>
    <c:autoTitleDeleted val="0"/>
    <c:plotArea>
      <c:barChart>
        <c:barDir val="col"/>
        <c:grouping val="clustered"/>
        <c:varyColors val="0"/>
        <c:ser>
          <c:idx val="0"/>
          <c:order val="0"/>
          <c:tx>
            <c:strRef>
              <c:f>Sheet1!$B$1</c:f>
              <c:strCache>
                <c:ptCount val="1"/>
                <c:pt idx="0">
                  <c:v>serie</c:v>
                </c:pt>
              </c:strCache>
            </c:strRef>
          </c:tx>
          <c:spPr>
            <a:solidFill>
              <a:srgbClr val="3D5A99"/>
            </a:solidFill>
          </c:spPr>
          <c:dPt>
            <c:idx val="0"/>
            <c:spPr>
              <a:solidFill>
                <a:srgbClr val="3D5A99"/>
              </a:solidFill>
            </c:spPr>
          </c:dPt>
          <c:dPt>
            <c:idx val="1"/>
            <c:spPr>
              <a:solidFill>
                <a:srgbClr val="3D5A99"/>
              </a:solidFill>
            </c:spPr>
          </c:dPt>
          <c:dPt>
            <c:idx val="2"/>
            <c:spPr>
              <a:solidFill>
                <a:srgbClr val="3D5A99"/>
              </a:solidFill>
            </c:spPr>
          </c:dPt>
          <c:dPt>
            <c:idx val="3"/>
            <c:spPr>
              <a:solidFill>
                <a:srgbClr val="D7263D"/>
              </a:solidFill>
            </c:spPr>
          </c:dPt>
          <c:dPt>
            <c:idx val="4"/>
            <c:spPr>
              <a:solidFill>
                <a:srgbClr val="D7263D"/>
              </a:solidFill>
            </c:spPr>
          </c:dPt>
          <c:dPt>
            <c:idx val="5"/>
            <c:spPr>
              <a:solidFill>
                <a:srgbClr val="D7263D"/>
              </a:solidFill>
            </c:spPr>
          </c:dPt>
          <c:dPt>
            <c:idx val="6"/>
            <c:spPr>
              <a:solidFill>
                <a:srgbClr val="D7263D"/>
              </a:solidFill>
            </c:spPr>
          </c:dPt>
          <c:cat>
            <c:strRef>
              <c:f>Sheet1!$A$2:$A$8</c:f>
              <c:strCache>
                <c:ptCount val="7"/>
                <c:pt idx="0">
                  <c:v>A</c:v>
                </c:pt>
                <c:pt idx="1">
                  <c:v>B</c:v>
                </c:pt>
                <c:pt idx="2">
                  <c:v>C</c:v>
                </c:pt>
                <c:pt idx="3">
                  <c:v>D</c:v>
                </c:pt>
                <c:pt idx="4">
                  <c:v>E</c:v>
                </c:pt>
                <c:pt idx="5">
                  <c:v>F</c:v>
                </c:pt>
                <c:pt idx="6">
                  <c:v>G</c:v>
                </c:pt>
              </c:strCache>
            </c:strRef>
          </c:cat>
          <c:val>
            <c:numRef>
              <c:f>Sheet1!$B$2:$B$8</c:f>
              <c:numCache>
                <c:formatCode>General</c:formatCode>
                <c:ptCount val="7"/>
                <c:pt idx="0">
                  <c:v>0.1</c:v>
                </c:pt>
                <c:pt idx="1">
                  <c:v>0.163</c:v>
                </c:pt>
                <c:pt idx="2">
                  <c:v>0.208</c:v>
                </c:pt>
                <c:pt idx="3">
                  <c:v>0.59</c:v>
                </c:pt>
                <c:pt idx="4">
                  <c:v>0.645</c:v>
                </c:pt>
                <c:pt idx="5">
                  <c:v>0.705</c:v>
                </c:pt>
                <c:pt idx="6">
                  <c:v>0.984</c:v>
                </c:pt>
              </c:numCache>
            </c:numRef>
          </c:val>
        </c:ser>
        <c:dLbls>
          <c:numFmt formatCode="0%" sourceLinked="0"/>
          <c:txPr>
            <a:bodyPr/>
            <a:lstStyle/>
            <a:p>
              <a:pPr>
                <a:defRPr sz="10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C3C9"/>
            </a:solidFill>
          </a:ln>
        </c:spPr>
        <c:txPr>
          <a:bodyPr/>
          <a:lstStyle/>
          <a:p>
            <a:pPr>
              <a:defRPr sz="1000"/>
            </a:pPr>
          </a:p>
        </c:txPr>
        <c:crossAx val="-2113994440"/>
        <c:crosses val="autoZero"/>
        <c:auto val="1"/>
        <c:lblAlgn val="ctr"/>
        <c:lblOffset val="100"/>
        <c:noMultiLvlLbl val="0"/>
      </c:catAx>
      <c:valAx>
        <c:axId val="-2113994440"/>
        <c:scaling>
          <c:max val="1.1"/>
          <c:min val="0.0"/>
        </c:scaling>
        <c:delete val="0"/>
        <c:axPos val="l"/>
        <c:majorGridlines>
          <c:spPr>
            <a:ln>
              <a:solidFill>
                <a:srgbClr val="E3E5E8"/>
              </a:solidFill>
            </a:ln>
          </c:spPr>
        </c:majorGridlines>
        <c:majorTickMark val="out"/>
        <c:minorTickMark val="none"/>
        <c:tickLblPos val="nextTo"/>
        <c:spPr>
          <a:ln>
            <a:noFill/>
          </a:ln>
        </c:spPr>
        <c:txPr>
          <a:bodyPr/>
          <a:lstStyle/>
          <a:p>
            <a:pPr>
              <a:defRPr sz="900">
                <a:solidFill>
                  <a:srgbClr val="5F6368"/>
                </a:solidFill>
              </a:defRPr>
            </a:pPr>
          </a:p>
        </c:txPr>
        <c:crossAx val="-2068027336"/>
        <c:crosses val="autoZero"/>
      </c:valAx>
    </c:plotArea>
    <c:dispBlanksAs val="gap"/>
  </c:chart>
  <c:txPr>
    <a:bodyPr/>
    <a:lstStyle/>
    <a:p>
      <a:pPr>
        <a:defRPr sz="1000">
          <a:solidFill>
            <a:srgbClr val="2B2B2B"/>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42852"/>
                </a:solidFill>
              </a:rPr>
              <a:t>F1 en Validation (Credit Risk)</a:t>
            </a:r>
          </a:p>
        </c:rich>
      </c:tx>
      <c:layout/>
      <c:overlay val="0"/>
    </c:title>
    <c:autoTitleDeleted val="0"/>
    <c:plotArea>
      <c:barChart>
        <c:barDir val="bar"/>
        <c:grouping val="clustered"/>
        <c:varyColors val="0"/>
        <c:ser>
          <c:idx val="0"/>
          <c:order val="0"/>
          <c:tx>
            <c:strRef>
              <c:f>Sheet1!$B$1</c:f>
              <c:strCache>
                <c:ptCount val="1"/>
                <c:pt idx="0">
                  <c:v>serie</c:v>
                </c:pt>
              </c:strCache>
            </c:strRef>
          </c:tx>
          <c:spPr>
            <a:solidFill>
              <a:srgbClr val="3D5A99"/>
            </a:solidFill>
          </c:spPr>
          <c:dPt>
            <c:idx val="0"/>
            <c:spPr>
              <a:solidFill>
                <a:srgbClr val="6D6E71"/>
              </a:solidFill>
            </c:spPr>
          </c:dPt>
          <c:dPt>
            <c:idx val="1"/>
            <c:spPr>
              <a:solidFill>
                <a:srgbClr val="242852"/>
              </a:solidFill>
            </c:spPr>
          </c:dPt>
          <c:dPt>
            <c:idx val="2"/>
            <c:spPr>
              <a:solidFill>
                <a:srgbClr val="D7263D"/>
              </a:solidFill>
            </c:spPr>
          </c:dPt>
          <c:dPt>
            <c:idx val="3"/>
            <c:spPr>
              <a:solidFill>
                <a:srgbClr val="3D5A99"/>
              </a:solidFill>
            </c:spPr>
          </c:dPt>
          <c:cat>
            <c:strRef>
              <c:f>Sheet1!$A$2:$A$5</c:f>
              <c:strCache>
                <c:ptCount val="4"/>
                <c:pt idx="0">
                  <c:v>SVM · solo 2 variables</c:v>
                </c:pt>
                <c:pt idx="1">
                  <c:v>Árbol prof. 5</c:v>
                </c:pt>
                <c:pt idx="2">
                  <c:v>SVM RBF · todas</c:v>
                </c:pt>
                <c:pt idx="3">
                  <c:v>Random Forest</c:v>
                </c:pt>
              </c:strCache>
            </c:strRef>
          </c:cat>
          <c:val>
            <c:numRef>
              <c:f>Sheet1!$B$2:$B$5</c:f>
              <c:numCache>
                <c:formatCode>General</c:formatCode>
                <c:ptCount val="4"/>
                <c:pt idx="0">
                  <c:v>0.611</c:v>
                </c:pt>
                <c:pt idx="1">
                  <c:v>0.742</c:v>
                </c:pt>
                <c:pt idx="2">
                  <c:v>0.743</c:v>
                </c:pt>
                <c:pt idx="3">
                  <c:v>0.761</c:v>
                </c:pt>
              </c:numCache>
            </c:numRef>
          </c:val>
        </c:ser>
        <c:dLbls>
          <c:numFmt formatCode="0.000" sourceLinked="0"/>
          <c:txPr>
            <a:bodyPr/>
            <a:lstStyle/>
            <a:p>
              <a:pPr>
                <a:defRPr sz="1100">
                  <a:solidFill>
                    <a:srgbClr val="2B2B2B"/>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low"/>
        <c:spPr>
          <a:ln>
            <a:solidFill>
              <a:srgbClr val="BFC3C9"/>
            </a:solidFill>
          </a:ln>
        </c:spPr>
        <c:txPr>
          <a:bodyPr/>
          <a:lstStyle/>
          <a:p>
            <a:pPr>
              <a:defRPr sz="1100"/>
            </a:pPr>
          </a:p>
        </c:txPr>
        <c:crossAx val="-2113994440"/>
        <c:crosses val="autoZero"/>
        <c:auto val="1"/>
        <c:lblAlgn val="ctr"/>
        <c:lblOffset val="100"/>
        <c:noMultiLvlLbl val="0"/>
      </c:catAx>
      <c:valAx>
        <c:axId val="-2113994440"/>
        <c:scaling>
          <c:max val="0.9"/>
          <c:min val="0.0"/>
        </c:scaling>
        <c:delete val="0"/>
        <c:axPos val="b"/>
        <c:majorGridlines>
          <c:spPr>
            <a:ln>
              <a:solidFill>
                <a:srgbClr val="E3E5E8"/>
              </a:solidFill>
            </a:ln>
          </c:spPr>
        </c:majorGridlines>
        <c:majorTickMark val="out"/>
        <c:minorTickMark val="none"/>
        <c:tickLblPos val="nextTo"/>
        <c:spPr>
          <a:ln>
            <a:noFill/>
          </a:ln>
        </c:spPr>
        <c:txPr>
          <a:bodyPr/>
          <a:lstStyle/>
          <a:p>
            <a:pPr>
              <a:defRPr sz="1000">
                <a:solidFill>
                  <a:srgbClr val="5F6368"/>
                </a:solidFill>
              </a:defRPr>
            </a:pPr>
          </a:p>
        </c:txPr>
        <c:crossAx val="-2068027336"/>
        <c:crosses val="autoZero"/>
      </c:valAx>
    </c:plotArea>
    <c:dispBlanksAs val="gap"/>
  </c:chart>
  <c:txPr>
    <a:bodyPr/>
    <a:lstStyle/>
    <a:p>
      <a:pPr>
        <a:defRPr sz="1100">
          <a:solidFill>
            <a:srgbClr val="2B2B2B"/>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1324507C-30A5-4F04-9BA9-BE73D73F195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12170012-4F66-4FAC-9ADB-574DFAC324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B90910-41EB-476D-8DC1-6DEA0FD5ECF8}" type="datetimeFigureOut">
              <a:rPr lang="es-419" smtClean="0"/>
              <a:t>20/6/2025</a:t>
            </a:fld>
            <a:endParaRPr lang="es-419"/>
          </a:p>
        </p:txBody>
      </p:sp>
      <p:sp>
        <p:nvSpPr>
          <p:cNvPr id="4" name="Marcador de pie de página 3">
            <a:extLst>
              <a:ext uri="{FF2B5EF4-FFF2-40B4-BE49-F238E27FC236}">
                <a16:creationId xmlns:a16="http://schemas.microsoft.com/office/drawing/2014/main" id="{6102F0BF-DE86-4431-9CB3-63269E04BD3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3B70F7B2-1CA3-4D60-817B-D850DB8F89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AEBE30-BF0C-4669-8247-869FC8EEE18D}" type="slidenum">
              <a:rPr lang="es-419" smtClean="0"/>
              <a:t>‹Nº›</a:t>
            </a:fld>
            <a:endParaRPr lang="es-419"/>
          </a:p>
        </p:txBody>
      </p:sp>
    </p:spTree>
    <p:extLst>
      <p:ext uri="{BB962C8B-B14F-4D97-AF65-F5344CB8AC3E}">
        <p14:creationId xmlns:p14="http://schemas.microsoft.com/office/powerpoint/2010/main" val="3393946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Igual que en los días anteriores: todo se entiende a mano, sin código. Hoy cambiamos de pregunta: ya no estimamos un número, sino una clase. Primero entendemos qué es clasificar y conocemos los datos de pagos. Luego vemos los dos conceptos centrales del árbol de clasificación: Gini, para construirlo, y la matriz de confusión, para evaluarlo. Después KNN y SVM con otros dos datasets bancarios.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dataset se eligió porque hace más fácil entender un algoritmo: las transacciones que se separan por tipo, monto y hora producen reglas de árbol legibles; los clientes con comportamiento parecido ilustran a KNN; los préstamos que se separan por ingreso y tasa muestran la frontera de SVM. Ninguno describe clientes del Ecuador ni del BCE.</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PaySim: cada fila es una transacción de dinero móvil simulada, con su tipo, monto y hora; queremos saber si es fraude. Lo usamos para el árbol y para aprender la matriz de confusión y las métricas. BankChurners: cada fila es un cliente de tarjeta de crédito con su comportamiento del último año; queremos saber si abandonó la tarjeta. Lo usamos para KNN porque «buscar clientes parecidos» es natural con datos de comportamiento. Credit Risk: cada fila es un préstamo aprobado; queremos saber si cayó en impago. Lo usamos para SVM porque pagados e impagos se separan bastante bien por la tasa y la proporción del ingreso, y así se puede dibujar la frontera.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Tenemos información histórica de operaciones financieras. Cada fila es una transacción; las columnas describen sus características (tipo, monto, saldo) y la última columna dice si fue fraude. Esa última columna es la variable objetivo: 0 = transacción legítima, 1 = transacción fraudulenta. El árbol intentará aprender reglas para distinguir ambos grupos. La pregunta del día: ¿cómo sabe el árbol cuál es la mejor regla para empezar? Y, una vez entrenado, ¿cómo sabemos si detecta bien los fraudes?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Clasificar es asignar cada caso a una categoría, llamada clase, a partir de sus características. El modelo aprende de casos pasados en los que ya conocemos la clase y luego la predice para casos nuevos. Ejemplos bancarios: una transacción es fraude o normal; un cliente abandona la tarjeta o se queda; un préstamo se paga o cae en impago. Hoy son clasificaciones binarias (dos clases); si hubiera tres o más (segmento A, B o C) sería multiclase.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Una clase es cada valor posible de la variable objetivo. En nuestra tabla, isFraud solo puede valer 0 (legítima) o 1 (fraude): hay dos clases. La clase que queremos detectar se codifica como 1 y se llama clase positiva; la otra es la negativa. Positiva no es un juicio de valor: el fraude no es «bueno», solo es la clase que seguimos de cerca. Esta elección importa porque los nombres VP, VN, FP y FN dependen de ella.</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diferencia está en la respuesta. En regresión predecimos una cantidad (cuánto transará un cliente, cuánto crecerá el PIB) y el error es una distancia: predecir 2,4 % cuando fue 2,6 % es un error pequeño. En clasificación predecimos una etiqueta y solo hay acierto o fallo. Por eso cambian las métricas, lo que entrega una hoja del árbol, el criterio para cortar y el modelo de referencia.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Cuando el modelo responde fraude, significa: según su regla, esta transacción cae del lado de las fraudulentas. No significa certeza. Muchos clasificadores calculan primero un score y luego aplican un umbral: si el score supera el umbral, responde fraude. Cambiar el umbral cambia las respuestas sin reentrenar.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Falso positivo: el modelo dice fraude y bloqueamos una transacción legítima (molestamos a un cliente). Falso negativo: el modelo dice normal y dejamos pasar un fraude (perdimos dinero). Cuál pesa más depende del negocio, no del algoritmo.</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PaySim es un simulador: a partir de un mes de registros reales de un servicio de dinero móvil en un país africano, genera transacciones que imitan la operación normal e inyecta fraudes. Existe porque los datos financieros reales son privados. Versión de Kaggle: 6 362 620 transacciones de 30 días, 8 213 fraudes (0,13 %). Cómo es el fraude en la simulación: el defraudador toma el control de la cuenta de un cliente, transfiere el saldo a otra cuenta y desde ahí lo retira en efectivo. Cita: Lopez-Rojas, Elmir y Axelsson (2016), EMSS.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CASH_IN: el cliente entrega efectivo en un comercio o agente y le cargan saldo en su billetera. CASH_OUT: lo contrario, retira efectivo de su billetera. DEBIT: parecido a CASH_OUT, pero el dinero va de la billetera a una cuenta bancaria. PAYMENT: pago de bienes o servicios a un comercio. TRANSFER: envío de dinero a otro usuario. En la muestra, los fraudes solo aparecen en TRANSFER y CASH_OUT: son justo los dos pasos para vaciar una cuenta. Por eso creamos la variable transfer_o_retiro = 1 si el tipo es uno de esos dos.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Antes de modelar decidimos qué columnas entran. Entran las que describen la transacción y se conocen al momento de decidir: el tipo (resumido en transfer_o_retiro), el monto y la hora del día (calculada con step). Quedan fuera los identificadores de clientes, porque son nombres y no se repiten en clientes nuevos; las cuatro columnas de saldo, porque son una fuga de información; e isFlaggedFraud, porque es la alerta de otro sistema. isFraud es la respuesta.</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 cuenta las horas desde el inicio de la simulación: step 1 es la primera hora del día 1 y step 25 es la primera hora del día 2. Así, tal cual, no sirve para predecir: un número de hora del mes no se repite en el futuro. Lo útil es la hora del día, que es el resto de dividir step para 24. Por ejemplo, step 27 es el día 2 a las 3 de la mañana. Con la hora del día descubrimos que de madrugada casi todas las transacciones de la muestra son fraude. Convertir una columna en una variable útil se llama ingeniería de variables.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Una fuga de información ocurre cuando el modelo usa una columna que contiene la respuesta o que fue escrita conociéndola. El modelo parece excelente en clase y falla en la vida real. Analogía: predecir si un estudiante aprobará usando su nota final; acierta siempre, pero la nota final solo existe cuando ya se sabe si aprobó. En PaySim, el propio dataset advierte que las transacciones detectadas como fraude se cancelan, y esa cancelación altera las cuatro columnas de saldo: los saldos llevan la huella del resultado. Por eso no deben usarse para detectar fraude.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Miren la tabla del inicio: en los fraudes, el monto es exactamente igual al saldo anterior (8 000 y 8 000; 5 000 y 5 000). En la muestra pasa en el 97,8 % de los fraudes y en el 0,0 % de las transacciones normales: una sola comparación casi separa las clases. Si le damos los saldos al mismo árbol, el F1 en Validation salta de 0,633 a 0,884. Ese salto no es inteligencia del modelo: es la huella de la simulación y de la cancelación. Con datos nuevos y reales no tendríamos esa huella.</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isFlaggedFraud es la alerta del sistema que ya existe: marca como ilegal todo intento de transferir más de 200 000 en una sola transacción. No es una característica de la transacción; es la respuesta de otro detector. Además casi nunca se activa: en la muestra se activó 16 veces (las 16 eran fraude), aunque hubo 2 740 transferencias fraudulentas de más de 200 000. Si la metemos como variable, el modelo copiaría una regla que casi nunca avisa. Mejor la usamos como rival: ¿nuestro modelo le gana a la regla actual?</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dataset está balanceado cuando las clases tienen tamaños parecidos, por ejemplo 500 normales y 500 fraudes, y desbalanceado cuando una clase es mucho más frecuente, por ejemplo 980 normales y 20 fraudes. El fraude real es de 0,13 %: uno o dos de cada mil. Problema: el modelo intenta equivocarse lo menos posible en total, y con tantas normales le conviene decir casi siempre «normal». Un modelo que diga siempre «normal» acierta 98 % y no encuentra ni un fraude. Hay que saberlo antes de entrenar y antes de medir.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archivo completo pesa cerca de 500 MB, tarda en cargarse y supera el límite de 100 MB por archivo de GitHub. Además, una muestra al azar de 100 000 filas tendría solo unos 130 fraudes: muy pocos para aprender. Construimos paysim_muestra.csv con los 8 213 fraudes y 91 985 transacciones normales sorteadas al azar. En la muestra el fraude es 8,2 %, no 0,13 %. Quitar parte de la clase mayoritaria ya es una forma de balancear: se llama submuestreo.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Seis herramientas. Dividir con stratify (o por grupos) para conservar la proporción en Train, Validation y Test. Medir con Precision, Recall y F1, que veremos hoy. Pesar las clases con class_weight. Submuestreo: quitar filas de la clase mayoritaria en Train. Sobremuestreo: repetir filas de la minoritaria en Train (o crear filas sintéticas con SMOTE). Mover el umbral de decisión. Regla de oro: se balancea solo Train; Validation y Test conservan la proporción real. Probaremos varias después de construir el árbol.</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la simulación, un fraude son dos filas: primero TRANSFER y luego CASH_OUT, con el mismo monto y en la misma hora. De las 4 080 operaciones fraudulentas de la muestra, 4 000 tienen dos filas. Si repartimos las filas al azar, una pata puede caer en Train y la otra en Validation: el árbol memoriza el monto exacto en Train y lo «reconoce» en Validation. Es como un examen con las mismas preguntas del deber. Por eso dividimos por operación: las dos filas de un fraude quedan siempre juntas.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Hoy veremos dos conceptos fundamentales de los árboles de clasificación, que ocurren en momentos distintos. Primero, el índice de Gini: con los datos de Train, el árbol lo usa para decidir qué pregunta hacer para separar las transacciones. Segundo, la matriz de confusión: con datos que el árbol no vio (Validation), nos dice si está detectando correctamente los fraudes. Gini ayuda a construir el árbol; la matriz de confusión ayuda a evaluar sus predicciones.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 un cuestionario de preguntas de sí o no. Cada transacción baja por las ramas según sus respuestas hasta llegar a una hoja. Una hoja es un grupo de transacciones de Train; predice la clase más frecuente de ese grupo. En el Día 2 la hoja entregaba un promedio; hoy entrega una clase. El árbol de la figura es ilustrativo. La gran pregunta es cuál pregunta poner primero: para eso está Gini.</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índice de Gini mide qué tan mezcladas están las clases dentro de un nodo. Para dos clases: Gini = 1 − (p0² + p1²), donde p0 es la proporción de operaciones normales y p1 la de fraudes. Un nodo con 10 normales y 0 fraudes es puro: Gini 0. Con 8 normales y 2 fraudes: 1 − (0,8² + 0,2²) = 1 − 0,68 = 0,32. Con 5 y 5, la mezcla es máxima: 1 − (0,25 + 0,25) = 0,50. El valor 0 significa una sola clase; 0,5 es la mezcla máxima con dos clases.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Imaginen una hoja del árbol. Sacamos una transacción al azar y le ponemos una etiqueta también al azar, respetando las proporciones de la hoja. Gini es la probabilidad de que esa etiqueta esté mal. Si la hoja es pura, nunca nos equivocamos: Gini 0. Si es mitad y mitad, nos equivocamos la mitad de las veces: Gini 0,5. Por eso Gini mide la mezcla: cuanto más mezclada la hoja, más fácil confundirse.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Imaginen 20 transacciones ficticias: 16 normales y 4 fraudulentas. Proporciones: p0 = 16 / 20 = 0,8 y p1 = 4 / 20 = 0,2. Gini inicial = 1 − (0,8² + 0,2²) = 1 − (0,64 + 0,04) = 0,32. Ahora el árbol necesita encontrar una pregunta que reduzca esa mezcla. Es un ejemplo inventado para comprender el cálculo; no es una muestra de PaySim.</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árbol prueba la pregunta «¿es TRANSFER?». Rama sí: 6 transacciones, 2 normales y 4 fraudes. Gini = 1 − (2/6)² − (4/6)² = 1 − 0,111 − 0,444 = 0,444. Rama no: 14 transacciones, 14 normales y 0 fraudes. Gini = 1 − (14/14)² = 0: una rama pura. La pregunta dejó casi todos los fraudes de un lado.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comparamos el resultado de ambas ramas? No basta con promediar 0,444 y 0, porque las ramas tienen tamaños diferentes: la rama pura tiene 14 de las 20 transacciones. El promedio simple daría 0,222, como si cada rama pesara igual. El Gini ponderado pesa cada rama por su tamaño: 6/20 × 0,444 + 14/20 × 0 = 0,133. Antes de dividir teníamos 0,32; después, 0,133. La reducción de impureza es 0,32 − 0,133 = 0,187. Esa pregunta consiguió separar bastante bien los fraudes de las normales.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árbol no prueba una sola pregunta: prueba todas las variables y todos los umbrales posibles. Por ejemplo, «¿monto ≤ 1 000?» deja a la izquierda 12 transacciones (11 normales, 1 fraude, Gini 0,153) y a la derecha 8 (5 normales, 3 fraudes, Gini 0,469). Ponderado: 12/20 × 0,153 + 8/20 × 0,469 = 0,279. Reducción: solo 0,041. Gana «¿es TRANSFER?» con 0,187. Luego repite el proceso en cada rama hasta una condición de parada. Importante: Gini no mide qué tan preciso será el árbol con transacciones nuevas; solo guía la construcción.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Todos los fraudes son de dos tipos: TRANSFER (4 097) y CASH_OUT (4 116), como dice la descripción del dataset. Por eso creamos transfer_o_retiro. El monto mediano de un fraude es unos 441 000, frente a 76 000 de una transacción normal. Y entre las 2 y las 7 de la mañana la mayoría de transacciones de la muestra son fraude: la actividad normal ocurre de día; los defraudadores de la simulación operan a cualquier hora.</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Para cada pregunta contamos filas y fraudes de cada lado en Train, calculamos el Gini de cada rama y el Gini ponderado. «¿Es transferencia o retiro?» deja una rama PURA (36 355 sin ningún fraude), pero la otra rama queda muy mezclada: ponderado 0,136. «¿Hora ≤ 8,5?» logra el menor: 0,124. Una rama pura no garantiza la mejor pregunta.</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algoritmo eligió la misma raíz que ganó a mano: ¿hora ≤ 8,5? De madrugada pregunta si es transferencia o retiro: si no lo es, hoja pura (1 116 transacciones, ningún fraude); si lo es, 84 % son fraude y predice fraude. De día pregunta por el monto: sobre 915 061 el fraude llega a 46 %, pero sigue siendo minoría y predice normal.</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Imaginemos que entrenamos el árbol y lo evaluamos con 1 000 transacciones que no usó para aprender: 980 normales y 20 fraudulentas. Cada transacción cae en una casilla. Filas: lo que pasó realmente. Columnas: lo que dijo el modelo. 950 normales bien aceptadas (VN), 30 falsas alarmas (FP), 5 fraudes omitidos (FN) y 15 fraudes detectados (VP). Consideramos fraude como clase positiva. Es una matriz ilustrativa.</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cuadrante tiene una interpretación operativa. Verdadero negativo: la operación era normal y el sistema la dejó pasar. Falso positivo: era legítima, pero se generó una alerta. Falso negativo: era fraude y el modelo no lo detectó. Verdadero positivo: era fraude y se detectó. Para una institución financiera, los falsos negativos son fraudes que pasan desapercibidos; los falsos positivos consumen recursos de revisión y molestan a usuarios legítimos.</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nombre tiene dos palabras. La segunda (positivo o negativo) dice QUÉ RESPONDIÓ el modelo: positivo es la clase que decidimos buscar, aquí fraude; negativo es la otra, normal. La primera (verdadero o falso) dice SI ACERTÓ. Por eso VP = dijo fraude y acertó: detectó un fraude. VN = dijo normal y acertó. «Positivo» no significa bueno: significa «la clase que buscamos». Si eligiéramos normal como positiva, los nombres se intercambiarían; por eso siempre se declara primero la clase positiva.</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Hasta ahora medíamos con MAE, RMSE y R² porque predecíamos números. En clasificación las métricas salen de la matriz. La primera es Accuracy (exactitud): de todas las operaciones, ¿qué porcentaje clasifiqué correctamente? Usa la diagonal: (VP + VN) / total = (950 + 15) / 1 000 = 96,5 %. Es fácil de entender, pero con clases desbalanceadas engaña, como veremos enseguida.</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Precision (precisión de las alertas) responde: de todas las transacciones señaladas como fraude, ¿cuántas realmente lo eran? Solo mira la columna «predice fraude»: VP / (VP + FP) = 15 / (15 + 30) = 33,3 %. De cada 3 alertas, solo 1 era fraude. Mide la calidad de las alertas: si es baja, el equipo de riesgo pierde tiempo revisando falsas alarmas y se bloquea a clientes honestos.</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Recall (sensibilidad) responde: de todos los fraudes reales, ¿cuántos logró encontrar el modelo? Solo mira la fila «real fraude»: VP / (VP + FN) = 15 / (15 + 5) = 75 %. De cada 4 fraudes encontró 3 y se escapó 1. Mide la cobertura. Un modelo que nunca dice fraude tiene Recall 0.</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F1 combina Precision y Recall mediante su media armónica: 2·P·R / (P + R). Con conteos es más fácil: F1 = 2VP / (2VP + FP + FN) = 30 / (30 + 30 + 5) = 46,2 %. ¿Por qué no el promedio simple? Aquí daría 54,2 %. Y la regla isFlaggedFraud de PaySim, con Precision 1,00 y Recall 0,004, tendría promedio simple 0,50, como si fuera «regular», aunque casi no encuentra fraudes; su F1 es 0,008. La media armónica se acerca al valor más bajo: F1 solo es alto si Precision y Recall son altas a la vez.</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Nuestro árbol obtuvo 96,5 % de Accuracy, aparentemente excelente. Pero imaginen otro modelo que diga siempre: todas las transacciones son normales. Como 980 de las 1 000 son legítimas, ese modelo consigue 980 / 1 000 = 98 % de Accuracy: más que nuestro árbol, aunque no detecta ni un solo fraude. Por eso en detección de fraude analizamos especialmente Recall y Precision, además del costo de cada tipo de error.</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F1 es un solo número entre 0 y 1 que resume Precision y Recall, y solo es alto si ambas lo son. Tiene una ventaja clave con datos desbalanceados: no usa los verdaderos negativos. Los cientos de normales bien aceptadas no lo inflan, como sí inflan la Accuracy. El modelo que dice siempre normal tiene Accuracy 98 % pero F1 0. Por eso F1 será nuestra métrica principal hoy, y en cualquier problema de clasificación con una clase rara: fraude, abandono, impago. La usaremos para elegir hiperparámetros y comparar árbol, bosque, KNN y SVM en Validation.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 hay una métrica correcta para todo: depende de qué error cuesta más. Si se escapa un fraude o un préstamo grande que no se pagará, miramos Recall. Si cada alerta exige trabajo o molesta a un buen cliente, miramos Precision. Si ambos importan, F1. Accuracy solo cuando las clases están equilibradas.</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con max_depth = 5 y min_samples_leaf = 30, los hiperparámetros del Día 2. El árbol aprendió 21 hojas y emitió 829 alertas en Validation. Matriz: 13 619 VN, 161 FP, 615 FN, 668 VP. Accuracy = (668 + 13 619) / 15 063 = 0,948. Precision = 668 / 829 = 0,806. Recall = 668 / 1 283 = 0,521. F1 = 0,633. Detecta la mitad de los fraudes y, cuando avisa, acierta 8 de cada 10 veces.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Comparamos en Validation tres formas de decidir. El modelo que dice siempre «normal» acierta 91,5 % y no encuentra fraudes. La regla isFlaggedFraud emite solo 5 alertas: las 5 eran fraude (Precision 1,00), pero encuentra 5 de 1 283 (Recall 0,004). El árbol emite 829 alertas, acierta 8 de cada 10 y encuentra la mitad de los fraudes. La Accuracy casi no distingue a los tres; F1 sí.</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class_weight = balanced pesa cada clase en proporción inversa a su frecuencia: peso fraude = 70 126 / (2 × 5 735) = 6,11; peso normal = 70 126 / (2 × 64 391) = 0,545. Un error en un fraude cuenta como unos 11 errores en una normal. No crea datos: cambia qué cortes le parecen mejores al árbol.</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Mismo árbol (profundidad 5, 30 filas por hoja), cuatro formas de tratar el desbalance; solo cambia Train. Las tres estrategias de balanceo suben el Recall de 0,52 a 0,75–0,83: se escapan muchos menos fraudes. A cambio, la Precision cae a 0,32–0,43 y aparecen miles de falsas alarmas. Balancear no «mejora» sin más: mueve el intercambio hacia el Recall.</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Igual que en el Día 2: cada árbol se entrena con una muestra bootstrap de Train (filas sorteadas con reemplazo) y en cada corte solo ve algunas columnas al azar. La diferencia: en clasificación cada árbol vota por una clase y gana la mayoría. Usamos 200 árboles, max_depth = 8 y min_samples_leaf = 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Árbol sin ningún límite: 3 413 hojas, F1 0,998 en Train pero 0,534 en Validation. Memorizó los montos exactos de Train, que no se repiten en Validation: sobreajuste. El árbol con profundidad 5 y 30 filas por hoja tiene F1 0,610 en Train y 0,633 en Validation: no memoriza. El bosque queda casi igual que el árbol controlado (0,626). Si hubiéramos dividido al azar, el árbol sin límite habría parecido el mejor gracias a las dos patas de cada fraude.</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importancia suma cuánto redujo el Gini cada variable en todos los cortes de los 200 árboles, en proporción. Hora: 44,5 %. Monto: 38,0 %. Tipo transferencia o retiro: 17,5 %. Coincide con la primera pregunta del árbol. Es importancia predictiva: no dice que la hora cause el fraude, y en un dataset sintético refleja cómo se programó la simulación.</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gerente está preocupado porque cada vez más clientes abandonan su tarjeta de crédito; quiere predecir quién se irá para acercarse a tiempo y ofrecerle un mejor servicio. Dataset publicado en Kaggle a partir de LEAPS Analyttica: 10 127 clientes, cerca de 18 variables, y solo 16,07 % de abandonos. Ya lo usamos en el Día 2 para estimar el monto transado.</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dos últimas columnas del archivo se llaman Naive_Bayes_Classifier…: son las predicciones de un modelo que alguien entrenó usando la respuesta. La regla «si esa columna &gt; 0,5, predice abandono» acierta el 100 % de los 10 127 clientes. Con ellas cualquier algoritmo parecería perfecto. Las eliminamos, junto con CLIENTNUM, un número de identificación.</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KNN = K-Nearest Neighbors, los k vecinos más cercanos. Para un caso nuevo, busca los k casos de Train más parecidos y vota con sus clases. Ejemplo de juguete: distancias del punto nuevo a A, B, C, D = 1,41; 0,50; 2,24; 1,12. Los 3 más cercanos son B (yes), D (no) y A (no): gana no, 2 contra 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distancia euclidiana es la línea recta: si dos clientes difieren 3 unidades en una variable y 4 en otra, la distancia es √(3² + 4²) = 5. La distancia Manhattan suma los desplazamientos, como caminar por cuadras: 3 + 4 = 7. Ninguna es la correcta siempre: se comparan en Validation.</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monto se mide en miles de dólares y las transacciones en decenas. Sin escalar, una diferencia de 36 dólares pesaría 36 veces más que una transacción de diferencia. Estandarizamos con la media y la desviación de Train: z = (x − media) / desviación. Transacciones: media 64,9, desviación 23,6. Monto: media 4 397, desviación 3 391,7.</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Cliente de Validation: 48 transacciones por 3 109 dólares en el año. Buscamos sus 15 clientes más cercanos en Train (con las dos variables escaladas): 12 abandonaron la tarjeta y 3 se quedaron. KNN lo marca como posible abandono, y en efecto se fue. En la zona de pocas transacciones y montos bajos los abandonos son frecuentes.</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Comparemos al cliente nuevo (48 transacciones, 3 109 USD) con dos clientes de Train. A: 49 transacciones y 3 073 USD, casi idéntico. B: 79 transacciones y 3 112 USD, un comportamiento muy distinto. Sin escalar, la distancia a A es √(1² + 36²) = 36,0 y a B es √(31² + 3²) = 31,1: ¡B parece más cercano! El monto en dólares manda. Estandarizado, A queda a 0,044 y B a 1,31: el orden se corrige.</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Estandarización (puntaje z): z = (x − media) / desviación. Queda con media 0 y desviación 1: dice cuántas desviaciones está el cliente por encima o por debajo del promedio. Min-max: x' = (x − mínimo) / (máximo − mínimo). Queda entre 0 y 1: dice en qué punto del rango está. La media, la desviación, el mínimo y el máximo se calculan solo con Train.</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 escalar, de los 15 vecinos del cliente solo 2 coinciden con los vecinos estandarizados, y solo 2 abandonaron (frente a 12): KNN diría que el cliente se queda, y se equivocaría. En todo Validation, normalizar sube el F1 de 0,59 a 0,69 con 2 variables y de 0,62 a 0,69 con 11. Estandarizar y min-max dan resultados muy parecidos.</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las 11 variables escaladas y votos ponderados por distancia. k = 5: F1 0,712. k = 15: 0,688. k = 31: 0,650. Con más vecinos, la mayoría que se queda pesa más: menos alertas y más abandonos omitidos. Manhattan con k = 15 obtuvo el mejor F1 (0,719).</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Probamos KNN (k = 15) con todas las columnas: las numéricas más sexo, educación, estado civil, ingreso y tipo de tarjeta en One-Hot, 37 columnas en total. F1 baja de 0,688 a 0,601. Cada columna nueva suma a la distancia: dos clientes con comportamiento casi idéntico quedan «lejos» por tener distinto nivel educativo.</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Elegimos BankChurners porque explica muy bien la idea de KNN, no porque KNN gane. Con la misma división, el árbol (profundidad 5) obtiene F1 0,777 y Recall 0,787; el bosque, F1 0,745 con Precision 0,891. KNN k = 15 queda en 0,688. Un dataset puede ser ideal para enseñar un algoritmo sin que ese algoritmo sea el mejor allí.</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 recibir una solicitud, la entidad quiere estimar si el préstamo terminará en impago (loan_status = 1) con información que ya conoce al aprobarlo. Dataset de Kaggle con 32 581 préstamos y 21,8 % de impagos. Incluye ingresos, monto, tasa de interés, historial crediticio y grado de riesgo. Tiene muchos notebooks públicos: hay que distinguir lo que logra el dataset de lo que logra SVM.</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Errores de registro: 5 edades mayores a 100 años (hasta 144) y 2 antigüedades laborales mayores a 60 años (hasta 123); 165 filas duplicadas. Quedan 32 409. Los faltantes de tasa (3 116) y antigüedad (895) se rellenan con la mediana de Train. El impago sube con el grado: 10 % en A y 98 % en G.</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SVM = Support Vector Machine. Busca una frontera que separe las clases dejando la mayor distancia posible a los puntos más cercanos de cada lado: el margen. Los puntos que tocan o cruzan el margen sostienen la frontera: son los vectores de soporte. Para una solicitud nueva, SVM solo mira de qué lado de la frontera cae.</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caso más simple: una sola variable, la cuota del préstamo como proporción del ingreso. Pagados en 0,10, 0,15 y 0,20; impagos en 0,40, 0,45 y 0,55. Cualquier corte entre 0,20 y 0,40 separa perfecto: 0,22, 0,30 o 0,38. ¿Cuál elegir? SVM elige el que deja la calle más ancha a ambos lados: el punto medio 0,30, a 0,10 del pagado más cercano y a 0,10 del impago más cercano. Los dos puntos que tocan la calle, 0,20 y 0,40, son los vectores de soporte: si se mueven, se mueve la frontera; los demás no importan. Regla aprendida: si la cuota supera el 30 % del ingreso, predice impago.</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datos reales casi nunca hay una calle limpia. Agreguemos un impago «raro» en 0,24, cerca de los pagados. Opción A: mantener la calle ancha (de 0,20 a 0,40, frontera 0,30) y aceptar que ese impago quede del lado equivocado. Opción B: estrechar la calle (de 0,20 a 0,24, frontera 0,22) para no cometer errores. SVM le pone precio a las dos cosas: un costo por tener la calle estrecha, que es 2 / ancho², y una multa por cada punto que invade la calle, que es la holgura: 0 si el punto está fuera de la calle en su lado, entre 0 y 1 si está dentro de la calle, más de 1 si quedó del lado equivocado. Aquí la multa de A es 1,6. Costo total = 2 / ancho² + C × multas. C es el precio de cada unidad de multa: con C = 1 o 100 gana A, la calle ancha; con C = 1 000 gana B, la calle estrecha que persigue al punto raro.</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datos reales las clases se mezclan y ninguna frontera separa todo. SVM permite errores y C decide el compromiso. C pequeño: margen ancho, tolera errores en Train, frontera más regular. C grande: castiga cada error de Train, la frontera se dobla para perseguir puntos y puede sobreajustar. Como max_depth en el árbol, C se elige en Validation.</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 es la multa por cada préstamo de Train mal clasificado. Con SVM RBF y class_weight balanced probamos C = 0,01 a 100. C = 0,01: margen demasiado ancho, 6 192 de 8 400 préstamos son vectores de soporte y F1 bajo en todo (subajuste). Al subir C mejora. C = 10 da el mejor F1 en Validation (0,728). C = 100: Train sigue subiendo (0,906) pero Validation baja (0,696): la frontera persigue cada error (sobreajuste).</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veces ninguna recta separa las clases. Ejemplo: en una variable estandarizada x, los impagos están en los dos extremos (−3, −2,5, 2,5 y 3) y los pagados en el centro (−1 a 1). Un solo corte no alcanza. El truco: agregar una columna nueva, x². Los impagos pasan a 9 y 6,25; los pagados quedan entre 0 y 1. Ahora una recta separa: x² = 3,6. Vuelta a la variable original, esa recta equivale a dos cortes, |x| &gt; 1,9: una frontera curva. El kernel hace esto automáticamente sin crear las columnas. El kernel RBF mide qué tan parecidos son dos préstamos (cerca de 1 si son casi iguales, cerca de 0 si están lejos) y con eso puede dibujar fronteras curvas; gamma decide qué tan lejos llega la influencia de cada punto.</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 dos variables, proporción préstamo / ingreso y tasa de interés. La SVM lineal traza una recta: arriba a la derecha predice impago. La RBF curva la frontera: cuando el préstamo supera cerca del 30 % del ingreso, predice impago aunque la tasa sea moderada. F1 en Validation: lineal 0,565; RBF 0,611. Ninguna separa todo.</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Ahora con las 11 columnas preparadas (numéricas escaladas y categorías One-Hot). La RBF supera a la lineal (F1 0,714 frente a 0,631). Al subir C, sube F1 de Train (0,736 → 0,781) más que el de Validation: crece la brecha. Sin class_weight, la SVM emite 271 alertas con Precision 0,911; con balanced, 438 alertas con Recall 0,754.</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SVM busca una frontera con un margen amplio. Si los préstamos pagados e impagos se separan bien con las variables que le damos, la frontera es clara y SVM rinde muy bien; si están muy mezclados, ninguna frontera ayuda mucho. Con solo dos variables las clases se mezclan y el F1 queda en 0,611. Con todas las variables (en especial grado y tasa) se separan mejor y el F1 sube a 0,743. Con datos así, otros modelos también rinden bien: árbol 0,742, bosque 0,761.</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SVM es especialmente útil cuando hay muchas columnas en relación con el número de filas y cuando las clases se separan bien con una frontera recta o curva. Usos típicos: clasificar textos (spam, noticias, opiniones), reconocer imágenes y escritura a mano, bioinformática (miles de genes, pocos pacientes), riesgo y fraude con datasets medianos, y clasificar documentos financieros o regulatorios. No conviene con millones de filas, cuando hay que explicar con reglas o cuando se necesitan probabilidades.</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dataset tiene su tasa base: 8 % de fraudes en la muestra de PaySim (0,13 % en el archivo completo), 16 % de abandonos y 22 % de impagos. El baseline ya obtiene 91,5 %, 84 % y 78 % de Accuracy sin aprender nada. El mismo F1 no significa lo mismo con 8 % que con 22 % de positivos. Las comparaciones honestas son dentro de cada dataset, sobre las mismas filas.</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Ocho casos inventados con su score. Clases reales: 0, 0, 1, 1, 1, 0, 1, 0; scores: 0,10; 0,35; 0,40; 0,55; 0,70; 0,72; 0,88; 0,90. Umbral 0,35: 7 alertas, 4 aciertos → Precision 0,57, Recall 1,00. Umbral 0,50: 5 alertas, 3 aciertos → 0,60 y 0,75. Umbral 0,75: 2 alertas, 1 acierto → 0,50 y 0,25.</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cada dataset elegimos, solo con Validation, la variante con mayor F1: el árbol de profundidad 5 en PaySim (el que no memoriza), KNN k = 15 Manhattan en BankChurners y SVM RBF C = 1 sin pesos en Credit Risk. Después los aplicamos una vez a Test, sin reajustar nada. Los resultados de Test se parecen a los de Validation: la elección fue consistente en esta división.</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Árbol: reglas sí/no fáciles de explicar, sin escalar; pero inestable y memoriza si no se limita. Útil cuando hay que justificar la decisión. Random Forest: más estable y preciso, mide importancia; menos explicable y más lento. Útil cuando importa acertar con muchas variables. KNN: intuitivo, «casos parecidos»; obliga a escalar y empeora con muchas columnas. SVM: muy bueno con muchas columnas y clases separadas; obliga a escalar, lento con muchas filas y difícil de explicar.</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 necesitas explicar la decisión a un comité o a un cliente, empieza por un árbol limitado. Si necesitas precisión con muchas variables, prueba un Random Forest. Si la idea de casos parecidos tiene sentido y hay pocas variables bien elegidas, KNN. Si hay muchas columnas o las clases se separan bien con una frontera, SVM. En todos los casos: baseline, Validation, métricas de la clase que importa y Test una sola vez.</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Resumen para cerrar la jornada.</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lo que hicimos a mano aparece en el notebook del Día 3. Pidan al agente de IA que explique cada paso y comprueben que los números coincidan con los de la presentación.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bg>
      <p:bgPr>
        <a:blipFill dpi="0" rotWithShape="1">
          <a:blip r:embed="rId2">
            <a:lum/>
          </a:blip>
          <a:srcRect/>
          <a:stretch>
            <a:fillRect/>
          </a:stretch>
        </a:blipFill>
        <a:effectLst/>
      </p:bgPr>
    </p:bg>
    <p:spTree>
      <p:nvGrpSpPr>
        <p:cNvPr id="1" name="Shape 8"/>
        <p:cNvGrpSpPr/>
        <p:nvPr/>
      </p:nvGrpSpPr>
      <p:grpSpPr>
        <a:xfrm>
          <a:off x="0" y="0"/>
          <a:ext cx="0" cy="0"/>
          <a:chOff x="0" y="0"/>
          <a:chExt cx="0" cy="0"/>
        </a:xfrm>
      </p:grpSpPr>
      <p:sp>
        <p:nvSpPr>
          <p:cNvPr id="9" name="Google Shape;9;p5"/>
          <p:cNvSpPr txBox="1">
            <a:spLocks noGrp="1"/>
          </p:cNvSpPr>
          <p:nvPr>
            <p:ph type="ctrTitle"/>
          </p:nvPr>
        </p:nvSpPr>
        <p:spPr>
          <a:xfrm>
            <a:off x="1187624" y="5013176"/>
            <a:ext cx="6768752" cy="864095"/>
          </a:xfrm>
          <a:prstGeom prst="rect">
            <a:avLst/>
          </a:prstGeom>
          <a:solidFill>
            <a:srgbClr val="1B1E3E">
              <a:alpha val="49019"/>
            </a:srgbClr>
          </a:solid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2400"/>
              <a:buFont typeface="Verdana"/>
              <a:buNone/>
              <a:defRPr sz="2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5"/>
          <p:cNvSpPr txBox="1">
            <a:spLocks noGrp="1"/>
          </p:cNvSpPr>
          <p:nvPr>
            <p:ph type="subTitle" idx="1"/>
          </p:nvPr>
        </p:nvSpPr>
        <p:spPr>
          <a:xfrm>
            <a:off x="0" y="5949280"/>
            <a:ext cx="3707904" cy="360040"/>
          </a:xfrm>
          <a:prstGeom prst="rect">
            <a:avLst/>
          </a:prstGeom>
          <a:noFill/>
          <a:ln>
            <a:noFill/>
          </a:ln>
        </p:spPr>
        <p:txBody>
          <a:bodyPr spcFirstLastPara="1" wrap="square" lIns="91425" tIns="45700" rIns="91425" bIns="45700" anchor="t" anchorCtr="0">
            <a:noAutofit/>
          </a:bodyPr>
          <a:lstStyle>
            <a:lvl1pPr lvl="0" algn="l">
              <a:spcBef>
                <a:spcPts val="240"/>
              </a:spcBef>
              <a:spcAft>
                <a:spcPts val="0"/>
              </a:spcAft>
              <a:buClr>
                <a:srgbClr val="D8D8D8"/>
              </a:buClr>
              <a:buSzPts val="1200"/>
              <a:buNone/>
              <a:defRPr sz="1200">
                <a:solidFill>
                  <a:srgbClr val="D8D8D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blipFill dpi="0" rotWithShape="1">
          <a:blip r:embed="rId2">
            <a:lum/>
          </a:blip>
          <a:srcRect/>
          <a:stretch>
            <a:fillRect/>
          </a:stretch>
        </a:blipFill>
        <a:effectLst/>
      </p:bgPr>
    </p:bg>
    <p:spTree>
      <p:nvGrpSpPr>
        <p:cNvPr id="1" name="Shape 11"/>
        <p:cNvGrpSpPr/>
        <p:nvPr/>
      </p:nvGrpSpPr>
      <p:grpSpPr>
        <a:xfrm>
          <a:off x="0" y="0"/>
          <a:ext cx="0" cy="0"/>
          <a:chOff x="0" y="0"/>
          <a:chExt cx="0" cy="0"/>
        </a:xfrm>
      </p:grpSpPr>
      <p:sp>
        <p:nvSpPr>
          <p:cNvPr id="12" name="Google Shape;12;p6"/>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6"/>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bg>
      <p:bgPr>
        <a:blipFill dpi="0" rotWithShape="1">
          <a:blip r:embed="rId2">
            <a:lum/>
          </a:blip>
          <a:srcRect/>
          <a:stretch>
            <a:fillRect/>
          </a:stretch>
        </a:blipFill>
        <a:effectLst/>
      </p:bgPr>
    </p:bg>
    <p:spTree>
      <p:nvGrpSpPr>
        <p:cNvPr id="1" name="Shape 14"/>
        <p:cNvGrpSpPr/>
        <p:nvPr/>
      </p:nvGrpSpPr>
      <p:grpSpPr>
        <a:xfrm>
          <a:off x="0" y="0"/>
          <a:ext cx="0" cy="0"/>
          <a:chOff x="0" y="0"/>
          <a:chExt cx="0" cy="0"/>
        </a:xfrm>
      </p:grpSpPr>
      <p:sp>
        <p:nvSpPr>
          <p:cNvPr id="15" name="Google Shape;15;p7"/>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7"/>
          <p:cNvSpPr txBox="1">
            <a:spLocks noGrp="1"/>
          </p:cNvSpPr>
          <p:nvPr>
            <p:ph type="body" idx="1"/>
          </p:nvPr>
        </p:nvSpPr>
        <p:spPr>
          <a:xfrm>
            <a:off x="457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7" name="Google Shape;17;p7"/>
          <p:cNvSpPr txBox="1">
            <a:spLocks noGrp="1"/>
          </p:cNvSpPr>
          <p:nvPr>
            <p:ph type="body" idx="2"/>
          </p:nvPr>
        </p:nvSpPr>
        <p:spPr>
          <a:xfrm>
            <a:off x="4648200" y="2060848"/>
            <a:ext cx="4038600" cy="4065315"/>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bg>
      <p:bgPr>
        <a:blipFill dpi="0" rotWithShape="1">
          <a:blip r:embed="rId2">
            <a:lum/>
          </a:blip>
          <a:srcRect/>
          <a:stretch>
            <a:fillRect/>
          </a:stretch>
        </a:blipFill>
        <a:effectLst/>
      </p:bgPr>
    </p:bg>
    <p:spTree>
      <p:nvGrpSpPr>
        <p:cNvPr id="1" name="Shape 18"/>
        <p:cNvGrpSpPr/>
        <p:nvPr/>
      </p:nvGrpSpPr>
      <p:grpSpPr>
        <a:xfrm>
          <a:off x="0" y="0"/>
          <a:ext cx="0" cy="0"/>
          <a:chOff x="0" y="0"/>
          <a:chExt cx="0" cy="0"/>
        </a:xfrm>
      </p:grpSpPr>
      <p:sp>
        <p:nvSpPr>
          <p:cNvPr id="19" name="Google Shape;19;p8"/>
          <p:cNvSpPr txBox="1">
            <a:spLocks noGrp="1"/>
          </p:cNvSpPr>
          <p:nvPr>
            <p:ph type="title"/>
          </p:nvPr>
        </p:nvSpPr>
        <p:spPr>
          <a:xfrm>
            <a:off x="722313" y="4443189"/>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3200"/>
              <a:buFont typeface="Verdana"/>
              <a:buNone/>
              <a:defRPr sz="3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8"/>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bg>
      <p:bgPr>
        <a:blipFill dpi="0" rotWithShape="1">
          <a:blip r:embed="rId2">
            <a:lum/>
          </a:blip>
          <a:srcRect/>
          <a:stretch>
            <a:fillRect/>
          </a:stretch>
        </a:blipFill>
        <a:effectLst/>
      </p:bgPr>
    </p:bg>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3200"/>
              <a:buFont typeface="Verdan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457200" y="2060848"/>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4" name="Google Shape;24;p9"/>
          <p:cNvSpPr txBox="1">
            <a:spLocks noGrp="1"/>
          </p:cNvSpPr>
          <p:nvPr>
            <p:ph type="body" idx="2"/>
          </p:nvPr>
        </p:nvSpPr>
        <p:spPr>
          <a:xfrm>
            <a:off x="457200" y="2708919"/>
            <a:ext cx="4040188"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5" name="Google Shape;25;p9"/>
          <p:cNvSpPr txBox="1">
            <a:spLocks noGrp="1"/>
          </p:cNvSpPr>
          <p:nvPr>
            <p:ph type="body" idx="3"/>
          </p:nvPr>
        </p:nvSpPr>
        <p:spPr>
          <a:xfrm>
            <a:off x="4645025" y="2060848"/>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None/>
              <a:defRPr sz="20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6" name="Google Shape;26;p9"/>
          <p:cNvSpPr txBox="1">
            <a:spLocks noGrp="1"/>
          </p:cNvSpPr>
          <p:nvPr>
            <p:ph type="body" idx="4"/>
          </p:nvPr>
        </p:nvSpPr>
        <p:spPr>
          <a:xfrm>
            <a:off x="4645025" y="2708919"/>
            <a:ext cx="4041775" cy="341724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bg>
      <p:bgPr>
        <a:blipFill dpi="0" rotWithShape="1">
          <a:blip r:embed="rId2">
            <a:lum/>
          </a:blip>
          <a:srcRect/>
          <a:stretch>
            <a:fillRect/>
          </a:stretch>
        </a:blipFill>
        <a:effectLst/>
      </p:bgPr>
    </p:bg>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bg>
      <p:bgPr>
        <a:blipFill dpi="0" rotWithShape="1">
          <a:blip r:embed="rId2">
            <a:lum/>
          </a:blip>
          <a:srcRect/>
          <a:stretch>
            <a:fillRect/>
          </a:stretch>
        </a:blipFill>
        <a:effectLst/>
      </p:bgPr>
    </p:bg>
    <p:spTree>
      <p:nvGrpSpPr>
        <p:cNvPr id="1"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bg>
      <p:bgPr>
        <a:blipFill dpi="0" rotWithShape="1">
          <a:blip r:embed="rId2">
            <a:lum/>
          </a:blip>
          <a:srcRect/>
          <a:stretch>
            <a:fillRect/>
          </a:stretch>
        </a:blipFill>
        <a:effectLst/>
      </p:bgPr>
    </p:bg>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457200" y="980728"/>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Verdana"/>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txBox="1">
            <a:spLocks noGrp="1"/>
          </p:cNvSpPr>
          <p:nvPr>
            <p:ph type="body" idx="1"/>
          </p:nvPr>
        </p:nvSpPr>
        <p:spPr>
          <a:xfrm>
            <a:off x="3575050" y="980728"/>
            <a:ext cx="5111750" cy="5145435"/>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3" name="Google Shape;33;p12"/>
          <p:cNvSpPr txBox="1">
            <a:spLocks noGrp="1"/>
          </p:cNvSpPr>
          <p:nvPr>
            <p:ph type="body" idx="2"/>
          </p:nvPr>
        </p:nvSpPr>
        <p:spPr>
          <a:xfrm>
            <a:off x="457200" y="2132856"/>
            <a:ext cx="3008313" cy="3993307"/>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bg>
      <p:bgPr>
        <a:blipFill dpi="0" rotWithShape="1">
          <a:blip r:embed="rId2">
            <a:lum/>
          </a:blip>
          <a:srcRect/>
          <a:stretch>
            <a:fillRect/>
          </a:stretch>
        </a:blipFill>
        <a:effectLst/>
      </p:bgPr>
    </p:bg>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1792288" y="486916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1800"/>
              <a:buFont typeface="Verdana"/>
              <a:buNone/>
              <a:defRPr sz="1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3"/>
          <p:cNvSpPr>
            <a:spLocks noGrp="1"/>
          </p:cNvSpPr>
          <p:nvPr>
            <p:ph type="pic" idx="2"/>
          </p:nvPr>
        </p:nvSpPr>
        <p:spPr>
          <a:xfrm>
            <a:off x="1792288" y="908720"/>
            <a:ext cx="5486400" cy="3888432"/>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Verdana"/>
                <a:ea typeface="Verdana"/>
                <a:cs typeface="Verdana"/>
                <a:sym typeface="Verdana"/>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Verdana"/>
                <a:ea typeface="Verdana"/>
                <a:cs typeface="Verdana"/>
                <a:sym typeface="Verdana"/>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Verdana"/>
                <a:ea typeface="Verdana"/>
                <a:cs typeface="Verdana"/>
                <a:sym typeface="Verdana"/>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Verdana"/>
                <a:ea typeface="Verdana"/>
                <a:cs typeface="Verdana"/>
                <a:sym typeface="Verdana"/>
              </a:defRPr>
            </a:lvl9pPr>
          </a:lstStyle>
          <a:p>
            <a:endParaRPr/>
          </a:p>
        </p:txBody>
      </p:sp>
      <p:sp>
        <p:nvSpPr>
          <p:cNvPr id="37" name="Google Shape;37;p13"/>
          <p:cNvSpPr txBox="1">
            <a:spLocks noGrp="1"/>
          </p:cNvSpPr>
          <p:nvPr>
            <p:ph type="body" idx="1"/>
          </p:nvPr>
        </p:nvSpPr>
        <p:spPr>
          <a:xfrm>
            <a:off x="1792288" y="5432450"/>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bg>
      <p:bgPr>
        <a:blipFill dpi="0" rotWithShape="1">
          <a:blip r:embed="rId2">
            <a:lum/>
          </a:blip>
          <a:srcRect/>
          <a:stretch>
            <a:fillRect/>
          </a:stretch>
        </a:blipFill>
        <a:effectLst/>
      </p:bgPr>
    </p:bg>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14"/>
          <p:cNvSpPr txBox="1">
            <a:spLocks noGrp="1"/>
          </p:cNvSpPr>
          <p:nvPr>
            <p:ph type="body" idx="1"/>
          </p:nvPr>
        </p:nvSpPr>
        <p:spPr>
          <a:xfrm rot="5400000">
            <a:off x="2575346" y="14710"/>
            <a:ext cx="3993307"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2pPr>
            <a:lvl3pPr marR="0" lvl="2"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3pPr>
            <a:lvl4pPr marR="0" lvl="3"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4pPr>
            <a:lvl5pPr marR="0" lvl="4"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5pPr>
            <a:lvl6pPr marR="0" lvl="5"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6pPr>
            <a:lvl7pPr marR="0" lvl="6"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7pPr>
            <a:lvl8pPr marR="0" lvl="7"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8pPr>
            <a:lvl9pPr marR="0" lvl="8" algn="l" rtl="0">
              <a:spcBef>
                <a:spcPts val="0"/>
              </a:spcBef>
              <a:spcAft>
                <a:spcPts val="0"/>
              </a:spcAft>
              <a:buSzPts val="1400"/>
              <a:buNone/>
              <a:defRPr sz="1800" b="0" i="0" u="none" strike="noStrike" cap="none">
                <a:solidFill>
                  <a:schemeClr val="dk1"/>
                </a:solidFill>
                <a:latin typeface="Verdana"/>
                <a:ea typeface="Verdana"/>
                <a:cs typeface="Verdana"/>
                <a:sym typeface="Verdana"/>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bg>
      <p:bgPr>
        <a:blipFill dpi="0" rotWithShape="1">
          <a:blip r:embed="rId2">
            <a:lum/>
          </a:blip>
          <a:srcRect/>
          <a:stretch>
            <a:fillRect/>
          </a:stretch>
        </a:blipFill>
        <a:effectLst/>
      </p:bgPr>
    </p:bg>
    <p:spTree>
      <p:nvGrpSpPr>
        <p:cNvPr id="1" name="Shape 42"/>
        <p:cNvGrpSpPr/>
        <p:nvPr/>
      </p:nvGrpSpPr>
      <p:grpSpPr>
        <a:xfrm>
          <a:off x="0" y="0"/>
          <a:ext cx="0" cy="0"/>
          <a:chOff x="0" y="0"/>
          <a:chExt cx="0" cy="0"/>
        </a:xfrm>
      </p:grpSpPr>
      <p:sp>
        <p:nvSpPr>
          <p:cNvPr id="43" name="Google Shape;43;p15"/>
          <p:cNvSpPr txBox="1">
            <a:spLocks noGrp="1"/>
          </p:cNvSpPr>
          <p:nvPr>
            <p:ph type="title"/>
          </p:nvPr>
        </p:nvSpPr>
        <p:spPr>
          <a:xfrm rot="5400000">
            <a:off x="5085382" y="2524745"/>
            <a:ext cx="514543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5"/>
          <p:cNvSpPr txBox="1">
            <a:spLocks noGrp="1"/>
          </p:cNvSpPr>
          <p:nvPr>
            <p:ph type="body" idx="1"/>
          </p:nvPr>
        </p:nvSpPr>
        <p:spPr>
          <a:xfrm rot="5400000">
            <a:off x="894383" y="543546"/>
            <a:ext cx="514543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467544" y="908720"/>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3600"/>
              <a:buFont typeface="Verdana"/>
              <a:buNone/>
              <a:defRPr sz="3600" b="1"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457200" y="2132856"/>
            <a:ext cx="8229600" cy="3993307"/>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Verdana"/>
                <a:ea typeface="Verdana"/>
                <a:cs typeface="Verdana"/>
                <a:sym typeface="Verdan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Verdana"/>
                <a:ea typeface="Verdana"/>
                <a:cs typeface="Verdana"/>
                <a:sym typeface="Verdana"/>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chart" Target="../charts/char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chart" Target="../charts/char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 Id="rId3" Type="http://schemas.openxmlformats.org/officeDocument/2006/relationships/chart" Target="../charts/char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chart" Target="../charts/char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 Id="rId3" Type="http://schemas.openxmlformats.org/officeDocument/2006/relationships/image" Target="../media/image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 Id="rId3" Type="http://schemas.openxmlformats.org/officeDocument/2006/relationships/image" Target="../media/image1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1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3" Type="http://schemas.openxmlformats.org/officeDocument/2006/relationships/image" Target="../media/image1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 Id="rId3" Type="http://schemas.openxmlformats.org/officeDocument/2006/relationships/image" Target="../media/image1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3" Type="http://schemas.openxmlformats.org/officeDocument/2006/relationships/image" Target="../media/image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chart" Target="../charts/char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8"/>
        <p:cNvGrpSpPr/>
        <p:nvPr/>
      </p:nvGrpSpPr>
      <p:grpSpPr>
        <a:xfrm>
          <a:off x="0" y="0"/>
          <a:ext cx="0" cy="0"/>
          <a:chOff x="0" y="0"/>
          <a:chExt cx="0" cy="0"/>
        </a:xfrm>
      </p:grpSpPr>
      <p:sp>
        <p:nvSpPr>
          <p:cNvPr id="49" name="Google Shape;49;p1"/>
          <p:cNvSpPr txBox="1">
            <a:spLocks noGrp="1"/>
          </p:cNvSpPr>
          <p:nvPr>
            <p:ph type="ctrTitle"/>
          </p:nvPr>
        </p:nvSpPr>
        <p:spPr>
          <a:xfrm>
            <a:off x="368850" y="1972369"/>
            <a:ext cx="2957730" cy="223799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lt1"/>
              </a:buClr>
              <a:buSzPts val="2400"/>
              <a:buFont typeface="Verdana"/>
              <a:buNone/>
            </a:pPr>
            <a:r>
              <a:rPr lang="es-EC" sz="2000" dirty="0">
                <a:solidFill>
                  <a:srgbClr val="092240"/>
                </a:solidFill>
              </a:rPr>
              <a:t>Día 3 — Clasificación: árbol, bosque, KNN y SVM</a:t>
            </a:r>
            <a:endParaRPr sz="3600" dirty="0">
              <a:solidFill>
                <a:srgbClr val="092240"/>
              </a:solidFill>
            </a:endParaRPr>
          </a:p>
        </p:txBody>
      </p:sp>
      <p:sp>
        <p:nvSpPr>
          <p:cNvPr id="50" name="Google Shape;50;p1"/>
          <p:cNvSpPr txBox="1">
            <a:spLocks noGrp="1"/>
          </p:cNvSpPr>
          <p:nvPr>
            <p:ph type="subTitle" idx="1"/>
          </p:nvPr>
        </p:nvSpPr>
        <p:spPr>
          <a:xfrm>
            <a:off x="1472580" y="5451377"/>
            <a:ext cx="5000000" cy="85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D8D8D8"/>
              </a:buClr>
              <a:buSzPts val="1200"/>
              <a:buNone/>
            </a:pPr>
            <a:r>
              <a:rPr lang="es-EC" sz="2000" dirty="0">
                <a:solidFill>
                  <a:srgbClr val="595959"/>
                </a:solidFill>
              </a:rPr>
              <a:t>Módulo 3: Machine Learning Aplicado</a:t>
            </a:r>
          </a:p>
          <a:p>
            <a:r>
              <a:rPr sz="1800">
                <a:solidFill>
                  <a:srgbClr val="595959"/>
                </a:solidFill>
              </a:rPr>
              <a:t>Jonathan Rosero Soto</a:t>
            </a:r>
          </a:p>
        </p:txBody>
      </p:sp>
      <p:sp>
        <p:nvSpPr>
          <p:cNvPr id="2" name="Google Shape;49;p1">
            <a:extLst>
              <a:ext uri="{FF2B5EF4-FFF2-40B4-BE49-F238E27FC236}">
                <a16:creationId xmlns:a16="http://schemas.microsoft.com/office/drawing/2014/main" id="{A44FCFBF-4A46-52F2-39D4-3FA0ED93B6E0}"/>
              </a:ext>
            </a:extLst>
          </p:cNvPr>
          <p:cNvSpPr txBox="1">
            <a:spLocks/>
          </p:cNvSpPr>
          <p:nvPr/>
        </p:nvSpPr>
        <p:spPr>
          <a:xfrm>
            <a:off x="1402651" y="6219245"/>
            <a:ext cx="7192708" cy="4702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400"/>
              <a:buFont typeface="Verdana"/>
              <a:buNone/>
              <a:defRPr sz="2400" b="1" i="0" u="none" strike="noStrike" cap="none">
                <a:solidFill>
                  <a:schemeClr val="lt1"/>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s-ES" sz="1300" b="0" dirty="0">
                <a:solidFill>
                  <a:schemeClr val="bg1">
                    <a:lumMod val="50000"/>
                  </a:schemeClr>
                </a:solidFill>
              </a:rPr>
              <a:t>Edificio Aulas y Relación con el Medio Externo, Av. Toledo N23-55 y Madrid </a:t>
            </a:r>
          </a:p>
          <a:p>
            <a:r>
              <a:rPr lang="es-ES" sz="1300" b="0" dirty="0">
                <a:solidFill>
                  <a:schemeClr val="bg1">
                    <a:lumMod val="50000"/>
                  </a:schemeClr>
                </a:solidFill>
              </a:rPr>
              <a:t>Telf.: +593 2 2525766 - </a:t>
            </a:r>
            <a:r>
              <a:rPr lang="en-US" sz="1300" b="0" dirty="0">
                <a:solidFill>
                  <a:schemeClr val="bg1">
                    <a:lumMod val="50000"/>
                  </a:schemeClr>
                </a:solidFill>
              </a:rPr>
              <a:t>Ext: 102 / 125 / 143 / 120 / 127 -</a:t>
            </a:r>
            <a:r>
              <a:rPr lang="es-ES" sz="1300" b="0" dirty="0">
                <a:solidFill>
                  <a:schemeClr val="bg1">
                    <a:lumMod val="50000"/>
                  </a:schemeClr>
                </a:solidFill>
              </a:rPr>
              <a:t> www.cec-epn.edu.ec</a:t>
            </a:r>
            <a:endParaRPr lang="es-EC" sz="1300" b="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Ruta de la jornada</a:t>
            </a:r>
          </a:p>
        </p:txBody>
      </p:sp>
      <p:sp>
        <p:nvSpPr>
          <p:cNvPr id="3" name="Rounded Rectangle 2"/>
          <p:cNvSpPr/>
          <p:nvPr/>
        </p:nvSpPr>
        <p:spPr>
          <a:xfrm>
            <a:off x="731520" y="1920240"/>
            <a:ext cx="7772400" cy="43891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41248" y="1975104"/>
            <a:ext cx="329184" cy="329184"/>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1</a:t>
            </a:r>
          </a:p>
        </p:txBody>
      </p:sp>
      <p:sp>
        <p:nvSpPr>
          <p:cNvPr id="5" name="TextBox 4"/>
          <p:cNvSpPr txBox="1"/>
          <p:nvPr/>
        </p:nvSpPr>
        <p:spPr>
          <a:xfrm>
            <a:off x="1280160" y="193852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¿Qué es clasificar?</a:t>
            </a:r>
          </a:p>
        </p:txBody>
      </p:sp>
      <p:sp>
        <p:nvSpPr>
          <p:cNvPr id="6" name="TextBox 5"/>
          <p:cNvSpPr txBox="1"/>
          <p:nvPr/>
        </p:nvSpPr>
        <p:spPr>
          <a:xfrm>
            <a:off x="4572000" y="193852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Clases, regresión vs clasificación, dos errores</a:t>
            </a:r>
          </a:p>
        </p:txBody>
      </p:sp>
      <p:sp>
        <p:nvSpPr>
          <p:cNvPr id="7" name="Rounded Rectangle 6"/>
          <p:cNvSpPr/>
          <p:nvPr/>
        </p:nvSpPr>
        <p:spPr>
          <a:xfrm>
            <a:off x="731520" y="2423160"/>
            <a:ext cx="7772400" cy="43891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Oval 7"/>
          <p:cNvSpPr/>
          <p:nvPr/>
        </p:nvSpPr>
        <p:spPr>
          <a:xfrm>
            <a:off x="841248" y="2478024"/>
            <a:ext cx="329184" cy="32918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2</a:t>
            </a:r>
          </a:p>
        </p:txBody>
      </p:sp>
      <p:sp>
        <p:nvSpPr>
          <p:cNvPr id="9" name="TextBox 8"/>
          <p:cNvSpPr txBox="1"/>
          <p:nvPr/>
        </p:nvSpPr>
        <p:spPr>
          <a:xfrm>
            <a:off x="1280160" y="244144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Conocer los datos</a:t>
            </a:r>
          </a:p>
        </p:txBody>
      </p:sp>
      <p:sp>
        <p:nvSpPr>
          <p:cNvPr id="10" name="TextBox 9"/>
          <p:cNvSpPr txBox="1"/>
          <p:nvPr/>
        </p:nvSpPr>
        <p:spPr>
          <a:xfrm>
            <a:off x="4572000" y="244144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PaySim: columnas, fugas y desbalance</a:t>
            </a:r>
          </a:p>
        </p:txBody>
      </p:sp>
      <p:sp>
        <p:nvSpPr>
          <p:cNvPr id="11" name="Rounded Rectangle 10"/>
          <p:cNvSpPr/>
          <p:nvPr/>
        </p:nvSpPr>
        <p:spPr>
          <a:xfrm>
            <a:off x="731520" y="2926080"/>
            <a:ext cx="7772400" cy="43891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841248" y="2980944"/>
            <a:ext cx="329184" cy="329184"/>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3</a:t>
            </a:r>
          </a:p>
        </p:txBody>
      </p:sp>
      <p:sp>
        <p:nvSpPr>
          <p:cNvPr id="13" name="TextBox 12"/>
          <p:cNvSpPr txBox="1"/>
          <p:nvPr/>
        </p:nvSpPr>
        <p:spPr>
          <a:xfrm>
            <a:off x="1280160" y="294436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Gini</a:t>
            </a:r>
          </a:p>
        </p:txBody>
      </p:sp>
      <p:sp>
        <p:nvSpPr>
          <p:cNvPr id="14" name="TextBox 13"/>
          <p:cNvSpPr txBox="1"/>
          <p:nvPr/>
        </p:nvSpPr>
        <p:spPr>
          <a:xfrm>
            <a:off x="4572000" y="294436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Cómo elige el árbol cada pregunta</a:t>
            </a:r>
          </a:p>
        </p:txBody>
      </p:sp>
      <p:sp>
        <p:nvSpPr>
          <p:cNvPr id="15" name="Rounded Rectangle 14"/>
          <p:cNvSpPr/>
          <p:nvPr/>
        </p:nvSpPr>
        <p:spPr>
          <a:xfrm>
            <a:off x="731520" y="3429000"/>
            <a:ext cx="7772400" cy="43891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41248" y="3483864"/>
            <a:ext cx="329184" cy="32918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4</a:t>
            </a:r>
          </a:p>
        </p:txBody>
      </p:sp>
      <p:sp>
        <p:nvSpPr>
          <p:cNvPr id="17" name="TextBox 16"/>
          <p:cNvSpPr txBox="1"/>
          <p:nvPr/>
        </p:nvSpPr>
        <p:spPr>
          <a:xfrm>
            <a:off x="1280160" y="344728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Matriz de confusión y métricas</a:t>
            </a:r>
          </a:p>
        </p:txBody>
      </p:sp>
      <p:sp>
        <p:nvSpPr>
          <p:cNvPr id="18" name="TextBox 17"/>
          <p:cNvSpPr txBox="1"/>
          <p:nvPr/>
        </p:nvSpPr>
        <p:spPr>
          <a:xfrm>
            <a:off x="4572000" y="344728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Accuracy, Precision, Recall y F1</a:t>
            </a:r>
          </a:p>
        </p:txBody>
      </p:sp>
      <p:sp>
        <p:nvSpPr>
          <p:cNvPr id="19" name="Rounded Rectangle 18"/>
          <p:cNvSpPr/>
          <p:nvPr/>
        </p:nvSpPr>
        <p:spPr>
          <a:xfrm>
            <a:off x="731520" y="3931920"/>
            <a:ext cx="7772400" cy="43891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Oval 19"/>
          <p:cNvSpPr/>
          <p:nvPr/>
        </p:nvSpPr>
        <p:spPr>
          <a:xfrm>
            <a:off x="841248" y="3986784"/>
            <a:ext cx="329184" cy="329184"/>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5</a:t>
            </a:r>
          </a:p>
        </p:txBody>
      </p:sp>
      <p:sp>
        <p:nvSpPr>
          <p:cNvPr id="21" name="TextBox 20"/>
          <p:cNvSpPr txBox="1"/>
          <p:nvPr/>
        </p:nvSpPr>
        <p:spPr>
          <a:xfrm>
            <a:off x="1280160" y="395020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Desbalance y Random Forest</a:t>
            </a:r>
          </a:p>
        </p:txBody>
      </p:sp>
      <p:sp>
        <p:nvSpPr>
          <p:cNvPr id="22" name="TextBox 21"/>
          <p:cNvSpPr txBox="1"/>
          <p:nvPr/>
        </p:nvSpPr>
        <p:spPr>
          <a:xfrm>
            <a:off x="4572000" y="395020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Balancear Train y muchos árboles que votan</a:t>
            </a:r>
          </a:p>
        </p:txBody>
      </p:sp>
      <p:sp>
        <p:nvSpPr>
          <p:cNvPr id="23" name="Rounded Rectangle 22"/>
          <p:cNvSpPr/>
          <p:nvPr/>
        </p:nvSpPr>
        <p:spPr>
          <a:xfrm>
            <a:off x="731520" y="4434840"/>
            <a:ext cx="7772400" cy="43891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Oval 23"/>
          <p:cNvSpPr/>
          <p:nvPr/>
        </p:nvSpPr>
        <p:spPr>
          <a:xfrm>
            <a:off x="841248" y="4489703"/>
            <a:ext cx="329184" cy="32918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6</a:t>
            </a:r>
          </a:p>
        </p:txBody>
      </p:sp>
      <p:sp>
        <p:nvSpPr>
          <p:cNvPr id="25" name="TextBox 24"/>
          <p:cNvSpPr txBox="1"/>
          <p:nvPr/>
        </p:nvSpPr>
        <p:spPr>
          <a:xfrm>
            <a:off x="1280160" y="4453127"/>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KNN</a:t>
            </a:r>
          </a:p>
        </p:txBody>
      </p:sp>
      <p:sp>
        <p:nvSpPr>
          <p:cNvPr id="26" name="TextBox 25"/>
          <p:cNvSpPr txBox="1"/>
          <p:nvPr/>
        </p:nvSpPr>
        <p:spPr>
          <a:xfrm>
            <a:off x="4572000" y="4453127"/>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BankChurners: vecinos y normalización</a:t>
            </a:r>
          </a:p>
        </p:txBody>
      </p:sp>
      <p:sp>
        <p:nvSpPr>
          <p:cNvPr id="27" name="Rounded Rectangle 26"/>
          <p:cNvSpPr/>
          <p:nvPr/>
        </p:nvSpPr>
        <p:spPr>
          <a:xfrm>
            <a:off x="731520" y="4937760"/>
            <a:ext cx="7772400" cy="43891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Oval 27"/>
          <p:cNvSpPr/>
          <p:nvPr/>
        </p:nvSpPr>
        <p:spPr>
          <a:xfrm>
            <a:off x="841248" y="4992624"/>
            <a:ext cx="329184" cy="329184"/>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7</a:t>
            </a:r>
          </a:p>
        </p:txBody>
      </p:sp>
      <p:sp>
        <p:nvSpPr>
          <p:cNvPr id="29" name="TextBox 28"/>
          <p:cNvSpPr txBox="1"/>
          <p:nvPr/>
        </p:nvSpPr>
        <p:spPr>
          <a:xfrm>
            <a:off x="1280160" y="495604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SVM</a:t>
            </a:r>
          </a:p>
        </p:txBody>
      </p:sp>
      <p:sp>
        <p:nvSpPr>
          <p:cNvPr id="30" name="TextBox 29"/>
          <p:cNvSpPr txBox="1"/>
          <p:nvPr/>
        </p:nvSpPr>
        <p:spPr>
          <a:xfrm>
            <a:off x="4572000" y="495604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Credit Risk: margen, multa C y fronteras curvas</a:t>
            </a:r>
          </a:p>
        </p:txBody>
      </p:sp>
      <p:sp>
        <p:nvSpPr>
          <p:cNvPr id="31" name="Rounded Rectangle 30"/>
          <p:cNvSpPr/>
          <p:nvPr/>
        </p:nvSpPr>
        <p:spPr>
          <a:xfrm>
            <a:off x="731520" y="5440680"/>
            <a:ext cx="7772400" cy="438912"/>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Oval 31"/>
          <p:cNvSpPr/>
          <p:nvPr/>
        </p:nvSpPr>
        <p:spPr>
          <a:xfrm>
            <a:off x="841248" y="5495544"/>
            <a:ext cx="329184" cy="32918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8</a:t>
            </a:r>
          </a:p>
        </p:txBody>
      </p:sp>
      <p:sp>
        <p:nvSpPr>
          <p:cNvPr id="33" name="TextBox 32"/>
          <p:cNvSpPr txBox="1"/>
          <p:nvPr/>
        </p:nvSpPr>
        <p:spPr>
          <a:xfrm>
            <a:off x="1280160" y="5458968"/>
            <a:ext cx="3291840" cy="402336"/>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Cierre</a:t>
            </a:r>
          </a:p>
        </p:txBody>
      </p:sp>
      <p:sp>
        <p:nvSpPr>
          <p:cNvPr id="34" name="TextBox 33"/>
          <p:cNvSpPr txBox="1"/>
          <p:nvPr/>
        </p:nvSpPr>
        <p:spPr>
          <a:xfrm>
            <a:off x="4572000" y="5458968"/>
            <a:ext cx="3840480" cy="402336"/>
          </a:xfrm>
          <a:prstGeom prst="rect">
            <a:avLst/>
          </a:prstGeom>
          <a:noFill/>
        </p:spPr>
        <p:txBody>
          <a:bodyPr wrap="square" anchor="ctr" lIns="36576" rIns="36576" tIns="36576" bIns="36576">
            <a:spAutoFit/>
          </a:bodyPr>
          <a:lstStyle/>
          <a:p>
            <a:pPr algn="l">
              <a:spcAft>
                <a:spcPts val="400"/>
              </a:spcAft>
            </a:pPr>
            <a:r>
              <a:rPr sz="1200" b="0" i="0">
                <a:solidFill>
                  <a:srgbClr val="2B2B2B"/>
                </a:solidFill>
                <a:latin typeface="Arial"/>
              </a:rPr>
              <a:t>Test una vez y qué modelo usar</a:t>
            </a:r>
          </a:p>
        </p:txBody>
      </p:sp>
      <p:sp>
        <p:nvSpPr>
          <p:cNvPr id="35" name="Rounded Rectangle 34"/>
          <p:cNvSpPr/>
          <p:nvPr/>
        </p:nvSpPr>
        <p:spPr>
          <a:xfrm>
            <a:off x="731520" y="6016752"/>
            <a:ext cx="7772400" cy="36576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Regla del día: </a:t>
            </a:r>
            <a:r>
              <a:rPr sz="1200" b="0" i="1">
                <a:solidFill>
                  <a:srgbClr val="5F6368"/>
                </a:solidFill>
                <a:latin typeface="Arial"/>
              </a:rPr>
              <a:t>acertar mucho no basta; importa a quién se acierta.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Tres datasets, un algoritmo cada uno</a:t>
            </a:r>
          </a:p>
        </p:txBody>
      </p:sp>
      <p:graphicFrame>
        <p:nvGraphicFramePr>
          <p:cNvPr id="3" name="Table 2"/>
          <p:cNvGraphicFramePr>
            <a:graphicFrameLocks noGrp="1"/>
          </p:cNvGraphicFramePr>
          <p:nvPr/>
        </p:nvGraphicFramePr>
        <p:xfrm>
          <a:off x="731520" y="2011680"/>
          <a:ext cx="7772400" cy="2011680"/>
        </p:xfrm>
        <a:graphic>
          <a:graphicData uri="http://schemas.openxmlformats.org/drawingml/2006/table">
            <a:tbl>
              <a:tblPr firstRow="1" bandRow="1">
                <a:tableStyleId>{5C22544A-7EE6-4342-B048-85BDC9FD1C3A}</a:tableStyleId>
              </a:tblPr>
              <a:tblGrid>
                <a:gridCol w="1645920"/>
                <a:gridCol w="2834640"/>
                <a:gridCol w="1005840"/>
                <a:gridCol w="1097280"/>
                <a:gridCol w="1188720"/>
              </a:tblGrid>
              <a:tr h="502920">
                <a:tc>
                  <a:txBody>
                    <a:bodyPr wrap="square"/>
                    <a:lstStyle/>
                    <a:p>
                      <a:pPr algn="l"/>
                      <a:r>
                        <a:rPr sz="1250" b="1" i="0">
                          <a:solidFill>
                            <a:srgbClr val="FFFFFF"/>
                          </a:solidFill>
                          <a:latin typeface="Arial"/>
                        </a:rPr>
                        <a:t>Dataset</a:t>
                      </a:r>
                    </a:p>
                  </a:txBody>
                  <a:tcPr marL="64008" marR="64008" marT="27432" marB="27432" anchor="ctr">
                    <a:solidFill>
                      <a:srgbClr val="242852"/>
                    </a:solidFill>
                  </a:tcPr>
                </a:tc>
                <a:tc>
                  <a:txBody>
                    <a:bodyPr wrap="square"/>
                    <a:lstStyle/>
                    <a:p>
                      <a:pPr algn="ctr"/>
                      <a:r>
                        <a:rPr sz="1250" b="1" i="0">
                          <a:solidFill>
                            <a:srgbClr val="FFFFFF"/>
                          </a:solidFill>
                          <a:latin typeface="Arial"/>
                        </a:rPr>
                        <a:t>Pregunta sí/no</a:t>
                      </a:r>
                    </a:p>
                  </a:txBody>
                  <a:tcPr marL="64008" marR="64008" marT="27432" marB="27432" anchor="ctr">
                    <a:solidFill>
                      <a:srgbClr val="242852"/>
                    </a:solidFill>
                  </a:tcPr>
                </a:tc>
                <a:tc>
                  <a:txBody>
                    <a:bodyPr wrap="square"/>
                    <a:lstStyle/>
                    <a:p>
                      <a:pPr algn="ctr"/>
                      <a:r>
                        <a:rPr sz="1250" b="1" i="0">
                          <a:solidFill>
                            <a:srgbClr val="FFFFFF"/>
                          </a:solidFill>
                          <a:latin typeface="Arial"/>
                        </a:rPr>
                        <a:t>Filas</a:t>
                      </a:r>
                    </a:p>
                  </a:txBody>
                  <a:tcPr marL="64008" marR="64008" marT="27432" marB="27432" anchor="ctr">
                    <a:solidFill>
                      <a:srgbClr val="242852"/>
                    </a:solidFill>
                  </a:tcPr>
                </a:tc>
                <a:tc>
                  <a:txBody>
                    <a:bodyPr wrap="square"/>
                    <a:lstStyle/>
                    <a:p>
                      <a:pPr algn="ctr"/>
                      <a:r>
                        <a:rPr sz="1250" b="1" i="0">
                          <a:solidFill>
                            <a:srgbClr val="FFFFFF"/>
                          </a:solidFill>
                          <a:latin typeface="Arial"/>
                        </a:rPr>
                        <a:t>% positivos</a:t>
                      </a:r>
                    </a:p>
                  </a:txBody>
                  <a:tcPr marL="64008" marR="64008" marT="27432" marB="27432" anchor="ctr">
                    <a:solidFill>
                      <a:srgbClr val="242852"/>
                    </a:solidFill>
                  </a:tcPr>
                </a:tc>
                <a:tc>
                  <a:txBody>
                    <a:bodyPr wrap="square"/>
                    <a:lstStyle/>
                    <a:p>
                      <a:pPr algn="ctr"/>
                      <a:r>
                        <a:rPr sz="1250" b="1" i="0">
                          <a:solidFill>
                            <a:srgbClr val="FFFFFF"/>
                          </a:solidFill>
                          <a:latin typeface="Arial"/>
                        </a:rPr>
                        <a:t>Algoritmo</a:t>
                      </a:r>
                    </a:p>
                  </a:txBody>
                  <a:tcPr marL="64008" marR="64008" marT="27432" marB="27432" anchor="ctr">
                    <a:solidFill>
                      <a:srgbClr val="242852"/>
                    </a:solidFill>
                  </a:tcPr>
                </a:tc>
              </a:tr>
              <a:tr h="502920">
                <a:tc>
                  <a:txBody>
                    <a:bodyPr wrap="square"/>
                    <a:lstStyle/>
                    <a:p>
                      <a:pPr algn="l"/>
                      <a:r>
                        <a:rPr sz="1250" b="1" i="0">
                          <a:solidFill>
                            <a:srgbClr val="2B2B2B"/>
                          </a:solidFill>
                          <a:latin typeface="Arial"/>
                        </a:rPr>
                        <a:t>PaySim (muestra)</a:t>
                      </a:r>
                    </a:p>
                  </a:txBody>
                  <a:tcPr marL="64008" marR="64008" marT="27432" marB="27432" anchor="ctr">
                    <a:solidFill>
                      <a:srgbClr val="FFFFFF"/>
                    </a:solidFill>
                  </a:tcPr>
                </a:tc>
                <a:tc>
                  <a:txBody>
                    <a:bodyPr wrap="square"/>
                    <a:lstStyle/>
                    <a:p>
                      <a:pPr algn="ctr"/>
                      <a:r>
                        <a:rPr sz="1250" b="0" i="0">
                          <a:solidFill>
                            <a:srgbClr val="2B2B2B"/>
                          </a:solidFill>
                          <a:latin typeface="Arial"/>
                        </a:rPr>
                        <a:t>¿La transacción es fraude?</a:t>
                      </a:r>
                    </a:p>
                  </a:txBody>
                  <a:tcPr marL="64008" marR="64008" marT="27432" marB="27432" anchor="ctr">
                    <a:solidFill>
                      <a:srgbClr val="FFFFFF"/>
                    </a:solidFill>
                  </a:tcPr>
                </a:tc>
                <a:tc>
                  <a:txBody>
                    <a:bodyPr wrap="square"/>
                    <a:lstStyle/>
                    <a:p>
                      <a:pPr algn="ctr"/>
                      <a:r>
                        <a:rPr sz="1250" b="0" i="0">
                          <a:solidFill>
                            <a:srgbClr val="2B2B2B"/>
                          </a:solidFill>
                          <a:latin typeface="Arial"/>
                        </a:rPr>
                        <a:t>100 198</a:t>
                      </a:r>
                    </a:p>
                  </a:txBody>
                  <a:tcPr marL="64008" marR="64008" marT="27432" marB="27432" anchor="ctr">
                    <a:solidFill>
                      <a:srgbClr val="FFFFFF"/>
                    </a:solidFill>
                  </a:tcPr>
                </a:tc>
                <a:tc>
                  <a:txBody>
                    <a:bodyPr wrap="square"/>
                    <a:lstStyle/>
                    <a:p>
                      <a:pPr algn="ctr"/>
                      <a:r>
                        <a:rPr sz="1250" b="0" i="0">
                          <a:solidFill>
                            <a:srgbClr val="2B2B2B"/>
                          </a:solidFill>
                          <a:latin typeface="Arial"/>
                        </a:rPr>
                        <a:t>8,2 %</a:t>
                      </a:r>
                    </a:p>
                  </a:txBody>
                  <a:tcPr marL="64008" marR="64008" marT="27432" marB="27432" anchor="ctr">
                    <a:solidFill>
                      <a:srgbClr val="FFFFFF"/>
                    </a:solidFill>
                  </a:tcPr>
                </a:tc>
                <a:tc>
                  <a:txBody>
                    <a:bodyPr wrap="square"/>
                    <a:lstStyle/>
                    <a:p>
                      <a:pPr algn="ctr"/>
                      <a:r>
                        <a:rPr sz="1250" b="0" i="0">
                          <a:solidFill>
                            <a:srgbClr val="2B2B2B"/>
                          </a:solidFill>
                          <a:latin typeface="Arial"/>
                        </a:rPr>
                        <a:t>Árbol y bosque</a:t>
                      </a:r>
                    </a:p>
                  </a:txBody>
                  <a:tcPr marL="64008" marR="64008" marT="27432" marB="27432" anchor="ctr">
                    <a:solidFill>
                      <a:srgbClr val="FFFFFF"/>
                    </a:solidFill>
                  </a:tcPr>
                </a:tc>
              </a:tr>
              <a:tr h="502920">
                <a:tc>
                  <a:txBody>
                    <a:bodyPr wrap="square"/>
                    <a:lstStyle/>
                    <a:p>
                      <a:pPr algn="l"/>
                      <a:r>
                        <a:rPr sz="1250" b="1" i="0">
                          <a:solidFill>
                            <a:srgbClr val="2B2B2B"/>
                          </a:solidFill>
                          <a:latin typeface="Arial"/>
                        </a:rPr>
                        <a:t>BankChurners</a:t>
                      </a:r>
                    </a:p>
                  </a:txBody>
                  <a:tcPr marL="64008" marR="64008" marT="27432" marB="27432" anchor="ctr">
                    <a:solidFill>
                      <a:srgbClr val="F2F3F5"/>
                    </a:solidFill>
                  </a:tcPr>
                </a:tc>
                <a:tc>
                  <a:txBody>
                    <a:bodyPr wrap="square"/>
                    <a:lstStyle/>
                    <a:p>
                      <a:pPr algn="ctr"/>
                      <a:r>
                        <a:rPr sz="1250" b="0" i="0">
                          <a:solidFill>
                            <a:srgbClr val="2B2B2B"/>
                          </a:solidFill>
                          <a:latin typeface="Arial"/>
                        </a:rPr>
                        <a:t>¿Abandonó la tarjeta de crédito?</a:t>
                      </a:r>
                    </a:p>
                  </a:txBody>
                  <a:tcPr marL="64008" marR="64008" marT="27432" marB="27432" anchor="ctr">
                    <a:solidFill>
                      <a:srgbClr val="F2F3F5"/>
                    </a:solidFill>
                  </a:tcPr>
                </a:tc>
                <a:tc>
                  <a:txBody>
                    <a:bodyPr wrap="square"/>
                    <a:lstStyle/>
                    <a:p>
                      <a:pPr algn="ctr"/>
                      <a:r>
                        <a:rPr sz="1250" b="0" i="0">
                          <a:solidFill>
                            <a:srgbClr val="2B2B2B"/>
                          </a:solidFill>
                          <a:latin typeface="Arial"/>
                        </a:rPr>
                        <a:t>10 127</a:t>
                      </a:r>
                    </a:p>
                  </a:txBody>
                  <a:tcPr marL="64008" marR="64008" marT="27432" marB="27432" anchor="ctr">
                    <a:solidFill>
                      <a:srgbClr val="F2F3F5"/>
                    </a:solidFill>
                  </a:tcPr>
                </a:tc>
                <a:tc>
                  <a:txBody>
                    <a:bodyPr wrap="square"/>
                    <a:lstStyle/>
                    <a:p>
                      <a:pPr algn="ctr"/>
                      <a:r>
                        <a:rPr sz="1250" b="0" i="0">
                          <a:solidFill>
                            <a:srgbClr val="2B2B2B"/>
                          </a:solidFill>
                          <a:latin typeface="Arial"/>
                        </a:rPr>
                        <a:t>16,1 %</a:t>
                      </a:r>
                    </a:p>
                  </a:txBody>
                  <a:tcPr marL="64008" marR="64008" marT="27432" marB="27432" anchor="ctr">
                    <a:solidFill>
                      <a:srgbClr val="F2F3F5"/>
                    </a:solidFill>
                  </a:tcPr>
                </a:tc>
                <a:tc>
                  <a:txBody>
                    <a:bodyPr wrap="square"/>
                    <a:lstStyle/>
                    <a:p>
                      <a:pPr algn="ctr"/>
                      <a:r>
                        <a:rPr sz="1250" b="0" i="0">
                          <a:solidFill>
                            <a:srgbClr val="2B2B2B"/>
                          </a:solidFill>
                          <a:latin typeface="Arial"/>
                        </a:rPr>
                        <a:t>KNN</a:t>
                      </a:r>
                    </a:p>
                  </a:txBody>
                  <a:tcPr marL="64008" marR="64008" marT="27432" marB="27432" anchor="ctr">
                    <a:solidFill>
                      <a:srgbClr val="F2F3F5"/>
                    </a:solidFill>
                  </a:tcPr>
                </a:tc>
              </a:tr>
              <a:tr h="502920">
                <a:tc>
                  <a:txBody>
                    <a:bodyPr wrap="square"/>
                    <a:lstStyle/>
                    <a:p>
                      <a:pPr algn="l"/>
                      <a:r>
                        <a:rPr sz="1250" b="1" i="0">
                          <a:solidFill>
                            <a:srgbClr val="2B2B2B"/>
                          </a:solidFill>
                          <a:latin typeface="Arial"/>
                        </a:rPr>
                        <a:t>Credit Risk</a:t>
                      </a:r>
                    </a:p>
                  </a:txBody>
                  <a:tcPr marL="64008" marR="64008" marT="27432" marB="27432" anchor="ctr">
                    <a:solidFill>
                      <a:srgbClr val="FFFFFF"/>
                    </a:solidFill>
                  </a:tcPr>
                </a:tc>
                <a:tc>
                  <a:txBody>
                    <a:bodyPr wrap="square"/>
                    <a:lstStyle/>
                    <a:p>
                      <a:pPr algn="ctr"/>
                      <a:r>
                        <a:rPr sz="1250" b="0" i="0">
                          <a:solidFill>
                            <a:srgbClr val="2B2B2B"/>
                          </a:solidFill>
                          <a:latin typeface="Arial"/>
                        </a:rPr>
                        <a:t>¿El préstamo cayó en impago?</a:t>
                      </a:r>
                    </a:p>
                  </a:txBody>
                  <a:tcPr marL="64008" marR="64008" marT="27432" marB="27432" anchor="ctr">
                    <a:solidFill>
                      <a:srgbClr val="FFFFFF"/>
                    </a:solidFill>
                  </a:tcPr>
                </a:tc>
                <a:tc>
                  <a:txBody>
                    <a:bodyPr wrap="square"/>
                    <a:lstStyle/>
                    <a:p>
                      <a:pPr algn="ctr"/>
                      <a:r>
                        <a:rPr sz="1250" b="0" i="0">
                          <a:solidFill>
                            <a:srgbClr val="2B2B2B"/>
                          </a:solidFill>
                          <a:latin typeface="Arial"/>
                        </a:rPr>
                        <a:t>32 581</a:t>
                      </a:r>
                    </a:p>
                  </a:txBody>
                  <a:tcPr marL="64008" marR="64008" marT="27432" marB="27432" anchor="ctr">
                    <a:solidFill>
                      <a:srgbClr val="FFFFFF"/>
                    </a:solidFill>
                  </a:tcPr>
                </a:tc>
                <a:tc>
                  <a:txBody>
                    <a:bodyPr wrap="square"/>
                    <a:lstStyle/>
                    <a:p>
                      <a:pPr algn="ctr"/>
                      <a:r>
                        <a:rPr sz="1250" b="0" i="0">
                          <a:solidFill>
                            <a:srgbClr val="2B2B2B"/>
                          </a:solidFill>
                          <a:latin typeface="Arial"/>
                        </a:rPr>
                        <a:t>21,8 %</a:t>
                      </a:r>
                    </a:p>
                  </a:txBody>
                  <a:tcPr marL="64008" marR="64008" marT="27432" marB="27432" anchor="ctr">
                    <a:solidFill>
                      <a:srgbClr val="FFFFFF"/>
                    </a:solidFill>
                  </a:tcPr>
                </a:tc>
                <a:tc>
                  <a:txBody>
                    <a:bodyPr wrap="square"/>
                    <a:lstStyle/>
                    <a:p>
                      <a:pPr algn="ctr"/>
                      <a:r>
                        <a:rPr sz="1250" b="0" i="0">
                          <a:solidFill>
                            <a:srgbClr val="2B2B2B"/>
                          </a:solidFill>
                          <a:latin typeface="Arial"/>
                        </a:rPr>
                        <a:t>SVM</a:t>
                      </a:r>
                    </a:p>
                  </a:txBody>
                  <a:tcPr marL="64008" marR="64008" marT="27432" marB="27432" anchor="ctr">
                    <a:solidFill>
                      <a:srgbClr val="FFFFFF"/>
                    </a:solidFill>
                  </a:tcPr>
                </a:tc>
              </a:tr>
            </a:tbl>
          </a:graphicData>
        </a:graphic>
      </p:graphicFrame>
      <p:sp>
        <p:nvSpPr>
          <p:cNvPr id="4" name="Rounded Rectangle 3"/>
          <p:cNvSpPr/>
          <p:nvPr/>
        </p:nvSpPr>
        <p:spPr>
          <a:xfrm>
            <a:off x="731520" y="4206240"/>
            <a:ext cx="2487168"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242852"/>
                </a:solidFill>
                <a:latin typeface="Arial"/>
              </a:rPr>
              <a:t>Árbol</a:t>
            </a:r>
          </a:p>
          <a:p>
            <a:pPr algn="ctr">
              <a:spcAft>
                <a:spcPts val="300"/>
              </a:spcAft>
            </a:pPr>
            <a:r>
              <a:rPr sz="1200" b="0" i="0">
                <a:solidFill>
                  <a:srgbClr val="2B2B2B"/>
                </a:solidFill>
                <a:latin typeface="Arial"/>
              </a:rPr>
              <a:t>pregunta por tipo, monto y hora</a:t>
            </a:r>
          </a:p>
        </p:txBody>
      </p:sp>
      <p:sp>
        <p:nvSpPr>
          <p:cNvPr id="5" name="Rounded Rectangle 4"/>
          <p:cNvSpPr/>
          <p:nvPr/>
        </p:nvSpPr>
        <p:spPr>
          <a:xfrm>
            <a:off x="3355848" y="4206240"/>
            <a:ext cx="2487168"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D7263D"/>
                </a:solidFill>
                <a:latin typeface="Arial"/>
              </a:rPr>
              <a:t>KNN</a:t>
            </a:r>
          </a:p>
          <a:p>
            <a:pPr algn="ctr">
              <a:spcAft>
                <a:spcPts val="300"/>
              </a:spcAft>
            </a:pPr>
            <a:r>
              <a:rPr sz="1200" b="0" i="0">
                <a:solidFill>
                  <a:srgbClr val="2B2B2B"/>
                </a:solidFill>
                <a:latin typeface="Arial"/>
              </a:rPr>
              <a:t>busca clientes parecidos</a:t>
            </a:r>
          </a:p>
        </p:txBody>
      </p:sp>
      <p:sp>
        <p:nvSpPr>
          <p:cNvPr id="6" name="Rounded Rectangle 5"/>
          <p:cNvSpPr/>
          <p:nvPr/>
        </p:nvSpPr>
        <p:spPr>
          <a:xfrm>
            <a:off x="5980176" y="4206240"/>
            <a:ext cx="2487168"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2A9D8F"/>
                </a:solidFill>
                <a:latin typeface="Arial"/>
              </a:rPr>
              <a:t>SVM</a:t>
            </a:r>
          </a:p>
          <a:p>
            <a:pPr algn="ctr">
              <a:spcAft>
                <a:spcPts val="300"/>
              </a:spcAft>
            </a:pPr>
            <a:r>
              <a:rPr sz="1200" b="0" i="0">
                <a:solidFill>
                  <a:srgbClr val="2B2B2B"/>
                </a:solidFill>
                <a:latin typeface="Arial"/>
              </a:rPr>
              <a:t>traza una frontera</a:t>
            </a:r>
          </a:p>
        </p:txBody>
      </p:sp>
      <p:sp>
        <p:nvSpPr>
          <p:cNvPr id="7" name="Rounded Rectangle 6"/>
          <p:cNvSpPr/>
          <p:nvPr/>
        </p:nvSpPr>
        <p:spPr>
          <a:xfrm>
            <a:off x="731520" y="562356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Consecuencia: </a:t>
            </a:r>
            <a:r>
              <a:rPr sz="1200" b="0" i="0">
                <a:solidFill>
                  <a:srgbClr val="2B2B2B"/>
                </a:solidFill>
                <a:latin typeface="Arial"/>
              </a:rPr>
              <a:t>compararemos modelos dentro de cada dataset, nunca entre datasets distintos.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Los tres datasets en pocas palabras</a:t>
            </a:r>
          </a:p>
        </p:txBody>
      </p:sp>
      <p:sp>
        <p:nvSpPr>
          <p:cNvPr id="3" name="Rounded Rectangle 2"/>
          <p:cNvSpPr/>
          <p:nvPr/>
        </p:nvSpPr>
        <p:spPr>
          <a:xfrm>
            <a:off x="731520" y="1965960"/>
            <a:ext cx="2487168" cy="3657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5740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PaySim · fraude</a:t>
            </a:r>
          </a:p>
        </p:txBody>
      </p:sp>
      <p:sp>
        <p:nvSpPr>
          <p:cNvPr id="5" name="TextBox 4"/>
          <p:cNvSpPr txBox="1"/>
          <p:nvPr/>
        </p:nvSpPr>
        <p:spPr>
          <a:xfrm>
            <a:off x="868680" y="2606040"/>
            <a:ext cx="2240280" cy="29260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fila es una transacción de dinero móvil simulada: tipo, monto y hora. Queremos saber si es fraude. Con tres variables, el árbol hace preguntas fáciles de leer y la matriz de confusión se entiende como «fraudes detectados frente a falsas alarmas».</a:t>
            </a:r>
          </a:p>
        </p:txBody>
      </p:sp>
      <p:sp>
        <p:nvSpPr>
          <p:cNvPr id="6" name="Rounded Rectangle 5"/>
          <p:cNvSpPr/>
          <p:nvPr/>
        </p:nvSpPr>
        <p:spPr>
          <a:xfrm>
            <a:off x="3355848" y="1965960"/>
            <a:ext cx="2487168" cy="3657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3493008" y="205740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D7263D"/>
                </a:solidFill>
                <a:latin typeface="Arial"/>
              </a:rPr>
              <a:t>BankChurners · abandono</a:t>
            </a:r>
          </a:p>
        </p:txBody>
      </p:sp>
      <p:sp>
        <p:nvSpPr>
          <p:cNvPr id="8" name="TextBox 7"/>
          <p:cNvSpPr txBox="1"/>
          <p:nvPr/>
        </p:nvSpPr>
        <p:spPr>
          <a:xfrm>
            <a:off x="3493008" y="2606040"/>
            <a:ext cx="2240280" cy="29260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fila es un cliente de tarjeta con su comportamiento del último año: transacciones, gasto, uso del límite, meses inactivo. Queremos saber si abandonó la tarjeta. KNN encaja porque compara al cliente con los clientes que más se le parecen.</a:t>
            </a:r>
          </a:p>
        </p:txBody>
      </p:sp>
      <p:sp>
        <p:nvSpPr>
          <p:cNvPr id="9" name="Rounded Rectangle 8"/>
          <p:cNvSpPr/>
          <p:nvPr/>
        </p:nvSpPr>
        <p:spPr>
          <a:xfrm>
            <a:off x="5980176" y="1965960"/>
            <a:ext cx="2487168" cy="36576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117336" y="2057400"/>
            <a:ext cx="2240280" cy="45720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Credit Risk · impago</a:t>
            </a:r>
          </a:p>
        </p:txBody>
      </p:sp>
      <p:sp>
        <p:nvSpPr>
          <p:cNvPr id="11" name="TextBox 10"/>
          <p:cNvSpPr txBox="1"/>
          <p:nvPr/>
        </p:nvSpPr>
        <p:spPr>
          <a:xfrm>
            <a:off x="6117336" y="2606040"/>
            <a:ext cx="2240280" cy="29260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fila es un préstamo aprobado: ingreso, monto, tasa, grado de riesgo e historial. Queremos saber si cayó en impago. SVM encaja porque pagados e impagos se separan bastante bien y se puede dibujar la frontera.</a:t>
            </a:r>
          </a:p>
        </p:txBody>
      </p:sp>
      <p:sp>
        <p:nvSpPr>
          <p:cNvPr id="12" name="Rounded Rectangle 11"/>
          <p:cNvSpPr/>
          <p:nvPr/>
        </p:nvSpPr>
        <p:spPr>
          <a:xfrm>
            <a:off x="731520" y="5760720"/>
            <a:ext cx="7772400" cy="530352"/>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En común: </a:t>
            </a:r>
            <a:r>
              <a:rPr sz="1200" b="0" i="0">
                <a:solidFill>
                  <a:srgbClr val="2B2B2B"/>
                </a:solidFill>
                <a:latin typeface="Arial"/>
              </a:rPr>
              <a:t>las tres respuestas son sí/no, las tres clases positivas son minoría y ninguno describe clientes del Ecuador.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El problema</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Clases</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Regresión vs clasificación</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Dos errores</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1</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¿Qué es clasificar?</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La respuesta deja de ser un número y pasa a ser una clase: fraude o normal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Nuestro problema: identificar transacciones sospechosas</a:t>
            </a:r>
          </a:p>
        </p:txBody>
      </p:sp>
      <p:graphicFrame>
        <p:nvGraphicFramePr>
          <p:cNvPr id="3" name="Table 2"/>
          <p:cNvGraphicFramePr>
            <a:graphicFrameLocks noGrp="1"/>
          </p:cNvGraphicFramePr>
          <p:nvPr/>
        </p:nvGraphicFramePr>
        <p:xfrm>
          <a:off x="731520" y="1965960"/>
          <a:ext cx="7772400" cy="2468880"/>
        </p:xfrm>
        <a:graphic>
          <a:graphicData uri="http://schemas.openxmlformats.org/drawingml/2006/table">
            <a:tbl>
              <a:tblPr firstRow="1" bandRow="1">
                <a:tableStyleId>{5C22544A-7EE6-4342-B048-85BDC9FD1C3A}</a:tableStyleId>
              </a:tblPr>
              <a:tblGrid>
                <a:gridCol w="1188720"/>
                <a:gridCol w="1463040"/>
                <a:gridCol w="1463040"/>
                <a:gridCol w="1920240"/>
                <a:gridCol w="1737360"/>
              </a:tblGrid>
              <a:tr h="411480">
                <a:tc>
                  <a:txBody>
                    <a:bodyPr wrap="square"/>
                    <a:lstStyle/>
                    <a:p>
                      <a:pPr algn="l"/>
                      <a:r>
                        <a:rPr sz="1250" b="1" i="0">
                          <a:solidFill>
                            <a:srgbClr val="FFFFFF"/>
                          </a:solidFill>
                          <a:latin typeface="Arial"/>
                        </a:rPr>
                        <a:t>Operación</a:t>
                      </a:r>
                    </a:p>
                  </a:txBody>
                  <a:tcPr marL="64008" marR="64008" marT="27432" marB="27432" anchor="ctr">
                    <a:solidFill>
                      <a:srgbClr val="242852"/>
                    </a:solidFill>
                  </a:tcPr>
                </a:tc>
                <a:tc>
                  <a:txBody>
                    <a:bodyPr wrap="square"/>
                    <a:lstStyle/>
                    <a:p>
                      <a:pPr algn="ctr"/>
                      <a:r>
                        <a:rPr sz="1250" b="1" i="0">
                          <a:solidFill>
                            <a:srgbClr val="FFFFFF"/>
                          </a:solidFill>
                          <a:latin typeface="Arial"/>
                        </a:rPr>
                        <a:t>Tipo</a:t>
                      </a:r>
                    </a:p>
                  </a:txBody>
                  <a:tcPr marL="64008" marR="64008" marT="27432" marB="27432" anchor="ctr">
                    <a:solidFill>
                      <a:srgbClr val="242852"/>
                    </a:solidFill>
                  </a:tcPr>
                </a:tc>
                <a:tc>
                  <a:txBody>
                    <a:bodyPr wrap="square"/>
                    <a:lstStyle/>
                    <a:p>
                      <a:pPr algn="ctr"/>
                      <a:r>
                        <a:rPr sz="1250" b="1" i="0">
                          <a:solidFill>
                            <a:srgbClr val="FFFFFF"/>
                          </a:solidFill>
                          <a:latin typeface="Arial"/>
                        </a:rPr>
                        <a:t>Monto USD</a:t>
                      </a:r>
                    </a:p>
                  </a:txBody>
                  <a:tcPr marL="64008" marR="64008" marT="27432" marB="27432" anchor="ctr">
                    <a:solidFill>
                      <a:srgbClr val="242852"/>
                    </a:solidFill>
                  </a:tcPr>
                </a:tc>
                <a:tc>
                  <a:txBody>
                    <a:bodyPr wrap="square"/>
                    <a:lstStyle/>
                    <a:p>
                      <a:pPr algn="ctr"/>
                      <a:r>
                        <a:rPr sz="1250" b="1" i="0">
                          <a:solidFill>
                            <a:srgbClr val="FFFFFF"/>
                          </a:solidFill>
                          <a:latin typeface="Arial"/>
                        </a:rPr>
                        <a:t>Saldo anterior USD</a:t>
                      </a:r>
                    </a:p>
                  </a:txBody>
                  <a:tcPr marL="64008" marR="64008" marT="27432" marB="27432" anchor="ctr">
                    <a:solidFill>
                      <a:srgbClr val="242852"/>
                    </a:solidFill>
                  </a:tcPr>
                </a:tc>
                <a:tc>
                  <a:txBody>
                    <a:bodyPr wrap="square"/>
                    <a:lstStyle/>
                    <a:p>
                      <a:pPr algn="ctr"/>
                      <a:r>
                        <a:rPr sz="1250" b="1" i="0">
                          <a:solidFill>
                            <a:srgbClr val="FFFFFF"/>
                          </a:solidFill>
                          <a:latin typeface="Arial"/>
                        </a:rPr>
                        <a:t>¿Fraude? (isFraud)</a:t>
                      </a:r>
                    </a:p>
                  </a:txBody>
                  <a:tcPr marL="64008" marR="64008" marT="27432" marB="27432" anchor="ctr">
                    <a:solidFill>
                      <a:srgbClr val="242852"/>
                    </a:solidFill>
                  </a:tcPr>
                </a:tc>
              </a:tr>
              <a:tr h="411480">
                <a:tc>
                  <a:txBody>
                    <a:bodyPr wrap="square"/>
                    <a:lstStyle/>
                    <a:p>
                      <a:pPr algn="l"/>
                      <a:r>
                        <a:rPr sz="1250" b="0" i="0">
                          <a:solidFill>
                            <a:srgbClr val="2B2B2B"/>
                          </a:solidFill>
                          <a:latin typeface="Arial"/>
                        </a:rPr>
                        <a:t>1</a:t>
                      </a:r>
                    </a:p>
                  </a:txBody>
                  <a:tcPr marL="64008" marR="64008" marT="27432" marB="27432" anchor="ctr">
                    <a:solidFill>
                      <a:srgbClr val="FFFFFF"/>
                    </a:solidFill>
                  </a:tcPr>
                </a:tc>
                <a:tc>
                  <a:txBody>
                    <a:bodyPr wrap="square"/>
                    <a:lstStyle/>
                    <a:p>
                      <a:pPr algn="ctr"/>
                      <a:r>
                        <a:rPr sz="1250" b="0" i="0">
                          <a:solidFill>
                            <a:srgbClr val="2B2B2B"/>
                          </a:solidFill>
                          <a:latin typeface="Arial"/>
                        </a:rPr>
                        <a:t>PAYMENT</a:t>
                      </a:r>
                    </a:p>
                  </a:txBody>
                  <a:tcPr marL="64008" marR="64008" marT="27432" marB="27432" anchor="ctr">
                    <a:solidFill>
                      <a:srgbClr val="FFFFFF"/>
                    </a:solidFill>
                  </a:tcPr>
                </a:tc>
                <a:tc>
                  <a:txBody>
                    <a:bodyPr wrap="square"/>
                    <a:lstStyle/>
                    <a:p>
                      <a:pPr algn="ctr"/>
                      <a:r>
                        <a:rPr sz="1250" b="0" i="0">
                          <a:solidFill>
                            <a:srgbClr val="2B2B2B"/>
                          </a:solidFill>
                          <a:latin typeface="Arial"/>
                        </a:rPr>
                        <a:t>50</a:t>
                      </a:r>
                    </a:p>
                  </a:txBody>
                  <a:tcPr marL="64008" marR="64008" marT="27432" marB="27432" anchor="ctr">
                    <a:solidFill>
                      <a:srgbClr val="FFFFFF"/>
                    </a:solidFill>
                  </a:tcPr>
                </a:tc>
                <a:tc>
                  <a:txBody>
                    <a:bodyPr wrap="square"/>
                    <a:lstStyle/>
                    <a:p>
                      <a:pPr algn="ctr"/>
                      <a:r>
                        <a:rPr sz="1250" b="0" i="0">
                          <a:solidFill>
                            <a:srgbClr val="2B2B2B"/>
                          </a:solidFill>
                          <a:latin typeface="Arial"/>
                        </a:rPr>
                        <a:t>800</a:t>
                      </a:r>
                    </a:p>
                  </a:txBody>
                  <a:tcPr marL="64008" marR="64008" marT="27432" marB="27432" anchor="ctr">
                    <a:solidFill>
                      <a:srgbClr val="FFFFFF"/>
                    </a:solidFill>
                  </a:tcPr>
                </a:tc>
                <a:tc>
                  <a:txBody>
                    <a:bodyPr wrap="square"/>
                    <a:lstStyle/>
                    <a:p>
                      <a:pPr algn="ctr"/>
                      <a:r>
                        <a:rPr sz="1250" b="1" i="0">
                          <a:solidFill>
                            <a:srgbClr val="2A9D8F"/>
                          </a:solidFill>
                          <a:latin typeface="Arial"/>
                        </a:rPr>
                        <a:t>No (0)</a:t>
                      </a:r>
                    </a:p>
                  </a:txBody>
                  <a:tcPr marL="64008" marR="64008" marT="27432" marB="27432" anchor="ctr">
                    <a:solidFill>
                      <a:srgbClr val="FFFFFF"/>
                    </a:solidFill>
                  </a:tcPr>
                </a:tc>
              </a:tr>
              <a:tr h="411480">
                <a:tc>
                  <a:txBody>
                    <a:bodyPr wrap="square"/>
                    <a:lstStyle/>
                    <a:p>
                      <a:pPr algn="l"/>
                      <a:r>
                        <a:rPr sz="1250" b="0" i="0">
                          <a:solidFill>
                            <a:srgbClr val="2B2B2B"/>
                          </a:solidFill>
                          <a:latin typeface="Arial"/>
                        </a:rPr>
                        <a:t>2</a:t>
                      </a:r>
                    </a:p>
                  </a:txBody>
                  <a:tcPr marL="64008" marR="64008" marT="27432" marB="27432" anchor="ctr">
                    <a:solidFill>
                      <a:srgbClr val="FBE8EA"/>
                    </a:solidFill>
                  </a:tcPr>
                </a:tc>
                <a:tc>
                  <a:txBody>
                    <a:bodyPr wrap="square"/>
                    <a:lstStyle/>
                    <a:p>
                      <a:pPr algn="ctr"/>
                      <a:r>
                        <a:rPr sz="1250" b="0" i="0">
                          <a:solidFill>
                            <a:srgbClr val="2B2B2B"/>
                          </a:solidFill>
                          <a:latin typeface="Arial"/>
                        </a:rPr>
                        <a:t>TRANSFER</a:t>
                      </a:r>
                    </a:p>
                  </a:txBody>
                  <a:tcPr marL="64008" marR="64008" marT="27432" marB="27432" anchor="ctr">
                    <a:solidFill>
                      <a:srgbClr val="FBE8EA"/>
                    </a:solidFill>
                  </a:tcPr>
                </a:tc>
                <a:tc>
                  <a:txBody>
                    <a:bodyPr wrap="square"/>
                    <a:lstStyle/>
                    <a:p>
                      <a:pPr algn="ctr"/>
                      <a:r>
                        <a:rPr sz="1250" b="0" i="0">
                          <a:solidFill>
                            <a:srgbClr val="2B2B2B"/>
                          </a:solidFill>
                          <a:latin typeface="Arial"/>
                        </a:rPr>
                        <a:t>8 000</a:t>
                      </a:r>
                    </a:p>
                  </a:txBody>
                  <a:tcPr marL="64008" marR="64008" marT="27432" marB="27432" anchor="ctr">
                    <a:solidFill>
                      <a:srgbClr val="FBE8EA"/>
                    </a:solidFill>
                  </a:tcPr>
                </a:tc>
                <a:tc>
                  <a:txBody>
                    <a:bodyPr wrap="square"/>
                    <a:lstStyle/>
                    <a:p>
                      <a:pPr algn="ctr"/>
                      <a:r>
                        <a:rPr sz="1250" b="0" i="0">
                          <a:solidFill>
                            <a:srgbClr val="2B2B2B"/>
                          </a:solidFill>
                          <a:latin typeface="Arial"/>
                        </a:rPr>
                        <a:t>8 000</a:t>
                      </a:r>
                    </a:p>
                  </a:txBody>
                  <a:tcPr marL="64008" marR="64008" marT="27432" marB="27432" anchor="ctr">
                    <a:solidFill>
                      <a:srgbClr val="FBE8EA"/>
                    </a:solidFill>
                  </a:tcPr>
                </a:tc>
                <a:tc>
                  <a:txBody>
                    <a:bodyPr wrap="square"/>
                    <a:lstStyle/>
                    <a:p>
                      <a:pPr algn="ctr"/>
                      <a:r>
                        <a:rPr sz="1250" b="1" i="0">
                          <a:solidFill>
                            <a:srgbClr val="D7263D"/>
                          </a:solidFill>
                          <a:latin typeface="Arial"/>
                        </a:rPr>
                        <a:t>Sí (1)</a:t>
                      </a:r>
                    </a:p>
                  </a:txBody>
                  <a:tcPr marL="64008" marR="64008" marT="27432" marB="27432" anchor="ctr">
                    <a:solidFill>
                      <a:srgbClr val="FBE8EA"/>
                    </a:solidFill>
                  </a:tcPr>
                </a:tc>
              </a:tr>
              <a:tr h="411480">
                <a:tc>
                  <a:txBody>
                    <a:bodyPr wrap="square"/>
                    <a:lstStyle/>
                    <a:p>
                      <a:pPr algn="l"/>
                      <a:r>
                        <a:rPr sz="1250" b="0" i="0">
                          <a:solidFill>
                            <a:srgbClr val="2B2B2B"/>
                          </a:solidFill>
                          <a:latin typeface="Arial"/>
                        </a:rPr>
                        <a:t>3</a:t>
                      </a:r>
                    </a:p>
                  </a:txBody>
                  <a:tcPr marL="64008" marR="64008" marT="27432" marB="27432" anchor="ctr">
                    <a:solidFill>
                      <a:srgbClr val="FFFFFF"/>
                    </a:solidFill>
                  </a:tcPr>
                </a:tc>
                <a:tc>
                  <a:txBody>
                    <a:bodyPr wrap="square"/>
                    <a:lstStyle/>
                    <a:p>
                      <a:pPr algn="ctr"/>
                      <a:r>
                        <a:rPr sz="1250" b="0" i="0">
                          <a:solidFill>
                            <a:srgbClr val="2B2B2B"/>
                          </a:solidFill>
                          <a:latin typeface="Arial"/>
                        </a:rPr>
                        <a:t>CASH_OUT</a:t>
                      </a:r>
                    </a:p>
                  </a:txBody>
                  <a:tcPr marL="64008" marR="64008" marT="27432" marB="27432" anchor="ctr">
                    <a:solidFill>
                      <a:srgbClr val="FFFFFF"/>
                    </a:solidFill>
                  </a:tcPr>
                </a:tc>
                <a:tc>
                  <a:txBody>
                    <a:bodyPr wrap="square"/>
                    <a:lstStyle/>
                    <a:p>
                      <a:pPr algn="ctr"/>
                      <a:r>
                        <a:rPr sz="1250" b="0" i="0">
                          <a:solidFill>
                            <a:srgbClr val="2B2B2B"/>
                          </a:solidFill>
                          <a:latin typeface="Arial"/>
                        </a:rPr>
                        <a:t>100</a:t>
                      </a:r>
                    </a:p>
                  </a:txBody>
                  <a:tcPr marL="64008" marR="64008" marT="27432" marB="27432" anchor="ctr">
                    <a:solidFill>
                      <a:srgbClr val="FFFFFF"/>
                    </a:solidFill>
                  </a:tcPr>
                </a:tc>
                <a:tc>
                  <a:txBody>
                    <a:bodyPr wrap="square"/>
                    <a:lstStyle/>
                    <a:p>
                      <a:pPr algn="ctr"/>
                      <a:r>
                        <a:rPr sz="1250" b="0" i="0">
                          <a:solidFill>
                            <a:srgbClr val="2B2B2B"/>
                          </a:solidFill>
                          <a:latin typeface="Arial"/>
                        </a:rPr>
                        <a:t>1 500</a:t>
                      </a:r>
                    </a:p>
                  </a:txBody>
                  <a:tcPr marL="64008" marR="64008" marT="27432" marB="27432" anchor="ctr">
                    <a:solidFill>
                      <a:srgbClr val="FFFFFF"/>
                    </a:solidFill>
                  </a:tcPr>
                </a:tc>
                <a:tc>
                  <a:txBody>
                    <a:bodyPr wrap="square"/>
                    <a:lstStyle/>
                    <a:p>
                      <a:pPr algn="ctr"/>
                      <a:r>
                        <a:rPr sz="1250" b="1" i="0">
                          <a:solidFill>
                            <a:srgbClr val="2A9D8F"/>
                          </a:solidFill>
                          <a:latin typeface="Arial"/>
                        </a:rPr>
                        <a:t>No (0)</a:t>
                      </a:r>
                    </a:p>
                  </a:txBody>
                  <a:tcPr marL="64008" marR="64008" marT="27432" marB="27432" anchor="ctr">
                    <a:solidFill>
                      <a:srgbClr val="FFFFFF"/>
                    </a:solidFill>
                  </a:tcPr>
                </a:tc>
              </a:tr>
              <a:tr h="411480">
                <a:tc>
                  <a:txBody>
                    <a:bodyPr wrap="square"/>
                    <a:lstStyle/>
                    <a:p>
                      <a:pPr algn="l"/>
                      <a:r>
                        <a:rPr sz="1250" b="0" i="0">
                          <a:solidFill>
                            <a:srgbClr val="2B2B2B"/>
                          </a:solidFill>
                          <a:latin typeface="Arial"/>
                        </a:rPr>
                        <a:t>4</a:t>
                      </a:r>
                    </a:p>
                  </a:txBody>
                  <a:tcPr marL="64008" marR="64008" marT="27432" marB="27432" anchor="ctr">
                    <a:solidFill>
                      <a:srgbClr val="FBE8EA"/>
                    </a:solidFill>
                  </a:tcPr>
                </a:tc>
                <a:tc>
                  <a:txBody>
                    <a:bodyPr wrap="square"/>
                    <a:lstStyle/>
                    <a:p>
                      <a:pPr algn="ctr"/>
                      <a:r>
                        <a:rPr sz="1250" b="0" i="0">
                          <a:solidFill>
                            <a:srgbClr val="2B2B2B"/>
                          </a:solidFill>
                          <a:latin typeface="Arial"/>
                        </a:rPr>
                        <a:t>TRANSFER</a:t>
                      </a:r>
                    </a:p>
                  </a:txBody>
                  <a:tcPr marL="64008" marR="64008" marT="27432" marB="27432" anchor="ctr">
                    <a:solidFill>
                      <a:srgbClr val="FBE8EA"/>
                    </a:solidFill>
                  </a:tcPr>
                </a:tc>
                <a:tc>
                  <a:txBody>
                    <a:bodyPr wrap="square"/>
                    <a:lstStyle/>
                    <a:p>
                      <a:pPr algn="ctr"/>
                      <a:r>
                        <a:rPr sz="1250" b="0" i="0">
                          <a:solidFill>
                            <a:srgbClr val="2B2B2B"/>
                          </a:solidFill>
                          <a:latin typeface="Arial"/>
                        </a:rPr>
                        <a:t>5 000</a:t>
                      </a:r>
                    </a:p>
                  </a:txBody>
                  <a:tcPr marL="64008" marR="64008" marT="27432" marB="27432" anchor="ctr">
                    <a:solidFill>
                      <a:srgbClr val="FBE8EA"/>
                    </a:solidFill>
                  </a:tcPr>
                </a:tc>
                <a:tc>
                  <a:txBody>
                    <a:bodyPr wrap="square"/>
                    <a:lstStyle/>
                    <a:p>
                      <a:pPr algn="ctr"/>
                      <a:r>
                        <a:rPr sz="1250" b="0" i="0">
                          <a:solidFill>
                            <a:srgbClr val="2B2B2B"/>
                          </a:solidFill>
                          <a:latin typeface="Arial"/>
                        </a:rPr>
                        <a:t>5 000</a:t>
                      </a:r>
                    </a:p>
                  </a:txBody>
                  <a:tcPr marL="64008" marR="64008" marT="27432" marB="27432" anchor="ctr">
                    <a:solidFill>
                      <a:srgbClr val="FBE8EA"/>
                    </a:solidFill>
                  </a:tcPr>
                </a:tc>
                <a:tc>
                  <a:txBody>
                    <a:bodyPr wrap="square"/>
                    <a:lstStyle/>
                    <a:p>
                      <a:pPr algn="ctr"/>
                      <a:r>
                        <a:rPr sz="1250" b="1" i="0">
                          <a:solidFill>
                            <a:srgbClr val="D7263D"/>
                          </a:solidFill>
                          <a:latin typeface="Arial"/>
                        </a:rPr>
                        <a:t>Sí (1)</a:t>
                      </a:r>
                    </a:p>
                  </a:txBody>
                  <a:tcPr marL="64008" marR="64008" marT="27432" marB="27432" anchor="ctr">
                    <a:solidFill>
                      <a:srgbClr val="FBE8EA"/>
                    </a:solidFill>
                  </a:tcPr>
                </a:tc>
              </a:tr>
              <a:tr h="411480">
                <a:tc>
                  <a:txBody>
                    <a:bodyPr wrap="square"/>
                    <a:lstStyle/>
                    <a:p>
                      <a:pPr algn="l"/>
                      <a:r>
                        <a:rPr sz="1250" b="0" i="0">
                          <a:solidFill>
                            <a:srgbClr val="2B2B2B"/>
                          </a:solidFill>
                          <a:latin typeface="Arial"/>
                        </a:rPr>
                        <a:t>5</a:t>
                      </a:r>
                    </a:p>
                  </a:txBody>
                  <a:tcPr marL="64008" marR="64008" marT="27432" marB="27432" anchor="ctr">
                    <a:solidFill>
                      <a:srgbClr val="FFFFFF"/>
                    </a:solidFill>
                  </a:tcPr>
                </a:tc>
                <a:tc>
                  <a:txBody>
                    <a:bodyPr wrap="square"/>
                    <a:lstStyle/>
                    <a:p>
                      <a:pPr algn="ctr"/>
                      <a:r>
                        <a:rPr sz="1250" b="0" i="0">
                          <a:solidFill>
                            <a:srgbClr val="2B2B2B"/>
                          </a:solidFill>
                          <a:latin typeface="Arial"/>
                        </a:rPr>
                        <a:t>PAYMENT</a:t>
                      </a:r>
                    </a:p>
                  </a:txBody>
                  <a:tcPr marL="64008" marR="64008" marT="27432" marB="27432" anchor="ctr">
                    <a:solidFill>
                      <a:srgbClr val="FFFFFF"/>
                    </a:solidFill>
                  </a:tcPr>
                </a:tc>
                <a:tc>
                  <a:txBody>
                    <a:bodyPr wrap="square"/>
                    <a:lstStyle/>
                    <a:p>
                      <a:pPr algn="ctr"/>
                      <a:r>
                        <a:rPr sz="1250" b="0" i="0">
                          <a:solidFill>
                            <a:srgbClr val="2B2B2B"/>
                          </a:solidFill>
                          <a:latin typeface="Arial"/>
                        </a:rPr>
                        <a:t>30</a:t>
                      </a:r>
                    </a:p>
                  </a:txBody>
                  <a:tcPr marL="64008" marR="64008" marT="27432" marB="27432" anchor="ctr">
                    <a:solidFill>
                      <a:srgbClr val="FFFFFF"/>
                    </a:solidFill>
                  </a:tcPr>
                </a:tc>
                <a:tc>
                  <a:txBody>
                    <a:bodyPr wrap="square"/>
                    <a:lstStyle/>
                    <a:p>
                      <a:pPr algn="ctr"/>
                      <a:r>
                        <a:rPr sz="1250" b="0" i="0">
                          <a:solidFill>
                            <a:srgbClr val="2B2B2B"/>
                          </a:solidFill>
                          <a:latin typeface="Arial"/>
                        </a:rPr>
                        <a:t>300</a:t>
                      </a:r>
                    </a:p>
                  </a:txBody>
                  <a:tcPr marL="64008" marR="64008" marT="27432" marB="27432" anchor="ctr">
                    <a:solidFill>
                      <a:srgbClr val="FFFFFF"/>
                    </a:solidFill>
                  </a:tcPr>
                </a:tc>
                <a:tc>
                  <a:txBody>
                    <a:bodyPr wrap="square"/>
                    <a:lstStyle/>
                    <a:p>
                      <a:pPr algn="ctr"/>
                      <a:r>
                        <a:rPr sz="1250" b="1" i="0">
                          <a:solidFill>
                            <a:srgbClr val="2A9D8F"/>
                          </a:solidFill>
                          <a:latin typeface="Arial"/>
                        </a:rPr>
                        <a:t>No (0)</a:t>
                      </a:r>
                    </a:p>
                  </a:txBody>
                  <a:tcPr marL="64008" marR="64008" marT="27432" marB="27432" anchor="ctr">
                    <a:solidFill>
                      <a:srgbClr val="FFFFFF"/>
                    </a:solidFill>
                  </a:tcPr>
                </a:tc>
              </a:tr>
            </a:tbl>
          </a:graphicData>
        </a:graphic>
      </p:graphicFrame>
      <p:sp>
        <p:nvSpPr>
          <p:cNvPr id="4" name="Rounded Rectangle 3"/>
          <p:cNvSpPr/>
          <p:nvPr/>
        </p:nvSpPr>
        <p:spPr>
          <a:xfrm>
            <a:off x="731520" y="4526280"/>
            <a:ext cx="3794760" cy="10515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42852"/>
                </a:solidFill>
                <a:latin typeface="Arial"/>
              </a:rPr>
              <a:t>Características (X)</a:t>
            </a:r>
          </a:p>
          <a:p>
            <a:pPr algn="ctr">
              <a:spcAft>
                <a:spcPts val="300"/>
              </a:spcAft>
            </a:pPr>
            <a:r>
              <a:rPr sz="1150" b="0" i="0">
                <a:solidFill>
                  <a:srgbClr val="2B2B2B"/>
                </a:solidFill>
                <a:latin typeface="Arial"/>
              </a:rPr>
              <a:t>tipo, monto, saldo: lo que sabemos de la transacción</a:t>
            </a:r>
          </a:p>
        </p:txBody>
      </p:sp>
      <p:sp>
        <p:nvSpPr>
          <p:cNvPr id="5" name="Rounded Rectangle 4"/>
          <p:cNvSpPr/>
          <p:nvPr/>
        </p:nvSpPr>
        <p:spPr>
          <a:xfrm>
            <a:off x="4709160" y="4526280"/>
            <a:ext cx="3794760"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D7263D"/>
                </a:solidFill>
                <a:latin typeface="Arial"/>
              </a:rPr>
              <a:t>Variable objetivo (y)</a:t>
            </a:r>
          </a:p>
          <a:p>
            <a:pPr algn="ctr">
              <a:spcAft>
                <a:spcPts val="300"/>
              </a:spcAft>
            </a:pPr>
            <a:r>
              <a:rPr sz="1150" b="0" i="0">
                <a:solidFill>
                  <a:srgbClr val="2B2B2B"/>
                </a:solidFill>
                <a:latin typeface="Arial"/>
              </a:rPr>
              <a:t>isFraud: 0 = legítima, 1 = fraudulenta</a:t>
            </a:r>
          </a:p>
        </p:txBody>
      </p:sp>
      <p:sp>
        <p:nvSpPr>
          <p:cNvPr id="6" name="Rounded Rectangle 5"/>
          <p:cNvSpPr/>
          <p:nvPr/>
        </p:nvSpPr>
        <p:spPr>
          <a:xfrm>
            <a:off x="731520" y="57607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Dos preguntas del día: </a:t>
            </a:r>
            <a:r>
              <a:rPr sz="1200" b="0" i="0">
                <a:solidFill>
                  <a:srgbClr val="2B2B2B"/>
                </a:solidFill>
                <a:latin typeface="Arial"/>
              </a:rPr>
              <a:t>¿cómo elige el árbol su primera regla? (Gini) y ¿cómo sabemos si detecta bien los fraudes? (matriz de confusión)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clasificar?</a:t>
            </a:r>
          </a:p>
        </p:txBody>
      </p:sp>
      <p:sp>
        <p:nvSpPr>
          <p:cNvPr id="3" name="Rounded Rectangle 2"/>
          <p:cNvSpPr/>
          <p:nvPr/>
        </p:nvSpPr>
        <p:spPr>
          <a:xfrm>
            <a:off x="731520" y="2057400"/>
            <a:ext cx="237744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242852"/>
                </a:solidFill>
                <a:latin typeface="Arial"/>
              </a:rPr>
              <a:t>Características</a:t>
            </a:r>
          </a:p>
          <a:p>
            <a:pPr algn="ctr">
              <a:spcAft>
                <a:spcPts val="300"/>
              </a:spcAft>
            </a:pPr>
            <a:r>
              <a:rPr sz="1200" b="0" i="0">
                <a:solidFill>
                  <a:srgbClr val="2B2B2B"/>
                </a:solidFill>
                <a:latin typeface="Arial"/>
              </a:rPr>
              <a:t>tipo, monto, hora…</a:t>
            </a:r>
          </a:p>
        </p:txBody>
      </p:sp>
      <p:sp>
        <p:nvSpPr>
          <p:cNvPr id="4" name="Right Arrow 3"/>
          <p:cNvSpPr/>
          <p:nvPr/>
        </p:nvSpPr>
        <p:spPr>
          <a:xfrm>
            <a:off x="3154680" y="2514600"/>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3429000" y="2057400"/>
            <a:ext cx="237744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3D5A99"/>
                </a:solidFill>
                <a:latin typeface="Arial"/>
              </a:rPr>
              <a:t>Modelo</a:t>
            </a:r>
          </a:p>
          <a:p>
            <a:pPr algn="ctr">
              <a:spcAft>
                <a:spcPts val="300"/>
              </a:spcAft>
            </a:pPr>
            <a:r>
              <a:rPr sz="1200" b="0" i="0">
                <a:solidFill>
                  <a:srgbClr val="2B2B2B"/>
                </a:solidFill>
                <a:latin typeface="Arial"/>
              </a:rPr>
              <a:t>reglas aprendidas de casos pasados</a:t>
            </a:r>
          </a:p>
        </p:txBody>
      </p:sp>
      <p:sp>
        <p:nvSpPr>
          <p:cNvPr id="6" name="Right Arrow 5"/>
          <p:cNvSpPr/>
          <p:nvPr/>
        </p:nvSpPr>
        <p:spPr>
          <a:xfrm>
            <a:off x="5852160" y="2514600"/>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6126480" y="2057400"/>
            <a:ext cx="237744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D7263D"/>
                </a:solidFill>
                <a:latin typeface="Arial"/>
              </a:rPr>
              <a:t>Clase</a:t>
            </a:r>
          </a:p>
          <a:p>
            <a:pPr algn="ctr">
              <a:spcAft>
                <a:spcPts val="300"/>
              </a:spcAft>
            </a:pPr>
            <a:r>
              <a:rPr sz="1200" b="0" i="0">
                <a:solidFill>
                  <a:srgbClr val="2B2B2B"/>
                </a:solidFill>
                <a:latin typeface="Arial"/>
              </a:rPr>
              <a:t>fraude  o  normal</a:t>
            </a:r>
          </a:p>
        </p:txBody>
      </p:sp>
      <p:sp>
        <p:nvSpPr>
          <p:cNvPr id="8" name="Rounded Rectangle 7"/>
          <p:cNvSpPr/>
          <p:nvPr/>
        </p:nvSpPr>
        <p:spPr>
          <a:xfrm>
            <a:off x="731520" y="3520440"/>
            <a:ext cx="2487168"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868680" y="363016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Pagos</a:t>
            </a:r>
          </a:p>
        </p:txBody>
      </p:sp>
      <p:sp>
        <p:nvSpPr>
          <p:cNvPr id="10" name="TextBox 9"/>
          <p:cNvSpPr txBox="1"/>
          <p:nvPr/>
        </p:nvSpPr>
        <p:spPr>
          <a:xfrm>
            <a:off x="868680" y="4178808"/>
            <a:ext cx="2212848" cy="594359"/>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¿fraude o normal?</a:t>
            </a:r>
          </a:p>
        </p:txBody>
      </p:sp>
      <p:sp>
        <p:nvSpPr>
          <p:cNvPr id="11" name="Rounded Rectangle 10"/>
          <p:cNvSpPr/>
          <p:nvPr/>
        </p:nvSpPr>
        <p:spPr>
          <a:xfrm>
            <a:off x="3355848" y="3520440"/>
            <a:ext cx="2487168"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3493008" y="3630168"/>
            <a:ext cx="2258568"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Tarjetas</a:t>
            </a:r>
          </a:p>
        </p:txBody>
      </p:sp>
      <p:sp>
        <p:nvSpPr>
          <p:cNvPr id="13" name="TextBox 12"/>
          <p:cNvSpPr txBox="1"/>
          <p:nvPr/>
        </p:nvSpPr>
        <p:spPr>
          <a:xfrm>
            <a:off x="3493008" y="4178808"/>
            <a:ext cx="2212848" cy="594359"/>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¿abandona o se queda?</a:t>
            </a:r>
          </a:p>
        </p:txBody>
      </p:sp>
      <p:sp>
        <p:nvSpPr>
          <p:cNvPr id="14" name="Rounded Rectangle 13"/>
          <p:cNvSpPr/>
          <p:nvPr/>
        </p:nvSpPr>
        <p:spPr>
          <a:xfrm>
            <a:off x="5980176" y="3520440"/>
            <a:ext cx="2487168" cy="13258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6117336" y="3630168"/>
            <a:ext cx="2258567"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Crédito</a:t>
            </a:r>
          </a:p>
        </p:txBody>
      </p:sp>
      <p:sp>
        <p:nvSpPr>
          <p:cNvPr id="16" name="TextBox 15"/>
          <p:cNvSpPr txBox="1"/>
          <p:nvPr/>
        </p:nvSpPr>
        <p:spPr>
          <a:xfrm>
            <a:off x="6117336" y="4178808"/>
            <a:ext cx="2212848" cy="594359"/>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¿se paga o cae en impago?</a:t>
            </a:r>
          </a:p>
        </p:txBody>
      </p:sp>
      <p:sp>
        <p:nvSpPr>
          <p:cNvPr id="17" name="Rounded Rectangle 16"/>
          <p:cNvSpPr/>
          <p:nvPr/>
        </p:nvSpPr>
        <p:spPr>
          <a:xfrm>
            <a:off x="731520" y="51206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Binaria: </a:t>
            </a:r>
            <a:r>
              <a:rPr sz="1200" b="0" i="0">
                <a:solidFill>
                  <a:srgbClr val="2B2B2B"/>
                </a:solidFill>
                <a:latin typeface="Arial"/>
              </a:rPr>
              <a:t>dos clases, como hoy. </a:t>
            </a:r>
            <a:r>
              <a:rPr sz="1200" b="1" i="0">
                <a:solidFill>
                  <a:srgbClr val="242852"/>
                </a:solidFill>
                <a:latin typeface="Arial"/>
              </a:rPr>
              <a:t>Multiclase: </a:t>
            </a:r>
            <a:r>
              <a:rPr sz="1200" b="0" i="0">
                <a:solidFill>
                  <a:srgbClr val="2B2B2B"/>
                </a:solidFill>
                <a:latin typeface="Arial"/>
              </a:rPr>
              <a:t>tres o más (por ejemplo, segmento de cliente A, B o C).</a:t>
            </a:r>
          </a:p>
        </p:txBody>
      </p:sp>
      <p:sp>
        <p:nvSpPr>
          <p:cNvPr id="18" name="Rounded Rectangle 17"/>
          <p:cNvSpPr/>
          <p:nvPr/>
        </p:nvSpPr>
        <p:spPr>
          <a:xfrm>
            <a:off x="731520" y="5806440"/>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Aprendizaje supervisado: </a:t>
            </a:r>
            <a:r>
              <a:rPr sz="1200" b="0" i="0">
                <a:solidFill>
                  <a:srgbClr val="2B2B2B"/>
                </a:solidFill>
                <a:latin typeface="Arial"/>
              </a:rPr>
              <a:t>igual que en regresión, aprendemos de filas donde ya conocemos la respuesta.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una clase?</a:t>
            </a:r>
          </a:p>
        </p:txBody>
      </p:sp>
      <p:sp>
        <p:nvSpPr>
          <p:cNvPr id="3" name="TextBox 2"/>
          <p:cNvSpPr txBox="1"/>
          <p:nvPr/>
        </p:nvSpPr>
        <p:spPr>
          <a:xfrm>
            <a:off x="731520" y="1920240"/>
            <a:ext cx="2011680" cy="320040"/>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Columna isFraud</a:t>
            </a:r>
          </a:p>
        </p:txBody>
      </p:sp>
      <p:sp>
        <p:nvSpPr>
          <p:cNvPr id="4" name="Rectangle 3"/>
          <p:cNvSpPr/>
          <p:nvPr/>
        </p:nvSpPr>
        <p:spPr>
          <a:xfrm>
            <a:off x="1188720" y="2286000"/>
            <a:ext cx="1097280" cy="411480"/>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2A9D8F"/>
                </a:solidFill>
                <a:latin typeface="Arial"/>
              </a:rPr>
              <a:t>0</a:t>
            </a:r>
          </a:p>
        </p:txBody>
      </p:sp>
      <p:sp>
        <p:nvSpPr>
          <p:cNvPr id="5" name="Rectangle 4"/>
          <p:cNvSpPr/>
          <p:nvPr/>
        </p:nvSpPr>
        <p:spPr>
          <a:xfrm>
            <a:off x="1188720" y="2788920"/>
            <a:ext cx="1097280" cy="411480"/>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D7263D"/>
                </a:solidFill>
                <a:latin typeface="Arial"/>
              </a:rPr>
              <a:t>1</a:t>
            </a:r>
          </a:p>
        </p:txBody>
      </p:sp>
      <p:sp>
        <p:nvSpPr>
          <p:cNvPr id="6" name="Rectangle 5"/>
          <p:cNvSpPr/>
          <p:nvPr/>
        </p:nvSpPr>
        <p:spPr>
          <a:xfrm>
            <a:off x="1188720" y="3291840"/>
            <a:ext cx="1097280" cy="411480"/>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2A9D8F"/>
                </a:solidFill>
                <a:latin typeface="Arial"/>
              </a:rPr>
              <a:t>0</a:t>
            </a:r>
          </a:p>
        </p:txBody>
      </p:sp>
      <p:sp>
        <p:nvSpPr>
          <p:cNvPr id="7" name="Rectangle 6"/>
          <p:cNvSpPr/>
          <p:nvPr/>
        </p:nvSpPr>
        <p:spPr>
          <a:xfrm>
            <a:off x="1188720" y="3794760"/>
            <a:ext cx="1097280" cy="411480"/>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D7263D"/>
                </a:solidFill>
                <a:latin typeface="Arial"/>
              </a:rPr>
              <a:t>1</a:t>
            </a:r>
          </a:p>
        </p:txBody>
      </p:sp>
      <p:sp>
        <p:nvSpPr>
          <p:cNvPr id="8" name="Rectangle 7"/>
          <p:cNvSpPr/>
          <p:nvPr/>
        </p:nvSpPr>
        <p:spPr>
          <a:xfrm>
            <a:off x="1188720" y="4297680"/>
            <a:ext cx="1097280" cy="411480"/>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500" b="1" i="0">
                <a:solidFill>
                  <a:srgbClr val="2A9D8F"/>
                </a:solidFill>
                <a:latin typeface="Arial"/>
              </a:rPr>
              <a:t>0</a:t>
            </a:r>
          </a:p>
        </p:txBody>
      </p:sp>
      <p:sp>
        <p:nvSpPr>
          <p:cNvPr id="9" name="Right Arrow 8"/>
          <p:cNvSpPr/>
          <p:nvPr/>
        </p:nvSpPr>
        <p:spPr>
          <a:xfrm>
            <a:off x="2514600" y="3108960"/>
            <a:ext cx="411480" cy="32004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ounded Rectangle 9"/>
          <p:cNvSpPr/>
          <p:nvPr/>
        </p:nvSpPr>
        <p:spPr>
          <a:xfrm>
            <a:off x="3108960" y="2194560"/>
            <a:ext cx="2377440" cy="11430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A9D8F"/>
                </a:solidFill>
                <a:latin typeface="Arial"/>
              </a:rPr>
              <a:t>Clase 0 · negativa</a:t>
            </a:r>
          </a:p>
          <a:p>
            <a:pPr algn="ctr">
              <a:spcAft>
                <a:spcPts val="300"/>
              </a:spcAft>
            </a:pPr>
            <a:r>
              <a:rPr sz="1200" b="0" i="0">
                <a:solidFill>
                  <a:srgbClr val="2B2B2B"/>
                </a:solidFill>
                <a:latin typeface="Arial"/>
              </a:rPr>
              <a:t>transacción legítima</a:t>
            </a:r>
          </a:p>
          <a:p>
            <a:pPr algn="ctr">
              <a:spcAft>
                <a:spcPts val="300"/>
              </a:spcAft>
            </a:pPr>
            <a:r>
              <a:rPr sz="1100" b="0" i="0">
                <a:solidFill>
                  <a:srgbClr val="5F6368"/>
                </a:solidFill>
                <a:latin typeface="Arial"/>
              </a:rPr>
              <a:t>operaciones 1, 3 y 5</a:t>
            </a:r>
          </a:p>
        </p:txBody>
      </p:sp>
      <p:sp>
        <p:nvSpPr>
          <p:cNvPr id="11" name="Rounded Rectangle 10"/>
          <p:cNvSpPr/>
          <p:nvPr/>
        </p:nvSpPr>
        <p:spPr>
          <a:xfrm>
            <a:off x="3108960" y="3474720"/>
            <a:ext cx="2377440" cy="11430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Clase 1 · positiva</a:t>
            </a:r>
          </a:p>
          <a:p>
            <a:pPr algn="ctr">
              <a:spcAft>
                <a:spcPts val="300"/>
              </a:spcAft>
            </a:pPr>
            <a:r>
              <a:rPr sz="1200" b="0" i="0">
                <a:solidFill>
                  <a:srgbClr val="2B2B2B"/>
                </a:solidFill>
                <a:latin typeface="Arial"/>
              </a:rPr>
              <a:t>transacción fraudulenta</a:t>
            </a:r>
          </a:p>
          <a:p>
            <a:pPr algn="ctr">
              <a:spcAft>
                <a:spcPts val="300"/>
              </a:spcAft>
            </a:pPr>
            <a:r>
              <a:rPr sz="1100" b="0" i="0">
                <a:solidFill>
                  <a:srgbClr val="5F6368"/>
                </a:solidFill>
                <a:latin typeface="Arial"/>
              </a:rPr>
              <a:t>operaciones 2 y 4</a:t>
            </a:r>
          </a:p>
        </p:txBody>
      </p:sp>
      <p:sp>
        <p:nvSpPr>
          <p:cNvPr id="12" name="Rounded Rectangle 11"/>
          <p:cNvSpPr/>
          <p:nvPr/>
        </p:nvSpPr>
        <p:spPr>
          <a:xfrm>
            <a:off x="5715000" y="2194560"/>
            <a:ext cx="278892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5852160" y="2304288"/>
            <a:ext cx="2560320" cy="50292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Positiva = la que buscamos</a:t>
            </a:r>
          </a:p>
        </p:txBody>
      </p:sp>
      <p:sp>
        <p:nvSpPr>
          <p:cNvPr id="14" name="TextBox 13"/>
          <p:cNvSpPr txBox="1"/>
          <p:nvPr/>
        </p:nvSpPr>
        <p:spPr>
          <a:xfrm>
            <a:off x="5852160" y="2852928"/>
            <a:ext cx="2514600" cy="41147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No significa «buena»: fraude, abandono, impago.</a:t>
            </a:r>
          </a:p>
        </p:txBody>
      </p:sp>
      <p:sp>
        <p:nvSpPr>
          <p:cNvPr id="15" name="Rounded Rectangle 14"/>
          <p:cNvSpPr/>
          <p:nvPr/>
        </p:nvSpPr>
        <p:spPr>
          <a:xfrm>
            <a:off x="5715000" y="3474720"/>
            <a:ext cx="2788920" cy="11430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5852160" y="3584448"/>
            <a:ext cx="2560320" cy="502920"/>
          </a:xfrm>
          <a:prstGeom prst="rect">
            <a:avLst/>
          </a:prstGeom>
          <a:noFill/>
        </p:spPr>
        <p:txBody>
          <a:bodyPr wrap="square" anchor="ctr" lIns="36576" rIns="36576" tIns="36576" bIns="36576">
            <a:spAutoFit/>
          </a:bodyPr>
          <a:lstStyle/>
          <a:p>
            <a:pPr algn="l">
              <a:spcAft>
                <a:spcPts val="400"/>
              </a:spcAft>
            </a:pPr>
            <a:r>
              <a:rPr sz="1250" b="1" i="0">
                <a:solidFill>
                  <a:srgbClr val="242852"/>
                </a:solidFill>
                <a:latin typeface="Arial"/>
              </a:rPr>
              <a:t>¿Por qué importa?</a:t>
            </a:r>
          </a:p>
        </p:txBody>
      </p:sp>
      <p:sp>
        <p:nvSpPr>
          <p:cNvPr id="17" name="TextBox 16"/>
          <p:cNvSpPr txBox="1"/>
          <p:nvPr/>
        </p:nvSpPr>
        <p:spPr>
          <a:xfrm>
            <a:off x="5852160" y="4133087"/>
            <a:ext cx="2514600" cy="41147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Los nombres VP, VN, FP y FN dependen de esta elección.</a:t>
            </a:r>
          </a:p>
        </p:txBody>
      </p:sp>
      <p:sp>
        <p:nvSpPr>
          <p:cNvPr id="18" name="Rounded Rectangle 17"/>
          <p:cNvSpPr/>
          <p:nvPr/>
        </p:nvSpPr>
        <p:spPr>
          <a:xfrm>
            <a:off x="731520" y="50292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a:t>
            </a:r>
            <a:r>
              <a:rPr sz="1200" b="0" i="0">
                <a:solidFill>
                  <a:srgbClr val="2B2B2B"/>
                </a:solidFill>
                <a:latin typeface="Arial"/>
              </a:rPr>
              <a:t>clase positiva = fraude (PaySim), abandono (BankChurners) e impago (Credit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Regresión y clasificación: qué cambia</a:t>
            </a:r>
          </a:p>
        </p:txBody>
      </p:sp>
      <p:graphicFrame>
        <p:nvGraphicFramePr>
          <p:cNvPr id="3" name="Table 2"/>
          <p:cNvGraphicFramePr>
            <a:graphicFrameLocks noGrp="1"/>
          </p:cNvGraphicFramePr>
          <p:nvPr/>
        </p:nvGraphicFramePr>
        <p:xfrm>
          <a:off x="731520" y="1965960"/>
          <a:ext cx="7772400" cy="3364992"/>
        </p:xfrm>
        <a:graphic>
          <a:graphicData uri="http://schemas.openxmlformats.org/drawingml/2006/table">
            <a:tbl>
              <a:tblPr firstRow="1" bandRow="1">
                <a:tableStyleId>{5C22544A-7EE6-4342-B048-85BDC9FD1C3A}</a:tableStyleId>
              </a:tblPr>
              <a:tblGrid>
                <a:gridCol w="2011680"/>
                <a:gridCol w="2743200"/>
                <a:gridCol w="3017520"/>
              </a:tblGrid>
              <a:tr h="420624">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Regresión (Días 1 y 2)</a:t>
                      </a:r>
                    </a:p>
                  </a:txBody>
                  <a:tcPr marL="64008" marR="64008" marT="27432" marB="27432" anchor="ctr">
                    <a:solidFill>
                      <a:srgbClr val="242852"/>
                    </a:solidFill>
                  </a:tcPr>
                </a:tc>
                <a:tc>
                  <a:txBody>
                    <a:bodyPr wrap="square"/>
                    <a:lstStyle/>
                    <a:p>
                      <a:pPr algn="ctr"/>
                      <a:r>
                        <a:rPr sz="1200" b="1" i="0">
                          <a:solidFill>
                            <a:srgbClr val="FFFFFF"/>
                          </a:solidFill>
                          <a:latin typeface="Arial"/>
                        </a:rPr>
                        <a:t>Clasificación (hoy)</a:t>
                      </a:r>
                    </a:p>
                  </a:txBody>
                  <a:tcPr marL="64008" marR="64008" marT="27432" marB="27432" anchor="ctr">
                    <a:solidFill>
                      <a:srgbClr val="242852"/>
                    </a:solidFill>
                  </a:tcPr>
                </a:tc>
              </a:tr>
              <a:tr h="420624">
                <a:tc>
                  <a:txBody>
                    <a:bodyPr wrap="square"/>
                    <a:lstStyle/>
                    <a:p>
                      <a:pPr algn="l"/>
                      <a:r>
                        <a:rPr sz="1200" b="1" i="0">
                          <a:solidFill>
                            <a:srgbClr val="2B2B2B"/>
                          </a:solidFill>
                          <a:latin typeface="Arial"/>
                        </a:rPr>
                        <a:t>Pregunta</a:t>
                      </a:r>
                    </a:p>
                  </a:txBody>
                  <a:tcPr marL="64008" marR="64008" marT="27432" marB="27432" anchor="ctr">
                    <a:solidFill>
                      <a:srgbClr val="FFFFFF"/>
                    </a:solidFill>
                  </a:tcPr>
                </a:tc>
                <a:tc>
                  <a:txBody>
                    <a:bodyPr wrap="square"/>
                    <a:lstStyle/>
                    <a:p>
                      <a:pPr algn="ctr"/>
                      <a:r>
                        <a:rPr sz="1200" b="0" i="0">
                          <a:solidFill>
                            <a:srgbClr val="2B2B2B"/>
                          </a:solidFill>
                          <a:latin typeface="Arial"/>
                        </a:rPr>
                        <a:t>¿Cuánto?</a:t>
                      </a:r>
                    </a:p>
                  </a:txBody>
                  <a:tcPr marL="64008" marR="64008" marT="27432" marB="27432" anchor="ctr">
                    <a:solidFill>
                      <a:srgbClr val="FFFFFF"/>
                    </a:solidFill>
                  </a:tcPr>
                </a:tc>
                <a:tc>
                  <a:txBody>
                    <a:bodyPr wrap="square"/>
                    <a:lstStyle/>
                    <a:p>
                      <a:pPr algn="ctr"/>
                      <a:r>
                        <a:rPr sz="1200" b="0" i="0">
                          <a:solidFill>
                            <a:srgbClr val="2B2B2B"/>
                          </a:solidFill>
                          <a:latin typeface="Arial"/>
                        </a:rPr>
                        <a:t>¿Cuál clase? ¿sí o no?</a:t>
                      </a:r>
                    </a:p>
                  </a:txBody>
                  <a:tcPr marL="64008" marR="64008" marT="27432" marB="27432" anchor="ctr">
                    <a:solidFill>
                      <a:srgbClr val="FFFFFF"/>
                    </a:solidFill>
                  </a:tcPr>
                </a:tc>
              </a:tr>
              <a:tr h="420624">
                <a:tc>
                  <a:txBody>
                    <a:bodyPr wrap="square"/>
                    <a:lstStyle/>
                    <a:p>
                      <a:pPr algn="l"/>
                      <a:r>
                        <a:rPr sz="1200" b="1" i="0">
                          <a:solidFill>
                            <a:srgbClr val="2B2B2B"/>
                          </a:solidFill>
                          <a:latin typeface="Arial"/>
                        </a:rPr>
                        <a:t>Respuesta</a:t>
                      </a:r>
                    </a:p>
                  </a:txBody>
                  <a:tcPr marL="64008" marR="64008" marT="27432" marB="27432" anchor="ctr">
                    <a:solidFill>
                      <a:srgbClr val="F2F3F5"/>
                    </a:solidFill>
                  </a:tcPr>
                </a:tc>
                <a:tc>
                  <a:txBody>
                    <a:bodyPr wrap="square"/>
                    <a:lstStyle/>
                    <a:p>
                      <a:pPr algn="ctr"/>
                      <a:r>
                        <a:rPr sz="1200" b="0" i="0">
                          <a:solidFill>
                            <a:srgbClr val="2B2B2B"/>
                          </a:solidFill>
                          <a:latin typeface="Arial"/>
                        </a:rPr>
                        <a:t>un número: 3 109 USD, 2,4 %</a:t>
                      </a:r>
                    </a:p>
                  </a:txBody>
                  <a:tcPr marL="64008" marR="64008" marT="27432" marB="27432" anchor="ctr">
                    <a:solidFill>
                      <a:srgbClr val="F2F3F5"/>
                    </a:solidFill>
                  </a:tcPr>
                </a:tc>
                <a:tc>
                  <a:txBody>
                    <a:bodyPr wrap="square"/>
                    <a:lstStyle/>
                    <a:p>
                      <a:pPr algn="ctr"/>
                      <a:r>
                        <a:rPr sz="1200" b="0" i="0">
                          <a:solidFill>
                            <a:srgbClr val="2B2B2B"/>
                          </a:solidFill>
                          <a:latin typeface="Arial"/>
                        </a:rPr>
                        <a:t>una etiqueta: fraude / normal</a:t>
                      </a:r>
                    </a:p>
                  </a:txBody>
                  <a:tcPr marL="64008" marR="64008" marT="27432" marB="27432" anchor="ctr">
                    <a:solidFill>
                      <a:srgbClr val="F2F3F5"/>
                    </a:solidFill>
                  </a:tcPr>
                </a:tc>
              </a:tr>
              <a:tr h="420624">
                <a:tc>
                  <a:txBody>
                    <a:bodyPr wrap="square"/>
                    <a:lstStyle/>
                    <a:p>
                      <a:pPr algn="l"/>
                      <a:r>
                        <a:rPr sz="1200" b="1" i="0">
                          <a:solidFill>
                            <a:srgbClr val="2B2B2B"/>
                          </a:solidFill>
                          <a:latin typeface="Arial"/>
                        </a:rPr>
                        <a:t>El error es…</a:t>
                      </a:r>
                    </a:p>
                  </a:txBody>
                  <a:tcPr marL="64008" marR="64008" marT="27432" marB="27432" anchor="ctr">
                    <a:solidFill>
                      <a:srgbClr val="FFFFFF"/>
                    </a:solidFill>
                  </a:tcPr>
                </a:tc>
                <a:tc>
                  <a:txBody>
                    <a:bodyPr wrap="square"/>
                    <a:lstStyle/>
                    <a:p>
                      <a:pPr algn="ctr"/>
                      <a:r>
                        <a:rPr sz="1200" b="0" i="0">
                          <a:solidFill>
                            <a:srgbClr val="2B2B2B"/>
                          </a:solidFill>
                          <a:latin typeface="Arial"/>
                        </a:rPr>
                        <a:t>una distancia</a:t>
                      </a:r>
                    </a:p>
                  </a:txBody>
                  <a:tcPr marL="64008" marR="64008" marT="27432" marB="27432" anchor="ctr">
                    <a:solidFill>
                      <a:srgbClr val="FFFFFF"/>
                    </a:solidFill>
                  </a:tcPr>
                </a:tc>
                <a:tc>
                  <a:txBody>
                    <a:bodyPr wrap="square"/>
                    <a:lstStyle/>
                    <a:p>
                      <a:pPr algn="ctr"/>
                      <a:r>
                        <a:rPr sz="1200" b="0" i="0">
                          <a:solidFill>
                            <a:srgbClr val="2B2B2B"/>
                          </a:solidFill>
                          <a:latin typeface="Arial"/>
                        </a:rPr>
                        <a:t>un acierto o un fallo</a:t>
                      </a:r>
                    </a:p>
                  </a:txBody>
                  <a:tcPr marL="64008" marR="64008" marT="27432" marB="27432" anchor="ctr">
                    <a:solidFill>
                      <a:srgbClr val="FFFFFF"/>
                    </a:solidFill>
                  </a:tcPr>
                </a:tc>
              </a:tr>
              <a:tr h="420624">
                <a:tc>
                  <a:txBody>
                    <a:bodyPr wrap="square"/>
                    <a:lstStyle/>
                    <a:p>
                      <a:pPr algn="l"/>
                      <a:r>
                        <a:rPr sz="1200" b="1" i="0">
                          <a:solidFill>
                            <a:srgbClr val="2B2B2B"/>
                          </a:solidFill>
                          <a:latin typeface="Arial"/>
                        </a:rPr>
                        <a:t>Métricas</a:t>
                      </a:r>
                    </a:p>
                  </a:txBody>
                  <a:tcPr marL="64008" marR="64008" marT="27432" marB="27432" anchor="ctr">
                    <a:solidFill>
                      <a:srgbClr val="F2F3F5"/>
                    </a:solidFill>
                  </a:tcPr>
                </a:tc>
                <a:tc>
                  <a:txBody>
                    <a:bodyPr wrap="square"/>
                    <a:lstStyle/>
                    <a:p>
                      <a:pPr algn="ctr"/>
                      <a:r>
                        <a:rPr sz="1200" b="0" i="0">
                          <a:solidFill>
                            <a:srgbClr val="2B2B2B"/>
                          </a:solidFill>
                          <a:latin typeface="Arial"/>
                        </a:rPr>
                        <a:t>MAE, RMSE, R²</a:t>
                      </a:r>
                    </a:p>
                  </a:txBody>
                  <a:tcPr marL="64008" marR="64008" marT="27432" marB="27432" anchor="ctr">
                    <a:solidFill>
                      <a:srgbClr val="F2F3F5"/>
                    </a:solidFill>
                  </a:tcPr>
                </a:tc>
                <a:tc>
                  <a:txBody>
                    <a:bodyPr wrap="square"/>
                    <a:lstStyle/>
                    <a:p>
                      <a:pPr algn="ctr"/>
                      <a:r>
                        <a:rPr sz="1200" b="0" i="0">
                          <a:solidFill>
                            <a:srgbClr val="2B2B2B"/>
                          </a:solidFill>
                          <a:latin typeface="Arial"/>
                        </a:rPr>
                        <a:t>matriz de confusión, Precision, Recall, F1</a:t>
                      </a:r>
                    </a:p>
                  </a:txBody>
                  <a:tcPr marL="64008" marR="64008" marT="27432" marB="27432" anchor="ctr">
                    <a:solidFill>
                      <a:srgbClr val="F2F3F5"/>
                    </a:solidFill>
                  </a:tcPr>
                </a:tc>
              </a:tr>
              <a:tr h="420624">
                <a:tc>
                  <a:txBody>
                    <a:bodyPr wrap="square"/>
                    <a:lstStyle/>
                    <a:p>
                      <a:pPr algn="l"/>
                      <a:r>
                        <a:rPr sz="1200" b="1" i="0">
                          <a:solidFill>
                            <a:srgbClr val="2B2B2B"/>
                          </a:solidFill>
                          <a:latin typeface="Arial"/>
                        </a:rPr>
                        <a:t>Hoja del árbol</a:t>
                      </a:r>
                    </a:p>
                  </a:txBody>
                  <a:tcPr marL="64008" marR="64008" marT="27432" marB="27432" anchor="ctr">
                    <a:solidFill>
                      <a:srgbClr val="FFFFFF"/>
                    </a:solidFill>
                  </a:tcPr>
                </a:tc>
                <a:tc>
                  <a:txBody>
                    <a:bodyPr wrap="square"/>
                    <a:lstStyle/>
                    <a:p>
                      <a:pPr algn="ctr"/>
                      <a:r>
                        <a:rPr sz="1200" b="0" i="0">
                          <a:solidFill>
                            <a:srgbClr val="2B2B2B"/>
                          </a:solidFill>
                          <a:latin typeface="Arial"/>
                        </a:rPr>
                        <a:t>el promedio de y</a:t>
                      </a:r>
                    </a:p>
                  </a:txBody>
                  <a:tcPr marL="64008" marR="64008" marT="27432" marB="27432" anchor="ctr">
                    <a:solidFill>
                      <a:srgbClr val="FFFFFF"/>
                    </a:solidFill>
                  </a:tcPr>
                </a:tc>
                <a:tc>
                  <a:txBody>
                    <a:bodyPr wrap="square"/>
                    <a:lstStyle/>
                    <a:p>
                      <a:pPr algn="ctr"/>
                      <a:r>
                        <a:rPr sz="1200" b="0" i="0">
                          <a:solidFill>
                            <a:srgbClr val="2B2B2B"/>
                          </a:solidFill>
                          <a:latin typeface="Arial"/>
                        </a:rPr>
                        <a:t>la clase más frecuente</a:t>
                      </a:r>
                    </a:p>
                  </a:txBody>
                  <a:tcPr marL="64008" marR="64008" marT="27432" marB="27432" anchor="ctr">
                    <a:solidFill>
                      <a:srgbClr val="FFFFFF"/>
                    </a:solidFill>
                  </a:tcPr>
                </a:tc>
              </a:tr>
              <a:tr h="420624">
                <a:tc>
                  <a:txBody>
                    <a:bodyPr wrap="square"/>
                    <a:lstStyle/>
                    <a:p>
                      <a:pPr algn="l"/>
                      <a:r>
                        <a:rPr sz="1200" b="1" i="0">
                          <a:solidFill>
                            <a:srgbClr val="2B2B2B"/>
                          </a:solidFill>
                          <a:latin typeface="Arial"/>
                        </a:rPr>
                        <a:t>Criterio para cortar</a:t>
                      </a:r>
                    </a:p>
                  </a:txBody>
                  <a:tcPr marL="64008" marR="64008" marT="27432" marB="27432" anchor="ctr">
                    <a:solidFill>
                      <a:srgbClr val="F2F3F5"/>
                    </a:solidFill>
                  </a:tcPr>
                </a:tc>
                <a:tc>
                  <a:txBody>
                    <a:bodyPr wrap="square"/>
                    <a:lstStyle/>
                    <a:p>
                      <a:pPr algn="ctr"/>
                      <a:r>
                        <a:rPr sz="1200" b="0" i="0">
                          <a:solidFill>
                            <a:srgbClr val="2B2B2B"/>
                          </a:solidFill>
                          <a:latin typeface="Arial"/>
                        </a:rPr>
                        <a:t>reducir el SSE</a:t>
                      </a:r>
                    </a:p>
                  </a:txBody>
                  <a:tcPr marL="64008" marR="64008" marT="27432" marB="27432" anchor="ctr">
                    <a:solidFill>
                      <a:srgbClr val="F2F3F5"/>
                    </a:solidFill>
                  </a:tcPr>
                </a:tc>
                <a:tc>
                  <a:txBody>
                    <a:bodyPr wrap="square"/>
                    <a:lstStyle/>
                    <a:p>
                      <a:pPr algn="ctr"/>
                      <a:r>
                        <a:rPr sz="1200" b="0" i="0">
                          <a:solidFill>
                            <a:srgbClr val="2B2B2B"/>
                          </a:solidFill>
                          <a:latin typeface="Arial"/>
                        </a:rPr>
                        <a:t>reducir el índice Gini</a:t>
                      </a:r>
                    </a:p>
                  </a:txBody>
                  <a:tcPr marL="64008" marR="64008" marT="27432" marB="27432" anchor="ctr">
                    <a:solidFill>
                      <a:srgbClr val="F2F3F5"/>
                    </a:solidFill>
                  </a:tcPr>
                </a:tc>
              </a:tr>
              <a:tr h="420624">
                <a:tc>
                  <a:txBody>
                    <a:bodyPr wrap="square"/>
                    <a:lstStyle/>
                    <a:p>
                      <a:pPr algn="l"/>
                      <a:r>
                        <a:rPr sz="1200" b="1" i="0">
                          <a:solidFill>
                            <a:srgbClr val="2B2B2B"/>
                          </a:solidFill>
                          <a:latin typeface="Arial"/>
                        </a:rPr>
                        <a:t>Modelo de referencia</a:t>
                      </a:r>
                    </a:p>
                  </a:txBody>
                  <a:tcPr marL="64008" marR="64008" marT="27432" marB="27432" anchor="ctr">
                    <a:solidFill>
                      <a:srgbClr val="FFFFFF"/>
                    </a:solidFill>
                  </a:tcPr>
                </a:tc>
                <a:tc>
                  <a:txBody>
                    <a:bodyPr wrap="square"/>
                    <a:lstStyle/>
                    <a:p>
                      <a:pPr algn="ctr"/>
                      <a:r>
                        <a:rPr sz="1200" b="0" i="0">
                          <a:solidFill>
                            <a:srgbClr val="2B2B2B"/>
                          </a:solidFill>
                          <a:latin typeface="Arial"/>
                        </a:rPr>
                        <a:t>predecir el promedio</a:t>
                      </a:r>
                    </a:p>
                  </a:txBody>
                  <a:tcPr marL="64008" marR="64008" marT="27432" marB="27432" anchor="ctr">
                    <a:solidFill>
                      <a:srgbClr val="FFFFFF"/>
                    </a:solidFill>
                  </a:tcPr>
                </a:tc>
                <a:tc>
                  <a:txBody>
                    <a:bodyPr wrap="square"/>
                    <a:lstStyle/>
                    <a:p>
                      <a:pPr algn="ctr"/>
                      <a:r>
                        <a:rPr sz="1200" b="0" i="0">
                          <a:solidFill>
                            <a:srgbClr val="2B2B2B"/>
                          </a:solidFill>
                          <a:latin typeface="Arial"/>
                        </a:rPr>
                        <a:t>predecir la clase más frecuente</a:t>
                      </a:r>
                    </a:p>
                  </a:txBody>
                  <a:tcPr marL="64008" marR="64008" marT="27432" marB="27432" anchor="ctr">
                    <a:solidFill>
                      <a:srgbClr val="FFFFFF"/>
                    </a:solidFill>
                  </a:tcPr>
                </a:tc>
              </a:tr>
            </a:tbl>
          </a:graphicData>
        </a:graphic>
      </p:graphicFrame>
      <p:sp>
        <p:nvSpPr>
          <p:cNvPr id="4" name="Rounded Rectangle 3"/>
          <p:cNvSpPr/>
          <p:nvPr/>
        </p:nvSpPr>
        <p:spPr>
          <a:xfrm>
            <a:off x="731520" y="5486400"/>
            <a:ext cx="7772400" cy="6400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Pista: </a:t>
            </a:r>
            <a:r>
              <a:rPr sz="1200" b="0" i="0">
                <a:solidFill>
                  <a:srgbClr val="2B2B2B"/>
                </a:solidFill>
                <a:latin typeface="Arial"/>
              </a:rPr>
              <a:t>si la respuesta se puede promediar con sentido (USD, %), es regresión; si es una etiqueta, es clasificación.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Una clase no es una probabilidad</a:t>
            </a:r>
          </a:p>
        </p:txBody>
      </p:sp>
      <p:sp>
        <p:nvSpPr>
          <p:cNvPr id="3" name="Rounded Rectangle 2"/>
          <p:cNvSpPr/>
          <p:nvPr/>
        </p:nvSpPr>
        <p:spPr>
          <a:xfrm>
            <a:off x="731520" y="2194560"/>
            <a:ext cx="178308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Datos</a:t>
            </a:r>
          </a:p>
          <a:p>
            <a:pPr algn="ctr">
              <a:spcAft>
                <a:spcPts val="300"/>
              </a:spcAft>
            </a:pPr>
            <a:r>
              <a:rPr sz="1150" b="0" i="0">
                <a:solidFill>
                  <a:srgbClr val="2B2B2B"/>
                </a:solidFill>
                <a:latin typeface="Arial"/>
              </a:rPr>
              <a:t>tipo, monto, hora…</a:t>
            </a:r>
          </a:p>
        </p:txBody>
      </p:sp>
      <p:sp>
        <p:nvSpPr>
          <p:cNvPr id="4" name="Right Arrow 3"/>
          <p:cNvSpPr/>
          <p:nvPr/>
        </p:nvSpPr>
        <p:spPr>
          <a:xfrm>
            <a:off x="2532888" y="2788920"/>
            <a:ext cx="201168"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2743200" y="2194560"/>
            <a:ext cx="178308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3D5A99"/>
                </a:solidFill>
                <a:latin typeface="Arial"/>
              </a:rPr>
              <a:t>Score</a:t>
            </a:r>
          </a:p>
          <a:p>
            <a:pPr algn="ctr">
              <a:spcAft>
                <a:spcPts val="300"/>
              </a:spcAft>
            </a:pPr>
            <a:r>
              <a:rPr sz="1150" b="0" i="0">
                <a:solidFill>
                  <a:srgbClr val="2B2B2B"/>
                </a:solidFill>
                <a:latin typeface="Arial"/>
              </a:rPr>
              <a:t>una señal numérica, p. ej. 0,62</a:t>
            </a:r>
          </a:p>
        </p:txBody>
      </p:sp>
      <p:sp>
        <p:nvSpPr>
          <p:cNvPr id="6" name="Right Arrow 5"/>
          <p:cNvSpPr/>
          <p:nvPr/>
        </p:nvSpPr>
        <p:spPr>
          <a:xfrm>
            <a:off x="4544568" y="2788920"/>
            <a:ext cx="201168"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ounded Rectangle 6"/>
          <p:cNvSpPr/>
          <p:nvPr/>
        </p:nvSpPr>
        <p:spPr>
          <a:xfrm>
            <a:off x="4754880" y="2194560"/>
            <a:ext cx="178308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D7263D"/>
                </a:solidFill>
                <a:latin typeface="Arial"/>
              </a:rPr>
              <a:t>Umbral</a:t>
            </a:r>
          </a:p>
          <a:p>
            <a:pPr algn="ctr">
              <a:spcAft>
                <a:spcPts val="300"/>
              </a:spcAft>
            </a:pPr>
            <a:r>
              <a:rPr sz="1150" b="0" i="0">
                <a:solidFill>
                  <a:srgbClr val="2B2B2B"/>
                </a:solidFill>
                <a:latin typeface="Arial"/>
              </a:rPr>
              <a:t>¿0,62 ≥ 0,50?</a:t>
            </a:r>
          </a:p>
        </p:txBody>
      </p:sp>
      <p:sp>
        <p:nvSpPr>
          <p:cNvPr id="8" name="Right Arrow 7"/>
          <p:cNvSpPr/>
          <p:nvPr/>
        </p:nvSpPr>
        <p:spPr>
          <a:xfrm>
            <a:off x="6556248" y="2788920"/>
            <a:ext cx="201168"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Rounded Rectangle 8"/>
          <p:cNvSpPr/>
          <p:nvPr/>
        </p:nvSpPr>
        <p:spPr>
          <a:xfrm>
            <a:off x="6766560" y="2194560"/>
            <a:ext cx="178308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A9D8F"/>
                </a:solidFill>
                <a:latin typeface="Arial"/>
              </a:rPr>
              <a:t>Clase</a:t>
            </a:r>
          </a:p>
          <a:p>
            <a:pPr algn="ctr">
              <a:spcAft>
                <a:spcPts val="300"/>
              </a:spcAft>
            </a:pPr>
            <a:r>
              <a:rPr sz="1150" b="0" i="0">
                <a:solidFill>
                  <a:srgbClr val="2B2B2B"/>
                </a:solidFill>
                <a:latin typeface="Arial"/>
              </a:rPr>
              <a:t>fraude</a:t>
            </a:r>
          </a:p>
        </p:txBody>
      </p:sp>
      <p:sp>
        <p:nvSpPr>
          <p:cNvPr id="10" name="Rounded Rectangle 9"/>
          <p:cNvSpPr/>
          <p:nvPr/>
        </p:nvSpPr>
        <p:spPr>
          <a:xfrm>
            <a:off x="731520" y="3931920"/>
            <a:ext cx="3794760" cy="16002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868680" y="40416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Umbral más bajo</a:t>
            </a:r>
          </a:p>
        </p:txBody>
      </p:sp>
      <p:sp>
        <p:nvSpPr>
          <p:cNvPr id="12" name="TextBox 11"/>
          <p:cNvSpPr txBox="1"/>
          <p:nvPr/>
        </p:nvSpPr>
        <p:spPr>
          <a:xfrm>
            <a:off x="868680" y="4590288"/>
            <a:ext cx="3520440" cy="8686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Más transacciones se marcan como fraude: encontramos más, pero con más falsas alarmas.</a:t>
            </a:r>
          </a:p>
        </p:txBody>
      </p:sp>
      <p:sp>
        <p:nvSpPr>
          <p:cNvPr id="13" name="Rounded Rectangle 12"/>
          <p:cNvSpPr/>
          <p:nvPr/>
        </p:nvSpPr>
        <p:spPr>
          <a:xfrm>
            <a:off x="4709160" y="3931920"/>
            <a:ext cx="3794760" cy="16002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4846320" y="40416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Umbral más alto</a:t>
            </a:r>
          </a:p>
        </p:txBody>
      </p:sp>
      <p:sp>
        <p:nvSpPr>
          <p:cNvPr id="15" name="TextBox 14"/>
          <p:cNvSpPr txBox="1"/>
          <p:nvPr/>
        </p:nvSpPr>
        <p:spPr>
          <a:xfrm>
            <a:off x="4846320" y="4590288"/>
            <a:ext cx="3520440" cy="8686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Menos alertas y más seguras, pero se escapan más positivos.</a:t>
            </a:r>
          </a:p>
        </p:txBody>
      </p:sp>
      <p:sp>
        <p:nvSpPr>
          <p:cNvPr id="16" name="Rounded Rectangle 15"/>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Ojo: </a:t>
            </a:r>
            <a:r>
              <a:rPr sz="1200" b="0" i="0">
                <a:solidFill>
                  <a:srgbClr val="2B2B2B"/>
                </a:solidFill>
                <a:latin typeface="Arial"/>
              </a:rPr>
              <a:t>un score alto no prueba que la transacción sea fraude; es una regla aprendida de datos históricos.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Dos maneras de equivocarse</a:t>
            </a:r>
          </a:p>
        </p:txBody>
      </p:sp>
      <p:sp>
        <p:nvSpPr>
          <p:cNvPr id="3" name="Rounded Rectangle 2"/>
          <p:cNvSpPr/>
          <p:nvPr/>
        </p:nvSpPr>
        <p:spPr>
          <a:xfrm>
            <a:off x="731520" y="2011680"/>
            <a:ext cx="3794760" cy="21031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12140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D7263D"/>
                </a:solidFill>
                <a:latin typeface="Arial"/>
              </a:rPr>
              <a:t>Falso positivo (FP)</a:t>
            </a:r>
          </a:p>
        </p:txBody>
      </p:sp>
      <p:sp>
        <p:nvSpPr>
          <p:cNvPr id="5" name="TextBox 4"/>
          <p:cNvSpPr txBox="1"/>
          <p:nvPr/>
        </p:nvSpPr>
        <p:spPr>
          <a:xfrm>
            <a:off x="868680" y="2670048"/>
            <a:ext cx="3520440" cy="1371599"/>
          </a:xfrm>
          <a:prstGeom prst="rect">
            <a:avLst/>
          </a:prstGeom>
          <a:noFill/>
        </p:spPr>
        <p:txBody>
          <a:bodyPr wrap="square" anchor="t" lIns="36576" rIns="36576" tIns="36576" bIns="36576">
            <a:spAutoFit/>
          </a:bodyPr>
          <a:lstStyle/>
          <a:p>
            <a:pPr algn="l">
              <a:spcAft>
                <a:spcPts val="400"/>
              </a:spcAft>
            </a:pPr>
            <a:r>
              <a:rPr sz="1300" b="0" i="0">
                <a:solidFill>
                  <a:srgbClr val="2B2B2B"/>
                </a:solidFill>
                <a:latin typeface="Arial"/>
              </a:rPr>
              <a:t>Dijo positivo, era negativo.</a:t>
            </a:r>
          </a:p>
          <a:p>
            <a:pPr algn="l">
              <a:spcAft>
                <a:spcPts val="400"/>
              </a:spcAft>
            </a:pPr>
            <a:r>
              <a:rPr sz="1250" b="0" i="0">
                <a:solidFill>
                  <a:srgbClr val="2B2B2B"/>
                </a:solidFill>
                <a:latin typeface="Arial"/>
              </a:rPr>
              <a:t>Pagos: bloqueamos una transacción legítima.</a:t>
            </a:r>
          </a:p>
          <a:p>
            <a:pPr algn="l">
              <a:spcAft>
                <a:spcPts val="400"/>
              </a:spcAft>
            </a:pPr>
            <a:r>
              <a:rPr sz="1250" b="0" i="0">
                <a:solidFill>
                  <a:srgbClr val="2B2B2B"/>
                </a:solidFill>
                <a:latin typeface="Arial"/>
              </a:rPr>
              <a:t>Crédito: negamos un préstamo que sí se pagaba.</a:t>
            </a:r>
          </a:p>
        </p:txBody>
      </p:sp>
      <p:sp>
        <p:nvSpPr>
          <p:cNvPr id="6" name="Rounded Rectangle 5"/>
          <p:cNvSpPr/>
          <p:nvPr/>
        </p:nvSpPr>
        <p:spPr>
          <a:xfrm>
            <a:off x="4709160" y="2011680"/>
            <a:ext cx="3794760" cy="21031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46320" y="2121408"/>
            <a:ext cx="3566160" cy="502920"/>
          </a:xfrm>
          <a:prstGeom prst="rect">
            <a:avLst/>
          </a:prstGeom>
          <a:noFill/>
        </p:spPr>
        <p:txBody>
          <a:bodyPr wrap="square" anchor="ctr" lIns="36576" rIns="36576" tIns="36576" bIns="36576">
            <a:spAutoFit/>
          </a:bodyPr>
          <a:lstStyle/>
          <a:p>
            <a:pPr algn="l">
              <a:spcAft>
                <a:spcPts val="400"/>
              </a:spcAft>
            </a:pPr>
            <a:r>
              <a:rPr sz="1500" b="1" i="0">
                <a:solidFill>
                  <a:srgbClr val="D7263D"/>
                </a:solidFill>
                <a:latin typeface="Arial"/>
              </a:rPr>
              <a:t>Falso negativo (FN)</a:t>
            </a:r>
          </a:p>
        </p:txBody>
      </p:sp>
      <p:sp>
        <p:nvSpPr>
          <p:cNvPr id="8" name="TextBox 7"/>
          <p:cNvSpPr txBox="1"/>
          <p:nvPr/>
        </p:nvSpPr>
        <p:spPr>
          <a:xfrm>
            <a:off x="4846320" y="2670048"/>
            <a:ext cx="3520440" cy="1371599"/>
          </a:xfrm>
          <a:prstGeom prst="rect">
            <a:avLst/>
          </a:prstGeom>
          <a:noFill/>
        </p:spPr>
        <p:txBody>
          <a:bodyPr wrap="square" anchor="t" lIns="36576" rIns="36576" tIns="36576" bIns="36576">
            <a:spAutoFit/>
          </a:bodyPr>
          <a:lstStyle/>
          <a:p>
            <a:pPr algn="l">
              <a:spcAft>
                <a:spcPts val="400"/>
              </a:spcAft>
            </a:pPr>
            <a:r>
              <a:rPr sz="1300" b="0" i="0">
                <a:solidFill>
                  <a:srgbClr val="2B2B2B"/>
                </a:solidFill>
                <a:latin typeface="Arial"/>
              </a:rPr>
              <a:t>Dijo negativo, era positivo.</a:t>
            </a:r>
          </a:p>
          <a:p>
            <a:pPr algn="l">
              <a:spcAft>
                <a:spcPts val="400"/>
              </a:spcAft>
            </a:pPr>
            <a:r>
              <a:rPr sz="1250" b="0" i="0">
                <a:solidFill>
                  <a:srgbClr val="2B2B2B"/>
                </a:solidFill>
                <a:latin typeface="Arial"/>
              </a:rPr>
              <a:t>Pagos: dejamos pasar un fraude.</a:t>
            </a:r>
          </a:p>
          <a:p>
            <a:pPr algn="l">
              <a:spcAft>
                <a:spcPts val="400"/>
              </a:spcAft>
            </a:pPr>
            <a:r>
              <a:rPr sz="1250" b="0" i="0">
                <a:solidFill>
                  <a:srgbClr val="2B2B2B"/>
                </a:solidFill>
                <a:latin typeface="Arial"/>
              </a:rPr>
              <a:t>Crédito: aprobamos un préstamo que no se pagó.</a:t>
            </a:r>
          </a:p>
        </p:txBody>
      </p:sp>
      <p:sp>
        <p:nvSpPr>
          <p:cNvPr id="9" name="Rounded Rectangle 8"/>
          <p:cNvSpPr/>
          <p:nvPr/>
        </p:nvSpPr>
        <p:spPr>
          <a:xfrm>
            <a:off x="731520" y="4343400"/>
            <a:ext cx="7772400" cy="10972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400" b="1" i="0">
                <a:solidFill>
                  <a:srgbClr val="242852"/>
                </a:solidFill>
                <a:latin typeface="Arial"/>
              </a:rPr>
              <a:t>Pregunta antes de modelar: </a:t>
            </a:r>
            <a:r>
              <a:rPr sz="1300" b="0" i="0">
                <a:solidFill>
                  <a:srgbClr val="2B2B2B"/>
                </a:solidFill>
                <a:latin typeface="Arial"/>
              </a:rPr>
              <a:t>si revisar una alerta cuesta poco y un fraude cuesta mucho, aceptamos más FP para reducir FN.</a:t>
            </a:r>
          </a:p>
        </p:txBody>
      </p:sp>
      <p:sp>
        <p:nvSpPr>
          <p:cNvPr id="10" name="Rounded Rectangle 9"/>
          <p:cNvSpPr/>
          <p:nvPr/>
        </p:nvSpPr>
        <p:spPr>
          <a:xfrm>
            <a:off x="731520" y="56692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a:t>
            </a:r>
            <a:r>
              <a:rPr sz="1200" b="0" i="0">
                <a:solidFill>
                  <a:srgbClr val="2B2B2B"/>
                </a:solidFill>
                <a:latin typeface="Arial"/>
              </a:rPr>
              <a:t>las métricas describen los errores; el costo de cada error lo pone el analista.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Origen</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Columnas</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Fugas</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Desbalance</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2</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Conocer los datos: PaySim</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Antes de modelar: qué significa cada columna, cuáles no se pueden usar y por qué el fraude es tan raro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PaySim: de dónde vienen los datos</a:t>
            </a:r>
          </a:p>
        </p:txBody>
      </p:sp>
      <p:sp>
        <p:nvSpPr>
          <p:cNvPr id="3" name="Rounded Rectangle 2"/>
          <p:cNvSpPr/>
          <p:nvPr/>
        </p:nvSpPr>
        <p:spPr>
          <a:xfrm>
            <a:off x="731520" y="1965960"/>
            <a:ext cx="5029200" cy="16002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480060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¿Qué es?</a:t>
            </a:r>
          </a:p>
        </p:txBody>
      </p:sp>
      <p:sp>
        <p:nvSpPr>
          <p:cNvPr id="5" name="TextBox 4"/>
          <p:cNvSpPr txBox="1"/>
          <p:nvPr/>
        </p:nvSpPr>
        <p:spPr>
          <a:xfrm>
            <a:off x="868680" y="2624328"/>
            <a:ext cx="4754880" cy="8686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Transacciones de dinero móvil (una billetera en el celular) generadas por un simulador a partir de un mes de datos reales. Los datos financieros reales son privados; la simulación permite estudiar el fraude.</a:t>
            </a:r>
          </a:p>
        </p:txBody>
      </p:sp>
      <p:sp>
        <p:nvSpPr>
          <p:cNvPr id="6" name="Rounded Rectangle 5"/>
          <p:cNvSpPr/>
          <p:nvPr/>
        </p:nvSpPr>
        <p:spPr>
          <a:xfrm>
            <a:off x="5943600" y="1965960"/>
            <a:ext cx="2560320" cy="749808"/>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Transacciones (30 días)</a:t>
            </a:r>
          </a:p>
          <a:p>
            <a:pPr algn="ctr">
              <a:spcAft>
                <a:spcPts val="300"/>
              </a:spcAft>
            </a:pPr>
            <a:r>
              <a:rPr sz="1700" b="1" i="0">
                <a:solidFill>
                  <a:srgbClr val="FFFFFF"/>
                </a:solidFill>
                <a:latin typeface="Arial"/>
              </a:rPr>
              <a:t>6 362 620</a:t>
            </a:r>
          </a:p>
        </p:txBody>
      </p:sp>
      <p:sp>
        <p:nvSpPr>
          <p:cNvPr id="7" name="Rounded Rectangle 6"/>
          <p:cNvSpPr/>
          <p:nvPr/>
        </p:nvSpPr>
        <p:spPr>
          <a:xfrm>
            <a:off x="5943600" y="2816352"/>
            <a:ext cx="2560320" cy="749808"/>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Fraudes</a:t>
            </a:r>
          </a:p>
          <a:p>
            <a:pPr algn="ctr">
              <a:spcAft>
                <a:spcPts val="300"/>
              </a:spcAft>
            </a:pPr>
            <a:r>
              <a:rPr sz="1700" b="1" i="0">
                <a:solidFill>
                  <a:srgbClr val="D7263D"/>
                </a:solidFill>
                <a:latin typeface="Arial"/>
              </a:rPr>
              <a:t>8 213 · 0,13 %</a:t>
            </a:r>
          </a:p>
        </p:txBody>
      </p:sp>
      <p:sp>
        <p:nvSpPr>
          <p:cNvPr id="8" name="TextBox 7"/>
          <p:cNvSpPr txBox="1"/>
          <p:nvPr/>
        </p:nvSpPr>
        <p:spPr>
          <a:xfrm>
            <a:off x="731520" y="3749039"/>
            <a:ext cx="7772400" cy="320040"/>
          </a:xfrm>
          <a:prstGeom prst="rect">
            <a:avLst/>
          </a:prstGeom>
          <a:noFill/>
        </p:spPr>
        <p:txBody>
          <a:bodyPr wrap="square" anchor="t" lIns="36576" rIns="36576" tIns="36576" bIns="36576">
            <a:spAutoFit/>
          </a:bodyPr>
          <a:lstStyle/>
          <a:p>
            <a:pPr algn="l">
              <a:spcAft>
                <a:spcPts val="400"/>
              </a:spcAft>
            </a:pPr>
            <a:r>
              <a:rPr sz="1300" b="1" i="0">
                <a:solidFill>
                  <a:srgbClr val="242852"/>
                </a:solidFill>
                <a:latin typeface="Arial"/>
              </a:rPr>
              <a:t>Cómo ocurre un fraude en la simulación</a:t>
            </a:r>
          </a:p>
        </p:txBody>
      </p:sp>
      <p:sp>
        <p:nvSpPr>
          <p:cNvPr id="9" name="Rounded Rectangle 8"/>
          <p:cNvSpPr/>
          <p:nvPr/>
        </p:nvSpPr>
        <p:spPr>
          <a:xfrm>
            <a:off x="731520" y="4114800"/>
            <a:ext cx="2377440" cy="10515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242852"/>
                </a:solidFill>
                <a:latin typeface="Arial"/>
              </a:rPr>
              <a:t>1. Cuenta de la víctima</a:t>
            </a:r>
          </a:p>
          <a:p>
            <a:pPr algn="ctr">
              <a:spcAft>
                <a:spcPts val="300"/>
              </a:spcAft>
            </a:pPr>
            <a:r>
              <a:rPr sz="1150" b="0" i="0">
                <a:solidFill>
                  <a:srgbClr val="2B2B2B"/>
                </a:solidFill>
                <a:latin typeface="Arial"/>
              </a:rPr>
              <a:t>el defraudador toma el control</a:t>
            </a:r>
          </a:p>
        </p:txBody>
      </p:sp>
      <p:sp>
        <p:nvSpPr>
          <p:cNvPr id="10" name="Right Arrow 9"/>
          <p:cNvSpPr/>
          <p:nvPr/>
        </p:nvSpPr>
        <p:spPr>
          <a:xfrm>
            <a:off x="3154680" y="4498848"/>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ounded Rectangle 10"/>
          <p:cNvSpPr/>
          <p:nvPr/>
        </p:nvSpPr>
        <p:spPr>
          <a:xfrm>
            <a:off x="3429000" y="4114800"/>
            <a:ext cx="2377440"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D7263D"/>
                </a:solidFill>
                <a:latin typeface="Arial"/>
              </a:rPr>
              <a:t>2. TRANSFER</a:t>
            </a:r>
          </a:p>
          <a:p>
            <a:pPr algn="ctr">
              <a:spcAft>
                <a:spcPts val="300"/>
              </a:spcAft>
            </a:pPr>
            <a:r>
              <a:rPr sz="1150" b="0" i="0">
                <a:solidFill>
                  <a:srgbClr val="2B2B2B"/>
                </a:solidFill>
                <a:latin typeface="Arial"/>
              </a:rPr>
              <a:t>envía todo el saldo a otra cuenta</a:t>
            </a:r>
          </a:p>
        </p:txBody>
      </p:sp>
      <p:sp>
        <p:nvSpPr>
          <p:cNvPr id="12" name="Right Arrow 11"/>
          <p:cNvSpPr/>
          <p:nvPr/>
        </p:nvSpPr>
        <p:spPr>
          <a:xfrm>
            <a:off x="5852160" y="4498848"/>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ounded Rectangle 12"/>
          <p:cNvSpPr/>
          <p:nvPr/>
        </p:nvSpPr>
        <p:spPr>
          <a:xfrm>
            <a:off x="6126480" y="4114800"/>
            <a:ext cx="2377440"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D7263D"/>
                </a:solidFill>
                <a:latin typeface="Arial"/>
              </a:rPr>
              <a:t>3. CASH_OUT</a:t>
            </a:r>
          </a:p>
          <a:p>
            <a:pPr algn="ctr">
              <a:spcAft>
                <a:spcPts val="300"/>
              </a:spcAft>
            </a:pPr>
            <a:r>
              <a:rPr sz="1150" b="0" i="0">
                <a:solidFill>
                  <a:srgbClr val="2B2B2B"/>
                </a:solidFill>
                <a:latin typeface="Arial"/>
              </a:rPr>
              <a:t>retira el dinero en efectivo</a:t>
            </a:r>
          </a:p>
        </p:txBody>
      </p:sp>
      <p:sp>
        <p:nvSpPr>
          <p:cNvPr id="14" name="Rounded Rectangle 13"/>
          <p:cNvSpPr/>
          <p:nvPr/>
        </p:nvSpPr>
        <p:spPr>
          <a:xfrm>
            <a:off x="731520" y="54406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Dataset sintético: </a:t>
            </a:r>
            <a:r>
              <a:rPr sz="1200" b="0" i="0">
                <a:solidFill>
                  <a:srgbClr val="2B2B2B"/>
                </a:solidFill>
                <a:latin typeface="Arial"/>
              </a:rPr>
              <a:t>sirve para aprender; no describe fraudes reales ni clientes del Ecuador.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Los cinco tipos de transacción (type)</a:t>
            </a:r>
          </a:p>
        </p:txBody>
      </p:sp>
      <p:sp>
        <p:nvSpPr>
          <p:cNvPr id="3" name="Rounded Rectangle 2"/>
          <p:cNvSpPr/>
          <p:nvPr/>
        </p:nvSpPr>
        <p:spPr>
          <a:xfrm>
            <a:off x="731520" y="1965960"/>
            <a:ext cx="1463040" cy="2514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04672" y="2029968"/>
            <a:ext cx="1325880" cy="365760"/>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CASH_IN</a:t>
            </a:r>
          </a:p>
        </p:txBody>
      </p:sp>
      <p:sp>
        <p:nvSpPr>
          <p:cNvPr id="5" name="TextBox 4"/>
          <p:cNvSpPr txBox="1"/>
          <p:nvPr/>
        </p:nvSpPr>
        <p:spPr>
          <a:xfrm>
            <a:off x="804672" y="2423160"/>
            <a:ext cx="1325880" cy="1097280"/>
          </a:xfrm>
          <a:prstGeom prst="rect">
            <a:avLst/>
          </a:prstGeom>
          <a:noFill/>
        </p:spPr>
        <p:txBody>
          <a:bodyPr wrap="square" anchor="t" lIns="36576" rIns="36576" tIns="36576" bIns="36576">
            <a:spAutoFit/>
          </a:bodyPr>
          <a:lstStyle/>
          <a:p>
            <a:pPr algn="ctr">
              <a:spcAft>
                <a:spcPts val="400"/>
              </a:spcAft>
            </a:pPr>
            <a:r>
              <a:rPr sz="1100" b="0" i="0">
                <a:solidFill>
                  <a:srgbClr val="2B2B2B"/>
                </a:solidFill>
                <a:latin typeface="Arial"/>
              </a:rPr>
              <a:t>Depositar efectivo: cargar saldo a la billetera</a:t>
            </a:r>
          </a:p>
        </p:txBody>
      </p:sp>
      <p:sp>
        <p:nvSpPr>
          <p:cNvPr id="6" name="TextBox 5"/>
          <p:cNvSpPr txBox="1"/>
          <p:nvPr/>
        </p:nvSpPr>
        <p:spPr>
          <a:xfrm>
            <a:off x="804672" y="3520440"/>
            <a:ext cx="1325880" cy="914400"/>
          </a:xfrm>
          <a:prstGeom prst="rect">
            <a:avLst/>
          </a:prstGeom>
          <a:noFill/>
        </p:spPr>
        <p:txBody>
          <a:bodyPr wrap="square" anchor="t" lIns="36576" rIns="36576" tIns="36576" bIns="36576">
            <a:spAutoFit/>
          </a:bodyPr>
          <a:lstStyle/>
          <a:p>
            <a:pPr algn="ctr">
              <a:spcAft>
                <a:spcPts val="400"/>
              </a:spcAft>
            </a:pPr>
            <a:r>
              <a:rPr sz="1050" b="0" i="0">
                <a:solidFill>
                  <a:srgbClr val="5F6368"/>
                </a:solidFill>
                <a:latin typeface="Arial"/>
              </a:rPr>
              <a:t>normales: 20 051</a:t>
            </a:r>
          </a:p>
          <a:p>
            <a:pPr algn="ctr">
              <a:spcAft>
                <a:spcPts val="400"/>
              </a:spcAft>
            </a:pPr>
            <a:r>
              <a:rPr sz="1150" b="1" i="0">
                <a:solidFill>
                  <a:srgbClr val="5F6368"/>
                </a:solidFill>
                <a:latin typeface="Arial"/>
              </a:rPr>
              <a:t>fraudes: 0</a:t>
            </a:r>
          </a:p>
        </p:txBody>
      </p:sp>
      <p:sp>
        <p:nvSpPr>
          <p:cNvPr id="7" name="Rounded Rectangle 6"/>
          <p:cNvSpPr/>
          <p:nvPr/>
        </p:nvSpPr>
        <p:spPr>
          <a:xfrm>
            <a:off x="2304288" y="1965960"/>
            <a:ext cx="1463040" cy="2514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2377440" y="2029968"/>
            <a:ext cx="1325880" cy="365760"/>
          </a:xfrm>
          <a:prstGeom prst="rect">
            <a:avLst/>
          </a:prstGeom>
          <a:noFill/>
        </p:spPr>
        <p:txBody>
          <a:bodyPr wrap="square" anchor="t" lIns="36576" rIns="36576" tIns="36576" bIns="36576">
            <a:spAutoFit/>
          </a:bodyPr>
          <a:lstStyle/>
          <a:p>
            <a:pPr algn="ctr">
              <a:spcAft>
                <a:spcPts val="400"/>
              </a:spcAft>
            </a:pPr>
            <a:r>
              <a:rPr sz="1250" b="1" i="0">
                <a:solidFill>
                  <a:srgbClr val="D7263D"/>
                </a:solidFill>
                <a:latin typeface="Arial"/>
              </a:rPr>
              <a:t>CASH_OUT</a:t>
            </a:r>
          </a:p>
        </p:txBody>
      </p:sp>
      <p:sp>
        <p:nvSpPr>
          <p:cNvPr id="9" name="TextBox 8"/>
          <p:cNvSpPr txBox="1"/>
          <p:nvPr/>
        </p:nvSpPr>
        <p:spPr>
          <a:xfrm>
            <a:off x="2377440" y="2423160"/>
            <a:ext cx="1325880" cy="1097280"/>
          </a:xfrm>
          <a:prstGeom prst="rect">
            <a:avLst/>
          </a:prstGeom>
          <a:noFill/>
        </p:spPr>
        <p:txBody>
          <a:bodyPr wrap="square" anchor="t" lIns="36576" rIns="36576" tIns="36576" bIns="36576">
            <a:spAutoFit/>
          </a:bodyPr>
          <a:lstStyle/>
          <a:p>
            <a:pPr algn="ctr">
              <a:spcAft>
                <a:spcPts val="400"/>
              </a:spcAft>
            </a:pPr>
            <a:r>
              <a:rPr sz="1100" b="0" i="0">
                <a:solidFill>
                  <a:srgbClr val="2B2B2B"/>
                </a:solidFill>
                <a:latin typeface="Arial"/>
              </a:rPr>
              <a:t>Retirar efectivo de la billetera</a:t>
            </a:r>
          </a:p>
        </p:txBody>
      </p:sp>
      <p:sp>
        <p:nvSpPr>
          <p:cNvPr id="10" name="TextBox 9"/>
          <p:cNvSpPr txBox="1"/>
          <p:nvPr/>
        </p:nvSpPr>
        <p:spPr>
          <a:xfrm>
            <a:off x="2377440" y="3520440"/>
            <a:ext cx="1325880" cy="914400"/>
          </a:xfrm>
          <a:prstGeom prst="rect">
            <a:avLst/>
          </a:prstGeom>
          <a:noFill/>
        </p:spPr>
        <p:txBody>
          <a:bodyPr wrap="square" anchor="t" lIns="36576" rIns="36576" tIns="36576" bIns="36576">
            <a:spAutoFit/>
          </a:bodyPr>
          <a:lstStyle/>
          <a:p>
            <a:pPr algn="ctr">
              <a:spcAft>
                <a:spcPts val="400"/>
              </a:spcAft>
            </a:pPr>
            <a:r>
              <a:rPr sz="1050" b="0" i="0">
                <a:solidFill>
                  <a:srgbClr val="5F6368"/>
                </a:solidFill>
                <a:latin typeface="Arial"/>
              </a:rPr>
              <a:t>normales: 32 471</a:t>
            </a:r>
          </a:p>
          <a:p>
            <a:pPr algn="ctr">
              <a:spcAft>
                <a:spcPts val="400"/>
              </a:spcAft>
            </a:pPr>
            <a:r>
              <a:rPr sz="1150" b="1" i="0">
                <a:solidFill>
                  <a:srgbClr val="D7263D"/>
                </a:solidFill>
                <a:latin typeface="Arial"/>
              </a:rPr>
              <a:t>fraudes: 4 116</a:t>
            </a:r>
          </a:p>
        </p:txBody>
      </p:sp>
      <p:sp>
        <p:nvSpPr>
          <p:cNvPr id="11" name="Rounded Rectangle 10"/>
          <p:cNvSpPr/>
          <p:nvPr/>
        </p:nvSpPr>
        <p:spPr>
          <a:xfrm>
            <a:off x="3877056" y="1965960"/>
            <a:ext cx="1463040" cy="2514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3950208" y="2029968"/>
            <a:ext cx="1325880" cy="365760"/>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DEBIT</a:t>
            </a:r>
          </a:p>
        </p:txBody>
      </p:sp>
      <p:sp>
        <p:nvSpPr>
          <p:cNvPr id="13" name="TextBox 12"/>
          <p:cNvSpPr txBox="1"/>
          <p:nvPr/>
        </p:nvSpPr>
        <p:spPr>
          <a:xfrm>
            <a:off x="3950208" y="2423160"/>
            <a:ext cx="1325880" cy="1097280"/>
          </a:xfrm>
          <a:prstGeom prst="rect">
            <a:avLst/>
          </a:prstGeom>
          <a:noFill/>
        </p:spPr>
        <p:txBody>
          <a:bodyPr wrap="square" anchor="t" lIns="36576" rIns="36576" tIns="36576" bIns="36576">
            <a:spAutoFit/>
          </a:bodyPr>
          <a:lstStyle/>
          <a:p>
            <a:pPr algn="ctr">
              <a:spcAft>
                <a:spcPts val="400"/>
              </a:spcAft>
            </a:pPr>
            <a:r>
              <a:rPr sz="1100" b="0" i="0">
                <a:solidFill>
                  <a:srgbClr val="2B2B2B"/>
                </a:solidFill>
                <a:latin typeface="Arial"/>
              </a:rPr>
              <a:t>Pasar dinero de la billetera a una cuenta bancaria</a:t>
            </a:r>
          </a:p>
        </p:txBody>
      </p:sp>
      <p:sp>
        <p:nvSpPr>
          <p:cNvPr id="14" name="TextBox 13"/>
          <p:cNvSpPr txBox="1"/>
          <p:nvPr/>
        </p:nvSpPr>
        <p:spPr>
          <a:xfrm>
            <a:off x="3950208" y="3520440"/>
            <a:ext cx="1325880" cy="914400"/>
          </a:xfrm>
          <a:prstGeom prst="rect">
            <a:avLst/>
          </a:prstGeom>
          <a:noFill/>
        </p:spPr>
        <p:txBody>
          <a:bodyPr wrap="square" anchor="t" lIns="36576" rIns="36576" tIns="36576" bIns="36576">
            <a:spAutoFit/>
          </a:bodyPr>
          <a:lstStyle/>
          <a:p>
            <a:pPr algn="ctr">
              <a:spcAft>
                <a:spcPts val="400"/>
              </a:spcAft>
            </a:pPr>
            <a:r>
              <a:rPr sz="1050" b="0" i="0">
                <a:solidFill>
                  <a:srgbClr val="5F6368"/>
                </a:solidFill>
                <a:latin typeface="Arial"/>
              </a:rPr>
              <a:t>normales: 593</a:t>
            </a:r>
          </a:p>
          <a:p>
            <a:pPr algn="ctr">
              <a:spcAft>
                <a:spcPts val="400"/>
              </a:spcAft>
            </a:pPr>
            <a:r>
              <a:rPr sz="1150" b="1" i="0">
                <a:solidFill>
                  <a:srgbClr val="5F6368"/>
                </a:solidFill>
                <a:latin typeface="Arial"/>
              </a:rPr>
              <a:t>fraudes: 0</a:t>
            </a:r>
          </a:p>
        </p:txBody>
      </p:sp>
      <p:sp>
        <p:nvSpPr>
          <p:cNvPr id="15" name="Rounded Rectangle 14"/>
          <p:cNvSpPr/>
          <p:nvPr/>
        </p:nvSpPr>
        <p:spPr>
          <a:xfrm>
            <a:off x="5449824" y="1965960"/>
            <a:ext cx="1463040" cy="251460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5522976" y="2029968"/>
            <a:ext cx="1325880" cy="365760"/>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PAYMENT</a:t>
            </a:r>
          </a:p>
        </p:txBody>
      </p:sp>
      <p:sp>
        <p:nvSpPr>
          <p:cNvPr id="17" name="TextBox 16"/>
          <p:cNvSpPr txBox="1"/>
          <p:nvPr/>
        </p:nvSpPr>
        <p:spPr>
          <a:xfrm>
            <a:off x="5522976" y="2423160"/>
            <a:ext cx="1325880" cy="1097280"/>
          </a:xfrm>
          <a:prstGeom prst="rect">
            <a:avLst/>
          </a:prstGeom>
          <a:noFill/>
        </p:spPr>
        <p:txBody>
          <a:bodyPr wrap="square" anchor="t" lIns="36576" rIns="36576" tIns="36576" bIns="36576">
            <a:spAutoFit/>
          </a:bodyPr>
          <a:lstStyle/>
          <a:p>
            <a:pPr algn="ctr">
              <a:spcAft>
                <a:spcPts val="400"/>
              </a:spcAft>
            </a:pPr>
            <a:r>
              <a:rPr sz="1100" b="0" i="0">
                <a:solidFill>
                  <a:srgbClr val="2B2B2B"/>
                </a:solidFill>
                <a:latin typeface="Arial"/>
              </a:rPr>
              <a:t>Pagar a un comercio por bienes o servicios</a:t>
            </a:r>
          </a:p>
        </p:txBody>
      </p:sp>
      <p:sp>
        <p:nvSpPr>
          <p:cNvPr id="18" name="TextBox 17"/>
          <p:cNvSpPr txBox="1"/>
          <p:nvPr/>
        </p:nvSpPr>
        <p:spPr>
          <a:xfrm>
            <a:off x="5522976" y="3520440"/>
            <a:ext cx="1325880" cy="914400"/>
          </a:xfrm>
          <a:prstGeom prst="rect">
            <a:avLst/>
          </a:prstGeom>
          <a:noFill/>
        </p:spPr>
        <p:txBody>
          <a:bodyPr wrap="square" anchor="t" lIns="36576" rIns="36576" tIns="36576" bIns="36576">
            <a:spAutoFit/>
          </a:bodyPr>
          <a:lstStyle/>
          <a:p>
            <a:pPr algn="ctr">
              <a:spcAft>
                <a:spcPts val="400"/>
              </a:spcAft>
            </a:pPr>
            <a:r>
              <a:rPr sz="1050" b="0" i="0">
                <a:solidFill>
                  <a:srgbClr val="5F6368"/>
                </a:solidFill>
                <a:latin typeface="Arial"/>
              </a:rPr>
              <a:t>normales: 31 018</a:t>
            </a:r>
          </a:p>
          <a:p>
            <a:pPr algn="ctr">
              <a:spcAft>
                <a:spcPts val="400"/>
              </a:spcAft>
            </a:pPr>
            <a:r>
              <a:rPr sz="1150" b="1" i="0">
                <a:solidFill>
                  <a:srgbClr val="5F6368"/>
                </a:solidFill>
                <a:latin typeface="Arial"/>
              </a:rPr>
              <a:t>fraudes: 0</a:t>
            </a:r>
          </a:p>
        </p:txBody>
      </p:sp>
      <p:sp>
        <p:nvSpPr>
          <p:cNvPr id="19" name="Rounded Rectangle 18"/>
          <p:cNvSpPr/>
          <p:nvPr/>
        </p:nvSpPr>
        <p:spPr>
          <a:xfrm>
            <a:off x="7022592" y="1965960"/>
            <a:ext cx="1463040" cy="2514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7095744" y="2029968"/>
            <a:ext cx="1325880" cy="365760"/>
          </a:xfrm>
          <a:prstGeom prst="rect">
            <a:avLst/>
          </a:prstGeom>
          <a:noFill/>
        </p:spPr>
        <p:txBody>
          <a:bodyPr wrap="square" anchor="t" lIns="36576" rIns="36576" tIns="36576" bIns="36576">
            <a:spAutoFit/>
          </a:bodyPr>
          <a:lstStyle/>
          <a:p>
            <a:pPr algn="ctr">
              <a:spcAft>
                <a:spcPts val="400"/>
              </a:spcAft>
            </a:pPr>
            <a:r>
              <a:rPr sz="1250" b="1" i="0">
                <a:solidFill>
                  <a:srgbClr val="D7263D"/>
                </a:solidFill>
                <a:latin typeface="Arial"/>
              </a:rPr>
              <a:t>TRANSFER</a:t>
            </a:r>
          </a:p>
        </p:txBody>
      </p:sp>
      <p:sp>
        <p:nvSpPr>
          <p:cNvPr id="21" name="TextBox 20"/>
          <p:cNvSpPr txBox="1"/>
          <p:nvPr/>
        </p:nvSpPr>
        <p:spPr>
          <a:xfrm>
            <a:off x="7095744" y="2423160"/>
            <a:ext cx="1325880" cy="1097280"/>
          </a:xfrm>
          <a:prstGeom prst="rect">
            <a:avLst/>
          </a:prstGeom>
          <a:noFill/>
        </p:spPr>
        <p:txBody>
          <a:bodyPr wrap="square" anchor="t" lIns="36576" rIns="36576" tIns="36576" bIns="36576">
            <a:spAutoFit/>
          </a:bodyPr>
          <a:lstStyle/>
          <a:p>
            <a:pPr algn="ctr">
              <a:spcAft>
                <a:spcPts val="400"/>
              </a:spcAft>
            </a:pPr>
            <a:r>
              <a:rPr sz="1100" b="0" i="0">
                <a:solidFill>
                  <a:srgbClr val="2B2B2B"/>
                </a:solidFill>
                <a:latin typeface="Arial"/>
              </a:rPr>
              <a:t>Enviar dinero a otro usuario</a:t>
            </a:r>
          </a:p>
        </p:txBody>
      </p:sp>
      <p:sp>
        <p:nvSpPr>
          <p:cNvPr id="22" name="TextBox 21"/>
          <p:cNvSpPr txBox="1"/>
          <p:nvPr/>
        </p:nvSpPr>
        <p:spPr>
          <a:xfrm>
            <a:off x="7095744" y="3520440"/>
            <a:ext cx="1325880" cy="914400"/>
          </a:xfrm>
          <a:prstGeom prst="rect">
            <a:avLst/>
          </a:prstGeom>
          <a:noFill/>
        </p:spPr>
        <p:txBody>
          <a:bodyPr wrap="square" anchor="t" lIns="36576" rIns="36576" tIns="36576" bIns="36576">
            <a:spAutoFit/>
          </a:bodyPr>
          <a:lstStyle/>
          <a:p>
            <a:pPr algn="ctr">
              <a:spcAft>
                <a:spcPts val="400"/>
              </a:spcAft>
            </a:pPr>
            <a:r>
              <a:rPr sz="1050" b="0" i="0">
                <a:solidFill>
                  <a:srgbClr val="5F6368"/>
                </a:solidFill>
                <a:latin typeface="Arial"/>
              </a:rPr>
              <a:t>normales: 7 852</a:t>
            </a:r>
          </a:p>
          <a:p>
            <a:pPr algn="ctr">
              <a:spcAft>
                <a:spcPts val="400"/>
              </a:spcAft>
            </a:pPr>
            <a:r>
              <a:rPr sz="1150" b="1" i="0">
                <a:solidFill>
                  <a:srgbClr val="D7263D"/>
                </a:solidFill>
                <a:latin typeface="Arial"/>
              </a:rPr>
              <a:t>fraudes: 4 097</a:t>
            </a:r>
          </a:p>
        </p:txBody>
      </p:sp>
      <p:sp>
        <p:nvSpPr>
          <p:cNvPr id="23" name="Rounded Rectangle 22"/>
          <p:cNvSpPr/>
          <p:nvPr/>
        </p:nvSpPr>
        <p:spPr>
          <a:xfrm>
            <a:off x="731520" y="470916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El fraude solo usa TRANSFER y CASH_OUT: </a:t>
            </a:r>
            <a:r>
              <a:rPr sz="1200" b="0" i="0">
                <a:solidFill>
                  <a:srgbClr val="2B2B2B"/>
                </a:solidFill>
                <a:latin typeface="Arial"/>
              </a:rPr>
              <a:t>los dos pasos para vaciar una cuenta. Creamos transfer_o_retiro = 1 si el tipo es uno de esos dos, y 0 si no.</a:t>
            </a:r>
          </a:p>
        </p:txBody>
      </p:sp>
      <p:sp>
        <p:nvSpPr>
          <p:cNvPr id="24" name="TextBox 23"/>
          <p:cNvSpPr txBox="1"/>
          <p:nvPr/>
        </p:nvSpPr>
        <p:spPr>
          <a:xfrm>
            <a:off x="731520" y="5577840"/>
            <a:ext cx="7772400" cy="365760"/>
          </a:xfrm>
          <a:prstGeom prst="rect">
            <a:avLst/>
          </a:prstGeom>
          <a:noFill/>
        </p:spPr>
        <p:txBody>
          <a:bodyPr wrap="square" anchor="t" lIns="36576" rIns="36576" tIns="36576" bIns="36576">
            <a:spAutoFit/>
          </a:bodyPr>
          <a:lstStyle/>
          <a:p>
            <a:pPr algn="l">
              <a:spcAft>
                <a:spcPts val="400"/>
              </a:spcAft>
            </a:pPr>
            <a:r>
              <a:rPr sz="1100" b="0" i="1">
                <a:solidFill>
                  <a:srgbClr val="5F6368"/>
                </a:solidFill>
                <a:latin typeface="Arial"/>
              </a:rPr>
              <a:t>Conteos de la muestra de clase (100 198 transacciones).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Las columnas, una por una</a:t>
            </a:r>
          </a:p>
        </p:txBody>
      </p:sp>
      <p:graphicFrame>
        <p:nvGraphicFramePr>
          <p:cNvPr id="3" name="Table 2"/>
          <p:cNvGraphicFramePr>
            <a:graphicFrameLocks noGrp="1"/>
          </p:cNvGraphicFramePr>
          <p:nvPr/>
        </p:nvGraphicFramePr>
        <p:xfrm>
          <a:off x="731520" y="1920240"/>
          <a:ext cx="7772400" cy="3785616"/>
        </p:xfrm>
        <a:graphic>
          <a:graphicData uri="http://schemas.openxmlformats.org/drawingml/2006/table">
            <a:tbl>
              <a:tblPr firstRow="1" bandRow="1">
                <a:tableStyleId>{5C22544A-7EE6-4342-B048-85BDC9FD1C3A}</a:tableStyleId>
              </a:tblPr>
              <a:tblGrid>
                <a:gridCol w="2148840"/>
                <a:gridCol w="2331720"/>
                <a:gridCol w="1051560"/>
                <a:gridCol w="2240280"/>
              </a:tblGrid>
              <a:tr h="420624">
                <a:tc>
                  <a:txBody>
                    <a:bodyPr wrap="square"/>
                    <a:lstStyle/>
                    <a:p>
                      <a:pPr algn="l"/>
                      <a:r>
                        <a:rPr sz="1050" b="1" i="0">
                          <a:solidFill>
                            <a:srgbClr val="FFFFFF"/>
                          </a:solidFill>
                          <a:latin typeface="Arial"/>
                        </a:rPr>
                        <a:t>Columna</a:t>
                      </a:r>
                    </a:p>
                  </a:txBody>
                  <a:tcPr marL="64008" marR="64008" marT="27432" marB="27432" anchor="ctr">
                    <a:solidFill>
                      <a:srgbClr val="242852"/>
                    </a:solidFill>
                  </a:tcPr>
                </a:tc>
                <a:tc>
                  <a:txBody>
                    <a:bodyPr wrap="square"/>
                    <a:lstStyle/>
                    <a:p>
                      <a:pPr algn="ctr"/>
                      <a:r>
                        <a:rPr sz="1050" b="1" i="0">
                          <a:solidFill>
                            <a:srgbClr val="FFFFFF"/>
                          </a:solidFill>
                          <a:latin typeface="Arial"/>
                        </a:rPr>
                        <a:t>Qué es</a:t>
                      </a:r>
                    </a:p>
                  </a:txBody>
                  <a:tcPr marL="64008" marR="64008" marT="27432" marB="27432" anchor="ctr">
                    <a:solidFill>
                      <a:srgbClr val="242852"/>
                    </a:solidFill>
                  </a:tcPr>
                </a:tc>
                <a:tc>
                  <a:txBody>
                    <a:bodyPr wrap="square"/>
                    <a:lstStyle/>
                    <a:p>
                      <a:pPr algn="ctr"/>
                      <a:r>
                        <a:rPr sz="1050" b="1" i="0">
                          <a:solidFill>
                            <a:srgbClr val="FFFFFF"/>
                          </a:solidFill>
                          <a:latin typeface="Arial"/>
                        </a:rPr>
                        <a:t>¿Entra?</a:t>
                      </a:r>
                    </a:p>
                  </a:txBody>
                  <a:tcPr marL="64008" marR="64008" marT="27432" marB="27432" anchor="ctr">
                    <a:solidFill>
                      <a:srgbClr val="242852"/>
                    </a:solidFill>
                  </a:tcPr>
                </a:tc>
                <a:tc>
                  <a:txBody>
                    <a:bodyPr wrap="square"/>
                    <a:lstStyle/>
                    <a:p>
                      <a:pPr algn="ctr"/>
                      <a:r>
                        <a:rPr sz="1050" b="1" i="0">
                          <a:solidFill>
                            <a:srgbClr val="FFFFFF"/>
                          </a:solidFill>
                          <a:latin typeface="Arial"/>
                        </a:rPr>
                        <a:t>Por qué</a:t>
                      </a:r>
                    </a:p>
                  </a:txBody>
                  <a:tcPr marL="64008" marR="64008" marT="27432" marB="27432" anchor="ctr">
                    <a:solidFill>
                      <a:srgbClr val="242852"/>
                    </a:solidFill>
                  </a:tcPr>
                </a:tc>
              </a:tr>
              <a:tr h="420624">
                <a:tc>
                  <a:txBody>
                    <a:bodyPr wrap="square"/>
                    <a:lstStyle/>
                    <a:p>
                      <a:pPr algn="l"/>
                      <a:r>
                        <a:rPr sz="1050" b="1" i="0">
                          <a:solidFill>
                            <a:srgbClr val="2B2B2B"/>
                          </a:solidFill>
                          <a:latin typeface="Arial"/>
                        </a:rPr>
                        <a:t>step</a:t>
                      </a:r>
                    </a:p>
                  </a:txBody>
                  <a:tcPr marL="64008" marR="64008" marT="27432" marB="27432" anchor="ctr">
                    <a:solidFill>
                      <a:srgbClr val="FFFFFF"/>
                    </a:solidFill>
                  </a:tcPr>
                </a:tc>
                <a:tc>
                  <a:txBody>
                    <a:bodyPr wrap="square"/>
                    <a:lstStyle/>
                    <a:p>
                      <a:pPr algn="ctr"/>
                      <a:r>
                        <a:rPr sz="1050" b="0" i="0">
                          <a:solidFill>
                            <a:srgbClr val="2B2B2B"/>
                          </a:solidFill>
                          <a:latin typeface="Arial"/>
                        </a:rPr>
                        <a:t>hora de la simulación: 1, 2, … 744</a:t>
                      </a:r>
                    </a:p>
                  </a:txBody>
                  <a:tcPr marL="64008" marR="64008" marT="27432" marB="27432" anchor="ctr">
                    <a:solidFill>
                      <a:srgbClr val="FFFFFF"/>
                    </a:solidFill>
                  </a:tcPr>
                </a:tc>
                <a:tc>
                  <a:txBody>
                    <a:bodyPr wrap="square"/>
                    <a:lstStyle/>
                    <a:p>
                      <a:pPr algn="ctr"/>
                      <a:r>
                        <a:rPr sz="1050" b="1" i="0">
                          <a:solidFill>
                            <a:srgbClr val="2A9D8F"/>
                          </a:solidFill>
                          <a:latin typeface="Arial"/>
                        </a:rPr>
                        <a:t>sí, como hora</a:t>
                      </a:r>
                    </a:p>
                  </a:txBody>
                  <a:tcPr marL="64008" marR="64008" marT="27432" marB="27432" anchor="ctr">
                    <a:solidFill>
                      <a:srgbClr val="FFFFFF"/>
                    </a:solidFill>
                  </a:tcPr>
                </a:tc>
                <a:tc>
                  <a:txBody>
                    <a:bodyPr wrap="square"/>
                    <a:lstStyle/>
                    <a:p>
                      <a:pPr algn="ctr"/>
                      <a:r>
                        <a:rPr sz="1050" b="0" i="0">
                          <a:solidFill>
                            <a:srgbClr val="2B2B2B"/>
                          </a:solidFill>
                          <a:latin typeface="Arial"/>
                        </a:rPr>
                        <a:t>el fraude se concentra de madrugada</a:t>
                      </a:r>
                    </a:p>
                  </a:txBody>
                  <a:tcPr marL="64008" marR="64008" marT="27432" marB="27432" anchor="ctr">
                    <a:solidFill>
                      <a:srgbClr val="FFFFFF"/>
                    </a:solidFill>
                  </a:tcPr>
                </a:tc>
              </a:tr>
              <a:tr h="420624">
                <a:tc>
                  <a:txBody>
                    <a:bodyPr wrap="square"/>
                    <a:lstStyle/>
                    <a:p>
                      <a:pPr algn="l"/>
                      <a:r>
                        <a:rPr sz="1050" b="1" i="0">
                          <a:solidFill>
                            <a:srgbClr val="2B2B2B"/>
                          </a:solidFill>
                          <a:latin typeface="Arial"/>
                        </a:rPr>
                        <a:t>type</a:t>
                      </a:r>
                    </a:p>
                  </a:txBody>
                  <a:tcPr marL="64008" marR="64008" marT="27432" marB="27432" anchor="ctr">
                    <a:solidFill>
                      <a:srgbClr val="F2F3F5"/>
                    </a:solidFill>
                  </a:tcPr>
                </a:tc>
                <a:tc>
                  <a:txBody>
                    <a:bodyPr wrap="square"/>
                    <a:lstStyle/>
                    <a:p>
                      <a:pPr algn="ctr"/>
                      <a:r>
                        <a:rPr sz="1050" b="0" i="0">
                          <a:solidFill>
                            <a:srgbClr val="2B2B2B"/>
                          </a:solidFill>
                          <a:latin typeface="Arial"/>
                        </a:rPr>
                        <a:t>tipo de transacción (5 tipos)</a:t>
                      </a:r>
                    </a:p>
                  </a:txBody>
                  <a:tcPr marL="64008" marR="64008" marT="27432" marB="27432" anchor="ctr">
                    <a:solidFill>
                      <a:srgbClr val="F2F3F5"/>
                    </a:solidFill>
                  </a:tcPr>
                </a:tc>
                <a:tc>
                  <a:txBody>
                    <a:bodyPr wrap="square"/>
                    <a:lstStyle/>
                    <a:p>
                      <a:pPr algn="ctr"/>
                      <a:r>
                        <a:rPr sz="1050" b="1" i="0">
                          <a:solidFill>
                            <a:srgbClr val="2A9D8F"/>
                          </a:solidFill>
                          <a:latin typeface="Arial"/>
                        </a:rPr>
                        <a:t>sí, resumida</a:t>
                      </a:r>
                    </a:p>
                  </a:txBody>
                  <a:tcPr marL="64008" marR="64008" marT="27432" marB="27432" anchor="ctr">
                    <a:solidFill>
                      <a:srgbClr val="F2F3F5"/>
                    </a:solidFill>
                  </a:tcPr>
                </a:tc>
                <a:tc>
                  <a:txBody>
                    <a:bodyPr wrap="square"/>
                    <a:lstStyle/>
                    <a:p>
                      <a:pPr algn="ctr"/>
                      <a:r>
                        <a:rPr sz="1050" b="0" i="0">
                          <a:solidFill>
                            <a:srgbClr val="2B2B2B"/>
                          </a:solidFill>
                          <a:latin typeface="Arial"/>
                        </a:rPr>
                        <a:t>el fraude solo usa TRANSFER y CASH_OUT</a:t>
                      </a:r>
                    </a:p>
                  </a:txBody>
                  <a:tcPr marL="64008" marR="64008" marT="27432" marB="27432" anchor="ctr">
                    <a:solidFill>
                      <a:srgbClr val="F2F3F5"/>
                    </a:solidFill>
                  </a:tcPr>
                </a:tc>
              </a:tr>
              <a:tr h="420624">
                <a:tc>
                  <a:txBody>
                    <a:bodyPr wrap="square"/>
                    <a:lstStyle/>
                    <a:p>
                      <a:pPr algn="l"/>
                      <a:r>
                        <a:rPr sz="1050" b="1" i="0">
                          <a:solidFill>
                            <a:srgbClr val="2B2B2B"/>
                          </a:solidFill>
                          <a:latin typeface="Arial"/>
                        </a:rPr>
                        <a:t>amount</a:t>
                      </a:r>
                    </a:p>
                  </a:txBody>
                  <a:tcPr marL="64008" marR="64008" marT="27432" marB="27432" anchor="ctr">
                    <a:solidFill>
                      <a:srgbClr val="FFFFFF"/>
                    </a:solidFill>
                  </a:tcPr>
                </a:tc>
                <a:tc>
                  <a:txBody>
                    <a:bodyPr wrap="square"/>
                    <a:lstStyle/>
                    <a:p>
                      <a:pPr algn="ctr"/>
                      <a:r>
                        <a:rPr sz="1050" b="0" i="0">
                          <a:solidFill>
                            <a:srgbClr val="2B2B2B"/>
                          </a:solidFill>
                          <a:latin typeface="Arial"/>
                        </a:rPr>
                        <a:t>monto de la transacción</a:t>
                      </a:r>
                    </a:p>
                  </a:txBody>
                  <a:tcPr marL="64008" marR="64008" marT="27432" marB="27432" anchor="ctr">
                    <a:solidFill>
                      <a:srgbClr val="FFFFFF"/>
                    </a:solidFill>
                  </a:tcPr>
                </a:tc>
                <a:tc>
                  <a:txBody>
                    <a:bodyPr wrap="square"/>
                    <a:lstStyle/>
                    <a:p>
                      <a:pPr algn="ctr"/>
                      <a:r>
                        <a:rPr sz="1050" b="1" i="0">
                          <a:solidFill>
                            <a:srgbClr val="2A9D8F"/>
                          </a:solidFill>
                          <a:latin typeface="Arial"/>
                        </a:rPr>
                        <a:t>sí</a:t>
                      </a:r>
                    </a:p>
                  </a:txBody>
                  <a:tcPr marL="64008" marR="64008" marT="27432" marB="27432" anchor="ctr">
                    <a:solidFill>
                      <a:srgbClr val="FFFFFF"/>
                    </a:solidFill>
                  </a:tcPr>
                </a:tc>
                <a:tc>
                  <a:txBody>
                    <a:bodyPr wrap="square"/>
                    <a:lstStyle/>
                    <a:p>
                      <a:pPr algn="ctr"/>
                      <a:r>
                        <a:rPr sz="1050" b="0" i="0">
                          <a:solidFill>
                            <a:srgbClr val="2B2B2B"/>
                          </a:solidFill>
                          <a:latin typeface="Arial"/>
                        </a:rPr>
                        <a:t>los fraudes suelen ser montos altos</a:t>
                      </a:r>
                    </a:p>
                  </a:txBody>
                  <a:tcPr marL="64008" marR="64008" marT="27432" marB="27432" anchor="ctr">
                    <a:solidFill>
                      <a:srgbClr val="FFFFFF"/>
                    </a:solidFill>
                  </a:tcPr>
                </a:tc>
              </a:tr>
              <a:tr h="420624">
                <a:tc>
                  <a:txBody>
                    <a:bodyPr wrap="square"/>
                    <a:lstStyle/>
                    <a:p>
                      <a:pPr algn="l"/>
                      <a:r>
                        <a:rPr sz="1050" b="1" i="0">
                          <a:solidFill>
                            <a:srgbClr val="2B2B2B"/>
                          </a:solidFill>
                          <a:latin typeface="Arial"/>
                        </a:rPr>
                        <a:t>nameOrig / nameDest</a:t>
                      </a:r>
                    </a:p>
                  </a:txBody>
                  <a:tcPr marL="64008" marR="64008" marT="27432" marB="27432" anchor="ctr">
                    <a:solidFill>
                      <a:srgbClr val="F2F3F5"/>
                    </a:solidFill>
                  </a:tcPr>
                </a:tc>
                <a:tc>
                  <a:txBody>
                    <a:bodyPr wrap="square"/>
                    <a:lstStyle/>
                    <a:p>
                      <a:pPr algn="ctr"/>
                      <a:r>
                        <a:rPr sz="1050" b="0" i="0">
                          <a:solidFill>
                            <a:srgbClr val="2B2B2B"/>
                          </a:solidFill>
                          <a:latin typeface="Arial"/>
                        </a:rPr>
                        <a:t>código del cliente que envía / recibe</a:t>
                      </a:r>
                    </a:p>
                  </a:txBody>
                  <a:tcPr marL="64008" marR="64008" marT="27432" marB="27432" anchor="ctr">
                    <a:solidFill>
                      <a:srgbClr val="F2F3F5"/>
                    </a:solidFill>
                  </a:tcPr>
                </a:tc>
                <a:tc>
                  <a:txBody>
                    <a:bodyPr wrap="square"/>
                    <a:lstStyle/>
                    <a:p>
                      <a:pPr algn="ctr"/>
                      <a:r>
                        <a:rPr sz="1050" b="1" i="0">
                          <a:solidFill>
                            <a:srgbClr val="D7263D"/>
                          </a:solidFill>
                          <a:latin typeface="Arial"/>
                        </a:rPr>
                        <a:t>no</a:t>
                      </a:r>
                    </a:p>
                  </a:txBody>
                  <a:tcPr marL="64008" marR="64008" marT="27432" marB="27432" anchor="ctr">
                    <a:solidFill>
                      <a:srgbClr val="F2F3F5"/>
                    </a:solidFill>
                  </a:tcPr>
                </a:tc>
                <a:tc>
                  <a:txBody>
                    <a:bodyPr wrap="square"/>
                    <a:lstStyle/>
                    <a:p>
                      <a:pPr algn="ctr"/>
                      <a:r>
                        <a:rPr sz="1050" b="0" i="0">
                          <a:solidFill>
                            <a:srgbClr val="2B2B2B"/>
                          </a:solidFill>
                          <a:latin typeface="Arial"/>
                        </a:rPr>
                        <a:t>es un nombre: no se repite en clientes nuevos</a:t>
                      </a:r>
                    </a:p>
                  </a:txBody>
                  <a:tcPr marL="64008" marR="64008" marT="27432" marB="27432" anchor="ctr">
                    <a:solidFill>
                      <a:srgbClr val="F2F3F5"/>
                    </a:solidFill>
                  </a:tcPr>
                </a:tc>
              </a:tr>
              <a:tr h="420624">
                <a:tc>
                  <a:txBody>
                    <a:bodyPr wrap="square"/>
                    <a:lstStyle/>
                    <a:p>
                      <a:pPr algn="l"/>
                      <a:r>
                        <a:rPr sz="1050" b="1" i="0">
                          <a:solidFill>
                            <a:srgbClr val="2B2B2B"/>
                          </a:solidFill>
                          <a:latin typeface="Arial"/>
                        </a:rPr>
                        <a:t>oldbalanceOrg / newbalanceOrig</a:t>
                      </a:r>
                    </a:p>
                  </a:txBody>
                  <a:tcPr marL="64008" marR="64008" marT="27432" marB="27432" anchor="ctr">
                    <a:solidFill>
                      <a:srgbClr val="FFFFFF"/>
                    </a:solidFill>
                  </a:tcPr>
                </a:tc>
                <a:tc>
                  <a:txBody>
                    <a:bodyPr wrap="square"/>
                    <a:lstStyle/>
                    <a:p>
                      <a:pPr algn="ctr"/>
                      <a:r>
                        <a:rPr sz="1050" b="0" i="0">
                          <a:solidFill>
                            <a:srgbClr val="2B2B2B"/>
                          </a:solidFill>
                          <a:latin typeface="Arial"/>
                        </a:rPr>
                        <a:t>saldo del que envía, antes / después</a:t>
                      </a:r>
                    </a:p>
                  </a:txBody>
                  <a:tcPr marL="64008" marR="64008" marT="27432" marB="27432" anchor="ctr">
                    <a:solidFill>
                      <a:srgbClr val="FFFFFF"/>
                    </a:solidFill>
                  </a:tcPr>
                </a:tc>
                <a:tc>
                  <a:txBody>
                    <a:bodyPr wrap="square"/>
                    <a:lstStyle/>
                    <a:p>
                      <a:pPr algn="ctr"/>
                      <a:r>
                        <a:rPr sz="1050" b="1" i="0">
                          <a:solidFill>
                            <a:srgbClr val="D7263D"/>
                          </a:solidFill>
                          <a:latin typeface="Arial"/>
                        </a:rPr>
                        <a:t>no</a:t>
                      </a:r>
                    </a:p>
                  </a:txBody>
                  <a:tcPr marL="64008" marR="64008" marT="27432" marB="27432" anchor="ctr">
                    <a:solidFill>
                      <a:srgbClr val="FFFFFF"/>
                    </a:solidFill>
                  </a:tcPr>
                </a:tc>
                <a:tc>
                  <a:txBody>
                    <a:bodyPr wrap="square"/>
                    <a:lstStyle/>
                    <a:p>
                      <a:pPr algn="ctr"/>
                      <a:r>
                        <a:rPr sz="1050" b="0" i="0">
                          <a:solidFill>
                            <a:srgbClr val="2B2B2B"/>
                          </a:solidFill>
                          <a:latin typeface="Arial"/>
                        </a:rPr>
                        <a:t>fuga de información</a:t>
                      </a:r>
                    </a:p>
                  </a:txBody>
                  <a:tcPr marL="64008" marR="64008" marT="27432" marB="27432" anchor="ctr">
                    <a:solidFill>
                      <a:srgbClr val="FFFFFF"/>
                    </a:solidFill>
                  </a:tcPr>
                </a:tc>
              </a:tr>
              <a:tr h="420624">
                <a:tc>
                  <a:txBody>
                    <a:bodyPr wrap="square"/>
                    <a:lstStyle/>
                    <a:p>
                      <a:pPr algn="l"/>
                      <a:r>
                        <a:rPr sz="1050" b="1" i="0">
                          <a:solidFill>
                            <a:srgbClr val="2B2B2B"/>
                          </a:solidFill>
                          <a:latin typeface="Arial"/>
                        </a:rPr>
                        <a:t>oldbalanceDest / newbalanceDest</a:t>
                      </a:r>
                    </a:p>
                  </a:txBody>
                  <a:tcPr marL="64008" marR="64008" marT="27432" marB="27432" anchor="ctr">
                    <a:solidFill>
                      <a:srgbClr val="F2F3F5"/>
                    </a:solidFill>
                  </a:tcPr>
                </a:tc>
                <a:tc>
                  <a:txBody>
                    <a:bodyPr wrap="square"/>
                    <a:lstStyle/>
                    <a:p>
                      <a:pPr algn="ctr"/>
                      <a:r>
                        <a:rPr sz="1050" b="0" i="0">
                          <a:solidFill>
                            <a:srgbClr val="2B2B2B"/>
                          </a:solidFill>
                          <a:latin typeface="Arial"/>
                        </a:rPr>
                        <a:t>saldo del que recibe, antes / después</a:t>
                      </a:r>
                    </a:p>
                  </a:txBody>
                  <a:tcPr marL="64008" marR="64008" marT="27432" marB="27432" anchor="ctr">
                    <a:solidFill>
                      <a:srgbClr val="F2F3F5"/>
                    </a:solidFill>
                  </a:tcPr>
                </a:tc>
                <a:tc>
                  <a:txBody>
                    <a:bodyPr wrap="square"/>
                    <a:lstStyle/>
                    <a:p>
                      <a:pPr algn="ctr"/>
                      <a:r>
                        <a:rPr sz="1050" b="1" i="0">
                          <a:solidFill>
                            <a:srgbClr val="D7263D"/>
                          </a:solidFill>
                          <a:latin typeface="Arial"/>
                        </a:rPr>
                        <a:t>no</a:t>
                      </a:r>
                    </a:p>
                  </a:txBody>
                  <a:tcPr marL="64008" marR="64008" marT="27432" marB="27432" anchor="ctr">
                    <a:solidFill>
                      <a:srgbClr val="F2F3F5"/>
                    </a:solidFill>
                  </a:tcPr>
                </a:tc>
                <a:tc>
                  <a:txBody>
                    <a:bodyPr wrap="square"/>
                    <a:lstStyle/>
                    <a:p>
                      <a:pPr algn="ctr"/>
                      <a:r>
                        <a:rPr sz="1050" b="0" i="0">
                          <a:solidFill>
                            <a:srgbClr val="2B2B2B"/>
                          </a:solidFill>
                          <a:latin typeface="Arial"/>
                        </a:rPr>
                        <a:t>fuga de información</a:t>
                      </a:r>
                    </a:p>
                  </a:txBody>
                  <a:tcPr marL="64008" marR="64008" marT="27432" marB="27432" anchor="ctr">
                    <a:solidFill>
                      <a:srgbClr val="F2F3F5"/>
                    </a:solidFill>
                  </a:tcPr>
                </a:tc>
              </a:tr>
              <a:tr h="420624">
                <a:tc>
                  <a:txBody>
                    <a:bodyPr wrap="square"/>
                    <a:lstStyle/>
                    <a:p>
                      <a:pPr algn="l"/>
                      <a:r>
                        <a:rPr sz="1050" b="1" i="0">
                          <a:solidFill>
                            <a:srgbClr val="2B2B2B"/>
                          </a:solidFill>
                          <a:latin typeface="Arial"/>
                        </a:rPr>
                        <a:t>isFlaggedFraud</a:t>
                      </a:r>
                    </a:p>
                  </a:txBody>
                  <a:tcPr marL="64008" marR="64008" marT="27432" marB="27432" anchor="ctr">
                    <a:solidFill>
                      <a:srgbClr val="FFFFFF"/>
                    </a:solidFill>
                  </a:tcPr>
                </a:tc>
                <a:tc>
                  <a:txBody>
                    <a:bodyPr wrap="square"/>
                    <a:lstStyle/>
                    <a:p>
                      <a:pPr algn="ctr"/>
                      <a:r>
                        <a:rPr sz="1050" b="0" i="0">
                          <a:solidFill>
                            <a:srgbClr val="2B2B2B"/>
                          </a:solidFill>
                          <a:latin typeface="Arial"/>
                        </a:rPr>
                        <a:t>alerta de la regla actual (&gt; 200 000)</a:t>
                      </a:r>
                    </a:p>
                  </a:txBody>
                  <a:tcPr marL="64008" marR="64008" marT="27432" marB="27432" anchor="ctr">
                    <a:solidFill>
                      <a:srgbClr val="FFFFFF"/>
                    </a:solidFill>
                  </a:tcPr>
                </a:tc>
                <a:tc>
                  <a:txBody>
                    <a:bodyPr wrap="square"/>
                    <a:lstStyle/>
                    <a:p>
                      <a:pPr algn="ctr"/>
                      <a:r>
                        <a:rPr sz="1050" b="1" i="0">
                          <a:solidFill>
                            <a:srgbClr val="D7263D"/>
                          </a:solidFill>
                          <a:latin typeface="Arial"/>
                        </a:rPr>
                        <a:t>no</a:t>
                      </a:r>
                    </a:p>
                  </a:txBody>
                  <a:tcPr marL="64008" marR="64008" marT="27432" marB="27432" anchor="ctr">
                    <a:solidFill>
                      <a:srgbClr val="FFFFFF"/>
                    </a:solidFill>
                  </a:tcPr>
                </a:tc>
                <a:tc>
                  <a:txBody>
                    <a:bodyPr wrap="square"/>
                    <a:lstStyle/>
                    <a:p>
                      <a:pPr algn="ctr"/>
                      <a:r>
                        <a:rPr sz="1050" b="0" i="0">
                          <a:solidFill>
                            <a:srgbClr val="2B2B2B"/>
                          </a:solidFill>
                          <a:latin typeface="Arial"/>
                        </a:rPr>
                        <a:t>es la respuesta de otro detector: la usamos para comparar</a:t>
                      </a:r>
                    </a:p>
                  </a:txBody>
                  <a:tcPr marL="64008" marR="64008" marT="27432" marB="27432" anchor="ctr">
                    <a:solidFill>
                      <a:srgbClr val="FFFFFF"/>
                    </a:solidFill>
                  </a:tcPr>
                </a:tc>
              </a:tr>
              <a:tr h="420624">
                <a:tc>
                  <a:txBody>
                    <a:bodyPr wrap="square"/>
                    <a:lstStyle/>
                    <a:p>
                      <a:pPr algn="l"/>
                      <a:r>
                        <a:rPr sz="1050" b="1" i="0">
                          <a:solidFill>
                            <a:srgbClr val="2B2B2B"/>
                          </a:solidFill>
                          <a:latin typeface="Arial"/>
                        </a:rPr>
                        <a:t>isFraud</a:t>
                      </a:r>
                    </a:p>
                  </a:txBody>
                  <a:tcPr marL="64008" marR="64008" marT="27432" marB="27432" anchor="ctr">
                    <a:solidFill>
                      <a:srgbClr val="F2F3F5"/>
                    </a:solidFill>
                  </a:tcPr>
                </a:tc>
                <a:tc>
                  <a:txBody>
                    <a:bodyPr wrap="square"/>
                    <a:lstStyle/>
                    <a:p>
                      <a:pPr algn="ctr"/>
                      <a:r>
                        <a:rPr sz="1050" b="0" i="0">
                          <a:solidFill>
                            <a:srgbClr val="2B2B2B"/>
                          </a:solidFill>
                          <a:latin typeface="Arial"/>
                        </a:rPr>
                        <a:t>¿fue fraude? 0 / 1</a:t>
                      </a:r>
                    </a:p>
                  </a:txBody>
                  <a:tcPr marL="64008" marR="64008" marT="27432" marB="27432" anchor="ctr">
                    <a:solidFill>
                      <a:srgbClr val="F2F3F5"/>
                    </a:solidFill>
                  </a:tcPr>
                </a:tc>
                <a:tc>
                  <a:txBody>
                    <a:bodyPr wrap="square"/>
                    <a:lstStyle/>
                    <a:p>
                      <a:pPr algn="ctr"/>
                      <a:r>
                        <a:rPr sz="1050" b="1" i="0">
                          <a:solidFill>
                            <a:srgbClr val="242852"/>
                          </a:solidFill>
                          <a:latin typeface="Arial"/>
                        </a:rPr>
                        <a:t>es la y</a:t>
                      </a:r>
                    </a:p>
                  </a:txBody>
                  <a:tcPr marL="64008" marR="64008" marT="27432" marB="27432" anchor="ctr">
                    <a:solidFill>
                      <a:srgbClr val="F2F3F5"/>
                    </a:solidFill>
                  </a:tcPr>
                </a:tc>
                <a:tc>
                  <a:txBody>
                    <a:bodyPr wrap="square"/>
                    <a:lstStyle/>
                    <a:p>
                      <a:pPr algn="ctr"/>
                      <a:r>
                        <a:rPr sz="1050" b="0" i="0">
                          <a:solidFill>
                            <a:srgbClr val="2B2B2B"/>
                          </a:solidFill>
                          <a:latin typeface="Arial"/>
                        </a:rPr>
                        <a:t>lo que queremos predecir</a:t>
                      </a:r>
                    </a:p>
                  </a:txBody>
                  <a:tcPr marL="64008" marR="64008" marT="27432" marB="27432" anchor="ctr">
                    <a:solidFill>
                      <a:srgbClr val="F2F3F5"/>
                    </a:solidFill>
                  </a:tcPr>
                </a:tc>
              </a:tr>
            </a:tbl>
          </a:graphicData>
        </a:graphic>
      </p:graphicFrame>
      <p:sp>
        <p:nvSpPr>
          <p:cNvPr id="4" name="Rounded Rectangle 3"/>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Regla: </a:t>
            </a:r>
            <a:r>
              <a:rPr sz="1200" b="0" i="0">
                <a:solidFill>
                  <a:srgbClr val="2B2B2B"/>
                </a:solidFill>
                <a:latin typeface="Arial"/>
              </a:rPr>
              <a:t>solo entra al modelo lo que se conoce en el momento de decidir y describe a la transacción.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¿Para qué sirve step? Convertirlo en hora del día</a:t>
            </a:r>
          </a:p>
        </p:txBody>
      </p:sp>
      <p:graphicFrame>
        <p:nvGraphicFramePr>
          <p:cNvPr id="3" name="Table 2"/>
          <p:cNvGraphicFramePr>
            <a:graphicFrameLocks noGrp="1"/>
          </p:cNvGraphicFramePr>
          <p:nvPr/>
        </p:nvGraphicFramePr>
        <p:xfrm>
          <a:off x="731520" y="1965960"/>
          <a:ext cx="3657600" cy="2057400"/>
        </p:xfrm>
        <a:graphic>
          <a:graphicData uri="http://schemas.openxmlformats.org/drawingml/2006/table">
            <a:tbl>
              <a:tblPr firstRow="1" bandRow="1">
                <a:tableStyleId>{5C22544A-7EE6-4342-B048-85BDC9FD1C3A}</a:tableStyleId>
              </a:tblPr>
              <a:tblGrid>
                <a:gridCol w="731520"/>
                <a:gridCol w="640080"/>
                <a:gridCol w="2286000"/>
              </a:tblGrid>
              <a:tr h="411480">
                <a:tc>
                  <a:txBody>
                    <a:bodyPr wrap="square"/>
                    <a:lstStyle/>
                    <a:p>
                      <a:pPr algn="l"/>
                      <a:r>
                        <a:rPr sz="1200" b="1" i="0">
                          <a:solidFill>
                            <a:srgbClr val="FFFFFF"/>
                          </a:solidFill>
                          <a:latin typeface="Arial"/>
                        </a:rPr>
                        <a:t>step</a:t>
                      </a:r>
                    </a:p>
                  </a:txBody>
                  <a:tcPr marL="64008" marR="64008" marT="27432" marB="27432" anchor="ctr">
                    <a:solidFill>
                      <a:srgbClr val="242852"/>
                    </a:solidFill>
                  </a:tcPr>
                </a:tc>
                <a:tc>
                  <a:txBody>
                    <a:bodyPr wrap="square"/>
                    <a:lstStyle/>
                    <a:p>
                      <a:pPr algn="ctr"/>
                      <a:r>
                        <a:rPr sz="1200" b="1" i="0">
                          <a:solidFill>
                            <a:srgbClr val="FFFFFF"/>
                          </a:solidFill>
                          <a:latin typeface="Arial"/>
                        </a:rPr>
                        <a:t>Día</a:t>
                      </a:r>
                    </a:p>
                  </a:txBody>
                  <a:tcPr marL="64008" marR="64008" marT="27432" marB="27432" anchor="ctr">
                    <a:solidFill>
                      <a:srgbClr val="242852"/>
                    </a:solidFill>
                  </a:tcPr>
                </a:tc>
                <a:tc>
                  <a:txBody>
                    <a:bodyPr wrap="square"/>
                    <a:lstStyle/>
                    <a:p>
                      <a:pPr algn="ctr"/>
                      <a:r>
                        <a:rPr sz="1200" b="1" i="0">
                          <a:solidFill>
                            <a:srgbClr val="FFFFFF"/>
                          </a:solidFill>
                          <a:latin typeface="Arial"/>
                        </a:rPr>
                        <a:t>Hora del día = resto de step ÷ 24</a:t>
                      </a:r>
                    </a:p>
                  </a:txBody>
                  <a:tcPr marL="64008" marR="64008" marT="27432" marB="27432" anchor="ctr">
                    <a:solidFill>
                      <a:srgbClr val="242852"/>
                    </a:solidFill>
                  </a:tcPr>
                </a:tc>
              </a:tr>
              <a:tr h="411480">
                <a:tc>
                  <a:txBody>
                    <a:bodyPr wrap="square"/>
                    <a:lstStyle/>
                    <a:p>
                      <a:pPr algn="l"/>
                      <a:r>
                        <a:rPr sz="1200" b="1" i="0">
                          <a:solidFill>
                            <a:srgbClr val="2B2B2B"/>
                          </a:solidFill>
                          <a:latin typeface="Arial"/>
                        </a:rPr>
                        <a:t>3</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3 (madrugada)</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27</a:t>
                      </a:r>
                    </a:p>
                  </a:txBody>
                  <a:tcPr marL="64008" marR="64008" marT="27432" marB="27432" anchor="ctr">
                    <a:solidFill>
                      <a:srgbClr val="F2F3F5"/>
                    </a:solidFill>
                  </a:tcPr>
                </a:tc>
                <a:tc>
                  <a:txBody>
                    <a:bodyPr wrap="square"/>
                    <a:lstStyle/>
                    <a:p>
                      <a:pPr algn="ctr"/>
                      <a:r>
                        <a:rPr sz="1200" b="0" i="0">
                          <a:solidFill>
                            <a:srgbClr val="2B2B2B"/>
                          </a:solidFill>
                          <a:latin typeface="Arial"/>
                        </a:rPr>
                        <a:t>2</a:t>
                      </a:r>
                    </a:p>
                  </a:txBody>
                  <a:tcPr marL="64008" marR="64008" marT="27432" marB="27432" anchor="ctr">
                    <a:solidFill>
                      <a:srgbClr val="F2F3F5"/>
                    </a:solidFill>
                  </a:tcPr>
                </a:tc>
                <a:tc>
                  <a:txBody>
                    <a:bodyPr wrap="square"/>
                    <a:lstStyle/>
                    <a:p>
                      <a:pPr algn="ctr"/>
                      <a:r>
                        <a:rPr sz="1200" b="0" i="0">
                          <a:solidFill>
                            <a:srgbClr val="2B2B2B"/>
                          </a:solidFill>
                          <a:latin typeface="Arial"/>
                        </a:rPr>
                        <a:t>27 − 24 = 3 (madrugada)</a:t>
                      </a:r>
                    </a:p>
                  </a:txBody>
                  <a:tcPr marL="64008" marR="64008" marT="27432" marB="27432" anchor="ctr">
                    <a:solidFill>
                      <a:srgbClr val="F2F3F5"/>
                    </a:solidFill>
                  </a:tcPr>
                </a:tc>
              </a:tr>
              <a:tr h="411480">
                <a:tc>
                  <a:txBody>
                    <a:bodyPr wrap="square"/>
                    <a:lstStyle/>
                    <a:p>
                      <a:pPr algn="l"/>
                      <a:r>
                        <a:rPr sz="1200" b="1" i="0">
                          <a:solidFill>
                            <a:srgbClr val="2B2B2B"/>
                          </a:solidFill>
                          <a:latin typeface="Arial"/>
                        </a:rPr>
                        <a:t>50</a:t>
                      </a:r>
                    </a:p>
                  </a:txBody>
                  <a:tcPr marL="64008" marR="64008" marT="27432" marB="27432" anchor="ctr">
                    <a:solidFill>
                      <a:srgbClr val="FFFFFF"/>
                    </a:solidFill>
                  </a:tcPr>
                </a:tc>
                <a:tc>
                  <a:txBody>
                    <a:bodyPr wrap="square"/>
                    <a:lstStyle/>
                    <a:p>
                      <a:pPr algn="ctr"/>
                      <a:r>
                        <a:rPr sz="1200" b="0" i="0">
                          <a:solidFill>
                            <a:srgbClr val="2B2B2B"/>
                          </a:solidFill>
                          <a:latin typeface="Arial"/>
                        </a:rPr>
                        <a:t>3</a:t>
                      </a:r>
                    </a:p>
                  </a:txBody>
                  <a:tcPr marL="64008" marR="64008" marT="27432" marB="27432" anchor="ctr">
                    <a:solidFill>
                      <a:srgbClr val="FFFFFF"/>
                    </a:solidFill>
                  </a:tcPr>
                </a:tc>
                <a:tc>
                  <a:txBody>
                    <a:bodyPr wrap="square"/>
                    <a:lstStyle/>
                    <a:p>
                      <a:pPr algn="ctr"/>
                      <a:r>
                        <a:rPr sz="1200" b="0" i="0">
                          <a:solidFill>
                            <a:srgbClr val="2B2B2B"/>
                          </a:solidFill>
                          <a:latin typeface="Arial"/>
                        </a:rPr>
                        <a:t>50 − 48 = 2 (madrugada)</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110</a:t>
                      </a:r>
                    </a:p>
                  </a:txBody>
                  <a:tcPr marL="64008" marR="64008" marT="27432" marB="27432" anchor="ctr">
                    <a:solidFill>
                      <a:srgbClr val="F2F3F5"/>
                    </a:solidFill>
                  </a:tcPr>
                </a:tc>
                <a:tc>
                  <a:txBody>
                    <a:bodyPr wrap="square"/>
                    <a:lstStyle/>
                    <a:p>
                      <a:pPr algn="ctr"/>
                      <a:r>
                        <a:rPr sz="1200" b="0" i="0">
                          <a:solidFill>
                            <a:srgbClr val="2B2B2B"/>
                          </a:solidFill>
                          <a:latin typeface="Arial"/>
                        </a:rPr>
                        <a:t>5</a:t>
                      </a:r>
                    </a:p>
                  </a:txBody>
                  <a:tcPr marL="64008" marR="64008" marT="27432" marB="27432" anchor="ctr">
                    <a:solidFill>
                      <a:srgbClr val="F2F3F5"/>
                    </a:solidFill>
                  </a:tcPr>
                </a:tc>
                <a:tc>
                  <a:txBody>
                    <a:bodyPr wrap="square"/>
                    <a:lstStyle/>
                    <a:p>
                      <a:pPr algn="ctr"/>
                      <a:r>
                        <a:rPr sz="1200" b="0" i="0">
                          <a:solidFill>
                            <a:srgbClr val="2B2B2B"/>
                          </a:solidFill>
                          <a:latin typeface="Arial"/>
                        </a:rPr>
                        <a:t>110 − 96 = 14 (tarde)</a:t>
                      </a:r>
                    </a:p>
                  </a:txBody>
                  <a:tcPr marL="64008" marR="64008" marT="27432" marB="27432" anchor="ctr">
                    <a:solidFill>
                      <a:srgbClr val="F2F3F5"/>
                    </a:solidFill>
                  </a:tcPr>
                </a:tc>
              </a:tr>
            </a:tbl>
          </a:graphicData>
        </a:graphic>
      </p:graphicFrame>
      <p:pic>
        <p:nvPicPr>
          <p:cNvPr id="4" name="Picture 3" descr="hora.png"/>
          <p:cNvPicPr>
            <a:picLocks noChangeAspect="1"/>
          </p:cNvPicPr>
          <p:nvPr/>
        </p:nvPicPr>
        <p:blipFill>
          <a:blip r:embed="rId3"/>
          <a:stretch>
            <a:fillRect/>
          </a:stretch>
        </p:blipFill>
        <p:spPr>
          <a:xfrm>
            <a:off x="4572000" y="2124860"/>
            <a:ext cx="3931920" cy="1648158"/>
          </a:xfrm>
          <a:prstGeom prst="rect">
            <a:avLst/>
          </a:prstGeom>
        </p:spPr>
      </p:pic>
      <p:sp>
        <p:nvSpPr>
          <p:cNvPr id="5" name="TextBox 4"/>
          <p:cNvSpPr txBox="1"/>
          <p:nvPr/>
        </p:nvSpPr>
        <p:spPr>
          <a:xfrm>
            <a:off x="4572000" y="4023360"/>
            <a:ext cx="3931920" cy="320040"/>
          </a:xfrm>
          <a:prstGeom prst="rect">
            <a:avLst/>
          </a:prstGeom>
          <a:noFill/>
        </p:spPr>
        <p:txBody>
          <a:bodyPr wrap="square" anchor="t" lIns="36576" rIns="36576" tIns="36576" bIns="36576">
            <a:spAutoFit/>
          </a:bodyPr>
          <a:lstStyle/>
          <a:p>
            <a:pPr algn="ctr">
              <a:spcAft>
                <a:spcPts val="400"/>
              </a:spcAft>
            </a:pPr>
            <a:r>
              <a:rPr sz="1050" b="0" i="1">
                <a:solidFill>
                  <a:srgbClr val="5F6368"/>
                </a:solidFill>
                <a:latin typeface="Arial"/>
              </a:rPr>
              <a:t>% de fraude en la muestra según la hora del día</a:t>
            </a:r>
          </a:p>
        </p:txBody>
      </p:sp>
      <p:sp>
        <p:nvSpPr>
          <p:cNvPr id="6" name="Rounded Rectangle 5"/>
          <p:cNvSpPr/>
          <p:nvPr/>
        </p:nvSpPr>
        <p:spPr>
          <a:xfrm>
            <a:off x="731520" y="45262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step crudo: </a:t>
            </a:r>
            <a:r>
              <a:rPr sz="1200" b="0" i="0">
                <a:solidFill>
                  <a:srgbClr val="2B2B2B"/>
                </a:solidFill>
                <a:latin typeface="Arial"/>
              </a:rPr>
              <a:t>número de hora del mes (1 a 744); no se repite en el futuro. </a:t>
            </a:r>
            <a:r>
              <a:rPr sz="1200" b="1" i="0">
                <a:solidFill>
                  <a:srgbClr val="2A9D8F"/>
                </a:solidFill>
                <a:latin typeface="Arial"/>
              </a:rPr>
              <a:t>Hora del día: </a:t>
            </a:r>
            <a:r>
              <a:rPr sz="1200" b="0" i="0">
                <a:solidFill>
                  <a:srgbClr val="2B2B2B"/>
                </a:solidFill>
                <a:latin typeface="Arial"/>
              </a:rPr>
              <a:t>0 a 23; se repite todos los días y muestra el patrón de madrugada.</a:t>
            </a:r>
          </a:p>
        </p:txBody>
      </p:sp>
      <p:sp>
        <p:nvSpPr>
          <p:cNvPr id="7" name="Rounded Rectangle 6"/>
          <p:cNvSpPr/>
          <p:nvPr/>
        </p:nvSpPr>
        <p:spPr>
          <a:xfrm>
            <a:off x="731520" y="5486400"/>
            <a:ext cx="7772400" cy="5943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Ingeniería de variables: </a:t>
            </a:r>
            <a:r>
              <a:rPr sz="1200" b="0" i="0">
                <a:solidFill>
                  <a:srgbClr val="2B2B2B"/>
                </a:solidFill>
                <a:latin typeface="Arial"/>
              </a:rPr>
              <a:t>transformar una columna con conocimiento del negocio para que el modelo la pueda aprovechar.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¿Por qué quitamos los saldos? Fuga de información</a:t>
            </a:r>
          </a:p>
        </p:txBody>
      </p:sp>
      <p:sp>
        <p:nvSpPr>
          <p:cNvPr id="3" name="Rounded Rectangle 2"/>
          <p:cNvSpPr/>
          <p:nvPr/>
        </p:nvSpPr>
        <p:spPr>
          <a:xfrm>
            <a:off x="731520" y="196596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Fuga de información: </a:t>
            </a:r>
            <a:r>
              <a:rPr sz="1350" b="0" i="0">
                <a:solidFill>
                  <a:srgbClr val="FFFFFF"/>
                </a:solidFill>
                <a:latin typeface="Arial"/>
              </a:rPr>
              <a:t>usar una columna que contiene la respuesta o que se escribió conociéndola.</a:t>
            </a:r>
          </a:p>
        </p:txBody>
      </p:sp>
      <p:sp>
        <p:nvSpPr>
          <p:cNvPr id="4" name="Rounded Rectangle 3"/>
          <p:cNvSpPr/>
          <p:nvPr/>
        </p:nvSpPr>
        <p:spPr>
          <a:xfrm>
            <a:off x="731520" y="3017520"/>
            <a:ext cx="3794760" cy="15087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31272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Analogía</a:t>
            </a:r>
          </a:p>
        </p:txBody>
      </p:sp>
      <p:sp>
        <p:nvSpPr>
          <p:cNvPr id="6" name="TextBox 5"/>
          <p:cNvSpPr txBox="1"/>
          <p:nvPr/>
        </p:nvSpPr>
        <p:spPr>
          <a:xfrm>
            <a:off x="868680" y="3675887"/>
            <a:ext cx="3520440" cy="7772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Predecir si un estudiante aprueba usando su «nota final». Acierta siempre, pero no sirve: esa nota solo existe cuando ya se sabe el resultado.</a:t>
            </a:r>
          </a:p>
        </p:txBody>
      </p:sp>
      <p:sp>
        <p:nvSpPr>
          <p:cNvPr id="7" name="Rounded Rectangle 6"/>
          <p:cNvSpPr/>
          <p:nvPr/>
        </p:nvSpPr>
        <p:spPr>
          <a:xfrm>
            <a:off x="4709160" y="3017520"/>
            <a:ext cx="3794760" cy="15087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312724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En PaySim</a:t>
            </a:r>
          </a:p>
        </p:txBody>
      </p:sp>
      <p:sp>
        <p:nvSpPr>
          <p:cNvPr id="9" name="TextBox 8"/>
          <p:cNvSpPr txBox="1"/>
          <p:nvPr/>
        </p:nvSpPr>
        <p:spPr>
          <a:xfrm>
            <a:off x="4846320" y="3675887"/>
            <a:ext cx="3520440" cy="7772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Las transacciones detectadas como fraude se cancelan y la cancelación altera los saldos. Los saldos llevan la huella de la respuesta.</a:t>
            </a:r>
          </a:p>
        </p:txBody>
      </p:sp>
      <p:sp>
        <p:nvSpPr>
          <p:cNvPr id="10" name="Rounded Rectangle 9"/>
          <p:cNvSpPr/>
          <p:nvPr/>
        </p:nvSpPr>
        <p:spPr>
          <a:xfrm>
            <a:off x="731520" y="4754880"/>
            <a:ext cx="2377440" cy="8686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2A9D8F"/>
                </a:solidFill>
                <a:latin typeface="Arial"/>
              </a:rPr>
              <a:t>Antes de decidir</a:t>
            </a:r>
          </a:p>
          <a:p>
            <a:pPr algn="ctr">
              <a:spcAft>
                <a:spcPts val="300"/>
              </a:spcAft>
            </a:pPr>
            <a:r>
              <a:rPr sz="1100" b="0" i="0">
                <a:solidFill>
                  <a:srgbClr val="2B2B2B"/>
                </a:solidFill>
                <a:latin typeface="Arial"/>
              </a:rPr>
              <a:t>tipo, monto, hora</a:t>
            </a:r>
          </a:p>
        </p:txBody>
      </p:sp>
      <p:sp>
        <p:nvSpPr>
          <p:cNvPr id="11" name="Right Arrow 10"/>
          <p:cNvSpPr/>
          <p:nvPr/>
        </p:nvSpPr>
        <p:spPr>
          <a:xfrm>
            <a:off x="3154680" y="5047488"/>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Rounded Rectangle 11"/>
          <p:cNvSpPr/>
          <p:nvPr/>
        </p:nvSpPr>
        <p:spPr>
          <a:xfrm>
            <a:off x="3429000" y="4754880"/>
            <a:ext cx="2377440"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242852"/>
                </a:solidFill>
                <a:latin typeface="Arial"/>
              </a:rPr>
              <a:t>La decisión</a:t>
            </a:r>
          </a:p>
          <a:p>
            <a:pPr algn="ctr">
              <a:spcAft>
                <a:spcPts val="300"/>
              </a:spcAft>
            </a:pPr>
            <a:r>
              <a:rPr sz="1100" b="0" i="0">
                <a:solidFill>
                  <a:srgbClr val="2B2B2B"/>
                </a:solidFill>
                <a:latin typeface="Arial"/>
              </a:rPr>
              <a:t>¿es fraude?</a:t>
            </a:r>
          </a:p>
        </p:txBody>
      </p:sp>
      <p:sp>
        <p:nvSpPr>
          <p:cNvPr id="13" name="Right Arrow 12"/>
          <p:cNvSpPr/>
          <p:nvPr/>
        </p:nvSpPr>
        <p:spPr>
          <a:xfrm>
            <a:off x="5852160" y="5047488"/>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ounded Rectangle 13"/>
          <p:cNvSpPr/>
          <p:nvPr/>
        </p:nvSpPr>
        <p:spPr>
          <a:xfrm>
            <a:off x="6126480" y="4754880"/>
            <a:ext cx="2377440"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Después</a:t>
            </a:r>
          </a:p>
          <a:p>
            <a:pPr algn="ctr">
              <a:spcAft>
                <a:spcPts val="300"/>
              </a:spcAft>
            </a:pPr>
            <a:r>
              <a:rPr sz="1100" b="0" i="0">
                <a:solidFill>
                  <a:srgbClr val="2B2B2B"/>
                </a:solidFill>
                <a:latin typeface="Arial"/>
              </a:rPr>
              <a:t>cancelación y saldos ajustados</a:t>
            </a:r>
          </a:p>
        </p:txBody>
      </p:sp>
      <p:sp>
        <p:nvSpPr>
          <p:cNvPr id="15" name="Rounded Rectangle 14"/>
          <p:cNvSpPr/>
          <p:nvPr/>
        </p:nvSpPr>
        <p:spPr>
          <a:xfrm>
            <a:off x="731520" y="58064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Advertencia del dataset: </a:t>
            </a:r>
            <a:r>
              <a:rPr sz="1200" b="0" i="0">
                <a:solidFill>
                  <a:srgbClr val="2B2B2B"/>
                </a:solidFill>
                <a:latin typeface="Arial"/>
              </a:rPr>
              <a:t>oldbalanceOrg, newbalanceOrig, oldbalanceDest y newbalanceDest no deben usarse para detectar fraude.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prueba: demasiado bueno para ser verdad</a:t>
            </a:r>
          </a:p>
        </p:txBody>
      </p:sp>
      <p:sp>
        <p:nvSpPr>
          <p:cNvPr id="3" name="Rounded Rectangle 2"/>
          <p:cNvSpPr/>
          <p:nvPr/>
        </p:nvSpPr>
        <p:spPr>
          <a:xfrm>
            <a:off x="731520" y="1965960"/>
            <a:ext cx="379476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Fraudes con monto = saldo anterior</a:t>
            </a:r>
          </a:p>
          <a:p>
            <a:pPr algn="ctr">
              <a:spcAft>
                <a:spcPts val="300"/>
              </a:spcAft>
            </a:pPr>
            <a:r>
              <a:rPr sz="2400" b="1" i="0">
                <a:solidFill>
                  <a:srgbClr val="D7263D"/>
                </a:solidFill>
                <a:latin typeface="Arial"/>
              </a:rPr>
              <a:t>97,8 %</a:t>
            </a:r>
          </a:p>
        </p:txBody>
      </p:sp>
      <p:sp>
        <p:nvSpPr>
          <p:cNvPr id="4" name="Rounded Rectangle 3"/>
          <p:cNvSpPr/>
          <p:nvPr/>
        </p:nvSpPr>
        <p:spPr>
          <a:xfrm>
            <a:off x="4709160" y="1965960"/>
            <a:ext cx="3794760"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Normales con monto = saldo anterior</a:t>
            </a:r>
          </a:p>
          <a:p>
            <a:pPr algn="ctr">
              <a:spcAft>
                <a:spcPts val="300"/>
              </a:spcAft>
            </a:pPr>
            <a:r>
              <a:rPr sz="2400" b="1" i="0">
                <a:solidFill>
                  <a:srgbClr val="2A9D8F"/>
                </a:solidFill>
                <a:latin typeface="Arial"/>
              </a:rPr>
              <a:t>0,0 %</a:t>
            </a:r>
          </a:p>
        </p:txBody>
      </p:sp>
      <p:graphicFrame>
        <p:nvGraphicFramePr>
          <p:cNvPr id="5" name="Table 4"/>
          <p:cNvGraphicFramePr>
            <a:graphicFrameLocks noGrp="1"/>
          </p:cNvGraphicFramePr>
          <p:nvPr/>
        </p:nvGraphicFramePr>
        <p:xfrm>
          <a:off x="731520" y="3383280"/>
          <a:ext cx="7772400" cy="1316736"/>
        </p:xfrm>
        <a:graphic>
          <a:graphicData uri="http://schemas.openxmlformats.org/drawingml/2006/table">
            <a:tbl>
              <a:tblPr firstRow="1" bandRow="1">
                <a:tableStyleId>{5C22544A-7EE6-4342-B048-85BDC9FD1C3A}</a:tableStyleId>
              </a:tblPr>
              <a:tblGrid>
                <a:gridCol w="3657600"/>
                <a:gridCol w="1371600"/>
                <a:gridCol w="1371600"/>
                <a:gridCol w="1371600"/>
              </a:tblGrid>
              <a:tr h="438912">
                <a:tc>
                  <a:txBody>
                    <a:bodyPr wrap="square"/>
                    <a:lstStyle/>
                    <a:p>
                      <a:pPr algn="l"/>
                      <a:r>
                        <a:rPr sz="1250" b="1" i="0">
                          <a:solidFill>
                            <a:srgbClr val="FFFFFF"/>
                          </a:solidFill>
                          <a:latin typeface="Arial"/>
                        </a:rPr>
                        <a:t>Mismo árbol (prof. 5) en Validation</a:t>
                      </a:r>
                    </a:p>
                  </a:txBody>
                  <a:tcPr marL="64008" marR="64008" marT="27432" marB="27432" anchor="ctr">
                    <a:solidFill>
                      <a:srgbClr val="242852"/>
                    </a:solidFill>
                  </a:tcPr>
                </a:tc>
                <a:tc>
                  <a:txBody>
                    <a:bodyPr wrap="square"/>
                    <a:lstStyle/>
                    <a:p>
                      <a:pPr algn="ctr"/>
                      <a:r>
                        <a:rPr sz="1250" b="1" i="0">
                          <a:solidFill>
                            <a:srgbClr val="FFFFFF"/>
                          </a:solidFill>
                          <a:latin typeface="Arial"/>
                        </a:rPr>
                        <a:t>Precision</a:t>
                      </a:r>
                    </a:p>
                  </a:txBody>
                  <a:tcPr marL="64008" marR="64008" marT="27432" marB="27432" anchor="ctr">
                    <a:solidFill>
                      <a:srgbClr val="242852"/>
                    </a:solidFill>
                  </a:tcPr>
                </a:tc>
                <a:tc>
                  <a:txBody>
                    <a:bodyPr wrap="square"/>
                    <a:lstStyle/>
                    <a:p>
                      <a:pPr algn="ctr"/>
                      <a:r>
                        <a:rPr sz="1250" b="1" i="0">
                          <a:solidFill>
                            <a:srgbClr val="FFFFFF"/>
                          </a:solidFill>
                          <a:latin typeface="Arial"/>
                        </a:rPr>
                        <a:t>Recall</a:t>
                      </a:r>
                    </a:p>
                  </a:txBody>
                  <a:tcPr marL="64008" marR="64008" marT="27432" marB="27432" anchor="ctr">
                    <a:solidFill>
                      <a:srgbClr val="242852"/>
                    </a:solidFill>
                  </a:tcPr>
                </a:tc>
                <a:tc>
                  <a:txBody>
                    <a:bodyPr wrap="square"/>
                    <a:lstStyle/>
                    <a:p>
                      <a:pPr algn="ctr"/>
                      <a:r>
                        <a:rPr sz="1250" b="1" i="0">
                          <a:solidFill>
                            <a:srgbClr val="FFFFFF"/>
                          </a:solidFill>
                          <a:latin typeface="Arial"/>
                        </a:rPr>
                        <a:t>F1</a:t>
                      </a:r>
                    </a:p>
                  </a:txBody>
                  <a:tcPr marL="64008" marR="64008" marT="27432" marB="27432" anchor="ctr">
                    <a:solidFill>
                      <a:srgbClr val="242852"/>
                    </a:solidFill>
                  </a:tcPr>
                </a:tc>
              </a:tr>
              <a:tr h="438912">
                <a:tc>
                  <a:txBody>
                    <a:bodyPr wrap="square"/>
                    <a:lstStyle/>
                    <a:p>
                      <a:pPr algn="l"/>
                      <a:r>
                        <a:rPr sz="1250" b="1" i="0">
                          <a:solidFill>
                            <a:srgbClr val="2B2B2B"/>
                          </a:solidFill>
                          <a:latin typeface="Arial"/>
                        </a:rPr>
                        <a:t>Sin saldos: tipo, monto y hora</a:t>
                      </a:r>
                    </a:p>
                  </a:txBody>
                  <a:tcPr marL="64008" marR="64008" marT="27432" marB="27432" anchor="ctr">
                    <a:solidFill>
                      <a:srgbClr val="FFFFFF"/>
                    </a:solidFill>
                  </a:tcPr>
                </a:tc>
                <a:tc>
                  <a:txBody>
                    <a:bodyPr wrap="square"/>
                    <a:lstStyle/>
                    <a:p>
                      <a:pPr algn="ctr"/>
                      <a:r>
                        <a:rPr sz="1250" b="0" i="0">
                          <a:solidFill>
                            <a:srgbClr val="2B2B2B"/>
                          </a:solidFill>
                          <a:latin typeface="Arial"/>
                        </a:rPr>
                        <a:t>0,806</a:t>
                      </a:r>
                    </a:p>
                  </a:txBody>
                  <a:tcPr marL="64008" marR="64008" marT="27432" marB="27432" anchor="ctr">
                    <a:solidFill>
                      <a:srgbClr val="FFFFFF"/>
                    </a:solidFill>
                  </a:tcPr>
                </a:tc>
                <a:tc>
                  <a:txBody>
                    <a:bodyPr wrap="square"/>
                    <a:lstStyle/>
                    <a:p>
                      <a:pPr algn="ctr"/>
                      <a:r>
                        <a:rPr sz="1250" b="0" i="0">
                          <a:solidFill>
                            <a:srgbClr val="2B2B2B"/>
                          </a:solidFill>
                          <a:latin typeface="Arial"/>
                        </a:rPr>
                        <a:t>0,521</a:t>
                      </a:r>
                    </a:p>
                  </a:txBody>
                  <a:tcPr marL="64008" marR="64008" marT="27432" marB="27432" anchor="ctr">
                    <a:solidFill>
                      <a:srgbClr val="FFFFFF"/>
                    </a:solidFill>
                  </a:tcPr>
                </a:tc>
                <a:tc>
                  <a:txBody>
                    <a:bodyPr wrap="square"/>
                    <a:lstStyle/>
                    <a:p>
                      <a:pPr algn="ctr"/>
                      <a:r>
                        <a:rPr sz="1250" b="1" i="0">
                          <a:solidFill>
                            <a:srgbClr val="2B2B2B"/>
                          </a:solidFill>
                          <a:latin typeface="Arial"/>
                        </a:rPr>
                        <a:t>0,633</a:t>
                      </a:r>
                    </a:p>
                  </a:txBody>
                  <a:tcPr marL="64008" marR="64008" marT="27432" marB="27432" anchor="ctr">
                    <a:solidFill>
                      <a:srgbClr val="FFFFFF"/>
                    </a:solidFill>
                  </a:tcPr>
                </a:tc>
              </a:tr>
              <a:tr h="438912">
                <a:tc>
                  <a:txBody>
                    <a:bodyPr wrap="square"/>
                    <a:lstStyle/>
                    <a:p>
                      <a:pPr algn="l"/>
                      <a:r>
                        <a:rPr sz="1250" b="1" i="0">
                          <a:solidFill>
                            <a:srgbClr val="2B2B2B"/>
                          </a:solidFill>
                          <a:latin typeface="Arial"/>
                        </a:rPr>
                        <a:t>Con los cuatro saldos</a:t>
                      </a:r>
                    </a:p>
                  </a:txBody>
                  <a:tcPr marL="64008" marR="64008" marT="27432" marB="27432" anchor="ctr">
                    <a:solidFill>
                      <a:srgbClr val="FBE8EA"/>
                    </a:solidFill>
                  </a:tcPr>
                </a:tc>
                <a:tc>
                  <a:txBody>
                    <a:bodyPr wrap="square"/>
                    <a:lstStyle/>
                    <a:p>
                      <a:pPr algn="ctr"/>
                      <a:r>
                        <a:rPr sz="1250" b="0" i="0">
                          <a:solidFill>
                            <a:srgbClr val="2B2B2B"/>
                          </a:solidFill>
                          <a:latin typeface="Arial"/>
                        </a:rPr>
                        <a:t>0,972</a:t>
                      </a:r>
                    </a:p>
                  </a:txBody>
                  <a:tcPr marL="64008" marR="64008" marT="27432" marB="27432" anchor="ctr">
                    <a:solidFill>
                      <a:srgbClr val="FBE8EA"/>
                    </a:solidFill>
                  </a:tcPr>
                </a:tc>
                <a:tc>
                  <a:txBody>
                    <a:bodyPr wrap="square"/>
                    <a:lstStyle/>
                    <a:p>
                      <a:pPr algn="ctr"/>
                      <a:r>
                        <a:rPr sz="1250" b="0" i="0">
                          <a:solidFill>
                            <a:srgbClr val="2B2B2B"/>
                          </a:solidFill>
                          <a:latin typeface="Arial"/>
                        </a:rPr>
                        <a:t>0,810</a:t>
                      </a:r>
                    </a:p>
                  </a:txBody>
                  <a:tcPr marL="64008" marR="64008" marT="27432" marB="27432" anchor="ctr">
                    <a:solidFill>
                      <a:srgbClr val="FBE8EA"/>
                    </a:solidFill>
                  </a:tcPr>
                </a:tc>
                <a:tc>
                  <a:txBody>
                    <a:bodyPr wrap="square"/>
                    <a:lstStyle/>
                    <a:p>
                      <a:pPr algn="ctr"/>
                      <a:r>
                        <a:rPr sz="1250" b="1" i="0">
                          <a:solidFill>
                            <a:srgbClr val="D7263D"/>
                          </a:solidFill>
                          <a:latin typeface="Arial"/>
                        </a:rPr>
                        <a:t>0,884</a:t>
                      </a:r>
                    </a:p>
                  </a:txBody>
                  <a:tcPr marL="64008" marR="64008" marT="27432" marB="27432" anchor="ctr">
                    <a:solidFill>
                      <a:srgbClr val="FBE8EA"/>
                    </a:solidFill>
                  </a:tcPr>
                </a:tc>
              </a:tr>
            </a:tbl>
          </a:graphicData>
        </a:graphic>
      </p:graphicFrame>
      <p:sp>
        <p:nvSpPr>
          <p:cNvPr id="6" name="Rounded Rectangle 5"/>
          <p:cNvSpPr/>
          <p:nvPr/>
        </p:nvSpPr>
        <p:spPr>
          <a:xfrm>
            <a:off x="731520" y="489204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Señal de alarma: </a:t>
            </a:r>
            <a:r>
              <a:rPr sz="1200" b="0" i="0">
                <a:solidFill>
                  <a:srgbClr val="2B2B2B"/>
                </a:solidFill>
                <a:latin typeface="Arial"/>
              </a:rPr>
              <a:t>cuando una columna hace al modelo casi perfecto, primero hay que preguntarse si esa columna existiría antes de conocer la respuesta.</a:t>
            </a:r>
          </a:p>
        </p:txBody>
      </p:sp>
      <p:sp>
        <p:nvSpPr>
          <p:cNvPr id="7" name="Rounded Rectangle 6"/>
          <p:cNvSpPr/>
          <p:nvPr/>
        </p:nvSpPr>
        <p:spPr>
          <a:xfrm>
            <a:off x="731520" y="5760720"/>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Decisión: </a:t>
            </a:r>
            <a:r>
              <a:rPr sz="1200" b="0" i="0">
                <a:solidFill>
                  <a:srgbClr val="2B2B2B"/>
                </a:solidFill>
                <a:latin typeface="Arial"/>
              </a:rPr>
              <a:t>seguimos sin saldos. Un F1 de 0,63 honesto vale más que un 0,88 que no se repetirá.</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¿Por qué no usamos isFlaggedFraud como variable?</a:t>
            </a:r>
          </a:p>
        </p:txBody>
      </p:sp>
      <p:sp>
        <p:nvSpPr>
          <p:cNvPr id="3" name="Rounded Rectangle 2"/>
          <p:cNvSpPr/>
          <p:nvPr/>
        </p:nvSpPr>
        <p:spPr>
          <a:xfrm>
            <a:off x="731520" y="1965960"/>
            <a:ext cx="7772400" cy="9601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7543800" cy="50292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¿Qué es isFlaggedFraud?</a:t>
            </a:r>
          </a:p>
        </p:txBody>
      </p:sp>
      <p:sp>
        <p:nvSpPr>
          <p:cNvPr id="5" name="TextBox 4"/>
          <p:cNvSpPr txBox="1"/>
          <p:nvPr/>
        </p:nvSpPr>
        <p:spPr>
          <a:xfrm>
            <a:off x="868680" y="2624328"/>
            <a:ext cx="7498079" cy="228600"/>
          </a:xfrm>
          <a:prstGeom prst="rect">
            <a:avLst/>
          </a:prstGeom>
          <a:noFill/>
        </p:spPr>
        <p:txBody>
          <a:bodyPr wrap="square" anchor="t" lIns="36576" rIns="36576" tIns="36576" bIns="36576">
            <a:spAutoFit/>
          </a:bodyPr>
          <a:lstStyle/>
          <a:p>
            <a:pPr algn="l">
              <a:spcAft>
                <a:spcPts val="400"/>
              </a:spcAft>
            </a:pPr>
            <a:r>
              <a:rPr sz="1250" b="0" i="0">
                <a:solidFill>
                  <a:srgbClr val="2B2B2B"/>
                </a:solidFill>
                <a:latin typeface="Arial"/>
              </a:rPr>
              <a:t>La alerta de la regla actual: marca todo intento de transferir más de 200 000 en una sola transacción.</a:t>
            </a:r>
          </a:p>
        </p:txBody>
      </p:sp>
      <p:sp>
        <p:nvSpPr>
          <p:cNvPr id="6" name="Rounded Rectangle 5"/>
          <p:cNvSpPr/>
          <p:nvPr/>
        </p:nvSpPr>
        <p:spPr>
          <a:xfrm>
            <a:off x="731520" y="3108960"/>
            <a:ext cx="3794760"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Veces que la regla se activó (muestra)</a:t>
            </a:r>
          </a:p>
          <a:p>
            <a:pPr algn="ctr">
              <a:spcAft>
                <a:spcPts val="300"/>
              </a:spcAft>
            </a:pPr>
            <a:r>
              <a:rPr sz="2400" b="1" i="0">
                <a:solidFill>
                  <a:srgbClr val="2A9D8F"/>
                </a:solidFill>
                <a:latin typeface="Arial"/>
              </a:rPr>
              <a:t>16</a:t>
            </a:r>
          </a:p>
        </p:txBody>
      </p:sp>
      <p:sp>
        <p:nvSpPr>
          <p:cNvPr id="7" name="Rounded Rectangle 6"/>
          <p:cNvSpPr/>
          <p:nvPr/>
        </p:nvSpPr>
        <p:spPr>
          <a:xfrm>
            <a:off x="4709160" y="3108960"/>
            <a:ext cx="379476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Transferencias fraudulentas &gt; 200 000</a:t>
            </a:r>
          </a:p>
          <a:p>
            <a:pPr algn="ctr">
              <a:spcAft>
                <a:spcPts val="300"/>
              </a:spcAft>
            </a:pPr>
            <a:r>
              <a:rPr sz="2400" b="1" i="0">
                <a:solidFill>
                  <a:srgbClr val="D7263D"/>
                </a:solidFill>
                <a:latin typeface="Arial"/>
              </a:rPr>
              <a:t>2 740</a:t>
            </a:r>
          </a:p>
        </p:txBody>
      </p:sp>
      <p:sp>
        <p:nvSpPr>
          <p:cNvPr id="8" name="Rounded Rectangle 7"/>
          <p:cNvSpPr/>
          <p:nvPr/>
        </p:nvSpPr>
        <p:spPr>
          <a:xfrm>
            <a:off x="731520" y="4526280"/>
            <a:ext cx="2487168"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No describe la transacción</a:t>
            </a:r>
          </a:p>
          <a:p>
            <a:pPr algn="ctr">
              <a:spcAft>
                <a:spcPts val="300"/>
              </a:spcAft>
            </a:pPr>
            <a:r>
              <a:rPr sz="1150" b="0" i="0">
                <a:solidFill>
                  <a:srgbClr val="2B2B2B"/>
                </a:solidFill>
                <a:latin typeface="Arial"/>
              </a:rPr>
              <a:t>es la salida de otro detector</a:t>
            </a:r>
          </a:p>
        </p:txBody>
      </p:sp>
      <p:sp>
        <p:nvSpPr>
          <p:cNvPr id="9" name="Rounded Rectangle 8"/>
          <p:cNvSpPr/>
          <p:nvPr/>
        </p:nvSpPr>
        <p:spPr>
          <a:xfrm>
            <a:off x="3355848" y="4526280"/>
            <a:ext cx="2487168"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D7263D"/>
                </a:solidFill>
                <a:latin typeface="Arial"/>
              </a:rPr>
              <a:t>Casi nunca avisa</a:t>
            </a:r>
          </a:p>
          <a:p>
            <a:pPr algn="ctr">
              <a:spcAft>
                <a:spcPts val="300"/>
              </a:spcAft>
            </a:pPr>
            <a:r>
              <a:rPr sz="1150" b="0" i="0">
                <a:solidFill>
                  <a:srgbClr val="2B2B2B"/>
                </a:solidFill>
                <a:latin typeface="Arial"/>
              </a:rPr>
              <a:t>como variable aportaría poco</a:t>
            </a:r>
          </a:p>
        </p:txBody>
      </p:sp>
      <p:sp>
        <p:nvSpPr>
          <p:cNvPr id="10" name="Rounded Rectangle 9"/>
          <p:cNvSpPr/>
          <p:nvPr/>
        </p:nvSpPr>
        <p:spPr>
          <a:xfrm>
            <a:off x="5980176" y="4526280"/>
            <a:ext cx="2487168" cy="10515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2A9D8F"/>
                </a:solidFill>
                <a:latin typeface="Arial"/>
              </a:rPr>
              <a:t>La usamos como rival</a:t>
            </a:r>
          </a:p>
          <a:p>
            <a:pPr algn="ctr">
              <a:spcAft>
                <a:spcPts val="300"/>
              </a:spcAft>
            </a:pPr>
            <a:r>
              <a:rPr sz="1150" b="0" i="0">
                <a:solidFill>
                  <a:srgbClr val="2B2B2B"/>
                </a:solidFill>
                <a:latin typeface="Arial"/>
              </a:rPr>
              <a:t>¿le ganamos a la regla actual?</a:t>
            </a:r>
          </a:p>
        </p:txBody>
      </p:sp>
      <p:sp>
        <p:nvSpPr>
          <p:cNvPr id="11" name="Rounded Rectangle 10"/>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Una regla fija </a:t>
            </a:r>
            <a:r>
              <a:rPr sz="1200" b="0" i="0">
                <a:solidFill>
                  <a:srgbClr val="2B2B2B"/>
                </a:solidFill>
                <a:latin typeface="Arial"/>
              </a:rPr>
              <a:t>es fácil de explicar, pero no aprende de los datos. Por eso es una buena referencia para comparar.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Datasets balanceados y desbalanceados</a:t>
            </a:r>
          </a:p>
        </p:txBody>
      </p:sp>
      <p:sp>
        <p:nvSpPr>
          <p:cNvPr id="3" name="Rounded Rectangle 2"/>
          <p:cNvSpPr/>
          <p:nvPr/>
        </p:nvSpPr>
        <p:spPr>
          <a:xfrm>
            <a:off x="731520" y="1965960"/>
            <a:ext cx="3291840" cy="13258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306324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Balanceado</a:t>
            </a:r>
          </a:p>
        </p:txBody>
      </p:sp>
      <p:sp>
        <p:nvSpPr>
          <p:cNvPr id="5" name="TextBox 4"/>
          <p:cNvSpPr txBox="1"/>
          <p:nvPr/>
        </p:nvSpPr>
        <p:spPr>
          <a:xfrm>
            <a:off x="868680" y="2624328"/>
            <a:ext cx="3017520" cy="5943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clases de tamaño parecido. Ejemplo: 500 normales y 500 fraudes.</a:t>
            </a:r>
          </a:p>
        </p:txBody>
      </p:sp>
      <p:sp>
        <p:nvSpPr>
          <p:cNvPr id="6" name="Rounded Rectangle 5"/>
          <p:cNvSpPr/>
          <p:nvPr/>
        </p:nvSpPr>
        <p:spPr>
          <a:xfrm>
            <a:off x="731520" y="3429000"/>
            <a:ext cx="3291840"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868680" y="3538728"/>
            <a:ext cx="3063240" cy="50292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Desbalanceado</a:t>
            </a:r>
          </a:p>
        </p:txBody>
      </p:sp>
      <p:sp>
        <p:nvSpPr>
          <p:cNvPr id="8" name="TextBox 7"/>
          <p:cNvSpPr txBox="1"/>
          <p:nvPr/>
        </p:nvSpPr>
        <p:spPr>
          <a:xfrm>
            <a:off x="868680" y="4087368"/>
            <a:ext cx="3017520" cy="59435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una clase es rara. Ejemplo: 980 normales y 20 fraudes.</a:t>
            </a:r>
          </a:p>
        </p:txBody>
      </p:sp>
      <p:graphicFrame>
        <p:nvGraphicFramePr>
          <p:cNvPr id="9" name="Chart 8"/>
          <p:cNvGraphicFramePr>
            <a:graphicFrameLocks noGrp="1"/>
          </p:cNvGraphicFramePr>
          <p:nvPr/>
        </p:nvGraphicFramePr>
        <p:xfrm>
          <a:off x="4206240" y="1920240"/>
          <a:ext cx="4297680" cy="2926080"/>
        </p:xfrm>
        <a:graphic>
          <a:graphicData uri="http://schemas.openxmlformats.org/drawingml/2006/chart">
            <c:chart xmlns:c="http://schemas.openxmlformats.org/drawingml/2006/chart" r:id="rId3"/>
          </a:graphicData>
        </a:graphic>
      </p:graphicFrame>
      <p:sp>
        <p:nvSpPr>
          <p:cNvPr id="10" name="Rounded Rectangle 9"/>
          <p:cNvSpPr/>
          <p:nvPr/>
        </p:nvSpPr>
        <p:spPr>
          <a:xfrm>
            <a:off x="731520" y="49834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El peligro: </a:t>
            </a:r>
            <a:r>
              <a:rPr sz="1200" b="0" i="0">
                <a:solidFill>
                  <a:srgbClr val="2B2B2B"/>
                </a:solidFill>
                <a:latin typeface="Arial"/>
              </a:rPr>
              <a:t>con 980 normales y 20 fraudes, decir siempre «normal» acierta 98 % y no detecta ningún fraude. El modelo aprende poco de la clase rara, justo la que buscamos.</a:t>
            </a:r>
          </a:p>
        </p:txBody>
      </p:sp>
      <p:sp>
        <p:nvSpPr>
          <p:cNvPr id="11" name="Rounded Rectangle 10"/>
          <p:cNvSpPr/>
          <p:nvPr/>
        </p:nvSpPr>
        <p:spPr>
          <a:xfrm>
            <a:off x="731520" y="5870448"/>
            <a:ext cx="7772400" cy="4572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Los tres datasets de hoy </a:t>
            </a:r>
            <a:r>
              <a:rPr sz="1200" b="0" i="0">
                <a:solidFill>
                  <a:srgbClr val="2B2B2B"/>
                </a:solidFill>
                <a:latin typeface="Arial"/>
              </a:rPr>
              <a:t>son desbalanceados.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¿Por qué trabajamos con una muestra?</a:t>
            </a:r>
          </a:p>
        </p:txBody>
      </p:sp>
      <p:sp>
        <p:nvSpPr>
          <p:cNvPr id="3" name="Rounded Rectangle 2"/>
          <p:cNvSpPr/>
          <p:nvPr/>
        </p:nvSpPr>
        <p:spPr>
          <a:xfrm>
            <a:off x="731520" y="2011680"/>
            <a:ext cx="2377440" cy="13716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Archivo completo</a:t>
            </a:r>
          </a:p>
          <a:p>
            <a:pPr algn="ctr">
              <a:spcAft>
                <a:spcPts val="300"/>
              </a:spcAft>
            </a:pPr>
            <a:r>
              <a:rPr sz="2000" b="1" i="0">
                <a:solidFill>
                  <a:srgbClr val="FFFFFF"/>
                </a:solidFill>
                <a:latin typeface="Arial"/>
              </a:rPr>
              <a:t>6 362 620</a:t>
            </a:r>
          </a:p>
        </p:txBody>
      </p:sp>
      <p:sp>
        <p:nvSpPr>
          <p:cNvPr id="4" name="Rounded Rectangle 3"/>
          <p:cNvSpPr/>
          <p:nvPr/>
        </p:nvSpPr>
        <p:spPr>
          <a:xfrm>
            <a:off x="3246120" y="2011680"/>
            <a:ext cx="2377440" cy="13716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Nos quedamos con</a:t>
            </a:r>
          </a:p>
          <a:p>
            <a:pPr algn="ctr">
              <a:spcAft>
                <a:spcPts val="300"/>
              </a:spcAft>
            </a:pPr>
            <a:r>
              <a:rPr sz="1150" b="0" i="0">
                <a:solidFill>
                  <a:srgbClr val="2B2B2B"/>
                </a:solidFill>
                <a:latin typeface="Arial"/>
              </a:rPr>
              <a:t>todos los fraudes (8 213)</a:t>
            </a:r>
          </a:p>
          <a:p>
            <a:pPr algn="ctr">
              <a:spcAft>
                <a:spcPts val="300"/>
              </a:spcAft>
            </a:pPr>
            <a:r>
              <a:rPr sz="1150" b="0" i="0">
                <a:solidFill>
                  <a:srgbClr val="2B2B2B"/>
                </a:solidFill>
                <a:latin typeface="Arial"/>
              </a:rPr>
              <a:t>+ 91 985 normales al azar</a:t>
            </a:r>
          </a:p>
        </p:txBody>
      </p:sp>
      <p:sp>
        <p:nvSpPr>
          <p:cNvPr id="5" name="Rounded Rectangle 4"/>
          <p:cNvSpPr/>
          <p:nvPr/>
        </p:nvSpPr>
        <p:spPr>
          <a:xfrm>
            <a:off x="5760720" y="2011680"/>
            <a:ext cx="2743200" cy="1371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Muestra de clase</a:t>
            </a:r>
          </a:p>
          <a:p>
            <a:pPr algn="ctr">
              <a:spcAft>
                <a:spcPts val="300"/>
              </a:spcAft>
            </a:pPr>
            <a:r>
              <a:rPr sz="2000" b="1" i="0">
                <a:solidFill>
                  <a:srgbClr val="D7263D"/>
                </a:solidFill>
                <a:latin typeface="Arial"/>
              </a:rPr>
              <a:t>100 198</a:t>
            </a:r>
          </a:p>
        </p:txBody>
      </p:sp>
      <p:sp>
        <p:nvSpPr>
          <p:cNvPr id="6" name="Right Arrow 5"/>
          <p:cNvSpPr/>
          <p:nvPr/>
        </p:nvSpPr>
        <p:spPr>
          <a:xfrm>
            <a:off x="3108960" y="2560320"/>
            <a:ext cx="13716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ight Arrow 6"/>
          <p:cNvSpPr/>
          <p:nvPr/>
        </p:nvSpPr>
        <p:spPr>
          <a:xfrm>
            <a:off x="5623560" y="2560320"/>
            <a:ext cx="13716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graphicFrame>
        <p:nvGraphicFramePr>
          <p:cNvPr id="8" name="Table 7"/>
          <p:cNvGraphicFramePr>
            <a:graphicFrameLocks noGrp="1"/>
          </p:cNvGraphicFramePr>
          <p:nvPr/>
        </p:nvGraphicFramePr>
        <p:xfrm>
          <a:off x="731520" y="3611880"/>
          <a:ext cx="7772400" cy="1536192"/>
        </p:xfrm>
        <a:graphic>
          <a:graphicData uri="http://schemas.openxmlformats.org/drawingml/2006/table">
            <a:tbl>
              <a:tblPr firstRow="1" bandRow="1">
                <a:tableStyleId>{5C22544A-7EE6-4342-B048-85BDC9FD1C3A}</a:tableStyleId>
              </a:tblPr>
              <a:tblGrid>
                <a:gridCol w="2286000"/>
                <a:gridCol w="2743200"/>
                <a:gridCol w="2743200"/>
              </a:tblGrid>
              <a:tr h="384048">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Archivo completo</a:t>
                      </a:r>
                    </a:p>
                  </a:txBody>
                  <a:tcPr marL="64008" marR="64008" marT="27432" marB="27432" anchor="ctr">
                    <a:solidFill>
                      <a:srgbClr val="242852"/>
                    </a:solidFill>
                  </a:tcPr>
                </a:tc>
                <a:tc>
                  <a:txBody>
                    <a:bodyPr wrap="square"/>
                    <a:lstStyle/>
                    <a:p>
                      <a:pPr algn="ctr"/>
                      <a:r>
                        <a:rPr sz="1200" b="1" i="0">
                          <a:solidFill>
                            <a:srgbClr val="FFFFFF"/>
                          </a:solidFill>
                          <a:latin typeface="Arial"/>
                        </a:rPr>
                        <a:t>Muestra de clase</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Fraudes</a:t>
                      </a:r>
                    </a:p>
                  </a:txBody>
                  <a:tcPr marL="64008" marR="64008" marT="27432" marB="27432" anchor="ctr">
                    <a:solidFill>
                      <a:srgbClr val="FFFFFF"/>
                    </a:solidFill>
                  </a:tcPr>
                </a:tc>
                <a:tc>
                  <a:txBody>
                    <a:bodyPr wrap="square"/>
                    <a:lstStyle/>
                    <a:p>
                      <a:pPr algn="ctr"/>
                      <a:r>
                        <a:rPr sz="1200" b="0" i="0">
                          <a:solidFill>
                            <a:srgbClr val="2B2B2B"/>
                          </a:solidFill>
                          <a:latin typeface="Arial"/>
                        </a:rPr>
                        <a:t>8 213</a:t>
                      </a:r>
                    </a:p>
                  </a:txBody>
                  <a:tcPr marL="64008" marR="64008" marT="27432" marB="27432" anchor="ctr">
                    <a:solidFill>
                      <a:srgbClr val="FFFFFF"/>
                    </a:solidFill>
                  </a:tcPr>
                </a:tc>
                <a:tc>
                  <a:txBody>
                    <a:bodyPr wrap="square"/>
                    <a:lstStyle/>
                    <a:p>
                      <a:pPr algn="ctr"/>
                      <a:r>
                        <a:rPr sz="1200" b="0" i="0">
                          <a:solidFill>
                            <a:srgbClr val="2B2B2B"/>
                          </a:solidFill>
                          <a:latin typeface="Arial"/>
                        </a:rPr>
                        <a:t>8 213 (todos)</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Normales</a:t>
                      </a:r>
                    </a:p>
                  </a:txBody>
                  <a:tcPr marL="64008" marR="64008" marT="27432" marB="27432" anchor="ctr">
                    <a:solidFill>
                      <a:srgbClr val="F2F3F5"/>
                    </a:solidFill>
                  </a:tcPr>
                </a:tc>
                <a:tc>
                  <a:txBody>
                    <a:bodyPr wrap="square"/>
                    <a:lstStyle/>
                    <a:p>
                      <a:pPr algn="ctr"/>
                      <a:r>
                        <a:rPr sz="1200" b="0" i="0">
                          <a:solidFill>
                            <a:srgbClr val="2B2B2B"/>
                          </a:solidFill>
                          <a:latin typeface="Arial"/>
                        </a:rPr>
                        <a:t>6 354 407</a:t>
                      </a:r>
                    </a:p>
                  </a:txBody>
                  <a:tcPr marL="64008" marR="64008" marT="27432" marB="27432" anchor="ctr">
                    <a:solidFill>
                      <a:srgbClr val="F2F3F5"/>
                    </a:solidFill>
                  </a:tcPr>
                </a:tc>
                <a:tc>
                  <a:txBody>
                    <a:bodyPr wrap="square"/>
                    <a:lstStyle/>
                    <a:p>
                      <a:pPr algn="ctr"/>
                      <a:r>
                        <a:rPr sz="1200" b="0" i="0">
                          <a:solidFill>
                            <a:srgbClr val="2B2B2B"/>
                          </a:solidFill>
                          <a:latin typeface="Arial"/>
                        </a:rPr>
                        <a:t>91 985 (al azar)</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 fraude</a:t>
                      </a:r>
                    </a:p>
                  </a:txBody>
                  <a:tcPr marL="64008" marR="64008" marT="27432" marB="27432" anchor="ctr">
                    <a:solidFill>
                      <a:srgbClr val="FFFFFF"/>
                    </a:solidFill>
                  </a:tcPr>
                </a:tc>
                <a:tc>
                  <a:txBody>
                    <a:bodyPr wrap="square"/>
                    <a:lstStyle/>
                    <a:p>
                      <a:pPr algn="ctr"/>
                      <a:r>
                        <a:rPr sz="1200" b="0" i="0">
                          <a:solidFill>
                            <a:srgbClr val="2B2B2B"/>
                          </a:solidFill>
                          <a:latin typeface="Arial"/>
                        </a:rPr>
                        <a:t>0,13 %</a:t>
                      </a:r>
                    </a:p>
                  </a:txBody>
                  <a:tcPr marL="64008" marR="64008" marT="27432" marB="27432" anchor="ctr">
                    <a:solidFill>
                      <a:srgbClr val="FFFFFF"/>
                    </a:solidFill>
                  </a:tcPr>
                </a:tc>
                <a:tc>
                  <a:txBody>
                    <a:bodyPr wrap="square"/>
                    <a:lstStyle/>
                    <a:p>
                      <a:pPr algn="ctr"/>
                      <a:r>
                        <a:rPr sz="1200" b="0" i="0">
                          <a:solidFill>
                            <a:srgbClr val="2B2B2B"/>
                          </a:solidFill>
                          <a:latin typeface="Arial"/>
                        </a:rPr>
                        <a:t>8,2 %</a:t>
                      </a:r>
                    </a:p>
                  </a:txBody>
                  <a:tcPr marL="64008" marR="64008" marT="27432" marB="27432" anchor="ctr">
                    <a:solidFill>
                      <a:srgbClr val="FFFFFF"/>
                    </a:solidFill>
                  </a:tcPr>
                </a:tc>
              </a:tr>
            </a:tbl>
          </a:graphicData>
        </a:graphic>
      </p:graphicFrame>
      <p:sp>
        <p:nvSpPr>
          <p:cNvPr id="9" name="Rounded Rectangle 8"/>
          <p:cNvSpPr/>
          <p:nvPr/>
        </p:nvSpPr>
        <p:spPr>
          <a:xfrm>
            <a:off x="731520" y="534924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Esto ya es balancear: </a:t>
            </a:r>
            <a:r>
              <a:rPr sz="1200" b="0" i="0">
                <a:solidFill>
                  <a:srgbClr val="2B2B2B"/>
                </a:solidFill>
                <a:latin typeface="Arial"/>
              </a:rPr>
              <a:t>submuestreo de los normales. </a:t>
            </a:r>
            <a:r>
              <a:rPr sz="1200" b="1" i="0">
                <a:solidFill>
                  <a:srgbClr val="D7263D"/>
                </a:solidFill>
                <a:latin typeface="Arial"/>
              </a:rPr>
              <a:t>Consecuencia: </a:t>
            </a:r>
            <a:r>
              <a:rPr sz="1200" b="0" i="0">
                <a:solidFill>
                  <a:srgbClr val="2B2B2B"/>
                </a:solidFill>
                <a:latin typeface="Arial"/>
              </a:rPr>
              <a:t>con la tasa real habría muchas más falsas alarmas; la Precision de hoy sería menor en producción.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trabajar con datos desbalanceados</a:t>
            </a:r>
          </a:p>
        </p:txBody>
      </p:sp>
      <p:sp>
        <p:nvSpPr>
          <p:cNvPr id="3" name="Rounded Rectangle 2"/>
          <p:cNvSpPr/>
          <p:nvPr/>
        </p:nvSpPr>
        <p:spPr>
          <a:xfrm>
            <a:off x="731520" y="1965960"/>
            <a:ext cx="2487168"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41248" y="2075688"/>
            <a:ext cx="411480" cy="4114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1</a:t>
            </a:r>
          </a:p>
        </p:txBody>
      </p:sp>
      <p:sp>
        <p:nvSpPr>
          <p:cNvPr id="5" name="TextBox 4"/>
          <p:cNvSpPr txBox="1"/>
          <p:nvPr/>
        </p:nvSpPr>
        <p:spPr>
          <a:xfrm>
            <a:off x="1325880" y="20574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Dividir bien</a:t>
            </a:r>
          </a:p>
        </p:txBody>
      </p:sp>
      <p:sp>
        <p:nvSpPr>
          <p:cNvPr id="6" name="TextBox 5"/>
          <p:cNvSpPr txBox="1"/>
          <p:nvPr/>
        </p:nvSpPr>
        <p:spPr>
          <a:xfrm>
            <a:off x="868680" y="26060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stratify o por grupos</a:t>
            </a:r>
          </a:p>
        </p:txBody>
      </p:sp>
      <p:sp>
        <p:nvSpPr>
          <p:cNvPr id="7" name="Rounded Rectangle 6"/>
          <p:cNvSpPr/>
          <p:nvPr/>
        </p:nvSpPr>
        <p:spPr>
          <a:xfrm>
            <a:off x="3355848" y="1965960"/>
            <a:ext cx="2487168"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Oval 7"/>
          <p:cNvSpPr/>
          <p:nvPr/>
        </p:nvSpPr>
        <p:spPr>
          <a:xfrm>
            <a:off x="3465576" y="2075688"/>
            <a:ext cx="411480" cy="4114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2</a:t>
            </a:r>
          </a:p>
        </p:txBody>
      </p:sp>
      <p:sp>
        <p:nvSpPr>
          <p:cNvPr id="9" name="TextBox 8"/>
          <p:cNvSpPr txBox="1"/>
          <p:nvPr/>
        </p:nvSpPr>
        <p:spPr>
          <a:xfrm>
            <a:off x="3950208" y="20574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Medir bien</a:t>
            </a:r>
          </a:p>
        </p:txBody>
      </p:sp>
      <p:sp>
        <p:nvSpPr>
          <p:cNvPr id="10" name="TextBox 9"/>
          <p:cNvSpPr txBox="1"/>
          <p:nvPr/>
        </p:nvSpPr>
        <p:spPr>
          <a:xfrm>
            <a:off x="3493008" y="26060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Precision, Recall, F1</a:t>
            </a:r>
          </a:p>
        </p:txBody>
      </p:sp>
      <p:sp>
        <p:nvSpPr>
          <p:cNvPr id="11" name="Rounded Rectangle 10"/>
          <p:cNvSpPr/>
          <p:nvPr/>
        </p:nvSpPr>
        <p:spPr>
          <a:xfrm>
            <a:off x="5980176" y="1965960"/>
            <a:ext cx="2487168"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6089904" y="2075688"/>
            <a:ext cx="411480" cy="4114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3</a:t>
            </a:r>
          </a:p>
        </p:txBody>
      </p:sp>
      <p:sp>
        <p:nvSpPr>
          <p:cNvPr id="13" name="TextBox 12"/>
          <p:cNvSpPr txBox="1"/>
          <p:nvPr/>
        </p:nvSpPr>
        <p:spPr>
          <a:xfrm>
            <a:off x="6574536" y="20574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class_weight</a:t>
            </a:r>
          </a:p>
        </p:txBody>
      </p:sp>
      <p:sp>
        <p:nvSpPr>
          <p:cNvPr id="14" name="TextBox 13"/>
          <p:cNvSpPr txBox="1"/>
          <p:nvPr/>
        </p:nvSpPr>
        <p:spPr>
          <a:xfrm>
            <a:off x="6117336" y="26060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más peso a la clase rara</a:t>
            </a:r>
          </a:p>
        </p:txBody>
      </p:sp>
      <p:sp>
        <p:nvSpPr>
          <p:cNvPr id="15" name="Rounded Rectangle 14"/>
          <p:cNvSpPr/>
          <p:nvPr/>
        </p:nvSpPr>
        <p:spPr>
          <a:xfrm>
            <a:off x="731520" y="3337560"/>
            <a:ext cx="2487168"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41248" y="3447288"/>
            <a:ext cx="411480" cy="4114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4</a:t>
            </a:r>
          </a:p>
        </p:txBody>
      </p:sp>
      <p:sp>
        <p:nvSpPr>
          <p:cNvPr id="17" name="TextBox 16"/>
          <p:cNvSpPr txBox="1"/>
          <p:nvPr/>
        </p:nvSpPr>
        <p:spPr>
          <a:xfrm>
            <a:off x="1325880" y="34290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Submuestreo</a:t>
            </a:r>
          </a:p>
        </p:txBody>
      </p:sp>
      <p:sp>
        <p:nvSpPr>
          <p:cNvPr id="18" name="TextBox 17"/>
          <p:cNvSpPr txBox="1"/>
          <p:nvPr/>
        </p:nvSpPr>
        <p:spPr>
          <a:xfrm>
            <a:off x="868680" y="39776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quitar mayoritarios en Train</a:t>
            </a:r>
          </a:p>
        </p:txBody>
      </p:sp>
      <p:sp>
        <p:nvSpPr>
          <p:cNvPr id="19" name="Rounded Rectangle 18"/>
          <p:cNvSpPr/>
          <p:nvPr/>
        </p:nvSpPr>
        <p:spPr>
          <a:xfrm>
            <a:off x="3355848" y="3337560"/>
            <a:ext cx="2487168"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Oval 19"/>
          <p:cNvSpPr/>
          <p:nvPr/>
        </p:nvSpPr>
        <p:spPr>
          <a:xfrm>
            <a:off x="3465576" y="3447288"/>
            <a:ext cx="411480" cy="4114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5</a:t>
            </a:r>
          </a:p>
        </p:txBody>
      </p:sp>
      <p:sp>
        <p:nvSpPr>
          <p:cNvPr id="21" name="TextBox 20"/>
          <p:cNvSpPr txBox="1"/>
          <p:nvPr/>
        </p:nvSpPr>
        <p:spPr>
          <a:xfrm>
            <a:off x="3950208" y="34290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Sobremuestreo</a:t>
            </a:r>
          </a:p>
        </p:txBody>
      </p:sp>
      <p:sp>
        <p:nvSpPr>
          <p:cNvPr id="22" name="TextBox 21"/>
          <p:cNvSpPr txBox="1"/>
          <p:nvPr/>
        </p:nvSpPr>
        <p:spPr>
          <a:xfrm>
            <a:off x="3493008" y="39776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repetir minoritarios (SMOTE)</a:t>
            </a:r>
          </a:p>
        </p:txBody>
      </p:sp>
      <p:sp>
        <p:nvSpPr>
          <p:cNvPr id="23" name="Rounded Rectangle 22"/>
          <p:cNvSpPr/>
          <p:nvPr/>
        </p:nvSpPr>
        <p:spPr>
          <a:xfrm>
            <a:off x="5980176" y="3337560"/>
            <a:ext cx="2487168"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Oval 23"/>
          <p:cNvSpPr/>
          <p:nvPr/>
        </p:nvSpPr>
        <p:spPr>
          <a:xfrm>
            <a:off x="6089904" y="3447288"/>
            <a:ext cx="411480" cy="41148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00" b="1" i="0">
                <a:solidFill>
                  <a:srgbClr val="FFFFFF"/>
                </a:solidFill>
                <a:latin typeface="Arial"/>
              </a:rPr>
              <a:t>6</a:t>
            </a:r>
          </a:p>
        </p:txBody>
      </p:sp>
      <p:sp>
        <p:nvSpPr>
          <p:cNvPr id="25" name="TextBox 24"/>
          <p:cNvSpPr txBox="1"/>
          <p:nvPr/>
        </p:nvSpPr>
        <p:spPr>
          <a:xfrm>
            <a:off x="6574536" y="3429000"/>
            <a:ext cx="1828800" cy="45720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Umbral</a:t>
            </a:r>
          </a:p>
        </p:txBody>
      </p:sp>
      <p:sp>
        <p:nvSpPr>
          <p:cNvPr id="26" name="TextBox 25"/>
          <p:cNvSpPr txBox="1"/>
          <p:nvPr/>
        </p:nvSpPr>
        <p:spPr>
          <a:xfrm>
            <a:off x="6117336" y="3977639"/>
            <a:ext cx="2240280" cy="54864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mover el punto de decisión</a:t>
            </a:r>
          </a:p>
        </p:txBody>
      </p:sp>
      <p:sp>
        <p:nvSpPr>
          <p:cNvPr id="27" name="Rounded Rectangle 26"/>
          <p:cNvSpPr/>
          <p:nvPr/>
        </p:nvSpPr>
        <p:spPr>
          <a:xfrm>
            <a:off x="731520" y="4800600"/>
            <a:ext cx="7772400" cy="7772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Regla de oro: </a:t>
            </a:r>
            <a:r>
              <a:rPr sz="1300" b="0" i="0">
                <a:solidFill>
                  <a:srgbClr val="FFFFFF"/>
                </a:solidFill>
                <a:latin typeface="Arial"/>
              </a:rPr>
              <a:t>se balancea solo Train. Validation y Test deben parecerse a los datos reales.</a:t>
            </a:r>
          </a:p>
        </p:txBody>
      </p:sp>
      <p:sp>
        <p:nvSpPr>
          <p:cNvPr id="28" name="Rounded Rectangle 27"/>
          <p:cNvSpPr/>
          <p:nvPr/>
        </p:nvSpPr>
        <p:spPr>
          <a:xfrm>
            <a:off x="731520" y="576072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Más adelante </a:t>
            </a:r>
            <a:r>
              <a:rPr sz="1200" b="0" i="0">
                <a:solidFill>
                  <a:srgbClr val="2B2B2B"/>
                </a:solidFill>
                <a:latin typeface="Arial"/>
              </a:rPr>
              <a:t>comparamos class_weight, submuestreo y sobremuestreo con el mismo árbol.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Una fuga escondida: cada fraude aparece dos veces</a:t>
            </a:r>
          </a:p>
        </p:txBody>
      </p:sp>
      <p:sp>
        <p:nvSpPr>
          <p:cNvPr id="3" name="TextBox 2"/>
          <p:cNvSpPr txBox="1"/>
          <p:nvPr/>
        </p:nvSpPr>
        <p:spPr>
          <a:xfrm>
            <a:off x="731520" y="1920240"/>
            <a:ext cx="7772400" cy="320040"/>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Una operación de fraude = dos filas (ejemplo ilustrativo)</a:t>
            </a:r>
          </a:p>
        </p:txBody>
      </p:sp>
      <p:sp>
        <p:nvSpPr>
          <p:cNvPr id="4" name="Rounded Rectangle 3"/>
          <p:cNvSpPr/>
          <p:nvPr/>
        </p:nvSpPr>
        <p:spPr>
          <a:xfrm>
            <a:off x="2377440" y="2286000"/>
            <a:ext cx="2103120" cy="68580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FFFFFF"/>
                </a:solidFill>
                <a:latin typeface="Arial"/>
              </a:rPr>
              <a:t>TRANSFER</a:t>
            </a:r>
          </a:p>
          <a:p>
            <a:pPr algn="ctr">
              <a:spcAft>
                <a:spcPts val="300"/>
              </a:spcAft>
            </a:pPr>
            <a:r>
              <a:rPr sz="1050" b="0" i="0">
                <a:solidFill>
                  <a:srgbClr val="FFFFFF"/>
                </a:solidFill>
                <a:latin typeface="Arial"/>
              </a:rPr>
              <a:t>181 000 · hora 1</a:t>
            </a:r>
          </a:p>
        </p:txBody>
      </p:sp>
      <p:sp>
        <p:nvSpPr>
          <p:cNvPr id="5" name="Rounded Rectangle 4"/>
          <p:cNvSpPr/>
          <p:nvPr/>
        </p:nvSpPr>
        <p:spPr>
          <a:xfrm>
            <a:off x="4754880" y="2286000"/>
            <a:ext cx="2103120" cy="68580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FFFFFF"/>
                </a:solidFill>
                <a:latin typeface="Arial"/>
              </a:rPr>
              <a:t>CASH_OUT</a:t>
            </a:r>
          </a:p>
          <a:p>
            <a:pPr algn="ctr">
              <a:spcAft>
                <a:spcPts val="300"/>
              </a:spcAft>
            </a:pPr>
            <a:r>
              <a:rPr sz="1050" b="0" i="0">
                <a:solidFill>
                  <a:srgbClr val="FFFFFF"/>
                </a:solidFill>
                <a:latin typeface="Arial"/>
              </a:rPr>
              <a:t>181 000 · hora 1</a:t>
            </a:r>
          </a:p>
        </p:txBody>
      </p:sp>
      <p:sp>
        <p:nvSpPr>
          <p:cNvPr id="6" name="Rounded Rectangle 5"/>
          <p:cNvSpPr/>
          <p:nvPr/>
        </p:nvSpPr>
        <p:spPr>
          <a:xfrm>
            <a:off x="731520" y="3200400"/>
            <a:ext cx="3794760" cy="20574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868680" y="3246120"/>
            <a:ext cx="3520440" cy="365760"/>
          </a:xfrm>
          <a:prstGeom prst="rect">
            <a:avLst/>
          </a:prstGeom>
          <a:noFill/>
        </p:spPr>
        <p:txBody>
          <a:bodyPr wrap="square" anchor="t" lIns="36576" rIns="36576" tIns="36576" bIns="36576">
            <a:spAutoFit/>
          </a:bodyPr>
          <a:lstStyle/>
          <a:p>
            <a:pPr algn="l">
              <a:spcAft>
                <a:spcPts val="400"/>
              </a:spcAft>
            </a:pPr>
            <a:r>
              <a:rPr sz="1350" b="1" i="0">
                <a:solidFill>
                  <a:srgbClr val="D7263D"/>
                </a:solidFill>
                <a:latin typeface="Arial"/>
              </a:rPr>
              <a:t>División al azar (mal)</a:t>
            </a:r>
          </a:p>
        </p:txBody>
      </p:sp>
      <p:sp>
        <p:nvSpPr>
          <p:cNvPr id="8" name="Rounded Rectangle 7"/>
          <p:cNvSpPr/>
          <p:nvPr/>
        </p:nvSpPr>
        <p:spPr>
          <a:xfrm>
            <a:off x="868680" y="3657600"/>
            <a:ext cx="16916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300"/>
              </a:spcAft>
            </a:pPr>
            <a:r>
              <a:rPr sz="1150" b="1" i="0">
                <a:solidFill>
                  <a:srgbClr val="242852"/>
                </a:solidFill>
                <a:latin typeface="Arial"/>
              </a:rPr>
              <a:t>Train</a:t>
            </a:r>
          </a:p>
          <a:p>
            <a:pPr algn="ctr">
              <a:spcAft>
                <a:spcPts val="300"/>
              </a:spcAft>
            </a:pPr>
            <a:r>
              <a:rPr sz="1050" b="0" i="0">
                <a:solidFill>
                  <a:srgbClr val="2B2B2B"/>
                </a:solidFill>
                <a:latin typeface="Arial"/>
              </a:rPr>
              <a:t>TRANSFER 181 000</a:t>
            </a:r>
          </a:p>
        </p:txBody>
      </p:sp>
      <p:sp>
        <p:nvSpPr>
          <p:cNvPr id="9" name="Rounded Rectangle 8"/>
          <p:cNvSpPr/>
          <p:nvPr/>
        </p:nvSpPr>
        <p:spPr>
          <a:xfrm>
            <a:off x="2697480" y="3657600"/>
            <a:ext cx="16916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300"/>
              </a:spcAft>
            </a:pPr>
            <a:r>
              <a:rPr sz="1150" b="1" i="0">
                <a:solidFill>
                  <a:srgbClr val="242852"/>
                </a:solidFill>
                <a:latin typeface="Arial"/>
              </a:rPr>
              <a:t>Validation</a:t>
            </a:r>
          </a:p>
          <a:p>
            <a:pPr algn="ctr">
              <a:spcAft>
                <a:spcPts val="300"/>
              </a:spcAft>
            </a:pPr>
            <a:r>
              <a:rPr sz="1050" b="0" i="0">
                <a:solidFill>
                  <a:srgbClr val="2B2B2B"/>
                </a:solidFill>
                <a:latin typeface="Arial"/>
              </a:rPr>
              <a:t>CASH_OUT 181 000</a:t>
            </a:r>
          </a:p>
        </p:txBody>
      </p:sp>
      <p:sp>
        <p:nvSpPr>
          <p:cNvPr id="10" name="TextBox 9"/>
          <p:cNvSpPr txBox="1"/>
          <p:nvPr/>
        </p:nvSpPr>
        <p:spPr>
          <a:xfrm>
            <a:off x="868680" y="4663440"/>
            <a:ext cx="3520440" cy="457200"/>
          </a:xfrm>
          <a:prstGeom prst="rect">
            <a:avLst/>
          </a:prstGeom>
          <a:noFill/>
        </p:spPr>
        <p:txBody>
          <a:bodyPr wrap="square" anchor="t" lIns="36576" rIns="36576" tIns="36576" bIns="36576">
            <a:spAutoFit/>
          </a:bodyPr>
          <a:lstStyle/>
          <a:p>
            <a:pPr algn="ctr">
              <a:spcAft>
                <a:spcPts val="400"/>
              </a:spcAft>
            </a:pPr>
            <a:r>
              <a:rPr sz="1150" b="1" i="0">
                <a:solidFill>
                  <a:srgbClr val="D7263D"/>
                </a:solidFill>
                <a:latin typeface="Arial"/>
              </a:rPr>
              <a:t>el modelo ya vio ese monto</a:t>
            </a:r>
          </a:p>
        </p:txBody>
      </p:sp>
      <p:sp>
        <p:nvSpPr>
          <p:cNvPr id="11" name="Rounded Rectangle 10"/>
          <p:cNvSpPr/>
          <p:nvPr/>
        </p:nvSpPr>
        <p:spPr>
          <a:xfrm>
            <a:off x="4709160" y="3200400"/>
            <a:ext cx="3794760" cy="20574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4846320" y="3246120"/>
            <a:ext cx="3520440" cy="365760"/>
          </a:xfrm>
          <a:prstGeom prst="rect">
            <a:avLst/>
          </a:prstGeom>
          <a:noFill/>
        </p:spPr>
        <p:txBody>
          <a:bodyPr wrap="square" anchor="t" lIns="36576" rIns="36576" tIns="36576" bIns="36576">
            <a:spAutoFit/>
          </a:bodyPr>
          <a:lstStyle/>
          <a:p>
            <a:pPr algn="l">
              <a:spcAft>
                <a:spcPts val="400"/>
              </a:spcAft>
            </a:pPr>
            <a:r>
              <a:rPr sz="1350" b="1" i="0">
                <a:solidFill>
                  <a:srgbClr val="2A9D8F"/>
                </a:solidFill>
                <a:latin typeface="Arial"/>
              </a:rPr>
              <a:t>División por operación (bien)</a:t>
            </a:r>
          </a:p>
        </p:txBody>
      </p:sp>
      <p:sp>
        <p:nvSpPr>
          <p:cNvPr id="13" name="Rounded Rectangle 12"/>
          <p:cNvSpPr/>
          <p:nvPr/>
        </p:nvSpPr>
        <p:spPr>
          <a:xfrm>
            <a:off x="4846320" y="3657600"/>
            <a:ext cx="16916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300"/>
              </a:spcAft>
            </a:pPr>
            <a:r>
              <a:rPr sz="1150" b="1" i="0">
                <a:solidFill>
                  <a:srgbClr val="242852"/>
                </a:solidFill>
                <a:latin typeface="Arial"/>
              </a:rPr>
              <a:t>Train</a:t>
            </a:r>
          </a:p>
          <a:p>
            <a:pPr algn="ctr">
              <a:spcAft>
                <a:spcPts val="300"/>
              </a:spcAft>
            </a:pPr>
            <a:r>
              <a:rPr sz="1050" b="0" i="0">
                <a:solidFill>
                  <a:srgbClr val="2B2B2B"/>
                </a:solidFill>
                <a:latin typeface="Arial"/>
              </a:rPr>
              <a:t>TRANSFER + CASH_OUT</a:t>
            </a:r>
          </a:p>
        </p:txBody>
      </p:sp>
      <p:sp>
        <p:nvSpPr>
          <p:cNvPr id="14" name="Rounded Rectangle 13"/>
          <p:cNvSpPr/>
          <p:nvPr/>
        </p:nvSpPr>
        <p:spPr>
          <a:xfrm>
            <a:off x="6675120" y="3657600"/>
            <a:ext cx="1691640"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spcAft>
                <a:spcPts val="300"/>
              </a:spcAft>
            </a:pPr>
            <a:r>
              <a:rPr sz="1150" b="1" i="0">
                <a:solidFill>
                  <a:srgbClr val="242852"/>
                </a:solidFill>
                <a:latin typeface="Arial"/>
              </a:rPr>
              <a:t>Validation</a:t>
            </a:r>
          </a:p>
          <a:p>
            <a:pPr algn="ctr">
              <a:spcAft>
                <a:spcPts val="300"/>
              </a:spcAft>
            </a:pPr>
            <a:r>
              <a:rPr sz="1050" b="0" i="0">
                <a:solidFill>
                  <a:srgbClr val="2B2B2B"/>
                </a:solidFill>
                <a:latin typeface="Arial"/>
              </a:rPr>
              <a:t>otras operaciones</a:t>
            </a:r>
          </a:p>
        </p:txBody>
      </p:sp>
      <p:sp>
        <p:nvSpPr>
          <p:cNvPr id="15" name="TextBox 14"/>
          <p:cNvSpPr txBox="1"/>
          <p:nvPr/>
        </p:nvSpPr>
        <p:spPr>
          <a:xfrm>
            <a:off x="4846320" y="4663440"/>
            <a:ext cx="3520440" cy="457200"/>
          </a:xfrm>
          <a:prstGeom prst="rect">
            <a:avLst/>
          </a:prstGeom>
          <a:noFill/>
        </p:spPr>
        <p:txBody>
          <a:bodyPr wrap="square" anchor="t" lIns="36576" rIns="36576" tIns="36576" bIns="36576">
            <a:spAutoFit/>
          </a:bodyPr>
          <a:lstStyle/>
          <a:p>
            <a:pPr algn="ctr">
              <a:spcAft>
                <a:spcPts val="400"/>
              </a:spcAft>
            </a:pPr>
            <a:r>
              <a:rPr sz="1150" b="1" i="0">
                <a:solidFill>
                  <a:srgbClr val="2A9D8F"/>
                </a:solidFill>
                <a:latin typeface="Arial"/>
              </a:rPr>
              <a:t>no hay montos repetidos</a:t>
            </a:r>
          </a:p>
        </p:txBody>
      </p:sp>
      <p:sp>
        <p:nvSpPr>
          <p:cNvPr id="16" name="Rounded Rectangle 15"/>
          <p:cNvSpPr/>
          <p:nvPr/>
        </p:nvSpPr>
        <p:spPr>
          <a:xfrm>
            <a:off x="731520" y="5486400"/>
            <a:ext cx="7772400" cy="64008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Resultado: </a:t>
            </a:r>
            <a:r>
              <a:rPr sz="1200" b="0" i="0">
                <a:solidFill>
                  <a:srgbClr val="2B2B2B"/>
                </a:solidFill>
                <a:latin typeface="Arial"/>
              </a:rPr>
              <a:t>Train 70 126 filas (8,2 % fraude) · Validation 15 063 (8,5 %) · Test 15 009 (8,0 %). Ninguna operación compartida.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Construir y evaluar</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Gini</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Ejemplo a mano</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PaySim</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3</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Árbol de clasificación: cómo elige la pregunta</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El índice de Gini mide la mezcla de clases y guía la construcción del árbol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Dos momentos distintos: construir y evaluar</a:t>
            </a:r>
          </a:p>
        </p:txBody>
      </p:sp>
      <p:sp>
        <p:nvSpPr>
          <p:cNvPr id="3" name="Rounded Rectangle 2"/>
          <p:cNvSpPr/>
          <p:nvPr/>
        </p:nvSpPr>
        <p:spPr>
          <a:xfrm>
            <a:off x="731520" y="2011680"/>
            <a:ext cx="3657600" cy="2377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Momento 1 · con Train</a:t>
            </a:r>
          </a:p>
          <a:p>
            <a:pPr algn="ctr">
              <a:spcAft>
                <a:spcPts val="300"/>
              </a:spcAft>
            </a:pPr>
            <a:r>
              <a:rPr sz="2000" b="1" i="0">
                <a:solidFill>
                  <a:srgbClr val="242852"/>
                </a:solidFill>
                <a:latin typeface="Arial"/>
              </a:rPr>
              <a:t>Construir</a:t>
            </a:r>
          </a:p>
          <a:p>
            <a:pPr algn="ctr">
              <a:spcAft>
                <a:spcPts val="300"/>
              </a:spcAft>
            </a:pPr>
            <a:r>
              <a:rPr sz="1500" b="1" i="0">
                <a:solidFill>
                  <a:srgbClr val="242852"/>
                </a:solidFill>
                <a:latin typeface="Arial"/>
              </a:rPr>
              <a:t>Índice de Gini</a:t>
            </a:r>
          </a:p>
          <a:p>
            <a:pPr algn="ctr">
              <a:spcAft>
                <a:spcPts val="300"/>
              </a:spcAft>
            </a:pPr>
            <a:r>
              <a:rPr sz="1250" b="0" i="0">
                <a:solidFill>
                  <a:srgbClr val="2B2B2B"/>
                </a:solidFill>
                <a:latin typeface="Arial"/>
              </a:rPr>
              <a:t>¿qué pregunta separa mejor las transacciones?</a:t>
            </a:r>
          </a:p>
        </p:txBody>
      </p:sp>
      <p:sp>
        <p:nvSpPr>
          <p:cNvPr id="4" name="Right Arrow 3"/>
          <p:cNvSpPr/>
          <p:nvPr/>
        </p:nvSpPr>
        <p:spPr>
          <a:xfrm>
            <a:off x="4480560" y="3017520"/>
            <a:ext cx="457200" cy="36576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5029200" y="2011680"/>
            <a:ext cx="3474720" cy="2377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Momento 2 · con Validation</a:t>
            </a:r>
          </a:p>
          <a:p>
            <a:pPr algn="ctr">
              <a:spcAft>
                <a:spcPts val="300"/>
              </a:spcAft>
            </a:pPr>
            <a:r>
              <a:rPr sz="2000" b="1" i="0">
                <a:solidFill>
                  <a:srgbClr val="D7263D"/>
                </a:solidFill>
                <a:latin typeface="Arial"/>
              </a:rPr>
              <a:t>Evaluar</a:t>
            </a:r>
          </a:p>
          <a:p>
            <a:pPr algn="ctr">
              <a:spcAft>
                <a:spcPts val="300"/>
              </a:spcAft>
            </a:pPr>
            <a:r>
              <a:rPr sz="1500" b="1" i="0">
                <a:solidFill>
                  <a:srgbClr val="D7263D"/>
                </a:solidFill>
                <a:latin typeface="Arial"/>
              </a:rPr>
              <a:t>Matriz de confusión</a:t>
            </a:r>
          </a:p>
          <a:p>
            <a:pPr algn="ctr">
              <a:spcAft>
                <a:spcPts val="300"/>
              </a:spcAft>
            </a:pPr>
            <a:r>
              <a:rPr sz="1250" b="0" i="0">
                <a:solidFill>
                  <a:srgbClr val="2B2B2B"/>
                </a:solidFill>
                <a:latin typeface="Arial"/>
              </a:rPr>
              <a:t>¿detecta correctamente los fraudes?</a:t>
            </a:r>
          </a:p>
        </p:txBody>
      </p:sp>
      <p:sp>
        <p:nvSpPr>
          <p:cNvPr id="6" name="Rounded Rectangle 5"/>
          <p:cNvSpPr/>
          <p:nvPr/>
        </p:nvSpPr>
        <p:spPr>
          <a:xfrm>
            <a:off x="731520" y="466344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Gini ayuda a construir el árbol; </a:t>
            </a:r>
            <a:r>
              <a:rPr sz="1400" b="0" i="0">
                <a:solidFill>
                  <a:srgbClr val="FFFFFF"/>
                </a:solidFill>
                <a:latin typeface="Arial"/>
              </a:rPr>
              <a:t>la matriz de confusión ayuda a evaluar sus predicciones.</a:t>
            </a:r>
          </a:p>
        </p:txBody>
      </p:sp>
      <p:sp>
        <p:nvSpPr>
          <p:cNvPr id="7" name="Rounded Rectangle 6"/>
          <p:cNvSpPr/>
          <p:nvPr/>
        </p:nvSpPr>
        <p:spPr>
          <a:xfrm>
            <a:off x="731520" y="576072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Orden de hoy: </a:t>
            </a:r>
            <a:r>
              <a:rPr sz="1200" b="0" i="0">
                <a:solidFill>
                  <a:srgbClr val="2B2B2B"/>
                </a:solidFill>
                <a:latin typeface="Arial"/>
              </a:rPr>
              <a:t>primero Gini (cómo aprende), luego la matriz y las métricas (cómo lo evaluamos).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un árbol de clasificación?</a:t>
            </a:r>
          </a:p>
        </p:txBody>
      </p:sp>
      <p:sp>
        <p:nvSpPr>
          <p:cNvPr id="3" name="Rounded Rectangle 2"/>
          <p:cNvSpPr/>
          <p:nvPr/>
        </p:nvSpPr>
        <p:spPr>
          <a:xfrm>
            <a:off x="1463039" y="1965960"/>
            <a:ext cx="3108960" cy="68580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50" b="1" i="0">
                <a:solidFill>
                  <a:srgbClr val="FFFFFF"/>
                </a:solidFill>
                <a:latin typeface="Arial"/>
              </a:rPr>
              <a:t>¿Es TRANSFER o CASH_OUT?</a:t>
            </a:r>
          </a:p>
        </p:txBody>
      </p:sp>
      <p:cxnSp>
        <p:nvCxnSpPr>
          <p:cNvPr id="4" name="Connector 3"/>
          <p:cNvCxnSpPr/>
          <p:nvPr/>
        </p:nvCxnSpPr>
        <p:spPr>
          <a:xfrm flipH="1">
            <a:off x="1554480" y="2651760"/>
            <a:ext cx="640080" cy="50292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554479" y="2702051"/>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cxnSp>
        <p:nvCxnSpPr>
          <p:cNvPr id="6" name="Connector 5"/>
          <p:cNvCxnSpPr/>
          <p:nvPr/>
        </p:nvCxnSpPr>
        <p:spPr>
          <a:xfrm>
            <a:off x="3840480" y="2651760"/>
            <a:ext cx="640080" cy="50292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840480" y="2702051"/>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sp>
        <p:nvSpPr>
          <p:cNvPr id="8" name="Rounded Rectangle 7"/>
          <p:cNvSpPr/>
          <p:nvPr/>
        </p:nvSpPr>
        <p:spPr>
          <a:xfrm>
            <a:off x="594359" y="3154680"/>
            <a:ext cx="1920240" cy="7772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2A9D8F"/>
                </a:solidFill>
                <a:latin typeface="Arial"/>
              </a:rPr>
              <a:t>predice normal</a:t>
            </a:r>
          </a:p>
          <a:p>
            <a:pPr algn="ctr">
              <a:spcAft>
                <a:spcPts val="300"/>
              </a:spcAft>
            </a:pPr>
            <a:r>
              <a:rPr sz="1000" b="1" i="0">
                <a:solidFill>
                  <a:srgbClr val="5F6368"/>
                </a:solidFill>
                <a:latin typeface="Arial"/>
              </a:rPr>
              <a:t>hoja</a:t>
            </a:r>
          </a:p>
        </p:txBody>
      </p:sp>
      <p:sp>
        <p:nvSpPr>
          <p:cNvPr id="9" name="Rounded Rectangle 8"/>
          <p:cNvSpPr/>
          <p:nvPr/>
        </p:nvSpPr>
        <p:spPr>
          <a:xfrm>
            <a:off x="3291840" y="3154680"/>
            <a:ext cx="2377440" cy="68580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FFFFFF"/>
                </a:solidFill>
                <a:latin typeface="Arial"/>
              </a:rPr>
              <a:t>¿Monto &gt; 200 000?</a:t>
            </a:r>
          </a:p>
        </p:txBody>
      </p:sp>
      <p:cxnSp>
        <p:nvCxnSpPr>
          <p:cNvPr id="10" name="Connector 9"/>
          <p:cNvCxnSpPr/>
          <p:nvPr/>
        </p:nvCxnSpPr>
        <p:spPr>
          <a:xfrm flipH="1">
            <a:off x="3474720" y="3840480"/>
            <a:ext cx="457200" cy="50292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383279" y="3890772"/>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cxnSp>
        <p:nvCxnSpPr>
          <p:cNvPr id="12" name="Connector 11"/>
          <p:cNvCxnSpPr/>
          <p:nvPr/>
        </p:nvCxnSpPr>
        <p:spPr>
          <a:xfrm>
            <a:off x="5029200" y="3840480"/>
            <a:ext cx="457200" cy="50292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37760" y="3890772"/>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sp>
        <p:nvSpPr>
          <p:cNvPr id="14" name="Rounded Rectangle 13"/>
          <p:cNvSpPr/>
          <p:nvPr/>
        </p:nvSpPr>
        <p:spPr>
          <a:xfrm>
            <a:off x="2606039" y="4343400"/>
            <a:ext cx="1737360" cy="7772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2A9D8F"/>
                </a:solidFill>
                <a:latin typeface="Arial"/>
              </a:rPr>
              <a:t>predice normal</a:t>
            </a:r>
          </a:p>
          <a:p>
            <a:pPr algn="ctr">
              <a:spcAft>
                <a:spcPts val="300"/>
              </a:spcAft>
            </a:pPr>
            <a:r>
              <a:rPr sz="1000" b="1" i="0">
                <a:solidFill>
                  <a:srgbClr val="5F6368"/>
                </a:solidFill>
                <a:latin typeface="Arial"/>
              </a:rPr>
              <a:t>hoja</a:t>
            </a:r>
          </a:p>
        </p:txBody>
      </p:sp>
      <p:sp>
        <p:nvSpPr>
          <p:cNvPr id="15" name="Rounded Rectangle 14"/>
          <p:cNvSpPr/>
          <p:nvPr/>
        </p:nvSpPr>
        <p:spPr>
          <a:xfrm>
            <a:off x="4617720" y="4343400"/>
            <a:ext cx="1737360" cy="7772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D7263D"/>
                </a:solidFill>
                <a:latin typeface="Arial"/>
              </a:rPr>
              <a:t>predice fraude</a:t>
            </a:r>
          </a:p>
          <a:p>
            <a:pPr algn="ctr">
              <a:spcAft>
                <a:spcPts val="300"/>
              </a:spcAft>
            </a:pPr>
            <a:r>
              <a:rPr sz="1000" b="1" i="0">
                <a:solidFill>
                  <a:srgbClr val="5F6368"/>
                </a:solidFill>
                <a:latin typeface="Arial"/>
              </a:rPr>
              <a:t>hoja</a:t>
            </a:r>
          </a:p>
        </p:txBody>
      </p:sp>
      <p:sp>
        <p:nvSpPr>
          <p:cNvPr id="16" name="Rounded Rectangle 15"/>
          <p:cNvSpPr/>
          <p:nvPr/>
        </p:nvSpPr>
        <p:spPr>
          <a:xfrm>
            <a:off x="6675120" y="1965960"/>
            <a:ext cx="1828800" cy="98755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6812280" y="2075688"/>
            <a:ext cx="1600200" cy="502920"/>
          </a:xfrm>
          <a:prstGeom prst="rect">
            <a:avLst/>
          </a:prstGeom>
          <a:noFill/>
        </p:spPr>
        <p:txBody>
          <a:bodyPr wrap="square" anchor="ctr" lIns="36576" rIns="36576" tIns="36576" bIns="36576">
            <a:spAutoFit/>
          </a:bodyPr>
          <a:lstStyle/>
          <a:p>
            <a:pPr algn="l">
              <a:spcAft>
                <a:spcPts val="400"/>
              </a:spcAft>
            </a:pPr>
            <a:r>
              <a:rPr sz="1200" b="1" i="0">
                <a:solidFill>
                  <a:srgbClr val="242852"/>
                </a:solidFill>
                <a:latin typeface="Arial"/>
              </a:rPr>
              <a:t>Nodo</a:t>
            </a:r>
          </a:p>
        </p:txBody>
      </p:sp>
      <p:sp>
        <p:nvSpPr>
          <p:cNvPr id="18" name="TextBox 17"/>
          <p:cNvSpPr txBox="1"/>
          <p:nvPr/>
        </p:nvSpPr>
        <p:spPr>
          <a:xfrm>
            <a:off x="6812280" y="2624328"/>
            <a:ext cx="1554480" cy="256032"/>
          </a:xfrm>
          <a:prstGeom prst="rect">
            <a:avLst/>
          </a:prstGeom>
          <a:noFill/>
        </p:spPr>
        <p:txBody>
          <a:bodyPr wrap="square" anchor="t" lIns="36576" rIns="36576" tIns="36576" bIns="36576">
            <a:spAutoFit/>
          </a:bodyPr>
          <a:lstStyle/>
          <a:p>
            <a:pPr algn="l">
              <a:spcAft>
                <a:spcPts val="400"/>
              </a:spcAft>
            </a:pPr>
            <a:r>
              <a:rPr sz="1050" b="0" i="0">
                <a:solidFill>
                  <a:srgbClr val="2B2B2B"/>
                </a:solidFill>
                <a:latin typeface="Arial"/>
              </a:rPr>
              <a:t>una pregunta</a:t>
            </a:r>
          </a:p>
        </p:txBody>
      </p:sp>
      <p:sp>
        <p:nvSpPr>
          <p:cNvPr id="19" name="Rounded Rectangle 18"/>
          <p:cNvSpPr/>
          <p:nvPr/>
        </p:nvSpPr>
        <p:spPr>
          <a:xfrm>
            <a:off x="6675120" y="3044952"/>
            <a:ext cx="1828800" cy="98755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6812280" y="3154680"/>
            <a:ext cx="1600200" cy="502920"/>
          </a:xfrm>
          <a:prstGeom prst="rect">
            <a:avLst/>
          </a:prstGeom>
          <a:noFill/>
        </p:spPr>
        <p:txBody>
          <a:bodyPr wrap="square" anchor="ctr" lIns="36576" rIns="36576" tIns="36576" bIns="36576">
            <a:spAutoFit/>
          </a:bodyPr>
          <a:lstStyle/>
          <a:p>
            <a:pPr algn="l">
              <a:spcAft>
                <a:spcPts val="400"/>
              </a:spcAft>
            </a:pPr>
            <a:r>
              <a:rPr sz="1200" b="1" i="0">
                <a:solidFill>
                  <a:srgbClr val="242852"/>
                </a:solidFill>
                <a:latin typeface="Arial"/>
              </a:rPr>
              <a:t>Rama</a:t>
            </a:r>
          </a:p>
        </p:txBody>
      </p:sp>
      <p:sp>
        <p:nvSpPr>
          <p:cNvPr id="21" name="TextBox 20"/>
          <p:cNvSpPr txBox="1"/>
          <p:nvPr/>
        </p:nvSpPr>
        <p:spPr>
          <a:xfrm>
            <a:off x="6812280" y="3703320"/>
            <a:ext cx="1554480" cy="256032"/>
          </a:xfrm>
          <a:prstGeom prst="rect">
            <a:avLst/>
          </a:prstGeom>
          <a:noFill/>
        </p:spPr>
        <p:txBody>
          <a:bodyPr wrap="square" anchor="t" lIns="36576" rIns="36576" tIns="36576" bIns="36576">
            <a:spAutoFit/>
          </a:bodyPr>
          <a:lstStyle/>
          <a:p>
            <a:pPr algn="l">
              <a:spcAft>
                <a:spcPts val="400"/>
              </a:spcAft>
            </a:pPr>
            <a:r>
              <a:rPr sz="1050" b="0" i="0">
                <a:solidFill>
                  <a:srgbClr val="2B2B2B"/>
                </a:solidFill>
                <a:latin typeface="Arial"/>
              </a:rPr>
              <a:t>una respuesta: sí o no</a:t>
            </a:r>
          </a:p>
        </p:txBody>
      </p:sp>
      <p:sp>
        <p:nvSpPr>
          <p:cNvPr id="22" name="Rounded Rectangle 21"/>
          <p:cNvSpPr/>
          <p:nvPr/>
        </p:nvSpPr>
        <p:spPr>
          <a:xfrm>
            <a:off x="6675120" y="4123944"/>
            <a:ext cx="1828800" cy="987552"/>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812280" y="4233672"/>
            <a:ext cx="1600200" cy="502920"/>
          </a:xfrm>
          <a:prstGeom prst="rect">
            <a:avLst/>
          </a:prstGeom>
          <a:noFill/>
        </p:spPr>
        <p:txBody>
          <a:bodyPr wrap="square" anchor="ctr" lIns="36576" rIns="36576" tIns="36576" bIns="36576">
            <a:spAutoFit/>
          </a:bodyPr>
          <a:lstStyle/>
          <a:p>
            <a:pPr algn="l">
              <a:spcAft>
                <a:spcPts val="400"/>
              </a:spcAft>
            </a:pPr>
            <a:r>
              <a:rPr sz="1200" b="1" i="0">
                <a:solidFill>
                  <a:srgbClr val="242852"/>
                </a:solidFill>
                <a:latin typeface="Arial"/>
              </a:rPr>
              <a:t>Hoja</a:t>
            </a:r>
          </a:p>
        </p:txBody>
      </p:sp>
      <p:sp>
        <p:nvSpPr>
          <p:cNvPr id="24" name="TextBox 23"/>
          <p:cNvSpPr txBox="1"/>
          <p:nvPr/>
        </p:nvSpPr>
        <p:spPr>
          <a:xfrm>
            <a:off x="6812280" y="4782312"/>
            <a:ext cx="1554480" cy="256032"/>
          </a:xfrm>
          <a:prstGeom prst="rect">
            <a:avLst/>
          </a:prstGeom>
          <a:noFill/>
        </p:spPr>
        <p:txBody>
          <a:bodyPr wrap="square" anchor="t" lIns="36576" rIns="36576" tIns="36576" bIns="36576">
            <a:spAutoFit/>
          </a:bodyPr>
          <a:lstStyle/>
          <a:p>
            <a:pPr algn="l">
              <a:spcAft>
                <a:spcPts val="400"/>
              </a:spcAft>
            </a:pPr>
            <a:r>
              <a:rPr sz="1050" b="0" i="0">
                <a:solidFill>
                  <a:srgbClr val="2B2B2B"/>
                </a:solidFill>
                <a:latin typeface="Arial"/>
              </a:rPr>
              <a:t>da la clase más frecuente</a:t>
            </a:r>
          </a:p>
        </p:txBody>
      </p:sp>
      <p:sp>
        <p:nvSpPr>
          <p:cNvPr id="25" name="Rounded Rectangle 24"/>
          <p:cNvSpPr/>
          <p:nvPr/>
        </p:nvSpPr>
        <p:spPr>
          <a:xfrm>
            <a:off x="731520" y="544068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¿Qué pregunta va primero? </a:t>
            </a:r>
            <a:r>
              <a:rPr sz="1200" b="0" i="0">
                <a:solidFill>
                  <a:srgbClr val="2B2B2B"/>
                </a:solidFill>
                <a:latin typeface="Arial"/>
              </a:rPr>
              <a:t>La que mejor separa normales de fraudes. Para medir «separar bien» usamos el índice de Gini.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Índice de Gini: qué tan mezclado está un nodo</a:t>
            </a:r>
          </a:p>
        </p:txBody>
      </p:sp>
      <p:sp>
        <p:nvSpPr>
          <p:cNvPr id="3" name="Rounded Rectangle 2"/>
          <p:cNvSpPr/>
          <p:nvPr/>
        </p:nvSpPr>
        <p:spPr>
          <a:xfrm>
            <a:off x="731520" y="1920240"/>
            <a:ext cx="7772400" cy="7315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800" b="1" i="0">
                <a:solidFill>
                  <a:srgbClr val="FFFFFF"/>
                </a:solidFill>
                <a:latin typeface="Arial"/>
              </a:rPr>
              <a:t>Gini = 1 − (p0² + p1²)</a:t>
            </a:r>
          </a:p>
          <a:p>
            <a:pPr algn="ctr">
              <a:spcAft>
                <a:spcPts val="300"/>
              </a:spcAft>
            </a:pPr>
            <a:r>
              <a:rPr sz="1200" b="0" i="0">
                <a:solidFill>
                  <a:srgbClr val="C9D2E8"/>
                </a:solidFill>
                <a:latin typeface="Arial"/>
              </a:rPr>
              <a:t>p0 = proporción de normales · p1 = proporción de fraudes</a:t>
            </a:r>
          </a:p>
        </p:txBody>
      </p:sp>
      <p:sp>
        <p:nvSpPr>
          <p:cNvPr id="4" name="Rounded Rectangle 3"/>
          <p:cNvSpPr/>
          <p:nvPr/>
        </p:nvSpPr>
        <p:spPr>
          <a:xfrm>
            <a:off x="731520" y="2834640"/>
            <a:ext cx="2487168" cy="24231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731520" y="2880360"/>
            <a:ext cx="2487168" cy="365760"/>
          </a:xfrm>
          <a:prstGeom prst="rect">
            <a:avLst/>
          </a:prstGeom>
          <a:noFill/>
        </p:spPr>
        <p:txBody>
          <a:bodyPr wrap="square" anchor="t" lIns="36576" rIns="36576" tIns="36576" bIns="36576">
            <a:spAutoFit/>
          </a:bodyPr>
          <a:lstStyle/>
          <a:p>
            <a:pPr algn="ctr">
              <a:spcAft>
                <a:spcPts val="400"/>
              </a:spcAft>
            </a:pPr>
            <a:r>
              <a:rPr sz="1400" b="1" i="0">
                <a:solidFill>
                  <a:srgbClr val="2A9D8F"/>
                </a:solidFill>
                <a:latin typeface="Arial"/>
              </a:rPr>
              <a:t>Nodo puro</a:t>
            </a:r>
          </a:p>
        </p:txBody>
      </p:sp>
      <p:sp>
        <p:nvSpPr>
          <p:cNvPr id="6" name="Oval 5"/>
          <p:cNvSpPr/>
          <p:nvPr/>
        </p:nvSpPr>
        <p:spPr>
          <a:xfrm>
            <a:off x="960120"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Oval 6"/>
          <p:cNvSpPr/>
          <p:nvPr/>
        </p:nvSpPr>
        <p:spPr>
          <a:xfrm>
            <a:off x="1161288"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Oval 7"/>
          <p:cNvSpPr/>
          <p:nvPr/>
        </p:nvSpPr>
        <p:spPr>
          <a:xfrm>
            <a:off x="1362456"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Oval 8"/>
          <p:cNvSpPr/>
          <p:nvPr/>
        </p:nvSpPr>
        <p:spPr>
          <a:xfrm>
            <a:off x="1563624"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Oval 9"/>
          <p:cNvSpPr/>
          <p:nvPr/>
        </p:nvSpPr>
        <p:spPr>
          <a:xfrm>
            <a:off x="1764792"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Oval 10"/>
          <p:cNvSpPr/>
          <p:nvPr/>
        </p:nvSpPr>
        <p:spPr>
          <a:xfrm>
            <a:off x="1965960"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Oval 11"/>
          <p:cNvSpPr/>
          <p:nvPr/>
        </p:nvSpPr>
        <p:spPr>
          <a:xfrm>
            <a:off x="2167128"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Oval 12"/>
          <p:cNvSpPr/>
          <p:nvPr/>
        </p:nvSpPr>
        <p:spPr>
          <a:xfrm>
            <a:off x="2368296"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Oval 13"/>
          <p:cNvSpPr/>
          <p:nvPr/>
        </p:nvSpPr>
        <p:spPr>
          <a:xfrm>
            <a:off x="2569464"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Oval 14"/>
          <p:cNvSpPr/>
          <p:nvPr/>
        </p:nvSpPr>
        <p:spPr>
          <a:xfrm>
            <a:off x="2770632"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731520" y="3611880"/>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2B2B2B"/>
                </a:solidFill>
                <a:latin typeface="Arial"/>
              </a:rPr>
              <a:t>10 normales · 0 fraudes</a:t>
            </a:r>
          </a:p>
        </p:txBody>
      </p:sp>
      <p:sp>
        <p:nvSpPr>
          <p:cNvPr id="17" name="TextBox 16"/>
          <p:cNvSpPr txBox="1"/>
          <p:nvPr/>
        </p:nvSpPr>
        <p:spPr>
          <a:xfrm>
            <a:off x="731520" y="3977639"/>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5F6368"/>
                </a:solidFill>
                <a:latin typeface="Arial"/>
              </a:rPr>
              <a:t>1 − (1² + 0²)</a:t>
            </a:r>
          </a:p>
        </p:txBody>
      </p:sp>
      <p:sp>
        <p:nvSpPr>
          <p:cNvPr id="18" name="TextBox 17"/>
          <p:cNvSpPr txBox="1"/>
          <p:nvPr/>
        </p:nvSpPr>
        <p:spPr>
          <a:xfrm>
            <a:off x="731520" y="4343400"/>
            <a:ext cx="2487168" cy="685800"/>
          </a:xfrm>
          <a:prstGeom prst="rect">
            <a:avLst/>
          </a:prstGeom>
          <a:noFill/>
        </p:spPr>
        <p:txBody>
          <a:bodyPr wrap="square" anchor="t" lIns="36576" rIns="36576" tIns="36576" bIns="36576">
            <a:spAutoFit/>
          </a:bodyPr>
          <a:lstStyle/>
          <a:p>
            <a:pPr algn="ctr">
              <a:spcAft>
                <a:spcPts val="400"/>
              </a:spcAft>
            </a:pPr>
            <a:r>
              <a:rPr sz="2800" b="1" i="0">
                <a:solidFill>
                  <a:srgbClr val="2A9D8F"/>
                </a:solidFill>
                <a:latin typeface="Arial"/>
              </a:rPr>
              <a:t>0,00</a:t>
            </a:r>
          </a:p>
        </p:txBody>
      </p:sp>
      <p:sp>
        <p:nvSpPr>
          <p:cNvPr id="19" name="Rounded Rectangle 18"/>
          <p:cNvSpPr/>
          <p:nvPr/>
        </p:nvSpPr>
        <p:spPr>
          <a:xfrm>
            <a:off x="3355848" y="2834640"/>
            <a:ext cx="2487168" cy="2423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3355848" y="2880360"/>
            <a:ext cx="2487168" cy="365760"/>
          </a:xfrm>
          <a:prstGeom prst="rect">
            <a:avLst/>
          </a:prstGeom>
          <a:noFill/>
        </p:spPr>
        <p:txBody>
          <a:bodyPr wrap="square" anchor="t" lIns="36576" rIns="36576" tIns="36576" bIns="36576">
            <a:spAutoFit/>
          </a:bodyPr>
          <a:lstStyle/>
          <a:p>
            <a:pPr algn="ctr">
              <a:spcAft>
                <a:spcPts val="400"/>
              </a:spcAft>
            </a:pPr>
            <a:r>
              <a:rPr sz="1400" b="1" i="0">
                <a:solidFill>
                  <a:srgbClr val="3D5A99"/>
                </a:solidFill>
                <a:latin typeface="Arial"/>
              </a:rPr>
              <a:t>Nodo mixto</a:t>
            </a:r>
          </a:p>
        </p:txBody>
      </p:sp>
      <p:sp>
        <p:nvSpPr>
          <p:cNvPr id="21" name="Oval 20"/>
          <p:cNvSpPr/>
          <p:nvPr/>
        </p:nvSpPr>
        <p:spPr>
          <a:xfrm>
            <a:off x="3584448"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Oval 21"/>
          <p:cNvSpPr/>
          <p:nvPr/>
        </p:nvSpPr>
        <p:spPr>
          <a:xfrm>
            <a:off x="3785615"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val 22"/>
          <p:cNvSpPr/>
          <p:nvPr/>
        </p:nvSpPr>
        <p:spPr>
          <a:xfrm>
            <a:off x="3986784"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4187952"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Oval 24"/>
          <p:cNvSpPr/>
          <p:nvPr/>
        </p:nvSpPr>
        <p:spPr>
          <a:xfrm>
            <a:off x="4389120"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Oval 25"/>
          <p:cNvSpPr/>
          <p:nvPr/>
        </p:nvSpPr>
        <p:spPr>
          <a:xfrm>
            <a:off x="4590288"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val 26"/>
          <p:cNvSpPr/>
          <p:nvPr/>
        </p:nvSpPr>
        <p:spPr>
          <a:xfrm>
            <a:off x="4791456"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Oval 27"/>
          <p:cNvSpPr/>
          <p:nvPr/>
        </p:nvSpPr>
        <p:spPr>
          <a:xfrm>
            <a:off x="4992624"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Oval 28"/>
          <p:cNvSpPr/>
          <p:nvPr/>
        </p:nvSpPr>
        <p:spPr>
          <a:xfrm>
            <a:off x="5193792"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val 29"/>
          <p:cNvSpPr/>
          <p:nvPr/>
        </p:nvSpPr>
        <p:spPr>
          <a:xfrm>
            <a:off x="5394960"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3355848" y="3611880"/>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2B2B2B"/>
                </a:solidFill>
                <a:latin typeface="Arial"/>
              </a:rPr>
              <a:t>8 normales · 2 fraudes</a:t>
            </a:r>
          </a:p>
        </p:txBody>
      </p:sp>
      <p:sp>
        <p:nvSpPr>
          <p:cNvPr id="32" name="TextBox 31"/>
          <p:cNvSpPr txBox="1"/>
          <p:nvPr/>
        </p:nvSpPr>
        <p:spPr>
          <a:xfrm>
            <a:off x="3355848" y="3977639"/>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5F6368"/>
                </a:solidFill>
                <a:latin typeface="Arial"/>
              </a:rPr>
              <a:t>1 − (0,8² + 0,2²)</a:t>
            </a:r>
          </a:p>
        </p:txBody>
      </p:sp>
      <p:sp>
        <p:nvSpPr>
          <p:cNvPr id="33" name="TextBox 32"/>
          <p:cNvSpPr txBox="1"/>
          <p:nvPr/>
        </p:nvSpPr>
        <p:spPr>
          <a:xfrm>
            <a:off x="3355848" y="4343400"/>
            <a:ext cx="2487168" cy="685800"/>
          </a:xfrm>
          <a:prstGeom prst="rect">
            <a:avLst/>
          </a:prstGeom>
          <a:noFill/>
        </p:spPr>
        <p:txBody>
          <a:bodyPr wrap="square" anchor="t" lIns="36576" rIns="36576" tIns="36576" bIns="36576">
            <a:spAutoFit/>
          </a:bodyPr>
          <a:lstStyle/>
          <a:p>
            <a:pPr algn="ctr">
              <a:spcAft>
                <a:spcPts val="400"/>
              </a:spcAft>
            </a:pPr>
            <a:r>
              <a:rPr sz="2800" b="1" i="0">
                <a:solidFill>
                  <a:srgbClr val="3D5A99"/>
                </a:solidFill>
                <a:latin typeface="Arial"/>
              </a:rPr>
              <a:t>0,32</a:t>
            </a:r>
          </a:p>
        </p:txBody>
      </p:sp>
      <p:sp>
        <p:nvSpPr>
          <p:cNvPr id="34" name="Rounded Rectangle 33"/>
          <p:cNvSpPr/>
          <p:nvPr/>
        </p:nvSpPr>
        <p:spPr>
          <a:xfrm>
            <a:off x="5980176" y="2834640"/>
            <a:ext cx="2487168" cy="2423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TextBox 34"/>
          <p:cNvSpPr txBox="1"/>
          <p:nvPr/>
        </p:nvSpPr>
        <p:spPr>
          <a:xfrm>
            <a:off x="5980176" y="2880360"/>
            <a:ext cx="2487168" cy="365760"/>
          </a:xfrm>
          <a:prstGeom prst="rect">
            <a:avLst/>
          </a:prstGeom>
          <a:noFill/>
        </p:spPr>
        <p:txBody>
          <a:bodyPr wrap="square" anchor="t" lIns="36576" rIns="36576" tIns="36576" bIns="36576">
            <a:spAutoFit/>
          </a:bodyPr>
          <a:lstStyle/>
          <a:p>
            <a:pPr algn="ctr">
              <a:spcAft>
                <a:spcPts val="400"/>
              </a:spcAft>
            </a:pPr>
            <a:r>
              <a:rPr sz="1400" b="1" i="0">
                <a:solidFill>
                  <a:srgbClr val="D7263D"/>
                </a:solidFill>
                <a:latin typeface="Arial"/>
              </a:rPr>
              <a:t>Máxima mezcla</a:t>
            </a:r>
          </a:p>
        </p:txBody>
      </p:sp>
      <p:sp>
        <p:nvSpPr>
          <p:cNvPr id="36" name="Oval 35"/>
          <p:cNvSpPr/>
          <p:nvPr/>
        </p:nvSpPr>
        <p:spPr>
          <a:xfrm>
            <a:off x="6208776"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7" name="Oval 36"/>
          <p:cNvSpPr/>
          <p:nvPr/>
        </p:nvSpPr>
        <p:spPr>
          <a:xfrm>
            <a:off x="6409944"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Oval 37"/>
          <p:cNvSpPr/>
          <p:nvPr/>
        </p:nvSpPr>
        <p:spPr>
          <a:xfrm>
            <a:off x="6611112"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Oval 38"/>
          <p:cNvSpPr/>
          <p:nvPr/>
        </p:nvSpPr>
        <p:spPr>
          <a:xfrm>
            <a:off x="6812280"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0" name="Oval 39"/>
          <p:cNvSpPr/>
          <p:nvPr/>
        </p:nvSpPr>
        <p:spPr>
          <a:xfrm>
            <a:off x="7013448" y="3337560"/>
            <a:ext cx="164592" cy="164592"/>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Oval 40"/>
          <p:cNvSpPr/>
          <p:nvPr/>
        </p:nvSpPr>
        <p:spPr>
          <a:xfrm>
            <a:off x="7214616"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Oval 41"/>
          <p:cNvSpPr/>
          <p:nvPr/>
        </p:nvSpPr>
        <p:spPr>
          <a:xfrm>
            <a:off x="7415783"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Oval 42"/>
          <p:cNvSpPr/>
          <p:nvPr/>
        </p:nvSpPr>
        <p:spPr>
          <a:xfrm>
            <a:off x="7616952"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4" name="Oval 43"/>
          <p:cNvSpPr/>
          <p:nvPr/>
        </p:nvSpPr>
        <p:spPr>
          <a:xfrm>
            <a:off x="7818120"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5" name="Oval 44"/>
          <p:cNvSpPr/>
          <p:nvPr/>
        </p:nvSpPr>
        <p:spPr>
          <a:xfrm>
            <a:off x="8019288" y="3337560"/>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5980176" y="3611880"/>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2B2B2B"/>
                </a:solidFill>
                <a:latin typeface="Arial"/>
              </a:rPr>
              <a:t>5 normales · 5 fraudes</a:t>
            </a:r>
          </a:p>
        </p:txBody>
      </p:sp>
      <p:sp>
        <p:nvSpPr>
          <p:cNvPr id="47" name="TextBox 46"/>
          <p:cNvSpPr txBox="1"/>
          <p:nvPr/>
        </p:nvSpPr>
        <p:spPr>
          <a:xfrm>
            <a:off x="5980176" y="3977639"/>
            <a:ext cx="2487168" cy="320040"/>
          </a:xfrm>
          <a:prstGeom prst="rect">
            <a:avLst/>
          </a:prstGeom>
          <a:noFill/>
        </p:spPr>
        <p:txBody>
          <a:bodyPr wrap="square" anchor="t" lIns="36576" rIns="36576" tIns="36576" bIns="36576">
            <a:spAutoFit/>
          </a:bodyPr>
          <a:lstStyle/>
          <a:p>
            <a:pPr algn="ctr">
              <a:spcAft>
                <a:spcPts val="400"/>
              </a:spcAft>
            </a:pPr>
            <a:r>
              <a:rPr sz="1150" b="0" i="0">
                <a:solidFill>
                  <a:srgbClr val="5F6368"/>
                </a:solidFill>
                <a:latin typeface="Arial"/>
              </a:rPr>
              <a:t>1 − (0,5² + 0,5²)</a:t>
            </a:r>
          </a:p>
        </p:txBody>
      </p:sp>
      <p:sp>
        <p:nvSpPr>
          <p:cNvPr id="48" name="TextBox 47"/>
          <p:cNvSpPr txBox="1"/>
          <p:nvPr/>
        </p:nvSpPr>
        <p:spPr>
          <a:xfrm>
            <a:off x="5980176" y="4343400"/>
            <a:ext cx="2487168" cy="685800"/>
          </a:xfrm>
          <a:prstGeom prst="rect">
            <a:avLst/>
          </a:prstGeom>
          <a:noFill/>
        </p:spPr>
        <p:txBody>
          <a:bodyPr wrap="square" anchor="t" lIns="36576" rIns="36576" tIns="36576" bIns="36576">
            <a:spAutoFit/>
          </a:bodyPr>
          <a:lstStyle/>
          <a:p>
            <a:pPr algn="ctr">
              <a:spcAft>
                <a:spcPts val="400"/>
              </a:spcAft>
            </a:pPr>
            <a:r>
              <a:rPr sz="2800" b="1" i="0">
                <a:solidFill>
                  <a:srgbClr val="D7263D"/>
                </a:solidFill>
                <a:latin typeface="Arial"/>
              </a:rPr>
              <a:t>0,50</a:t>
            </a:r>
          </a:p>
        </p:txBody>
      </p:sp>
      <p:sp>
        <p:nvSpPr>
          <p:cNvPr id="49" name="TextBox 48"/>
          <p:cNvSpPr txBox="1"/>
          <p:nvPr/>
        </p:nvSpPr>
        <p:spPr>
          <a:xfrm>
            <a:off x="731520" y="5349240"/>
            <a:ext cx="7772400" cy="320040"/>
          </a:xfrm>
          <a:prstGeom prst="rect">
            <a:avLst/>
          </a:prstGeom>
          <a:noFill/>
        </p:spPr>
        <p:txBody>
          <a:bodyPr wrap="square" anchor="t" lIns="36576" rIns="36576" tIns="36576" bIns="36576">
            <a:spAutoFit/>
          </a:bodyPr>
          <a:lstStyle/>
          <a:p>
            <a:pPr algn="ctr">
              <a:spcAft>
                <a:spcPts val="400"/>
              </a:spcAft>
            </a:pPr>
            <a:r>
              <a:rPr sz="1100" b="0" i="0">
                <a:solidFill>
                  <a:srgbClr val="5F6368"/>
                </a:solidFill>
                <a:latin typeface="Arial"/>
              </a:rPr>
              <a:t>● azul = normal    ● rojo = fraude</a:t>
            </a:r>
          </a:p>
        </p:txBody>
      </p:sp>
      <p:sp>
        <p:nvSpPr>
          <p:cNvPr id="50" name="Rounded Rectangle 49"/>
          <p:cNvSpPr/>
          <p:nvPr/>
        </p:nvSpPr>
        <p:spPr>
          <a:xfrm>
            <a:off x="731520" y="576072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Lectura: </a:t>
            </a:r>
            <a:r>
              <a:rPr sz="1200" b="0" i="0">
                <a:solidFill>
                  <a:srgbClr val="2B2B2B"/>
                </a:solidFill>
                <a:latin typeface="Arial"/>
              </a:rPr>
              <a:t>0 = una sola clase (nodo puro). 0,5 = mezcla máxima para dos clases con igual peso.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mide Gini? Equivocarse al azar</a:t>
            </a:r>
          </a:p>
        </p:txBody>
      </p:sp>
      <p:graphicFrame>
        <p:nvGraphicFramePr>
          <p:cNvPr id="3" name="Chart 2"/>
          <p:cNvGraphicFramePr>
            <a:graphicFrameLocks noGrp="1"/>
          </p:cNvGraphicFramePr>
          <p:nvPr/>
        </p:nvGraphicFramePr>
        <p:xfrm>
          <a:off x="731520" y="1920240"/>
          <a:ext cx="4114800" cy="3200400"/>
        </p:xfrm>
        <a:graphic>
          <a:graphicData uri="http://schemas.openxmlformats.org/drawingml/2006/chart">
            <c:chart xmlns:c="http://schemas.openxmlformats.org/drawingml/2006/chart" r:id="rId3"/>
          </a:graphicData>
        </a:graphic>
      </p:graphicFrame>
      <p:sp>
        <p:nvSpPr>
          <p:cNvPr id="4" name="Rounded Rectangle 3"/>
          <p:cNvSpPr/>
          <p:nvPr/>
        </p:nvSpPr>
        <p:spPr>
          <a:xfrm>
            <a:off x="5029200" y="1965960"/>
            <a:ext cx="3474720" cy="15087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166360" y="2075688"/>
            <a:ext cx="324612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La fórmula</a:t>
            </a:r>
          </a:p>
        </p:txBody>
      </p:sp>
      <p:sp>
        <p:nvSpPr>
          <p:cNvPr id="6" name="TextBox 5"/>
          <p:cNvSpPr txBox="1"/>
          <p:nvPr/>
        </p:nvSpPr>
        <p:spPr>
          <a:xfrm>
            <a:off x="5166360" y="2624328"/>
            <a:ext cx="3200400" cy="7772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G = 1 − p(normal)² − p(fraude)²
Con 20 % de fraude: 1 − 0,8² − 0,2² = 1 − 0,64 − 0,04 = 0,32</a:t>
            </a:r>
          </a:p>
        </p:txBody>
      </p:sp>
      <p:sp>
        <p:nvSpPr>
          <p:cNvPr id="7" name="Rounded Rectangle 6"/>
          <p:cNvSpPr/>
          <p:nvPr/>
        </p:nvSpPr>
        <p:spPr>
          <a:xfrm>
            <a:off x="5029200" y="3611880"/>
            <a:ext cx="3474720" cy="15087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166360" y="3721608"/>
            <a:ext cx="324612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Cómo se lee</a:t>
            </a:r>
          </a:p>
        </p:txBody>
      </p:sp>
      <p:sp>
        <p:nvSpPr>
          <p:cNvPr id="9" name="TextBox 8"/>
          <p:cNvSpPr txBox="1"/>
          <p:nvPr/>
        </p:nvSpPr>
        <p:spPr>
          <a:xfrm>
            <a:off x="5166360" y="4270248"/>
            <a:ext cx="3200400" cy="7772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0 = hoja pura, una sola clase.
0,5 = máxima mezcla con dos clases.
Menor Gini = hoja más «segura».</a:t>
            </a:r>
          </a:p>
        </p:txBody>
      </p:sp>
      <p:sp>
        <p:nvSpPr>
          <p:cNvPr id="10" name="Rounded Rectangle 9"/>
          <p:cNvSpPr/>
          <p:nvPr/>
        </p:nvSpPr>
        <p:spPr>
          <a:xfrm>
            <a:off x="731520" y="539496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Simétrico: </a:t>
            </a:r>
            <a:r>
              <a:rPr sz="1200" b="0" i="0">
                <a:solidFill>
                  <a:srgbClr val="2B2B2B"/>
                </a:solidFill>
                <a:latin typeface="Arial"/>
              </a:rPr>
              <a:t>80 % de fraude da el mismo Gini que 20 %. Gini no dice qué clase domina, solo cuánta mezcla hay; la hoja predice la clase mayoritaria.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Ejemplo a mano: 20 transacciones</a:t>
            </a:r>
          </a:p>
        </p:txBody>
      </p:sp>
      <p:sp>
        <p:nvSpPr>
          <p:cNvPr id="3" name="Rounded Rectangle 2"/>
          <p:cNvSpPr/>
          <p:nvPr/>
        </p:nvSpPr>
        <p:spPr>
          <a:xfrm>
            <a:off x="731520" y="1965960"/>
            <a:ext cx="3794760" cy="23774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731520" y="2057400"/>
            <a:ext cx="3794760" cy="365760"/>
          </a:xfrm>
          <a:prstGeom prst="rect">
            <a:avLst/>
          </a:prstGeom>
          <a:noFill/>
        </p:spPr>
        <p:txBody>
          <a:bodyPr wrap="square" anchor="t" lIns="36576" rIns="36576" tIns="36576" bIns="36576">
            <a:spAutoFit/>
          </a:bodyPr>
          <a:lstStyle/>
          <a:p>
            <a:pPr algn="ctr">
              <a:spcAft>
                <a:spcPts val="400"/>
              </a:spcAft>
            </a:pPr>
            <a:r>
              <a:rPr sz="1400" b="1" i="0">
                <a:solidFill>
                  <a:srgbClr val="242852"/>
                </a:solidFill>
                <a:latin typeface="Arial"/>
              </a:rPr>
              <a:t>20 transacciones</a:t>
            </a:r>
          </a:p>
        </p:txBody>
      </p:sp>
      <p:sp>
        <p:nvSpPr>
          <p:cNvPr id="5" name="Oval 4"/>
          <p:cNvSpPr/>
          <p:nvPr/>
        </p:nvSpPr>
        <p:spPr>
          <a:xfrm>
            <a:off x="1234440"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Oval 5"/>
          <p:cNvSpPr/>
          <p:nvPr/>
        </p:nvSpPr>
        <p:spPr>
          <a:xfrm>
            <a:off x="1536192"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Oval 6"/>
          <p:cNvSpPr/>
          <p:nvPr/>
        </p:nvSpPr>
        <p:spPr>
          <a:xfrm>
            <a:off x="1837944"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Oval 7"/>
          <p:cNvSpPr/>
          <p:nvPr/>
        </p:nvSpPr>
        <p:spPr>
          <a:xfrm>
            <a:off x="2139696"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Oval 8"/>
          <p:cNvSpPr/>
          <p:nvPr/>
        </p:nvSpPr>
        <p:spPr>
          <a:xfrm>
            <a:off x="2441448"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Oval 9"/>
          <p:cNvSpPr/>
          <p:nvPr/>
        </p:nvSpPr>
        <p:spPr>
          <a:xfrm>
            <a:off x="2743200"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Oval 10"/>
          <p:cNvSpPr/>
          <p:nvPr/>
        </p:nvSpPr>
        <p:spPr>
          <a:xfrm>
            <a:off x="3044952"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Oval 11"/>
          <p:cNvSpPr/>
          <p:nvPr/>
        </p:nvSpPr>
        <p:spPr>
          <a:xfrm>
            <a:off x="3346704"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Oval 12"/>
          <p:cNvSpPr/>
          <p:nvPr/>
        </p:nvSpPr>
        <p:spPr>
          <a:xfrm>
            <a:off x="3648456"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Oval 13"/>
          <p:cNvSpPr/>
          <p:nvPr/>
        </p:nvSpPr>
        <p:spPr>
          <a:xfrm>
            <a:off x="3950208" y="2606040"/>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Oval 14"/>
          <p:cNvSpPr/>
          <p:nvPr/>
        </p:nvSpPr>
        <p:spPr>
          <a:xfrm>
            <a:off x="1234440"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5"/>
          <p:cNvSpPr/>
          <p:nvPr/>
        </p:nvSpPr>
        <p:spPr>
          <a:xfrm>
            <a:off x="1536192"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Oval 16"/>
          <p:cNvSpPr/>
          <p:nvPr/>
        </p:nvSpPr>
        <p:spPr>
          <a:xfrm>
            <a:off x="1837944"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Oval 17"/>
          <p:cNvSpPr/>
          <p:nvPr/>
        </p:nvSpPr>
        <p:spPr>
          <a:xfrm>
            <a:off x="2139696"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Oval 18"/>
          <p:cNvSpPr/>
          <p:nvPr/>
        </p:nvSpPr>
        <p:spPr>
          <a:xfrm>
            <a:off x="2441448"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Oval 19"/>
          <p:cNvSpPr/>
          <p:nvPr/>
        </p:nvSpPr>
        <p:spPr>
          <a:xfrm>
            <a:off x="2743200" y="2907792"/>
            <a:ext cx="237744" cy="237744"/>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Oval 20"/>
          <p:cNvSpPr/>
          <p:nvPr/>
        </p:nvSpPr>
        <p:spPr>
          <a:xfrm>
            <a:off x="3044952" y="2907792"/>
            <a:ext cx="237744" cy="23774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Oval 21"/>
          <p:cNvSpPr/>
          <p:nvPr/>
        </p:nvSpPr>
        <p:spPr>
          <a:xfrm>
            <a:off x="3346704" y="2907792"/>
            <a:ext cx="237744" cy="23774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val 22"/>
          <p:cNvSpPr/>
          <p:nvPr/>
        </p:nvSpPr>
        <p:spPr>
          <a:xfrm>
            <a:off x="3648456" y="2907792"/>
            <a:ext cx="237744" cy="23774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3950208" y="2907792"/>
            <a:ext cx="237744" cy="237744"/>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Rounded Rectangle 24"/>
          <p:cNvSpPr/>
          <p:nvPr/>
        </p:nvSpPr>
        <p:spPr>
          <a:xfrm>
            <a:off x="914400" y="3291840"/>
            <a:ext cx="1645920" cy="8686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Normales</a:t>
            </a:r>
          </a:p>
          <a:p>
            <a:pPr algn="ctr">
              <a:spcAft>
                <a:spcPts val="300"/>
              </a:spcAft>
            </a:pPr>
            <a:r>
              <a:rPr sz="2000" b="1" i="0">
                <a:solidFill>
                  <a:srgbClr val="3D5A99"/>
                </a:solidFill>
                <a:latin typeface="Arial"/>
              </a:rPr>
              <a:t>16</a:t>
            </a:r>
          </a:p>
        </p:txBody>
      </p:sp>
      <p:sp>
        <p:nvSpPr>
          <p:cNvPr id="26" name="Rounded Rectangle 25"/>
          <p:cNvSpPr/>
          <p:nvPr/>
        </p:nvSpPr>
        <p:spPr>
          <a:xfrm>
            <a:off x="2697480" y="3291840"/>
            <a:ext cx="1645920" cy="8686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Fraudes</a:t>
            </a:r>
          </a:p>
          <a:p>
            <a:pPr algn="ctr">
              <a:spcAft>
                <a:spcPts val="300"/>
              </a:spcAft>
            </a:pPr>
            <a:r>
              <a:rPr sz="2000" b="1" i="0">
                <a:solidFill>
                  <a:srgbClr val="D7263D"/>
                </a:solidFill>
                <a:latin typeface="Arial"/>
              </a:rPr>
              <a:t>4</a:t>
            </a:r>
          </a:p>
        </p:txBody>
      </p:sp>
      <p:graphicFrame>
        <p:nvGraphicFramePr>
          <p:cNvPr id="27" name="Table 26"/>
          <p:cNvGraphicFramePr>
            <a:graphicFrameLocks noGrp="1"/>
          </p:cNvGraphicFramePr>
          <p:nvPr/>
        </p:nvGraphicFramePr>
        <p:xfrm>
          <a:off x="4709160" y="1965960"/>
          <a:ext cx="3794760" cy="2286000"/>
        </p:xfrm>
        <a:graphic>
          <a:graphicData uri="http://schemas.openxmlformats.org/drawingml/2006/table">
            <a:tbl>
              <a:tblPr firstRow="1" bandRow="1">
                <a:tableStyleId>{5C22544A-7EE6-4342-B048-85BDC9FD1C3A}</a:tableStyleId>
              </a:tblPr>
              <a:tblGrid>
                <a:gridCol w="1691640"/>
                <a:gridCol w="2103120"/>
              </a:tblGrid>
              <a:tr h="457200">
                <a:tc>
                  <a:txBody>
                    <a:bodyPr wrap="square"/>
                    <a:lstStyle/>
                    <a:p>
                      <a:pPr algn="l"/>
                      <a:r>
                        <a:rPr sz="1150" b="1" i="0">
                          <a:solidFill>
                            <a:srgbClr val="FFFFFF"/>
                          </a:solidFill>
                          <a:latin typeface="Arial"/>
                        </a:rPr>
                        <a:t>Paso</a:t>
                      </a:r>
                    </a:p>
                  </a:txBody>
                  <a:tcPr marL="64008" marR="64008" marT="27432" marB="27432" anchor="ctr">
                    <a:solidFill>
                      <a:srgbClr val="242852"/>
                    </a:solidFill>
                  </a:tcPr>
                </a:tc>
                <a:tc>
                  <a:txBody>
                    <a:bodyPr wrap="square"/>
                    <a:lstStyle/>
                    <a:p>
                      <a:pPr algn="ctr"/>
                      <a:r>
                        <a:rPr sz="1150" b="1" i="0">
                          <a:solidFill>
                            <a:srgbClr val="FFFFFF"/>
                          </a:solidFill>
                          <a:latin typeface="Arial"/>
                        </a:rPr>
                        <a:t>Cálculo</a:t>
                      </a:r>
                    </a:p>
                  </a:txBody>
                  <a:tcPr marL="64008" marR="64008" marT="27432" marB="27432" anchor="ctr">
                    <a:solidFill>
                      <a:srgbClr val="242852"/>
                    </a:solidFill>
                  </a:tcPr>
                </a:tc>
              </a:tr>
              <a:tr h="457200">
                <a:tc>
                  <a:txBody>
                    <a:bodyPr wrap="square"/>
                    <a:lstStyle/>
                    <a:p>
                      <a:pPr algn="l"/>
                      <a:r>
                        <a:rPr sz="1150" b="1" i="0">
                          <a:solidFill>
                            <a:srgbClr val="2B2B2B"/>
                          </a:solidFill>
                          <a:latin typeface="Arial"/>
                        </a:rPr>
                        <a:t>1. Proporción de normales</a:t>
                      </a:r>
                    </a:p>
                  </a:txBody>
                  <a:tcPr marL="64008" marR="64008" marT="27432" marB="27432" anchor="ctr">
                    <a:solidFill>
                      <a:srgbClr val="FFFFFF"/>
                    </a:solidFill>
                  </a:tcPr>
                </a:tc>
                <a:tc>
                  <a:txBody>
                    <a:bodyPr wrap="square"/>
                    <a:lstStyle/>
                    <a:p>
                      <a:pPr algn="ctr"/>
                      <a:r>
                        <a:rPr sz="1150" b="0" i="0">
                          <a:solidFill>
                            <a:srgbClr val="2B2B2B"/>
                          </a:solidFill>
                          <a:latin typeface="Arial"/>
                        </a:rPr>
                        <a:t>p0 = 16 / 20 = 0,8</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2. Proporción de fraudes</a:t>
                      </a:r>
                    </a:p>
                  </a:txBody>
                  <a:tcPr marL="64008" marR="64008" marT="27432" marB="27432" anchor="ctr">
                    <a:solidFill>
                      <a:srgbClr val="F2F3F5"/>
                    </a:solidFill>
                  </a:tcPr>
                </a:tc>
                <a:tc>
                  <a:txBody>
                    <a:bodyPr wrap="square"/>
                    <a:lstStyle/>
                    <a:p>
                      <a:pPr algn="ctr"/>
                      <a:r>
                        <a:rPr sz="1150" b="0" i="0">
                          <a:solidFill>
                            <a:srgbClr val="2B2B2B"/>
                          </a:solidFill>
                          <a:latin typeface="Arial"/>
                        </a:rPr>
                        <a:t>p1 = 4 / 20 = 0,2</a:t>
                      </a:r>
                    </a:p>
                  </a:txBody>
                  <a:tcPr marL="64008" marR="64008" marT="27432" marB="27432" anchor="ctr">
                    <a:solidFill>
                      <a:srgbClr val="F2F3F5"/>
                    </a:solidFill>
                  </a:tcPr>
                </a:tc>
              </a:tr>
              <a:tr h="457200">
                <a:tc>
                  <a:txBody>
                    <a:bodyPr wrap="square"/>
                    <a:lstStyle/>
                    <a:p>
                      <a:pPr algn="l"/>
                      <a:r>
                        <a:rPr sz="1150" b="1" i="0">
                          <a:solidFill>
                            <a:srgbClr val="2B2B2B"/>
                          </a:solidFill>
                          <a:latin typeface="Arial"/>
                        </a:rPr>
                        <a:t>3. Elevar al cuadrado</a:t>
                      </a:r>
                    </a:p>
                  </a:txBody>
                  <a:tcPr marL="64008" marR="64008" marT="27432" marB="27432" anchor="ctr">
                    <a:solidFill>
                      <a:srgbClr val="FFFFFF"/>
                    </a:solidFill>
                  </a:tcPr>
                </a:tc>
                <a:tc>
                  <a:txBody>
                    <a:bodyPr wrap="square"/>
                    <a:lstStyle/>
                    <a:p>
                      <a:pPr algn="ctr"/>
                      <a:r>
                        <a:rPr sz="1150" b="0" i="0">
                          <a:solidFill>
                            <a:srgbClr val="2B2B2B"/>
                          </a:solidFill>
                          <a:latin typeface="Arial"/>
                        </a:rPr>
                        <a:t>0,8² = 0,64 · 0,2² = 0,04</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4. Gini inicial</a:t>
                      </a:r>
                    </a:p>
                  </a:txBody>
                  <a:tcPr marL="64008" marR="64008" marT="27432" marB="27432" anchor="ctr">
                    <a:solidFill>
                      <a:srgbClr val="E8EDF6"/>
                    </a:solidFill>
                  </a:tcPr>
                </a:tc>
                <a:tc>
                  <a:txBody>
                    <a:bodyPr wrap="square"/>
                    <a:lstStyle/>
                    <a:p>
                      <a:pPr algn="ctr"/>
                      <a:r>
                        <a:rPr sz="1150" b="1" i="0">
                          <a:solidFill>
                            <a:srgbClr val="242852"/>
                          </a:solidFill>
                          <a:latin typeface="Arial"/>
                        </a:rPr>
                        <a:t>1 − (0,64 + 0,04) = 0,32</a:t>
                      </a:r>
                    </a:p>
                  </a:txBody>
                  <a:tcPr marL="64008" marR="64008" marT="27432" marB="27432" anchor="ctr">
                    <a:solidFill>
                      <a:srgbClr val="E8EDF6"/>
                    </a:solidFill>
                  </a:tcPr>
                </a:tc>
              </a:tr>
            </a:tbl>
          </a:graphicData>
        </a:graphic>
      </p:graphicFrame>
      <p:sp>
        <p:nvSpPr>
          <p:cNvPr id="28" name="Rounded Rectangle 27"/>
          <p:cNvSpPr/>
          <p:nvPr/>
        </p:nvSpPr>
        <p:spPr>
          <a:xfrm>
            <a:off x="731520" y="46177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Siguiente paso: </a:t>
            </a:r>
            <a:r>
              <a:rPr sz="1200" b="0" i="0">
                <a:solidFill>
                  <a:srgbClr val="2B2B2B"/>
                </a:solidFill>
                <a:latin typeface="Arial"/>
              </a:rPr>
              <a:t>buscar una pregunta que reduzca esa mezcla de 0,32.</a:t>
            </a:r>
          </a:p>
        </p:txBody>
      </p:sp>
      <p:sp>
        <p:nvSpPr>
          <p:cNvPr id="29" name="TextBox 28"/>
          <p:cNvSpPr txBox="1"/>
          <p:nvPr/>
        </p:nvSpPr>
        <p:spPr>
          <a:xfrm>
            <a:off x="731520" y="5349240"/>
            <a:ext cx="7772400" cy="365760"/>
          </a:xfrm>
          <a:prstGeom prst="rect">
            <a:avLst/>
          </a:prstGeom>
          <a:noFill/>
        </p:spPr>
        <p:txBody>
          <a:bodyPr wrap="square" anchor="t" lIns="36576" rIns="36576" tIns="36576" bIns="36576">
            <a:spAutoFit/>
          </a:bodyPr>
          <a:lstStyle/>
          <a:p>
            <a:pPr algn="l">
              <a:spcAft>
                <a:spcPts val="400"/>
              </a:spcAft>
            </a:pPr>
            <a:r>
              <a:rPr sz="1100" b="0" i="1">
                <a:solidFill>
                  <a:srgbClr val="5F6368"/>
                </a:solidFill>
                <a:latin typeface="Arial"/>
              </a:rPr>
              <a:t>Ejemplo inventado para comprender el cálculo; no representa una muestra del dataset PaySim.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Probamos una pregunta: ¿la transacción es TRANSFER?</a:t>
            </a:r>
          </a:p>
        </p:txBody>
      </p:sp>
      <p:sp>
        <p:nvSpPr>
          <p:cNvPr id="3" name="Rounded Rectangle 2"/>
          <p:cNvSpPr/>
          <p:nvPr/>
        </p:nvSpPr>
        <p:spPr>
          <a:xfrm>
            <a:off x="2971800" y="1920240"/>
            <a:ext cx="329184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50" b="1" i="0">
                <a:solidFill>
                  <a:srgbClr val="FFFFFF"/>
                </a:solidFill>
                <a:latin typeface="Arial"/>
              </a:rPr>
              <a:t>20 transacciones</a:t>
            </a:r>
          </a:p>
          <a:p>
            <a:pPr algn="ctr">
              <a:spcAft>
                <a:spcPts val="300"/>
              </a:spcAft>
            </a:pPr>
            <a:r>
              <a:rPr sz="1100" b="1" i="0">
                <a:solidFill>
                  <a:srgbClr val="C9D2E8"/>
                </a:solidFill>
                <a:latin typeface="Arial"/>
              </a:rPr>
              <a:t>16 normales · 4 fraudes · Gini 0,32</a:t>
            </a:r>
          </a:p>
        </p:txBody>
      </p:sp>
      <p:sp>
        <p:nvSpPr>
          <p:cNvPr id="4" name="Rounded Rectangle 3"/>
          <p:cNvSpPr/>
          <p:nvPr/>
        </p:nvSpPr>
        <p:spPr>
          <a:xfrm>
            <a:off x="3611880" y="2944368"/>
            <a:ext cx="2011680" cy="457200"/>
          </a:xfrm>
          <a:prstGeom prst="roundRect">
            <a:avLst>
              <a:gd name="adj" fmla="val 8000"/>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1" i="0">
                <a:solidFill>
                  <a:srgbClr val="FFFFFF"/>
                </a:solidFill>
                <a:latin typeface="Arial"/>
              </a:rPr>
              <a:t>¿Es TRANSFER?</a:t>
            </a:r>
          </a:p>
        </p:txBody>
      </p:sp>
      <p:cxnSp>
        <p:nvCxnSpPr>
          <p:cNvPr id="5" name="Connector 4"/>
          <p:cNvCxnSpPr/>
          <p:nvPr/>
        </p:nvCxnSpPr>
        <p:spPr>
          <a:xfrm flipH="1">
            <a:off x="2514600" y="3401568"/>
            <a:ext cx="1234439" cy="301752"/>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811779" y="3351275"/>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7" name="Connector 6"/>
          <p:cNvCxnSpPr/>
          <p:nvPr/>
        </p:nvCxnSpPr>
        <p:spPr>
          <a:xfrm>
            <a:off x="5486400" y="3401568"/>
            <a:ext cx="1234440" cy="301752"/>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83580" y="3351275"/>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9" name="Rounded Rectangle 8"/>
          <p:cNvSpPr/>
          <p:nvPr/>
        </p:nvSpPr>
        <p:spPr>
          <a:xfrm>
            <a:off x="685800" y="3703320"/>
            <a:ext cx="3657600" cy="19202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85800" y="3749039"/>
            <a:ext cx="3657600" cy="320040"/>
          </a:xfrm>
          <a:prstGeom prst="rect">
            <a:avLst/>
          </a:prstGeom>
          <a:noFill/>
        </p:spPr>
        <p:txBody>
          <a:bodyPr wrap="square" anchor="t" lIns="36576" rIns="36576" tIns="36576" bIns="36576">
            <a:spAutoFit/>
          </a:bodyPr>
          <a:lstStyle/>
          <a:p>
            <a:pPr algn="ctr">
              <a:spcAft>
                <a:spcPts val="400"/>
              </a:spcAft>
            </a:pPr>
            <a:r>
              <a:rPr sz="1300" b="1" i="0">
                <a:solidFill>
                  <a:srgbClr val="D7263D"/>
                </a:solidFill>
                <a:latin typeface="Arial"/>
              </a:rPr>
              <a:t>6 transacciones</a:t>
            </a:r>
          </a:p>
        </p:txBody>
      </p:sp>
      <p:sp>
        <p:nvSpPr>
          <p:cNvPr id="11" name="Oval 10"/>
          <p:cNvSpPr/>
          <p:nvPr/>
        </p:nvSpPr>
        <p:spPr>
          <a:xfrm>
            <a:off x="182880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Oval 11"/>
          <p:cNvSpPr/>
          <p:nvPr/>
        </p:nvSpPr>
        <p:spPr>
          <a:xfrm>
            <a:off x="205740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Oval 12"/>
          <p:cNvSpPr/>
          <p:nvPr/>
        </p:nvSpPr>
        <p:spPr>
          <a:xfrm>
            <a:off x="2286000" y="4114800"/>
            <a:ext cx="182880" cy="1828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Oval 13"/>
          <p:cNvSpPr/>
          <p:nvPr/>
        </p:nvSpPr>
        <p:spPr>
          <a:xfrm>
            <a:off x="2514600" y="4114800"/>
            <a:ext cx="182880" cy="1828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Oval 14"/>
          <p:cNvSpPr/>
          <p:nvPr/>
        </p:nvSpPr>
        <p:spPr>
          <a:xfrm>
            <a:off x="2743200" y="4114800"/>
            <a:ext cx="182880" cy="1828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Oval 15"/>
          <p:cNvSpPr/>
          <p:nvPr/>
        </p:nvSpPr>
        <p:spPr>
          <a:xfrm>
            <a:off x="2971800" y="4114800"/>
            <a:ext cx="182880" cy="18288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85800" y="4617720"/>
            <a:ext cx="3657600" cy="301752"/>
          </a:xfrm>
          <a:prstGeom prst="rect">
            <a:avLst/>
          </a:prstGeom>
          <a:noFill/>
        </p:spPr>
        <p:txBody>
          <a:bodyPr wrap="square" anchor="t" lIns="36576" rIns="36576" tIns="36576" bIns="36576">
            <a:spAutoFit/>
          </a:bodyPr>
          <a:lstStyle/>
          <a:p>
            <a:pPr algn="ctr">
              <a:spcAft>
                <a:spcPts val="400"/>
              </a:spcAft>
            </a:pPr>
            <a:r>
              <a:rPr sz="1050" b="0" i="0">
                <a:solidFill>
                  <a:srgbClr val="2B2B2B"/>
                </a:solidFill>
                <a:latin typeface="Arial"/>
              </a:rPr>
              <a:t>2 normales · 4 fraudes   ·   1 − (2/6)² − (4/6)²</a:t>
            </a:r>
          </a:p>
        </p:txBody>
      </p:sp>
      <p:sp>
        <p:nvSpPr>
          <p:cNvPr id="18" name="TextBox 17"/>
          <p:cNvSpPr txBox="1"/>
          <p:nvPr/>
        </p:nvSpPr>
        <p:spPr>
          <a:xfrm>
            <a:off x="685800" y="4937760"/>
            <a:ext cx="3657600" cy="548640"/>
          </a:xfrm>
          <a:prstGeom prst="rect">
            <a:avLst/>
          </a:prstGeom>
          <a:noFill/>
        </p:spPr>
        <p:txBody>
          <a:bodyPr wrap="square" anchor="t" lIns="36576" rIns="36576" tIns="36576" bIns="36576">
            <a:spAutoFit/>
          </a:bodyPr>
          <a:lstStyle/>
          <a:p>
            <a:pPr algn="ctr">
              <a:spcAft>
                <a:spcPts val="400"/>
              </a:spcAft>
            </a:pPr>
            <a:r>
              <a:rPr sz="2000" b="1" i="0">
                <a:solidFill>
                  <a:srgbClr val="D7263D"/>
                </a:solidFill>
                <a:latin typeface="Arial"/>
              </a:rPr>
              <a:t>Gini = 0,444</a:t>
            </a:r>
          </a:p>
        </p:txBody>
      </p:sp>
      <p:sp>
        <p:nvSpPr>
          <p:cNvPr id="19" name="Rounded Rectangle 18"/>
          <p:cNvSpPr/>
          <p:nvPr/>
        </p:nvSpPr>
        <p:spPr>
          <a:xfrm>
            <a:off x="4892040" y="3703320"/>
            <a:ext cx="3657600" cy="19202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4892040" y="3749039"/>
            <a:ext cx="3657600" cy="320040"/>
          </a:xfrm>
          <a:prstGeom prst="rect">
            <a:avLst/>
          </a:prstGeom>
          <a:noFill/>
        </p:spPr>
        <p:txBody>
          <a:bodyPr wrap="square" anchor="t" lIns="36576" rIns="36576" tIns="36576" bIns="36576">
            <a:spAutoFit/>
          </a:bodyPr>
          <a:lstStyle/>
          <a:p>
            <a:pPr algn="ctr">
              <a:spcAft>
                <a:spcPts val="400"/>
              </a:spcAft>
            </a:pPr>
            <a:r>
              <a:rPr sz="1300" b="1" i="0">
                <a:solidFill>
                  <a:srgbClr val="2A9D8F"/>
                </a:solidFill>
                <a:latin typeface="Arial"/>
              </a:rPr>
              <a:t>14 transacciones</a:t>
            </a:r>
          </a:p>
        </p:txBody>
      </p:sp>
      <p:sp>
        <p:nvSpPr>
          <p:cNvPr id="21" name="Oval 20"/>
          <p:cNvSpPr/>
          <p:nvPr/>
        </p:nvSpPr>
        <p:spPr>
          <a:xfrm>
            <a:off x="55778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Oval 21"/>
          <p:cNvSpPr/>
          <p:nvPr/>
        </p:nvSpPr>
        <p:spPr>
          <a:xfrm>
            <a:off x="58064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Oval 22"/>
          <p:cNvSpPr/>
          <p:nvPr/>
        </p:nvSpPr>
        <p:spPr>
          <a:xfrm>
            <a:off x="60350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Oval 23"/>
          <p:cNvSpPr/>
          <p:nvPr/>
        </p:nvSpPr>
        <p:spPr>
          <a:xfrm>
            <a:off x="62636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Oval 24"/>
          <p:cNvSpPr/>
          <p:nvPr/>
        </p:nvSpPr>
        <p:spPr>
          <a:xfrm>
            <a:off x="64922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Oval 25"/>
          <p:cNvSpPr/>
          <p:nvPr/>
        </p:nvSpPr>
        <p:spPr>
          <a:xfrm>
            <a:off x="67208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Oval 26"/>
          <p:cNvSpPr/>
          <p:nvPr/>
        </p:nvSpPr>
        <p:spPr>
          <a:xfrm>
            <a:off x="69494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Oval 27"/>
          <p:cNvSpPr/>
          <p:nvPr/>
        </p:nvSpPr>
        <p:spPr>
          <a:xfrm>
            <a:off x="71780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Oval 28"/>
          <p:cNvSpPr/>
          <p:nvPr/>
        </p:nvSpPr>
        <p:spPr>
          <a:xfrm>
            <a:off x="74066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Oval 29"/>
          <p:cNvSpPr/>
          <p:nvPr/>
        </p:nvSpPr>
        <p:spPr>
          <a:xfrm>
            <a:off x="7635240" y="41148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Oval 30"/>
          <p:cNvSpPr/>
          <p:nvPr/>
        </p:nvSpPr>
        <p:spPr>
          <a:xfrm>
            <a:off x="5577840" y="43434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Oval 31"/>
          <p:cNvSpPr/>
          <p:nvPr/>
        </p:nvSpPr>
        <p:spPr>
          <a:xfrm>
            <a:off x="5806440" y="43434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Oval 32"/>
          <p:cNvSpPr/>
          <p:nvPr/>
        </p:nvSpPr>
        <p:spPr>
          <a:xfrm>
            <a:off x="6035040" y="43434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Oval 33"/>
          <p:cNvSpPr/>
          <p:nvPr/>
        </p:nvSpPr>
        <p:spPr>
          <a:xfrm>
            <a:off x="6263640" y="4343400"/>
            <a:ext cx="182880" cy="182880"/>
          </a:xfrm>
          <a:prstGeom prst="ellipse">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5" name="TextBox 34"/>
          <p:cNvSpPr txBox="1"/>
          <p:nvPr/>
        </p:nvSpPr>
        <p:spPr>
          <a:xfrm>
            <a:off x="4892040" y="4617720"/>
            <a:ext cx="3657600" cy="301752"/>
          </a:xfrm>
          <a:prstGeom prst="rect">
            <a:avLst/>
          </a:prstGeom>
          <a:noFill/>
        </p:spPr>
        <p:txBody>
          <a:bodyPr wrap="square" anchor="t" lIns="36576" rIns="36576" tIns="36576" bIns="36576">
            <a:spAutoFit/>
          </a:bodyPr>
          <a:lstStyle/>
          <a:p>
            <a:pPr algn="ctr">
              <a:spcAft>
                <a:spcPts val="400"/>
              </a:spcAft>
            </a:pPr>
            <a:r>
              <a:rPr sz="1050" b="0" i="0">
                <a:solidFill>
                  <a:srgbClr val="2B2B2B"/>
                </a:solidFill>
                <a:latin typeface="Arial"/>
              </a:rPr>
              <a:t>14 normales · 0 fraudes   ·   1 − (14/14)²</a:t>
            </a:r>
          </a:p>
        </p:txBody>
      </p:sp>
      <p:sp>
        <p:nvSpPr>
          <p:cNvPr id="36" name="TextBox 35"/>
          <p:cNvSpPr txBox="1"/>
          <p:nvPr/>
        </p:nvSpPr>
        <p:spPr>
          <a:xfrm>
            <a:off x="4892040" y="4937760"/>
            <a:ext cx="3657600" cy="548640"/>
          </a:xfrm>
          <a:prstGeom prst="rect">
            <a:avLst/>
          </a:prstGeom>
          <a:noFill/>
        </p:spPr>
        <p:txBody>
          <a:bodyPr wrap="square" anchor="t" lIns="36576" rIns="36576" tIns="36576" bIns="36576">
            <a:spAutoFit/>
          </a:bodyPr>
          <a:lstStyle/>
          <a:p>
            <a:pPr algn="ctr">
              <a:spcAft>
                <a:spcPts val="400"/>
              </a:spcAft>
            </a:pPr>
            <a:r>
              <a:rPr sz="2000" b="1" i="0">
                <a:solidFill>
                  <a:srgbClr val="2A9D8F"/>
                </a:solidFill>
                <a:latin typeface="Arial"/>
              </a:rPr>
              <a:t>Gini = 0,000</a:t>
            </a:r>
          </a:p>
        </p:txBody>
      </p:sp>
      <p:sp>
        <p:nvSpPr>
          <p:cNvPr id="37" name="Rounded Rectangle 36"/>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Rama no: </a:t>
            </a:r>
            <a:r>
              <a:rPr sz="1200" b="0" i="0">
                <a:solidFill>
                  <a:srgbClr val="2B2B2B"/>
                </a:solidFill>
                <a:latin typeface="Arial"/>
              </a:rPr>
              <a:t>pura, ningún fraude. </a:t>
            </a:r>
            <a:r>
              <a:rPr sz="1200" b="1" i="0">
                <a:solidFill>
                  <a:srgbClr val="D7263D"/>
                </a:solidFill>
                <a:latin typeface="Arial"/>
              </a:rPr>
              <a:t>Rama sí: </a:t>
            </a:r>
            <a:r>
              <a:rPr sz="1200" b="0" i="0">
                <a:solidFill>
                  <a:srgbClr val="2B2B2B"/>
                </a:solidFill>
                <a:latin typeface="Arial"/>
              </a:rPr>
              <a:t>todavía mezclada, pero con mayoría de fraudes.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Gini ponderado: no basta con promediar</a:t>
            </a:r>
          </a:p>
        </p:txBody>
      </p:sp>
      <p:sp>
        <p:nvSpPr>
          <p:cNvPr id="3" name="Rounded Rectangle 2"/>
          <p:cNvSpPr/>
          <p:nvPr/>
        </p:nvSpPr>
        <p:spPr>
          <a:xfrm>
            <a:off x="731520" y="196596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Promedio simple (incorrecto)</a:t>
            </a:r>
          </a:p>
        </p:txBody>
      </p:sp>
      <p:sp>
        <p:nvSpPr>
          <p:cNvPr id="5" name="TextBox 4"/>
          <p:cNvSpPr txBox="1"/>
          <p:nvPr/>
        </p:nvSpPr>
        <p:spPr>
          <a:xfrm>
            <a:off x="868680" y="2624328"/>
            <a:ext cx="352044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(0,444 + 0) / 2 = 0,222
Trata igual a una rama de 6 filas y a una de 14.</a:t>
            </a:r>
          </a:p>
        </p:txBody>
      </p:sp>
      <p:sp>
        <p:nvSpPr>
          <p:cNvPr id="6" name="Rounded Rectangle 5"/>
          <p:cNvSpPr/>
          <p:nvPr/>
        </p:nvSpPr>
        <p:spPr>
          <a:xfrm>
            <a:off x="4709160" y="1965960"/>
            <a:ext cx="379476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846320" y="20756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Gini ponderado (correcto)</a:t>
            </a:r>
          </a:p>
        </p:txBody>
      </p:sp>
      <p:sp>
        <p:nvSpPr>
          <p:cNvPr id="8" name="TextBox 7"/>
          <p:cNvSpPr txBox="1"/>
          <p:nvPr/>
        </p:nvSpPr>
        <p:spPr>
          <a:xfrm>
            <a:off x="4846320" y="2624328"/>
            <a:ext cx="352044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6/20 × 0,444 + 14/20 × 0 = 0,133
Cada rama pesa según cuántas filas llegan a ella.</a:t>
            </a:r>
          </a:p>
        </p:txBody>
      </p:sp>
      <p:sp>
        <p:nvSpPr>
          <p:cNvPr id="9" name="Rounded Rectangle 8"/>
          <p:cNvSpPr/>
          <p:nvPr/>
        </p:nvSpPr>
        <p:spPr>
          <a:xfrm>
            <a:off x="731520" y="3657600"/>
            <a:ext cx="2377440" cy="11887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Antes de dividir</a:t>
            </a:r>
          </a:p>
          <a:p>
            <a:pPr algn="ctr">
              <a:spcAft>
                <a:spcPts val="300"/>
              </a:spcAft>
            </a:pPr>
            <a:r>
              <a:rPr sz="2600" b="1" i="0">
                <a:solidFill>
                  <a:srgbClr val="FFFFFF"/>
                </a:solidFill>
                <a:latin typeface="Arial"/>
              </a:rPr>
              <a:t>0,32</a:t>
            </a:r>
          </a:p>
        </p:txBody>
      </p:sp>
      <p:sp>
        <p:nvSpPr>
          <p:cNvPr id="10" name="Right Arrow 9"/>
          <p:cNvSpPr/>
          <p:nvPr/>
        </p:nvSpPr>
        <p:spPr>
          <a:xfrm>
            <a:off x="3154680" y="4114800"/>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ounded Rectangle 10"/>
          <p:cNvSpPr/>
          <p:nvPr/>
        </p:nvSpPr>
        <p:spPr>
          <a:xfrm>
            <a:off x="3429000" y="3657600"/>
            <a:ext cx="237744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Después (ponderado)</a:t>
            </a:r>
          </a:p>
          <a:p>
            <a:pPr algn="ctr">
              <a:spcAft>
                <a:spcPts val="300"/>
              </a:spcAft>
            </a:pPr>
            <a:r>
              <a:rPr sz="2600" b="1" i="0">
                <a:solidFill>
                  <a:srgbClr val="242852"/>
                </a:solidFill>
                <a:latin typeface="Arial"/>
              </a:rPr>
              <a:t>0,133</a:t>
            </a:r>
          </a:p>
        </p:txBody>
      </p:sp>
      <p:sp>
        <p:nvSpPr>
          <p:cNvPr id="12" name="Right Arrow 11"/>
          <p:cNvSpPr/>
          <p:nvPr/>
        </p:nvSpPr>
        <p:spPr>
          <a:xfrm>
            <a:off x="5852160" y="4114800"/>
            <a:ext cx="228600" cy="274320"/>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ounded Rectangle 12"/>
          <p:cNvSpPr/>
          <p:nvPr/>
        </p:nvSpPr>
        <p:spPr>
          <a:xfrm>
            <a:off x="6126480" y="3657600"/>
            <a:ext cx="2377440"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Reducción de impureza</a:t>
            </a:r>
          </a:p>
          <a:p>
            <a:pPr algn="ctr">
              <a:spcAft>
                <a:spcPts val="300"/>
              </a:spcAft>
            </a:pPr>
            <a:r>
              <a:rPr sz="2600" b="1" i="0">
                <a:solidFill>
                  <a:srgbClr val="2A9D8F"/>
                </a:solidFill>
                <a:latin typeface="Arial"/>
              </a:rPr>
              <a:t>0,187</a:t>
            </a:r>
          </a:p>
        </p:txBody>
      </p:sp>
      <p:sp>
        <p:nvSpPr>
          <p:cNvPr id="14" name="Rounded Rectangle 13"/>
          <p:cNvSpPr/>
          <p:nvPr/>
        </p:nvSpPr>
        <p:spPr>
          <a:xfrm>
            <a:off x="731520" y="51206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Reducción = Gini antes − Gini ponderado después. </a:t>
            </a:r>
            <a:r>
              <a:rPr sz="1200" b="0" i="0">
                <a:solidFill>
                  <a:srgbClr val="2B2B2B"/>
                </a:solidFill>
                <a:latin typeface="Arial"/>
              </a:rPr>
              <a:t>Cuanto mayor, mejor separa la pregunta.</a:t>
            </a:r>
          </a:p>
        </p:txBody>
      </p:sp>
      <p:sp>
        <p:nvSpPr>
          <p:cNvPr id="15" name="Rounded Rectangle 14"/>
          <p:cNvSpPr/>
          <p:nvPr/>
        </p:nvSpPr>
        <p:spPr>
          <a:xfrm>
            <a:off x="731520" y="5779008"/>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qué ponderar? </a:t>
            </a:r>
            <a:r>
              <a:rPr sz="1200" b="0" i="0">
                <a:solidFill>
                  <a:srgbClr val="2B2B2B"/>
                </a:solidFill>
                <a:latin typeface="Arial"/>
              </a:rPr>
              <a:t>Una rama pura de 2 filas no vale lo mismo que una de 14: importa a cuántas transacciones ordena bien.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El árbol prueba otras preguntas y elige la mejor</a:t>
            </a:r>
          </a:p>
        </p:txBody>
      </p:sp>
      <p:graphicFrame>
        <p:nvGraphicFramePr>
          <p:cNvPr id="3" name="Table 2"/>
          <p:cNvGraphicFramePr>
            <a:graphicFrameLocks noGrp="1"/>
          </p:cNvGraphicFramePr>
          <p:nvPr/>
        </p:nvGraphicFramePr>
        <p:xfrm>
          <a:off x="731520" y="1965960"/>
          <a:ext cx="7772400" cy="1508760"/>
        </p:xfrm>
        <a:graphic>
          <a:graphicData uri="http://schemas.openxmlformats.org/drawingml/2006/table">
            <a:tbl>
              <a:tblPr firstRow="1" bandRow="1">
                <a:tableStyleId>{5C22544A-7EE6-4342-B048-85BDC9FD1C3A}</a:tableStyleId>
              </a:tblPr>
              <a:tblGrid>
                <a:gridCol w="1737360"/>
                <a:gridCol w="1965960"/>
                <a:gridCol w="1965960"/>
                <a:gridCol w="1097280"/>
                <a:gridCol w="1005840"/>
              </a:tblGrid>
              <a:tr h="502920">
                <a:tc>
                  <a:txBody>
                    <a:bodyPr wrap="square"/>
                    <a:lstStyle/>
                    <a:p>
                      <a:pPr algn="l"/>
                      <a:r>
                        <a:rPr sz="1150" b="1" i="0">
                          <a:solidFill>
                            <a:srgbClr val="FFFFFF"/>
                          </a:solidFill>
                          <a:latin typeface="Arial"/>
                        </a:rPr>
                        <a:t>Pregunta</a:t>
                      </a:r>
                    </a:p>
                  </a:txBody>
                  <a:tcPr marL="64008" marR="64008" marT="27432" marB="27432" anchor="ctr">
                    <a:solidFill>
                      <a:srgbClr val="242852"/>
                    </a:solidFill>
                  </a:tcPr>
                </a:tc>
                <a:tc>
                  <a:txBody>
                    <a:bodyPr wrap="square"/>
                    <a:lstStyle/>
                    <a:p>
                      <a:pPr algn="ctr"/>
                      <a:r>
                        <a:rPr sz="1150" b="1" i="0">
                          <a:solidFill>
                            <a:srgbClr val="FFFFFF"/>
                          </a:solidFill>
                          <a:latin typeface="Arial"/>
                        </a:rPr>
                        <a:t>Rama 1: filas · fraudes · Gini</a:t>
                      </a:r>
                    </a:p>
                  </a:txBody>
                  <a:tcPr marL="64008" marR="64008" marT="27432" marB="27432" anchor="ctr">
                    <a:solidFill>
                      <a:srgbClr val="242852"/>
                    </a:solidFill>
                  </a:tcPr>
                </a:tc>
                <a:tc>
                  <a:txBody>
                    <a:bodyPr wrap="square"/>
                    <a:lstStyle/>
                    <a:p>
                      <a:pPr algn="ctr"/>
                      <a:r>
                        <a:rPr sz="1150" b="1" i="0">
                          <a:solidFill>
                            <a:srgbClr val="FFFFFF"/>
                          </a:solidFill>
                          <a:latin typeface="Arial"/>
                        </a:rPr>
                        <a:t>Rama 2: filas · fraudes · Gini</a:t>
                      </a:r>
                    </a:p>
                  </a:txBody>
                  <a:tcPr marL="64008" marR="64008" marT="27432" marB="27432" anchor="ctr">
                    <a:solidFill>
                      <a:srgbClr val="242852"/>
                    </a:solidFill>
                  </a:tcPr>
                </a:tc>
                <a:tc>
                  <a:txBody>
                    <a:bodyPr wrap="square"/>
                    <a:lstStyle/>
                    <a:p>
                      <a:pPr algn="ctr"/>
                      <a:r>
                        <a:rPr sz="1150" b="1" i="0">
                          <a:solidFill>
                            <a:srgbClr val="FFFFFF"/>
                          </a:solidFill>
                          <a:latin typeface="Arial"/>
                        </a:rPr>
                        <a:t>Gini ponderado</a:t>
                      </a:r>
                    </a:p>
                  </a:txBody>
                  <a:tcPr marL="64008" marR="64008" marT="27432" marB="27432" anchor="ctr">
                    <a:solidFill>
                      <a:srgbClr val="242852"/>
                    </a:solidFill>
                  </a:tcPr>
                </a:tc>
                <a:tc>
                  <a:txBody>
                    <a:bodyPr wrap="square"/>
                    <a:lstStyle/>
                    <a:p>
                      <a:pPr algn="ctr"/>
                      <a:r>
                        <a:rPr sz="1150" b="1" i="0">
                          <a:solidFill>
                            <a:srgbClr val="FFFFFF"/>
                          </a:solidFill>
                          <a:latin typeface="Arial"/>
                        </a:rPr>
                        <a:t>Reducción</a:t>
                      </a:r>
                    </a:p>
                  </a:txBody>
                  <a:tcPr marL="64008" marR="64008" marT="27432" marB="27432" anchor="ctr">
                    <a:solidFill>
                      <a:srgbClr val="242852"/>
                    </a:solidFill>
                  </a:tcPr>
                </a:tc>
              </a:tr>
              <a:tr h="502920">
                <a:tc>
                  <a:txBody>
                    <a:bodyPr wrap="square"/>
                    <a:lstStyle/>
                    <a:p>
                      <a:pPr algn="l"/>
                      <a:r>
                        <a:rPr sz="1150" b="1" i="0">
                          <a:solidFill>
                            <a:srgbClr val="2B2B2B"/>
                          </a:solidFill>
                          <a:latin typeface="Arial"/>
                        </a:rPr>
                        <a:t>¿Es TRANSFER?</a:t>
                      </a:r>
                    </a:p>
                  </a:txBody>
                  <a:tcPr marL="64008" marR="64008" marT="27432" marB="27432" anchor="ctr">
                    <a:solidFill>
                      <a:srgbClr val="E3F3F1"/>
                    </a:solidFill>
                  </a:tcPr>
                </a:tc>
                <a:tc>
                  <a:txBody>
                    <a:bodyPr wrap="square"/>
                    <a:lstStyle/>
                    <a:p>
                      <a:pPr algn="ctr"/>
                      <a:r>
                        <a:rPr sz="1150" b="0" i="0">
                          <a:solidFill>
                            <a:srgbClr val="2B2B2B"/>
                          </a:solidFill>
                          <a:latin typeface="Arial"/>
                        </a:rPr>
                        <a:t>6 · 4 · 0,444</a:t>
                      </a:r>
                    </a:p>
                  </a:txBody>
                  <a:tcPr marL="64008" marR="64008" marT="27432" marB="27432" anchor="ctr">
                    <a:solidFill>
                      <a:srgbClr val="E3F3F1"/>
                    </a:solidFill>
                  </a:tcPr>
                </a:tc>
                <a:tc>
                  <a:txBody>
                    <a:bodyPr wrap="square"/>
                    <a:lstStyle/>
                    <a:p>
                      <a:pPr algn="ctr"/>
                      <a:r>
                        <a:rPr sz="1150" b="0" i="0">
                          <a:solidFill>
                            <a:srgbClr val="2B2B2B"/>
                          </a:solidFill>
                          <a:latin typeface="Arial"/>
                        </a:rPr>
                        <a:t>14 · 0 · 0,000</a:t>
                      </a:r>
                    </a:p>
                  </a:txBody>
                  <a:tcPr marL="64008" marR="64008" marT="27432" marB="27432" anchor="ctr">
                    <a:solidFill>
                      <a:srgbClr val="E3F3F1"/>
                    </a:solidFill>
                  </a:tcPr>
                </a:tc>
                <a:tc>
                  <a:txBody>
                    <a:bodyPr wrap="square"/>
                    <a:lstStyle/>
                    <a:p>
                      <a:pPr algn="ctr"/>
                      <a:r>
                        <a:rPr sz="1150" b="0" i="0">
                          <a:solidFill>
                            <a:srgbClr val="2B2B2B"/>
                          </a:solidFill>
                          <a:latin typeface="Arial"/>
                        </a:rPr>
                        <a:t>0,133</a:t>
                      </a:r>
                    </a:p>
                  </a:txBody>
                  <a:tcPr marL="64008" marR="64008" marT="27432" marB="27432" anchor="ctr">
                    <a:solidFill>
                      <a:srgbClr val="E3F3F1"/>
                    </a:solidFill>
                  </a:tcPr>
                </a:tc>
                <a:tc>
                  <a:txBody>
                    <a:bodyPr wrap="square"/>
                    <a:lstStyle/>
                    <a:p>
                      <a:pPr algn="ctr"/>
                      <a:r>
                        <a:rPr sz="1150" b="1" i="0">
                          <a:solidFill>
                            <a:srgbClr val="2A9D8F"/>
                          </a:solidFill>
                          <a:latin typeface="Arial"/>
                        </a:rPr>
                        <a:t>0,187</a:t>
                      </a:r>
                    </a:p>
                  </a:txBody>
                  <a:tcPr marL="64008" marR="64008" marT="27432" marB="27432" anchor="ctr">
                    <a:solidFill>
                      <a:srgbClr val="E3F3F1"/>
                    </a:solidFill>
                  </a:tcPr>
                </a:tc>
              </a:tr>
              <a:tr h="502920">
                <a:tc>
                  <a:txBody>
                    <a:bodyPr wrap="square"/>
                    <a:lstStyle/>
                    <a:p>
                      <a:pPr algn="l"/>
                      <a:r>
                        <a:rPr sz="1150" b="1" i="0">
                          <a:solidFill>
                            <a:srgbClr val="2B2B2B"/>
                          </a:solidFill>
                          <a:latin typeface="Arial"/>
                        </a:rPr>
                        <a:t>¿Monto ≤ 1 000?</a:t>
                      </a:r>
                    </a:p>
                  </a:txBody>
                  <a:tcPr marL="64008" marR="64008" marT="27432" marB="27432" anchor="ctr">
                    <a:solidFill>
                      <a:srgbClr val="F2F3F5"/>
                    </a:solidFill>
                  </a:tcPr>
                </a:tc>
                <a:tc>
                  <a:txBody>
                    <a:bodyPr wrap="square"/>
                    <a:lstStyle/>
                    <a:p>
                      <a:pPr algn="ctr"/>
                      <a:r>
                        <a:rPr sz="1150" b="0" i="0">
                          <a:solidFill>
                            <a:srgbClr val="2B2B2B"/>
                          </a:solidFill>
                          <a:latin typeface="Arial"/>
                        </a:rPr>
                        <a:t>12 · 1 · 0,153</a:t>
                      </a:r>
                    </a:p>
                  </a:txBody>
                  <a:tcPr marL="64008" marR="64008" marT="27432" marB="27432" anchor="ctr">
                    <a:solidFill>
                      <a:srgbClr val="F2F3F5"/>
                    </a:solidFill>
                  </a:tcPr>
                </a:tc>
                <a:tc>
                  <a:txBody>
                    <a:bodyPr wrap="square"/>
                    <a:lstStyle/>
                    <a:p>
                      <a:pPr algn="ctr"/>
                      <a:r>
                        <a:rPr sz="1150" b="0" i="0">
                          <a:solidFill>
                            <a:srgbClr val="2B2B2B"/>
                          </a:solidFill>
                          <a:latin typeface="Arial"/>
                        </a:rPr>
                        <a:t>8 · 3 · 0,469</a:t>
                      </a:r>
                    </a:p>
                  </a:txBody>
                  <a:tcPr marL="64008" marR="64008" marT="27432" marB="27432" anchor="ctr">
                    <a:solidFill>
                      <a:srgbClr val="F2F3F5"/>
                    </a:solidFill>
                  </a:tcPr>
                </a:tc>
                <a:tc>
                  <a:txBody>
                    <a:bodyPr wrap="square"/>
                    <a:lstStyle/>
                    <a:p>
                      <a:pPr algn="ctr"/>
                      <a:r>
                        <a:rPr sz="1150" b="0" i="0">
                          <a:solidFill>
                            <a:srgbClr val="2B2B2B"/>
                          </a:solidFill>
                          <a:latin typeface="Arial"/>
                        </a:rPr>
                        <a:t>0,279</a:t>
                      </a:r>
                    </a:p>
                  </a:txBody>
                  <a:tcPr marL="64008" marR="64008" marT="27432" marB="27432" anchor="ctr">
                    <a:solidFill>
                      <a:srgbClr val="F2F3F5"/>
                    </a:solidFill>
                  </a:tcPr>
                </a:tc>
                <a:tc>
                  <a:txBody>
                    <a:bodyPr wrap="square"/>
                    <a:lstStyle/>
                    <a:p>
                      <a:pPr algn="ctr"/>
                      <a:r>
                        <a:rPr sz="1150" b="0" i="0">
                          <a:solidFill>
                            <a:srgbClr val="2B2B2B"/>
                          </a:solidFill>
                          <a:latin typeface="Arial"/>
                        </a:rPr>
                        <a:t>0,041</a:t>
                      </a:r>
                    </a:p>
                  </a:txBody>
                  <a:tcPr marL="64008" marR="64008" marT="27432" marB="27432" anchor="ctr">
                    <a:solidFill>
                      <a:srgbClr val="F2F3F5"/>
                    </a:solidFill>
                  </a:tcPr>
                </a:tc>
              </a:tr>
            </a:tbl>
          </a:graphicData>
        </a:graphic>
      </p:graphicFrame>
      <p:sp>
        <p:nvSpPr>
          <p:cNvPr id="4" name="Rounded Rectangle 3"/>
          <p:cNvSpPr/>
          <p:nvPr/>
        </p:nvSpPr>
        <p:spPr>
          <a:xfrm>
            <a:off x="731520" y="3657600"/>
            <a:ext cx="182880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Oval 4"/>
          <p:cNvSpPr/>
          <p:nvPr/>
        </p:nvSpPr>
        <p:spPr>
          <a:xfrm>
            <a:off x="822960" y="3749039"/>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1</a:t>
            </a:r>
          </a:p>
        </p:txBody>
      </p:sp>
      <p:sp>
        <p:nvSpPr>
          <p:cNvPr id="6" name="TextBox 5"/>
          <p:cNvSpPr txBox="1"/>
          <p:nvPr/>
        </p:nvSpPr>
        <p:spPr>
          <a:xfrm>
            <a:off x="1234440" y="3730752"/>
            <a:ext cx="1280160" cy="41148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Probar</a:t>
            </a:r>
          </a:p>
        </p:txBody>
      </p:sp>
      <p:sp>
        <p:nvSpPr>
          <p:cNvPr id="7" name="TextBox 6"/>
          <p:cNvSpPr txBox="1"/>
          <p:nvPr/>
        </p:nvSpPr>
        <p:spPr>
          <a:xfrm>
            <a:off x="841248" y="4206240"/>
            <a:ext cx="1645920" cy="5943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cada variable y cada umbral</a:t>
            </a:r>
          </a:p>
        </p:txBody>
      </p:sp>
      <p:sp>
        <p:nvSpPr>
          <p:cNvPr id="8" name="Rounded Rectangle 7"/>
          <p:cNvSpPr/>
          <p:nvPr/>
        </p:nvSpPr>
        <p:spPr>
          <a:xfrm>
            <a:off x="2697480" y="3657600"/>
            <a:ext cx="182880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Oval 8"/>
          <p:cNvSpPr/>
          <p:nvPr/>
        </p:nvSpPr>
        <p:spPr>
          <a:xfrm>
            <a:off x="2788920" y="3749039"/>
            <a:ext cx="365760" cy="3657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2</a:t>
            </a:r>
          </a:p>
        </p:txBody>
      </p:sp>
      <p:sp>
        <p:nvSpPr>
          <p:cNvPr id="10" name="TextBox 9"/>
          <p:cNvSpPr txBox="1"/>
          <p:nvPr/>
        </p:nvSpPr>
        <p:spPr>
          <a:xfrm>
            <a:off x="3200400" y="3730752"/>
            <a:ext cx="1280160" cy="41148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Calcular</a:t>
            </a:r>
          </a:p>
        </p:txBody>
      </p:sp>
      <p:sp>
        <p:nvSpPr>
          <p:cNvPr id="11" name="TextBox 10"/>
          <p:cNvSpPr txBox="1"/>
          <p:nvPr/>
        </p:nvSpPr>
        <p:spPr>
          <a:xfrm>
            <a:off x="2807208" y="4206240"/>
            <a:ext cx="1645920" cy="5943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el Gini ponderado de las ramas</a:t>
            </a:r>
          </a:p>
        </p:txBody>
      </p:sp>
      <p:sp>
        <p:nvSpPr>
          <p:cNvPr id="12" name="Rounded Rectangle 11"/>
          <p:cNvSpPr/>
          <p:nvPr/>
        </p:nvSpPr>
        <p:spPr>
          <a:xfrm>
            <a:off x="4663440" y="3657600"/>
            <a:ext cx="182880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4754879" y="3749039"/>
            <a:ext cx="365760" cy="36576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3</a:t>
            </a:r>
          </a:p>
        </p:txBody>
      </p:sp>
      <p:sp>
        <p:nvSpPr>
          <p:cNvPr id="14" name="TextBox 13"/>
          <p:cNvSpPr txBox="1"/>
          <p:nvPr/>
        </p:nvSpPr>
        <p:spPr>
          <a:xfrm>
            <a:off x="5166359" y="3730752"/>
            <a:ext cx="1280160" cy="41148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Elegir</a:t>
            </a:r>
          </a:p>
        </p:txBody>
      </p:sp>
      <p:sp>
        <p:nvSpPr>
          <p:cNvPr id="15" name="TextBox 14"/>
          <p:cNvSpPr txBox="1"/>
          <p:nvPr/>
        </p:nvSpPr>
        <p:spPr>
          <a:xfrm>
            <a:off x="4773168" y="4206240"/>
            <a:ext cx="1645920" cy="5943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la mayor reducción de impureza</a:t>
            </a:r>
          </a:p>
        </p:txBody>
      </p:sp>
      <p:sp>
        <p:nvSpPr>
          <p:cNvPr id="16" name="Rounded Rectangle 15"/>
          <p:cNvSpPr/>
          <p:nvPr/>
        </p:nvSpPr>
        <p:spPr>
          <a:xfrm>
            <a:off x="6629399" y="3657600"/>
            <a:ext cx="182880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Oval 16"/>
          <p:cNvSpPr/>
          <p:nvPr/>
        </p:nvSpPr>
        <p:spPr>
          <a:xfrm>
            <a:off x="6720839" y="3749039"/>
            <a:ext cx="365760" cy="36576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00" b="1" i="0">
                <a:solidFill>
                  <a:srgbClr val="FFFFFF"/>
                </a:solidFill>
                <a:latin typeface="Arial"/>
              </a:rPr>
              <a:t>4</a:t>
            </a:r>
          </a:p>
        </p:txBody>
      </p:sp>
      <p:sp>
        <p:nvSpPr>
          <p:cNvPr id="18" name="TextBox 17"/>
          <p:cNvSpPr txBox="1"/>
          <p:nvPr/>
        </p:nvSpPr>
        <p:spPr>
          <a:xfrm>
            <a:off x="7132319" y="3730752"/>
            <a:ext cx="1280160" cy="41148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Repetir</a:t>
            </a:r>
          </a:p>
        </p:txBody>
      </p:sp>
      <p:sp>
        <p:nvSpPr>
          <p:cNvPr id="19" name="TextBox 18"/>
          <p:cNvSpPr txBox="1"/>
          <p:nvPr/>
        </p:nvSpPr>
        <p:spPr>
          <a:xfrm>
            <a:off x="6739127" y="4206240"/>
            <a:ext cx="1645920" cy="5943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en cada rama hasta parar</a:t>
            </a:r>
          </a:p>
        </p:txBody>
      </p:sp>
      <p:sp>
        <p:nvSpPr>
          <p:cNvPr id="20" name="Rounded Rectangle 19"/>
          <p:cNvSpPr/>
          <p:nvPr/>
        </p:nvSpPr>
        <p:spPr>
          <a:xfrm>
            <a:off x="731520" y="507492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Condiciones de parada: </a:t>
            </a:r>
            <a:r>
              <a:rPr sz="1200" b="0" i="0">
                <a:solidFill>
                  <a:srgbClr val="2B2B2B"/>
                </a:solidFill>
                <a:latin typeface="Arial"/>
              </a:rPr>
              <a:t>el nodo es puro, se alcanzó max_depth o quedarían menos filas que min_samples_leaf (Día 2).</a:t>
            </a:r>
          </a:p>
        </p:txBody>
      </p:sp>
      <p:sp>
        <p:nvSpPr>
          <p:cNvPr id="21" name="Rounded Rectangle 20"/>
          <p:cNvSpPr/>
          <p:nvPr/>
        </p:nvSpPr>
        <p:spPr>
          <a:xfrm>
            <a:off x="731520" y="5760720"/>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Gini no mide aciertos </a:t>
            </a:r>
            <a:r>
              <a:rPr sz="1200" b="0" i="0">
                <a:solidFill>
                  <a:srgbClr val="2B2B2B"/>
                </a:solidFill>
                <a:latin typeface="Arial"/>
              </a:rPr>
              <a:t>con transacciones nuevas: solo guía la construcción. Para evaluar está la matriz de confusión.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Ahora con PaySim: ¿dónde está el fraude?</a:t>
            </a:r>
          </a:p>
        </p:txBody>
      </p:sp>
      <p:graphicFrame>
        <p:nvGraphicFramePr>
          <p:cNvPr id="3" name="Table 2"/>
          <p:cNvGraphicFramePr>
            <a:graphicFrameLocks noGrp="1"/>
          </p:cNvGraphicFramePr>
          <p:nvPr/>
        </p:nvGraphicFramePr>
        <p:xfrm>
          <a:off x="731520" y="1965960"/>
          <a:ext cx="2743200" cy="2304288"/>
        </p:xfrm>
        <a:graphic>
          <a:graphicData uri="http://schemas.openxmlformats.org/drawingml/2006/table">
            <a:tbl>
              <a:tblPr firstRow="1" bandRow="1">
                <a:tableStyleId>{5C22544A-7EE6-4342-B048-85BDC9FD1C3A}</a:tableStyleId>
              </a:tblPr>
              <a:tblGrid>
                <a:gridCol w="1097280"/>
                <a:gridCol w="868680"/>
                <a:gridCol w="777240"/>
              </a:tblGrid>
              <a:tr h="384048">
                <a:tc>
                  <a:txBody>
                    <a:bodyPr wrap="square"/>
                    <a:lstStyle/>
                    <a:p>
                      <a:pPr algn="l"/>
                      <a:r>
                        <a:rPr sz="1150" b="1" i="0">
                          <a:solidFill>
                            <a:srgbClr val="FFFFFF"/>
                          </a:solidFill>
                          <a:latin typeface="Arial"/>
                        </a:rPr>
                        <a:t>Tipo</a:t>
                      </a:r>
                    </a:p>
                  </a:txBody>
                  <a:tcPr marL="64008" marR="64008" marT="27432" marB="27432" anchor="ctr">
                    <a:solidFill>
                      <a:srgbClr val="242852"/>
                    </a:solidFill>
                  </a:tcPr>
                </a:tc>
                <a:tc>
                  <a:txBody>
                    <a:bodyPr wrap="square"/>
                    <a:lstStyle/>
                    <a:p>
                      <a:pPr algn="ctr"/>
                      <a:r>
                        <a:rPr sz="1150" b="1" i="0">
                          <a:solidFill>
                            <a:srgbClr val="FFFFFF"/>
                          </a:solidFill>
                          <a:latin typeface="Arial"/>
                        </a:rPr>
                        <a:t>Normales</a:t>
                      </a:r>
                    </a:p>
                  </a:txBody>
                  <a:tcPr marL="64008" marR="64008" marT="27432" marB="27432" anchor="ctr">
                    <a:solidFill>
                      <a:srgbClr val="242852"/>
                    </a:solidFill>
                  </a:tcPr>
                </a:tc>
                <a:tc>
                  <a:txBody>
                    <a:bodyPr wrap="square"/>
                    <a:lstStyle/>
                    <a:p>
                      <a:pPr algn="ctr"/>
                      <a:r>
                        <a:rPr sz="1150" b="1" i="0">
                          <a:solidFill>
                            <a:srgbClr val="FFFFFF"/>
                          </a:solidFill>
                          <a:latin typeface="Arial"/>
                        </a:rPr>
                        <a:t>Fraudes</a:t>
                      </a:r>
                    </a:p>
                  </a:txBody>
                  <a:tcPr marL="64008" marR="64008" marT="27432" marB="27432" anchor="ctr">
                    <a:solidFill>
                      <a:srgbClr val="242852"/>
                    </a:solidFill>
                  </a:tcPr>
                </a:tc>
              </a:tr>
              <a:tr h="384048">
                <a:tc>
                  <a:txBody>
                    <a:bodyPr wrap="square"/>
                    <a:lstStyle/>
                    <a:p>
                      <a:pPr algn="l"/>
                      <a:r>
                        <a:rPr sz="1150" b="1" i="0">
                          <a:solidFill>
                            <a:srgbClr val="2B2B2B"/>
                          </a:solidFill>
                          <a:latin typeface="Arial"/>
                        </a:rPr>
                        <a:t>CASH_OUT</a:t>
                      </a:r>
                    </a:p>
                  </a:txBody>
                  <a:tcPr marL="64008" marR="64008" marT="27432" marB="27432" anchor="ctr">
                    <a:solidFill>
                      <a:srgbClr val="FBE8EA"/>
                    </a:solidFill>
                  </a:tcPr>
                </a:tc>
                <a:tc>
                  <a:txBody>
                    <a:bodyPr wrap="square"/>
                    <a:lstStyle/>
                    <a:p>
                      <a:pPr algn="ctr"/>
                      <a:r>
                        <a:rPr sz="1150" b="0" i="0">
                          <a:solidFill>
                            <a:srgbClr val="2B2B2B"/>
                          </a:solidFill>
                          <a:latin typeface="Arial"/>
                        </a:rPr>
                        <a:t>32 471</a:t>
                      </a:r>
                    </a:p>
                  </a:txBody>
                  <a:tcPr marL="64008" marR="64008" marT="27432" marB="27432" anchor="ctr">
                    <a:solidFill>
                      <a:srgbClr val="FBE8EA"/>
                    </a:solidFill>
                  </a:tcPr>
                </a:tc>
                <a:tc>
                  <a:txBody>
                    <a:bodyPr wrap="square"/>
                    <a:lstStyle/>
                    <a:p>
                      <a:pPr algn="ctr"/>
                      <a:r>
                        <a:rPr sz="1150" b="0" i="0">
                          <a:solidFill>
                            <a:srgbClr val="2B2B2B"/>
                          </a:solidFill>
                          <a:latin typeface="Arial"/>
                        </a:rPr>
                        <a:t>4 116</a:t>
                      </a:r>
                    </a:p>
                  </a:txBody>
                  <a:tcPr marL="64008" marR="64008" marT="27432" marB="27432" anchor="ctr">
                    <a:solidFill>
                      <a:srgbClr val="FBE8EA"/>
                    </a:solidFill>
                  </a:tcPr>
                </a:tc>
              </a:tr>
              <a:tr h="384048">
                <a:tc>
                  <a:txBody>
                    <a:bodyPr wrap="square"/>
                    <a:lstStyle/>
                    <a:p>
                      <a:pPr algn="l"/>
                      <a:r>
                        <a:rPr sz="1150" b="1" i="0">
                          <a:solidFill>
                            <a:srgbClr val="2B2B2B"/>
                          </a:solidFill>
                          <a:latin typeface="Arial"/>
                        </a:rPr>
                        <a:t>TRANSFER</a:t>
                      </a:r>
                    </a:p>
                  </a:txBody>
                  <a:tcPr marL="64008" marR="64008" marT="27432" marB="27432" anchor="ctr">
                    <a:solidFill>
                      <a:srgbClr val="FBE8EA"/>
                    </a:solidFill>
                  </a:tcPr>
                </a:tc>
                <a:tc>
                  <a:txBody>
                    <a:bodyPr wrap="square"/>
                    <a:lstStyle/>
                    <a:p>
                      <a:pPr algn="ctr"/>
                      <a:r>
                        <a:rPr sz="1150" b="0" i="0">
                          <a:solidFill>
                            <a:srgbClr val="2B2B2B"/>
                          </a:solidFill>
                          <a:latin typeface="Arial"/>
                        </a:rPr>
                        <a:t>7 852</a:t>
                      </a:r>
                    </a:p>
                  </a:txBody>
                  <a:tcPr marL="64008" marR="64008" marT="27432" marB="27432" anchor="ctr">
                    <a:solidFill>
                      <a:srgbClr val="FBE8EA"/>
                    </a:solidFill>
                  </a:tcPr>
                </a:tc>
                <a:tc>
                  <a:txBody>
                    <a:bodyPr wrap="square"/>
                    <a:lstStyle/>
                    <a:p>
                      <a:pPr algn="ctr"/>
                      <a:r>
                        <a:rPr sz="1150" b="0" i="0">
                          <a:solidFill>
                            <a:srgbClr val="2B2B2B"/>
                          </a:solidFill>
                          <a:latin typeface="Arial"/>
                        </a:rPr>
                        <a:t>4 097</a:t>
                      </a:r>
                    </a:p>
                  </a:txBody>
                  <a:tcPr marL="64008" marR="64008" marT="27432" marB="27432" anchor="ctr">
                    <a:solidFill>
                      <a:srgbClr val="FBE8EA"/>
                    </a:solidFill>
                  </a:tcPr>
                </a:tc>
              </a:tr>
              <a:tr h="384048">
                <a:tc>
                  <a:txBody>
                    <a:bodyPr wrap="square"/>
                    <a:lstStyle/>
                    <a:p>
                      <a:pPr algn="l"/>
                      <a:r>
                        <a:rPr sz="1150" b="1" i="0">
                          <a:solidFill>
                            <a:srgbClr val="2B2B2B"/>
                          </a:solidFill>
                          <a:latin typeface="Arial"/>
                        </a:rPr>
                        <a:t>PAYMENT</a:t>
                      </a:r>
                    </a:p>
                  </a:txBody>
                  <a:tcPr marL="64008" marR="64008" marT="27432" marB="27432" anchor="ctr">
                    <a:solidFill>
                      <a:srgbClr val="FFFFFF"/>
                    </a:solidFill>
                  </a:tcPr>
                </a:tc>
                <a:tc>
                  <a:txBody>
                    <a:bodyPr wrap="square"/>
                    <a:lstStyle/>
                    <a:p>
                      <a:pPr algn="ctr"/>
                      <a:r>
                        <a:rPr sz="1150" b="0" i="0">
                          <a:solidFill>
                            <a:srgbClr val="2B2B2B"/>
                          </a:solidFill>
                          <a:latin typeface="Arial"/>
                        </a:rPr>
                        <a:t>31 018</a:t>
                      </a:r>
                    </a:p>
                  </a:txBody>
                  <a:tcPr marL="64008" marR="64008" marT="27432" marB="27432" anchor="ctr">
                    <a:solidFill>
                      <a:srgbClr val="FFFFFF"/>
                    </a:solidFill>
                  </a:tcPr>
                </a:tc>
                <a:tc>
                  <a:txBody>
                    <a:bodyPr wrap="square"/>
                    <a:lstStyle/>
                    <a:p>
                      <a:pPr algn="ctr"/>
                      <a:r>
                        <a:rPr sz="1150" b="0" i="0">
                          <a:solidFill>
                            <a:srgbClr val="2B2B2B"/>
                          </a:solidFill>
                          <a:latin typeface="Arial"/>
                        </a:rPr>
                        <a:t>0</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CASH_IN</a:t>
                      </a:r>
                    </a:p>
                  </a:txBody>
                  <a:tcPr marL="64008" marR="64008" marT="27432" marB="27432" anchor="ctr">
                    <a:solidFill>
                      <a:srgbClr val="F2F3F5"/>
                    </a:solidFill>
                  </a:tcPr>
                </a:tc>
                <a:tc>
                  <a:txBody>
                    <a:bodyPr wrap="square"/>
                    <a:lstStyle/>
                    <a:p>
                      <a:pPr algn="ctr"/>
                      <a:r>
                        <a:rPr sz="1150" b="0" i="0">
                          <a:solidFill>
                            <a:srgbClr val="2B2B2B"/>
                          </a:solidFill>
                          <a:latin typeface="Arial"/>
                        </a:rPr>
                        <a:t>20 051</a:t>
                      </a:r>
                    </a:p>
                  </a:txBody>
                  <a:tcPr marL="64008" marR="64008" marT="27432" marB="27432" anchor="ctr">
                    <a:solidFill>
                      <a:srgbClr val="F2F3F5"/>
                    </a:solidFill>
                  </a:tcPr>
                </a:tc>
                <a:tc>
                  <a:txBody>
                    <a:bodyPr wrap="square"/>
                    <a:lstStyle/>
                    <a:p>
                      <a:pPr algn="ctr"/>
                      <a:r>
                        <a:rPr sz="1150" b="0" i="0">
                          <a:solidFill>
                            <a:srgbClr val="2B2B2B"/>
                          </a:solidFill>
                          <a:latin typeface="Arial"/>
                        </a:rPr>
                        <a:t>0</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DEBIT</a:t>
                      </a:r>
                    </a:p>
                  </a:txBody>
                  <a:tcPr marL="64008" marR="64008" marT="27432" marB="27432" anchor="ctr">
                    <a:solidFill>
                      <a:srgbClr val="FFFFFF"/>
                    </a:solidFill>
                  </a:tcPr>
                </a:tc>
                <a:tc>
                  <a:txBody>
                    <a:bodyPr wrap="square"/>
                    <a:lstStyle/>
                    <a:p>
                      <a:pPr algn="ctr"/>
                      <a:r>
                        <a:rPr sz="1150" b="0" i="0">
                          <a:solidFill>
                            <a:srgbClr val="2B2B2B"/>
                          </a:solidFill>
                          <a:latin typeface="Arial"/>
                        </a:rPr>
                        <a:t>593</a:t>
                      </a:r>
                    </a:p>
                  </a:txBody>
                  <a:tcPr marL="64008" marR="64008" marT="27432" marB="27432" anchor="ctr">
                    <a:solidFill>
                      <a:srgbClr val="FFFFFF"/>
                    </a:solidFill>
                  </a:tcPr>
                </a:tc>
                <a:tc>
                  <a:txBody>
                    <a:bodyPr wrap="square"/>
                    <a:lstStyle/>
                    <a:p>
                      <a:pPr algn="ctr"/>
                      <a:r>
                        <a:rPr sz="1150" b="0" i="0">
                          <a:solidFill>
                            <a:srgbClr val="2B2B2B"/>
                          </a:solidFill>
                          <a:latin typeface="Arial"/>
                        </a:rPr>
                        <a:t>0</a:t>
                      </a:r>
                    </a:p>
                  </a:txBody>
                  <a:tcPr marL="64008" marR="64008" marT="27432" marB="27432" anchor="ctr">
                    <a:solidFill>
                      <a:srgbClr val="FFFFFF"/>
                    </a:solidFill>
                  </a:tcPr>
                </a:tc>
              </a:tr>
            </a:tbl>
          </a:graphicData>
        </a:graphic>
      </p:graphicFrame>
      <p:pic>
        <p:nvPicPr>
          <p:cNvPr id="4" name="Picture 3" descr="hora.png"/>
          <p:cNvPicPr>
            <a:picLocks noChangeAspect="1"/>
          </p:cNvPicPr>
          <p:nvPr/>
        </p:nvPicPr>
        <p:blipFill>
          <a:blip r:embed="rId3"/>
          <a:stretch>
            <a:fillRect/>
          </a:stretch>
        </p:blipFill>
        <p:spPr>
          <a:xfrm>
            <a:off x="3657600" y="2047514"/>
            <a:ext cx="4846320" cy="2031450"/>
          </a:xfrm>
          <a:prstGeom prst="rect">
            <a:avLst/>
          </a:prstGeom>
        </p:spPr>
      </p:pic>
      <p:sp>
        <p:nvSpPr>
          <p:cNvPr id="5" name="Rounded Rectangle 4"/>
          <p:cNvSpPr/>
          <p:nvPr/>
        </p:nvSpPr>
        <p:spPr>
          <a:xfrm>
            <a:off x="731520" y="452628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Tres señales: </a:t>
            </a:r>
            <a:r>
              <a:rPr sz="1200" b="0" i="0">
                <a:solidFill>
                  <a:srgbClr val="2B2B2B"/>
                </a:solidFill>
                <a:latin typeface="Arial"/>
              </a:rPr>
              <a:t>el tipo (transferencia o retiro), el monto (alto) y la hora (madrugada). El árbol podrá preguntar por las tres.</a:t>
            </a:r>
          </a:p>
        </p:txBody>
      </p:sp>
      <p:sp>
        <p:nvSpPr>
          <p:cNvPr id="6" name="Rounded Rectangle 5"/>
          <p:cNvSpPr/>
          <p:nvPr/>
        </p:nvSpPr>
        <p:spPr>
          <a:xfrm>
            <a:off x="731520" y="5349240"/>
            <a:ext cx="7772400" cy="6858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Cuidado: </a:t>
            </a:r>
            <a:r>
              <a:rPr sz="1200" b="0" i="0">
                <a:solidFill>
                  <a:srgbClr val="2B2B2B"/>
                </a:solidFill>
                <a:latin typeface="Arial"/>
              </a:rPr>
              <a:t>en un dataset sintético, estas señales reflejan cómo se programó la simulación; no son leyes del fraude real.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PaySim: comparar preguntas candidatas</a:t>
            </a:r>
          </a:p>
        </p:txBody>
      </p:sp>
      <p:graphicFrame>
        <p:nvGraphicFramePr>
          <p:cNvPr id="3" name="Table 2"/>
          <p:cNvGraphicFramePr>
            <a:graphicFrameLocks noGrp="1"/>
          </p:cNvGraphicFramePr>
          <p:nvPr/>
        </p:nvGraphicFramePr>
        <p:xfrm>
          <a:off x="731520" y="2011680"/>
          <a:ext cx="7772400" cy="2514600"/>
        </p:xfrm>
        <a:graphic>
          <a:graphicData uri="http://schemas.openxmlformats.org/drawingml/2006/table">
            <a:tbl>
              <a:tblPr firstRow="1" bandRow="1">
                <a:tableStyleId>{5C22544A-7EE6-4342-B048-85BDC9FD1C3A}</a:tableStyleId>
              </a:tblPr>
              <a:tblGrid>
                <a:gridCol w="2011680"/>
                <a:gridCol w="2194560"/>
                <a:gridCol w="2194560"/>
                <a:gridCol w="1371600"/>
              </a:tblGrid>
              <a:tr h="502920">
                <a:tc>
                  <a:txBody>
                    <a:bodyPr wrap="square"/>
                    <a:lstStyle/>
                    <a:p>
                      <a:pPr algn="l"/>
                      <a:r>
                        <a:rPr sz="1150" b="1" i="0">
                          <a:solidFill>
                            <a:srgbClr val="FFFFFF"/>
                          </a:solidFill>
                          <a:latin typeface="Arial"/>
                        </a:rPr>
                        <a:t>Pregunta</a:t>
                      </a:r>
                    </a:p>
                  </a:txBody>
                  <a:tcPr marL="64008" marR="64008" marT="27432" marB="27432" anchor="ctr">
                    <a:solidFill>
                      <a:srgbClr val="242852"/>
                    </a:solidFill>
                  </a:tcPr>
                </a:tc>
                <a:tc>
                  <a:txBody>
                    <a:bodyPr wrap="square"/>
                    <a:lstStyle/>
                    <a:p>
                      <a:pPr algn="ctr"/>
                      <a:r>
                        <a:rPr sz="1150" b="1" i="0">
                          <a:solidFill>
                            <a:srgbClr val="FFFFFF"/>
                          </a:solidFill>
                          <a:latin typeface="Arial"/>
                        </a:rPr>
                        <a:t>Izquierda: filas · fraudes · Gini</a:t>
                      </a:r>
                    </a:p>
                  </a:txBody>
                  <a:tcPr marL="64008" marR="64008" marT="27432" marB="27432" anchor="ctr">
                    <a:solidFill>
                      <a:srgbClr val="242852"/>
                    </a:solidFill>
                  </a:tcPr>
                </a:tc>
                <a:tc>
                  <a:txBody>
                    <a:bodyPr wrap="square"/>
                    <a:lstStyle/>
                    <a:p>
                      <a:pPr algn="ctr"/>
                      <a:r>
                        <a:rPr sz="1150" b="1" i="0">
                          <a:solidFill>
                            <a:srgbClr val="FFFFFF"/>
                          </a:solidFill>
                          <a:latin typeface="Arial"/>
                        </a:rPr>
                        <a:t>Derecha: filas · fraudes · Gini</a:t>
                      </a:r>
                    </a:p>
                  </a:txBody>
                  <a:tcPr marL="64008" marR="64008" marT="27432" marB="27432" anchor="ctr">
                    <a:solidFill>
                      <a:srgbClr val="242852"/>
                    </a:solidFill>
                  </a:tcPr>
                </a:tc>
                <a:tc>
                  <a:txBody>
                    <a:bodyPr wrap="square"/>
                    <a:lstStyle/>
                    <a:p>
                      <a:pPr algn="ctr"/>
                      <a:r>
                        <a:rPr sz="1150" b="1" i="0">
                          <a:solidFill>
                            <a:srgbClr val="FFFFFF"/>
                          </a:solidFill>
                          <a:latin typeface="Arial"/>
                        </a:rPr>
                        <a:t>Gini ponderado</a:t>
                      </a:r>
                    </a:p>
                  </a:txBody>
                  <a:tcPr marL="64008" marR="64008" marT="27432" marB="27432" anchor="ctr">
                    <a:solidFill>
                      <a:srgbClr val="242852"/>
                    </a:solidFill>
                  </a:tcPr>
                </a:tc>
              </a:tr>
              <a:tr h="502920">
                <a:tc>
                  <a:txBody>
                    <a:bodyPr wrap="square"/>
                    <a:lstStyle/>
                    <a:p>
                      <a:pPr algn="l"/>
                      <a:r>
                        <a:rPr sz="1150" b="1" i="0">
                          <a:solidFill>
                            <a:srgbClr val="2B2B2B"/>
                          </a:solidFill>
                          <a:latin typeface="Arial"/>
                        </a:rPr>
                        <a:t>¿hora ≤ 8,5?</a:t>
                      </a:r>
                    </a:p>
                  </a:txBody>
                  <a:tcPr marL="64008" marR="64008" marT="27432" marB="27432" anchor="ctr">
                    <a:solidFill>
                      <a:srgbClr val="E3F3F1"/>
                    </a:solidFill>
                  </a:tcPr>
                </a:tc>
                <a:tc>
                  <a:txBody>
                    <a:bodyPr wrap="square"/>
                    <a:lstStyle/>
                    <a:p>
                      <a:pPr algn="ctr"/>
                      <a:r>
                        <a:rPr sz="1150" b="0" i="0">
                          <a:solidFill>
                            <a:srgbClr val="2B2B2B"/>
                          </a:solidFill>
                          <a:latin typeface="Arial"/>
                        </a:rPr>
                        <a:t>3 591 · 2 072 · 0,488</a:t>
                      </a:r>
                    </a:p>
                  </a:txBody>
                  <a:tcPr marL="64008" marR="64008" marT="27432" marB="27432" anchor="ctr">
                    <a:solidFill>
                      <a:srgbClr val="E3F3F1"/>
                    </a:solidFill>
                  </a:tcPr>
                </a:tc>
                <a:tc>
                  <a:txBody>
                    <a:bodyPr wrap="square"/>
                    <a:lstStyle/>
                    <a:p>
                      <a:pPr algn="ctr"/>
                      <a:r>
                        <a:rPr sz="1150" b="0" i="0">
                          <a:solidFill>
                            <a:srgbClr val="2B2B2B"/>
                          </a:solidFill>
                          <a:latin typeface="Arial"/>
                        </a:rPr>
                        <a:t>66 535 · 3 663 · 0,104</a:t>
                      </a:r>
                    </a:p>
                  </a:txBody>
                  <a:tcPr marL="64008" marR="64008" marT="27432" marB="27432" anchor="ctr">
                    <a:solidFill>
                      <a:srgbClr val="E3F3F1"/>
                    </a:solidFill>
                  </a:tcPr>
                </a:tc>
                <a:tc>
                  <a:txBody>
                    <a:bodyPr wrap="square"/>
                    <a:lstStyle/>
                    <a:p>
                      <a:pPr algn="ctr"/>
                      <a:r>
                        <a:rPr sz="1150" b="1" i="0">
                          <a:solidFill>
                            <a:srgbClr val="2A9D8F"/>
                          </a:solidFill>
                          <a:latin typeface="Arial"/>
                        </a:rPr>
                        <a:t>0,124</a:t>
                      </a:r>
                    </a:p>
                  </a:txBody>
                  <a:tcPr marL="64008" marR="64008" marT="27432" marB="27432" anchor="ctr">
                    <a:solidFill>
                      <a:srgbClr val="E3F3F1"/>
                    </a:solidFill>
                  </a:tcPr>
                </a:tc>
              </a:tr>
              <a:tr h="502920">
                <a:tc>
                  <a:txBody>
                    <a:bodyPr wrap="square"/>
                    <a:lstStyle/>
                    <a:p>
                      <a:pPr algn="l"/>
                      <a:r>
                        <a:rPr sz="1150" b="1" i="0">
                          <a:solidFill>
                            <a:srgbClr val="2B2B2B"/>
                          </a:solidFill>
                          <a:latin typeface="Arial"/>
                        </a:rPr>
                        <a:t>¿hora ≤ 6,5?</a:t>
                      </a:r>
                    </a:p>
                  </a:txBody>
                  <a:tcPr marL="64008" marR="64008" marT="27432" marB="27432" anchor="ctr">
                    <a:solidFill>
                      <a:srgbClr val="F2F3F5"/>
                    </a:solidFill>
                  </a:tcPr>
                </a:tc>
                <a:tc>
                  <a:txBody>
                    <a:bodyPr wrap="square"/>
                    <a:lstStyle/>
                    <a:p>
                      <a:pPr algn="ctr"/>
                      <a:r>
                        <a:rPr sz="1150" b="0" i="0">
                          <a:solidFill>
                            <a:srgbClr val="2B2B2B"/>
                          </a:solidFill>
                          <a:latin typeface="Arial"/>
                        </a:rPr>
                        <a:t>2 762 · 1 591 · 0,488</a:t>
                      </a:r>
                    </a:p>
                  </a:txBody>
                  <a:tcPr marL="64008" marR="64008" marT="27432" marB="27432" anchor="ctr">
                    <a:solidFill>
                      <a:srgbClr val="F2F3F5"/>
                    </a:solidFill>
                  </a:tcPr>
                </a:tc>
                <a:tc>
                  <a:txBody>
                    <a:bodyPr wrap="square"/>
                    <a:lstStyle/>
                    <a:p>
                      <a:pPr algn="ctr"/>
                      <a:r>
                        <a:rPr sz="1150" b="0" i="0">
                          <a:solidFill>
                            <a:srgbClr val="2B2B2B"/>
                          </a:solidFill>
                          <a:latin typeface="Arial"/>
                        </a:rPr>
                        <a:t>67 364 · 4 144 · 0,116</a:t>
                      </a:r>
                    </a:p>
                  </a:txBody>
                  <a:tcPr marL="64008" marR="64008" marT="27432" marB="27432" anchor="ctr">
                    <a:solidFill>
                      <a:srgbClr val="F2F3F5"/>
                    </a:solidFill>
                  </a:tcPr>
                </a:tc>
                <a:tc>
                  <a:txBody>
                    <a:bodyPr wrap="square"/>
                    <a:lstStyle/>
                    <a:p>
                      <a:pPr algn="ctr"/>
                      <a:r>
                        <a:rPr sz="1150" b="0" i="0">
                          <a:solidFill>
                            <a:srgbClr val="2B2B2B"/>
                          </a:solidFill>
                          <a:latin typeface="Arial"/>
                        </a:rPr>
                        <a:t>0,130</a:t>
                      </a:r>
                    </a:p>
                  </a:txBody>
                  <a:tcPr marL="64008" marR="64008" marT="27432" marB="27432" anchor="ctr">
                    <a:solidFill>
                      <a:srgbClr val="F2F3F5"/>
                    </a:solidFill>
                  </a:tcPr>
                </a:tc>
              </a:tr>
              <a:tr h="502920">
                <a:tc>
                  <a:txBody>
                    <a:bodyPr wrap="square"/>
                    <a:lstStyle/>
                    <a:p>
                      <a:pPr algn="l"/>
                      <a:r>
                        <a:rPr sz="1150" b="1" i="0">
                          <a:solidFill>
                            <a:srgbClr val="2B2B2B"/>
                          </a:solidFill>
                          <a:latin typeface="Arial"/>
                        </a:rPr>
                        <a:t>¿transfer_o_retiro = 0?</a:t>
                      </a:r>
                    </a:p>
                  </a:txBody>
                  <a:tcPr marL="64008" marR="64008" marT="27432" marB="27432" anchor="ctr">
                    <a:solidFill>
                      <a:srgbClr val="FFFFFF"/>
                    </a:solidFill>
                  </a:tcPr>
                </a:tc>
                <a:tc>
                  <a:txBody>
                    <a:bodyPr wrap="square"/>
                    <a:lstStyle/>
                    <a:p>
                      <a:pPr algn="ctr"/>
                      <a:r>
                        <a:rPr sz="1150" b="1" i="0">
                          <a:solidFill>
                            <a:srgbClr val="2A9D8F"/>
                          </a:solidFill>
                          <a:latin typeface="Arial"/>
                        </a:rPr>
                        <a:t>36 355 · 0 · 0,000</a:t>
                      </a:r>
                    </a:p>
                  </a:txBody>
                  <a:tcPr marL="64008" marR="64008" marT="27432" marB="27432" anchor="ctr">
                    <a:solidFill>
                      <a:srgbClr val="FFFFFF"/>
                    </a:solidFill>
                  </a:tcPr>
                </a:tc>
                <a:tc>
                  <a:txBody>
                    <a:bodyPr wrap="square"/>
                    <a:lstStyle/>
                    <a:p>
                      <a:pPr algn="ctr"/>
                      <a:r>
                        <a:rPr sz="1150" b="0" i="0">
                          <a:solidFill>
                            <a:srgbClr val="2B2B2B"/>
                          </a:solidFill>
                          <a:latin typeface="Arial"/>
                        </a:rPr>
                        <a:t>33 771 · 5 735 · 0,282</a:t>
                      </a:r>
                    </a:p>
                  </a:txBody>
                  <a:tcPr marL="64008" marR="64008" marT="27432" marB="27432" anchor="ctr">
                    <a:solidFill>
                      <a:srgbClr val="FFFFFF"/>
                    </a:solidFill>
                  </a:tcPr>
                </a:tc>
                <a:tc>
                  <a:txBody>
                    <a:bodyPr wrap="square"/>
                    <a:lstStyle/>
                    <a:p>
                      <a:pPr algn="ctr"/>
                      <a:r>
                        <a:rPr sz="1150" b="0" i="0">
                          <a:solidFill>
                            <a:srgbClr val="2B2B2B"/>
                          </a:solidFill>
                          <a:latin typeface="Arial"/>
                        </a:rPr>
                        <a:t>0,136</a:t>
                      </a:r>
                    </a:p>
                  </a:txBody>
                  <a:tcPr marL="64008" marR="64008" marT="27432" marB="27432" anchor="ctr">
                    <a:solidFill>
                      <a:srgbClr val="FFFFFF"/>
                    </a:solidFill>
                  </a:tcPr>
                </a:tc>
              </a:tr>
              <a:tr h="502920">
                <a:tc>
                  <a:txBody>
                    <a:bodyPr wrap="square"/>
                    <a:lstStyle/>
                    <a:p>
                      <a:pPr algn="l"/>
                      <a:r>
                        <a:rPr sz="1150" b="1" i="0">
                          <a:solidFill>
                            <a:srgbClr val="2B2B2B"/>
                          </a:solidFill>
                          <a:latin typeface="Arial"/>
                        </a:rPr>
                        <a:t>¿monto ≤ 200 000?</a:t>
                      </a:r>
                    </a:p>
                  </a:txBody>
                  <a:tcPr marL="64008" marR="64008" marT="27432" marB="27432" anchor="ctr">
                    <a:solidFill>
                      <a:srgbClr val="F2F3F5"/>
                    </a:solidFill>
                  </a:tcPr>
                </a:tc>
                <a:tc>
                  <a:txBody>
                    <a:bodyPr wrap="square"/>
                    <a:lstStyle/>
                    <a:p>
                      <a:pPr algn="ctr"/>
                      <a:r>
                        <a:rPr sz="1150" b="0" i="0">
                          <a:solidFill>
                            <a:srgbClr val="2B2B2B"/>
                          </a:solidFill>
                          <a:latin typeface="Arial"/>
                        </a:rPr>
                        <a:t>49 488 · 1 905 · 0,074</a:t>
                      </a:r>
                    </a:p>
                  </a:txBody>
                  <a:tcPr marL="64008" marR="64008" marT="27432" marB="27432" anchor="ctr">
                    <a:solidFill>
                      <a:srgbClr val="F2F3F5"/>
                    </a:solidFill>
                  </a:tcPr>
                </a:tc>
                <a:tc>
                  <a:txBody>
                    <a:bodyPr wrap="square"/>
                    <a:lstStyle/>
                    <a:p>
                      <a:pPr algn="ctr"/>
                      <a:r>
                        <a:rPr sz="1150" b="0" i="0">
                          <a:solidFill>
                            <a:srgbClr val="2B2B2B"/>
                          </a:solidFill>
                          <a:latin typeface="Arial"/>
                        </a:rPr>
                        <a:t>20 638 · 3 830 · 0,302</a:t>
                      </a:r>
                    </a:p>
                  </a:txBody>
                  <a:tcPr marL="64008" marR="64008" marT="27432" marB="27432" anchor="ctr">
                    <a:solidFill>
                      <a:srgbClr val="F2F3F5"/>
                    </a:solidFill>
                  </a:tcPr>
                </a:tc>
                <a:tc>
                  <a:txBody>
                    <a:bodyPr wrap="square"/>
                    <a:lstStyle/>
                    <a:p>
                      <a:pPr algn="ctr"/>
                      <a:r>
                        <a:rPr sz="1150" b="0" i="0">
                          <a:solidFill>
                            <a:srgbClr val="2B2B2B"/>
                          </a:solidFill>
                          <a:latin typeface="Arial"/>
                        </a:rPr>
                        <a:t>0,141</a:t>
                      </a:r>
                    </a:p>
                  </a:txBody>
                  <a:tcPr marL="64008" marR="64008" marT="27432" marB="27432" anchor="ctr">
                    <a:solidFill>
                      <a:srgbClr val="F2F3F5"/>
                    </a:solidFill>
                  </a:tcPr>
                </a:tc>
              </a:tr>
            </a:tbl>
          </a:graphicData>
        </a:graphic>
      </p:graphicFrame>
      <p:sp>
        <p:nvSpPr>
          <p:cNvPr id="4" name="Rounded Rectangle 3"/>
          <p:cNvSpPr/>
          <p:nvPr/>
        </p:nvSpPr>
        <p:spPr>
          <a:xfrm>
            <a:off x="731520" y="4709160"/>
            <a:ext cx="7772400" cy="9601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50" b="1" i="0">
                <a:solidFill>
                  <a:srgbClr val="242852"/>
                </a:solidFill>
                <a:latin typeface="Arial"/>
              </a:rPr>
              <a:t>A mano, ¿hora ≤ 8,5?: </a:t>
            </a:r>
            <a:r>
              <a:rPr sz="1200" b="0" i="0">
                <a:solidFill>
                  <a:srgbClr val="2B2B2B"/>
                </a:solidFill>
                <a:latin typeface="Arial"/>
              </a:rPr>
              <a:t>izquierda p = 2 072 / 3 591 = 0,577 → G = 1 − 0,577² − 0,423² = 0,488. Ponderado = (3 591 × 0,488 + 66 535 × 0,104) / 70 126 = 0,124.</a:t>
            </a:r>
          </a:p>
        </p:txBody>
      </p:sp>
      <p:sp>
        <p:nvSpPr>
          <p:cNvPr id="5" name="Rounded Rectangle 4"/>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Raíz: 0,150. </a:t>
            </a:r>
            <a:r>
              <a:rPr sz="1200" b="0" i="0">
                <a:solidFill>
                  <a:srgbClr val="2B2B2B"/>
                </a:solidFill>
                <a:latin typeface="Arial"/>
              </a:rPr>
              <a:t>La mejor pregunta baja la mezcla a 0,124. El algoritmo hace esto con todos los umbrales posibles.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El árbol de dos preguntas que aprendió el algoritmo</a:t>
            </a:r>
          </a:p>
        </p:txBody>
      </p:sp>
      <p:sp>
        <p:nvSpPr>
          <p:cNvPr id="3" name="Rounded Rectangle 2"/>
          <p:cNvSpPr/>
          <p:nvPr/>
        </p:nvSpPr>
        <p:spPr>
          <a:xfrm>
            <a:off x="3063239" y="1920240"/>
            <a:ext cx="3108960" cy="713232"/>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300" b="1" i="0">
                <a:solidFill>
                  <a:srgbClr val="FFFFFF"/>
                </a:solidFill>
                <a:latin typeface="Arial"/>
              </a:rPr>
              <a:t>¿hora ≤ 8,5?</a:t>
            </a:r>
          </a:p>
          <a:p>
            <a:pPr algn="ctr">
              <a:spcAft>
                <a:spcPts val="300"/>
              </a:spcAft>
            </a:pPr>
            <a:r>
              <a:rPr sz="1000" b="1" i="0">
                <a:solidFill>
                  <a:srgbClr val="C9D2E8"/>
                </a:solidFill>
                <a:latin typeface="Arial"/>
              </a:rPr>
              <a:t>70 126 · 8,2 % fraude · Gini 0,150</a:t>
            </a:r>
          </a:p>
        </p:txBody>
      </p:sp>
      <p:cxnSp>
        <p:nvCxnSpPr>
          <p:cNvPr id="4" name="Connector 3"/>
          <p:cNvCxnSpPr/>
          <p:nvPr/>
        </p:nvCxnSpPr>
        <p:spPr>
          <a:xfrm flipH="1">
            <a:off x="2514600" y="2633472"/>
            <a:ext cx="1234439" cy="475488"/>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2811779" y="2670047"/>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sí</a:t>
            </a:r>
          </a:p>
        </p:txBody>
      </p:sp>
      <p:cxnSp>
        <p:nvCxnSpPr>
          <p:cNvPr id="6" name="Connector 5"/>
          <p:cNvCxnSpPr/>
          <p:nvPr/>
        </p:nvCxnSpPr>
        <p:spPr>
          <a:xfrm>
            <a:off x="5486400" y="2633472"/>
            <a:ext cx="1234440" cy="475488"/>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783580" y="2670047"/>
            <a:ext cx="640080" cy="274320"/>
          </a:xfrm>
          <a:prstGeom prst="rect">
            <a:avLst/>
          </a:prstGeom>
          <a:noFill/>
        </p:spPr>
        <p:txBody>
          <a:bodyPr wrap="square" anchor="t" lIns="0" rIns="0" tIns="0" bIns="0">
            <a:spAutoFit/>
          </a:bodyPr>
          <a:lstStyle/>
          <a:p>
            <a:pPr algn="ctr">
              <a:spcAft>
                <a:spcPts val="400"/>
              </a:spcAft>
            </a:pPr>
            <a:r>
              <a:rPr sz="1000" b="1" i="0">
                <a:solidFill>
                  <a:srgbClr val="6D6E71"/>
                </a:solidFill>
                <a:latin typeface="Arial"/>
              </a:rPr>
              <a:t>no</a:t>
            </a:r>
          </a:p>
        </p:txBody>
      </p:sp>
      <p:sp>
        <p:nvSpPr>
          <p:cNvPr id="8" name="Rounded Rectangle 7"/>
          <p:cNvSpPr/>
          <p:nvPr/>
        </p:nvSpPr>
        <p:spPr>
          <a:xfrm>
            <a:off x="1097280" y="3108960"/>
            <a:ext cx="2834640" cy="713232"/>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FFFFFF"/>
                </a:solidFill>
                <a:latin typeface="Arial"/>
              </a:rPr>
              <a:t>¿transfer_o_retiro = 0?</a:t>
            </a:r>
          </a:p>
          <a:p>
            <a:pPr algn="ctr">
              <a:spcAft>
                <a:spcPts val="300"/>
              </a:spcAft>
            </a:pPr>
            <a:r>
              <a:rPr sz="1000" b="1" i="0">
                <a:solidFill>
                  <a:srgbClr val="C9D2E8"/>
                </a:solidFill>
                <a:latin typeface="Arial"/>
              </a:rPr>
              <a:t>3 591 · 57,7 % fraude · Gini 0,488</a:t>
            </a:r>
          </a:p>
        </p:txBody>
      </p:sp>
      <p:sp>
        <p:nvSpPr>
          <p:cNvPr id="9" name="Rounded Rectangle 8"/>
          <p:cNvSpPr/>
          <p:nvPr/>
        </p:nvSpPr>
        <p:spPr>
          <a:xfrm>
            <a:off x="5303520" y="3108960"/>
            <a:ext cx="2834640" cy="713232"/>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150" b="1" i="0">
                <a:solidFill>
                  <a:srgbClr val="FFFFFF"/>
                </a:solidFill>
                <a:latin typeface="Arial"/>
              </a:rPr>
              <a:t>¿monto ≤ 915 061?</a:t>
            </a:r>
          </a:p>
          <a:p>
            <a:pPr algn="ctr">
              <a:spcAft>
                <a:spcPts val="300"/>
              </a:spcAft>
            </a:pPr>
            <a:r>
              <a:rPr sz="1000" b="1" i="0">
                <a:solidFill>
                  <a:srgbClr val="C9D2E8"/>
                </a:solidFill>
                <a:latin typeface="Arial"/>
              </a:rPr>
              <a:t>66 535 · 5,5 % fraude · Gini 0,104</a:t>
            </a:r>
          </a:p>
        </p:txBody>
      </p:sp>
      <p:cxnSp>
        <p:nvCxnSpPr>
          <p:cNvPr id="10" name="Connector 9"/>
          <p:cNvCxnSpPr/>
          <p:nvPr/>
        </p:nvCxnSpPr>
        <p:spPr>
          <a:xfrm flipH="1">
            <a:off x="1508760" y="3822191"/>
            <a:ext cx="457200" cy="429769"/>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063240" y="3822191"/>
            <a:ext cx="457200" cy="429769"/>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5715000" y="3822191"/>
            <a:ext cx="457200" cy="429769"/>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269479" y="3822191"/>
            <a:ext cx="457200" cy="429769"/>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7219" y="4251960"/>
            <a:ext cx="1783080" cy="9601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2A9D8F"/>
                </a:solidFill>
                <a:latin typeface="Arial"/>
              </a:rPr>
              <a:t>predice normal</a:t>
            </a:r>
          </a:p>
          <a:p>
            <a:pPr algn="ctr">
              <a:spcAft>
                <a:spcPts val="300"/>
              </a:spcAft>
            </a:pPr>
            <a:r>
              <a:rPr sz="1000" b="1" i="0">
                <a:solidFill>
                  <a:srgbClr val="5F6368"/>
                </a:solidFill>
                <a:latin typeface="Arial"/>
              </a:rPr>
              <a:t>1 116 · 0 % fraude</a:t>
            </a:r>
          </a:p>
          <a:p>
            <a:pPr algn="ctr">
              <a:spcAft>
                <a:spcPts val="300"/>
              </a:spcAft>
            </a:pPr>
            <a:r>
              <a:rPr sz="1000" b="1" i="0">
                <a:solidFill>
                  <a:srgbClr val="5F6368"/>
                </a:solidFill>
                <a:latin typeface="Arial"/>
              </a:rPr>
              <a:t>Gini 0</a:t>
            </a:r>
          </a:p>
        </p:txBody>
      </p:sp>
      <p:sp>
        <p:nvSpPr>
          <p:cNvPr id="15" name="Rounded Rectangle 14"/>
          <p:cNvSpPr/>
          <p:nvPr/>
        </p:nvSpPr>
        <p:spPr>
          <a:xfrm>
            <a:off x="2628900" y="4251960"/>
            <a:ext cx="1783080" cy="9601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D7263D"/>
                </a:solidFill>
                <a:latin typeface="Arial"/>
              </a:rPr>
              <a:t>predice fraude</a:t>
            </a:r>
          </a:p>
          <a:p>
            <a:pPr algn="ctr">
              <a:spcAft>
                <a:spcPts val="300"/>
              </a:spcAft>
            </a:pPr>
            <a:r>
              <a:rPr sz="1000" b="1" i="0">
                <a:solidFill>
                  <a:srgbClr val="5F6368"/>
                </a:solidFill>
                <a:latin typeface="Arial"/>
              </a:rPr>
              <a:t>2 475 · 83,7 % fraude</a:t>
            </a:r>
          </a:p>
          <a:p>
            <a:pPr algn="ctr">
              <a:spcAft>
                <a:spcPts val="300"/>
              </a:spcAft>
            </a:pPr>
            <a:r>
              <a:rPr sz="1000" b="1" i="0">
                <a:solidFill>
                  <a:srgbClr val="5F6368"/>
                </a:solidFill>
                <a:latin typeface="Arial"/>
              </a:rPr>
              <a:t>Gini 0,273</a:t>
            </a:r>
          </a:p>
        </p:txBody>
      </p:sp>
      <p:sp>
        <p:nvSpPr>
          <p:cNvPr id="16" name="Rounded Rectangle 15"/>
          <p:cNvSpPr/>
          <p:nvPr/>
        </p:nvSpPr>
        <p:spPr>
          <a:xfrm>
            <a:off x="4823460" y="4251960"/>
            <a:ext cx="1783080" cy="9601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2A9D8F"/>
                </a:solidFill>
                <a:latin typeface="Arial"/>
              </a:rPr>
              <a:t>predice normal</a:t>
            </a:r>
          </a:p>
          <a:p>
            <a:pPr algn="ctr">
              <a:spcAft>
                <a:spcPts val="300"/>
              </a:spcAft>
            </a:pPr>
            <a:r>
              <a:rPr sz="1000" b="1" i="0">
                <a:solidFill>
                  <a:srgbClr val="5F6368"/>
                </a:solidFill>
                <a:latin typeface="Arial"/>
              </a:rPr>
              <a:t>63 836 · 3,8 % fraude</a:t>
            </a:r>
          </a:p>
          <a:p>
            <a:pPr algn="ctr">
              <a:spcAft>
                <a:spcPts val="300"/>
              </a:spcAft>
            </a:pPr>
            <a:r>
              <a:rPr sz="1000" b="1" i="0">
                <a:solidFill>
                  <a:srgbClr val="5F6368"/>
                </a:solidFill>
                <a:latin typeface="Arial"/>
              </a:rPr>
              <a:t>Gini 0,073</a:t>
            </a:r>
          </a:p>
        </p:txBody>
      </p:sp>
      <p:sp>
        <p:nvSpPr>
          <p:cNvPr id="17" name="Rounded Rectangle 16"/>
          <p:cNvSpPr/>
          <p:nvPr/>
        </p:nvSpPr>
        <p:spPr>
          <a:xfrm>
            <a:off x="6835140" y="4251960"/>
            <a:ext cx="1783080" cy="9601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300"/>
              </a:spcAft>
            </a:pPr>
            <a:r>
              <a:rPr sz="1200" b="1" i="0">
                <a:solidFill>
                  <a:srgbClr val="2A9D8F"/>
                </a:solidFill>
                <a:latin typeface="Arial"/>
              </a:rPr>
              <a:t>predice normal</a:t>
            </a:r>
          </a:p>
          <a:p>
            <a:pPr algn="ctr">
              <a:spcAft>
                <a:spcPts val="300"/>
              </a:spcAft>
            </a:pPr>
            <a:r>
              <a:rPr sz="1000" b="1" i="0">
                <a:solidFill>
                  <a:srgbClr val="5F6368"/>
                </a:solidFill>
                <a:latin typeface="Arial"/>
              </a:rPr>
              <a:t>2 699 · 46,1 % fraude</a:t>
            </a:r>
          </a:p>
          <a:p>
            <a:pPr algn="ctr">
              <a:spcAft>
                <a:spcPts val="300"/>
              </a:spcAft>
            </a:pPr>
            <a:r>
              <a:rPr sz="1000" b="1" i="0">
                <a:solidFill>
                  <a:srgbClr val="5F6368"/>
                </a:solidFill>
                <a:latin typeface="Arial"/>
              </a:rPr>
              <a:t>Gini 0,497</a:t>
            </a:r>
          </a:p>
        </p:txBody>
      </p:sp>
      <p:sp>
        <p:nvSpPr>
          <p:cNvPr id="18" name="Rounded Rectangle 17"/>
          <p:cNvSpPr/>
          <p:nvPr/>
        </p:nvSpPr>
        <p:spPr>
          <a:xfrm>
            <a:off x="731520" y="54406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Hoja pura: </a:t>
            </a:r>
            <a:r>
              <a:rPr sz="1200" b="0" i="0">
                <a:solidFill>
                  <a:srgbClr val="2B2B2B"/>
                </a:solidFill>
                <a:latin typeface="Arial"/>
              </a:rPr>
              <a:t>de madrugada, si no es transferencia ni retiro, nunca hubo fraude. </a:t>
            </a:r>
            <a:r>
              <a:rPr sz="1200" b="1" i="0">
                <a:solidFill>
                  <a:srgbClr val="D7263D"/>
                </a:solidFill>
                <a:latin typeface="Arial"/>
              </a:rPr>
              <a:t>Hoja mixta: </a:t>
            </a:r>
            <a:r>
              <a:rPr sz="1200" b="0" i="0">
                <a:solidFill>
                  <a:srgbClr val="2B2B2B"/>
                </a:solidFill>
                <a:latin typeface="Arial"/>
              </a:rPr>
              <a:t>de día con monto alto, casi mitad y mitad.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Matriz</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Leer VP y VN</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Métricas</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F1</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PaySim</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4</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Matriz de confusión y métricas</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Una vez entrenado, ¿cómo sabemos si el árbol está detectando correctamente los fraudes?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Matriz de confusión: 1 000 transacciones</a:t>
            </a:r>
          </a:p>
        </p:txBody>
      </p:sp>
      <p:sp>
        <p:nvSpPr>
          <p:cNvPr id="3" name="TextBox 2"/>
          <p:cNvSpPr txBox="1"/>
          <p:nvPr/>
        </p:nvSpPr>
        <p:spPr>
          <a:xfrm>
            <a:off x="1965960" y="1965960"/>
            <a:ext cx="1600200" cy="292608"/>
          </a:xfrm>
          <a:prstGeom prst="rect">
            <a:avLst/>
          </a:prstGeom>
          <a:noFill/>
        </p:spPr>
        <p:txBody>
          <a:bodyPr wrap="square" anchor="t" lIns="36576" rIns="36576" tIns="36576" bIns="36576">
            <a:spAutoFit/>
          </a:bodyPr>
          <a:lstStyle/>
          <a:p>
            <a:pPr algn="ctr">
              <a:spcAft>
                <a:spcPts val="400"/>
              </a:spcAft>
            </a:pPr>
            <a:r>
              <a:rPr sz="1150" b="1" i="0">
                <a:solidFill>
                  <a:srgbClr val="5F6368"/>
                </a:solidFill>
                <a:latin typeface="Arial"/>
              </a:rPr>
              <a:t>Predice normal</a:t>
            </a:r>
          </a:p>
        </p:txBody>
      </p:sp>
      <p:sp>
        <p:nvSpPr>
          <p:cNvPr id="4" name="TextBox 3"/>
          <p:cNvSpPr txBox="1"/>
          <p:nvPr/>
        </p:nvSpPr>
        <p:spPr>
          <a:xfrm>
            <a:off x="3566160" y="1965960"/>
            <a:ext cx="1600200" cy="292608"/>
          </a:xfrm>
          <a:prstGeom prst="rect">
            <a:avLst/>
          </a:prstGeom>
          <a:noFill/>
        </p:spPr>
        <p:txBody>
          <a:bodyPr wrap="square" anchor="t" lIns="36576" rIns="36576" tIns="36576" bIns="36576">
            <a:spAutoFit/>
          </a:bodyPr>
          <a:lstStyle/>
          <a:p>
            <a:pPr algn="ctr">
              <a:spcAft>
                <a:spcPts val="400"/>
              </a:spcAft>
            </a:pPr>
            <a:r>
              <a:rPr sz="1150" b="1" i="0">
                <a:solidFill>
                  <a:srgbClr val="5F6368"/>
                </a:solidFill>
                <a:latin typeface="Arial"/>
              </a:rPr>
              <a:t>Predice fraude</a:t>
            </a:r>
          </a:p>
        </p:txBody>
      </p:sp>
      <p:sp>
        <p:nvSpPr>
          <p:cNvPr id="5" name="TextBox 4"/>
          <p:cNvSpPr txBox="1"/>
          <p:nvPr/>
        </p:nvSpPr>
        <p:spPr>
          <a:xfrm>
            <a:off x="731520" y="2592323"/>
            <a:ext cx="1188720" cy="365760"/>
          </a:xfrm>
          <a:prstGeom prst="rect">
            <a:avLst/>
          </a:prstGeom>
          <a:noFill/>
        </p:spPr>
        <p:txBody>
          <a:bodyPr wrap="square" anchor="t" lIns="36576" rIns="36576" tIns="36576" bIns="36576">
            <a:spAutoFit/>
          </a:bodyPr>
          <a:lstStyle/>
          <a:p>
            <a:pPr algn="r">
              <a:spcAft>
                <a:spcPts val="400"/>
              </a:spcAft>
            </a:pPr>
            <a:r>
              <a:rPr sz="1150" b="1" i="0">
                <a:solidFill>
                  <a:srgbClr val="5F6368"/>
                </a:solidFill>
                <a:latin typeface="Arial"/>
              </a:rPr>
              <a:t>Real normal</a:t>
            </a:r>
          </a:p>
        </p:txBody>
      </p:sp>
      <p:sp>
        <p:nvSpPr>
          <p:cNvPr id="6" name="Rectangle 5"/>
          <p:cNvSpPr/>
          <p:nvPr/>
        </p:nvSpPr>
        <p:spPr>
          <a:xfrm>
            <a:off x="1965960" y="2295144"/>
            <a:ext cx="1545336" cy="960120"/>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2000" b="1" i="0">
                <a:solidFill>
                  <a:srgbClr val="2A9D8F"/>
                </a:solidFill>
                <a:latin typeface="Arial"/>
              </a:rPr>
              <a:t>950</a:t>
            </a:r>
          </a:p>
          <a:p>
            <a:pPr algn="ctr">
              <a:spcAft>
                <a:spcPts val="0"/>
              </a:spcAft>
            </a:pPr>
            <a:r>
              <a:rPr sz="1100" b="1" i="0">
                <a:solidFill>
                  <a:srgbClr val="2A9D8F"/>
                </a:solidFill>
                <a:latin typeface="Arial"/>
              </a:rPr>
              <a:t>VN</a:t>
            </a:r>
          </a:p>
          <a:p>
            <a:pPr algn="ctr">
              <a:spcAft>
                <a:spcPts val="0"/>
              </a:spcAft>
            </a:pPr>
            <a:r>
              <a:rPr sz="1000" b="0" i="0">
                <a:solidFill>
                  <a:srgbClr val="5F6368"/>
                </a:solidFill>
                <a:latin typeface="Arial"/>
              </a:rPr>
              <a:t>correctos</a:t>
            </a:r>
          </a:p>
        </p:txBody>
      </p:sp>
      <p:sp>
        <p:nvSpPr>
          <p:cNvPr id="7" name="Rectangle 6"/>
          <p:cNvSpPr/>
          <p:nvPr/>
        </p:nvSpPr>
        <p:spPr>
          <a:xfrm>
            <a:off x="3566160" y="2295144"/>
            <a:ext cx="1545336" cy="960120"/>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2000" b="1" i="0">
                <a:solidFill>
                  <a:srgbClr val="D7263D"/>
                </a:solidFill>
                <a:latin typeface="Arial"/>
              </a:rPr>
              <a:t>30</a:t>
            </a:r>
          </a:p>
          <a:p>
            <a:pPr algn="ctr">
              <a:spcAft>
                <a:spcPts val="0"/>
              </a:spcAft>
            </a:pPr>
            <a:r>
              <a:rPr sz="1100" b="1" i="0">
                <a:solidFill>
                  <a:srgbClr val="D7263D"/>
                </a:solidFill>
                <a:latin typeface="Arial"/>
              </a:rPr>
              <a:t>FP</a:t>
            </a:r>
          </a:p>
          <a:p>
            <a:pPr algn="ctr">
              <a:spcAft>
                <a:spcPts val="0"/>
              </a:spcAft>
            </a:pPr>
            <a:r>
              <a:rPr sz="1000" b="0" i="0">
                <a:solidFill>
                  <a:srgbClr val="5F6368"/>
                </a:solidFill>
                <a:latin typeface="Arial"/>
              </a:rPr>
              <a:t>falsas alarmas</a:t>
            </a:r>
          </a:p>
        </p:txBody>
      </p:sp>
      <p:sp>
        <p:nvSpPr>
          <p:cNvPr id="8" name="TextBox 7"/>
          <p:cNvSpPr txBox="1"/>
          <p:nvPr/>
        </p:nvSpPr>
        <p:spPr>
          <a:xfrm>
            <a:off x="731520" y="3607308"/>
            <a:ext cx="1188720" cy="365760"/>
          </a:xfrm>
          <a:prstGeom prst="rect">
            <a:avLst/>
          </a:prstGeom>
          <a:noFill/>
        </p:spPr>
        <p:txBody>
          <a:bodyPr wrap="square" anchor="t" lIns="36576" rIns="36576" tIns="36576" bIns="36576">
            <a:spAutoFit/>
          </a:bodyPr>
          <a:lstStyle/>
          <a:p>
            <a:pPr algn="r">
              <a:spcAft>
                <a:spcPts val="400"/>
              </a:spcAft>
            </a:pPr>
            <a:r>
              <a:rPr sz="1150" b="1" i="0">
                <a:solidFill>
                  <a:srgbClr val="5F6368"/>
                </a:solidFill>
                <a:latin typeface="Arial"/>
              </a:rPr>
              <a:t>Real fraude</a:t>
            </a:r>
          </a:p>
        </p:txBody>
      </p:sp>
      <p:sp>
        <p:nvSpPr>
          <p:cNvPr id="9" name="Rectangle 8"/>
          <p:cNvSpPr/>
          <p:nvPr/>
        </p:nvSpPr>
        <p:spPr>
          <a:xfrm>
            <a:off x="1965960" y="3310128"/>
            <a:ext cx="1545336" cy="960120"/>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2000" b="1" i="0">
                <a:solidFill>
                  <a:srgbClr val="D7263D"/>
                </a:solidFill>
                <a:latin typeface="Arial"/>
              </a:rPr>
              <a:t>5</a:t>
            </a:r>
          </a:p>
          <a:p>
            <a:pPr algn="ctr">
              <a:spcAft>
                <a:spcPts val="0"/>
              </a:spcAft>
            </a:pPr>
            <a:r>
              <a:rPr sz="1100" b="1" i="0">
                <a:solidFill>
                  <a:srgbClr val="D7263D"/>
                </a:solidFill>
                <a:latin typeface="Arial"/>
              </a:rPr>
              <a:t>FN</a:t>
            </a:r>
          </a:p>
          <a:p>
            <a:pPr algn="ctr">
              <a:spcAft>
                <a:spcPts val="0"/>
              </a:spcAft>
            </a:pPr>
            <a:r>
              <a:rPr sz="1000" b="0" i="0">
                <a:solidFill>
                  <a:srgbClr val="5F6368"/>
                </a:solidFill>
                <a:latin typeface="Arial"/>
              </a:rPr>
              <a:t>fraudes omitidos</a:t>
            </a:r>
          </a:p>
        </p:txBody>
      </p:sp>
      <p:sp>
        <p:nvSpPr>
          <p:cNvPr id="10" name="Rectangle 9"/>
          <p:cNvSpPr/>
          <p:nvPr/>
        </p:nvSpPr>
        <p:spPr>
          <a:xfrm>
            <a:off x="3566160" y="3310128"/>
            <a:ext cx="1545336" cy="960120"/>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2000" b="1" i="0">
                <a:solidFill>
                  <a:srgbClr val="2A9D8F"/>
                </a:solidFill>
                <a:latin typeface="Arial"/>
              </a:rPr>
              <a:t>15</a:t>
            </a:r>
          </a:p>
          <a:p>
            <a:pPr algn="ctr">
              <a:spcAft>
                <a:spcPts val="0"/>
              </a:spcAft>
            </a:pPr>
            <a:r>
              <a:rPr sz="1100" b="1" i="0">
                <a:solidFill>
                  <a:srgbClr val="2A9D8F"/>
                </a:solidFill>
                <a:latin typeface="Arial"/>
              </a:rPr>
              <a:t>VP</a:t>
            </a:r>
          </a:p>
          <a:p>
            <a:pPr algn="ctr">
              <a:spcAft>
                <a:spcPts val="0"/>
              </a:spcAft>
            </a:pPr>
            <a:r>
              <a:rPr sz="1000" b="0" i="0">
                <a:solidFill>
                  <a:srgbClr val="5F6368"/>
                </a:solidFill>
                <a:latin typeface="Arial"/>
              </a:rPr>
              <a:t>fraudes detectados</a:t>
            </a:r>
          </a:p>
        </p:txBody>
      </p:sp>
      <p:graphicFrame>
        <p:nvGraphicFramePr>
          <p:cNvPr id="11" name="Table 10"/>
          <p:cNvGraphicFramePr>
            <a:graphicFrameLocks noGrp="1"/>
          </p:cNvGraphicFramePr>
          <p:nvPr/>
        </p:nvGraphicFramePr>
        <p:xfrm>
          <a:off x="5806440" y="2011680"/>
          <a:ext cx="2697480" cy="2057400"/>
        </p:xfrm>
        <a:graphic>
          <a:graphicData uri="http://schemas.openxmlformats.org/drawingml/2006/table">
            <a:tbl>
              <a:tblPr firstRow="1" bandRow="1">
                <a:tableStyleId>{5C22544A-7EE6-4342-B048-85BDC9FD1C3A}</a:tableStyleId>
              </a:tblPr>
              <a:tblGrid>
                <a:gridCol w="1325880"/>
                <a:gridCol w="1371600"/>
              </a:tblGrid>
              <a:tr h="411480">
                <a:tc>
                  <a:txBody>
                    <a:bodyPr wrap="square"/>
                    <a:lstStyle/>
                    <a:p>
                      <a:pPr algn="l"/>
                      <a:r>
                        <a:rPr sz="1150" b="1" i="0">
                          <a:solidFill>
                            <a:srgbClr val="FFFFFF"/>
                          </a:solidFill>
                          <a:latin typeface="Arial"/>
                        </a:rPr>
                        <a:t>Comprobar</a:t>
                      </a:r>
                    </a:p>
                  </a:txBody>
                  <a:tcPr marL="64008" marR="64008" marT="27432" marB="27432" anchor="ctr">
                    <a:solidFill>
                      <a:srgbClr val="242852"/>
                    </a:solidFill>
                  </a:tcPr>
                </a:tc>
                <a:tc>
                  <a:txBody>
                    <a:bodyPr wrap="square"/>
                    <a:lstStyle/>
                    <a:p>
                      <a:pPr algn="ctr"/>
                      <a:r>
                        <a:rPr sz="1150" b="1" i="0">
                          <a:solidFill>
                            <a:srgbClr val="FFFFFF"/>
                          </a:solidFill>
                          <a:latin typeface="Arial"/>
                        </a:rPr>
                        <a:t/>
                      </a:r>
                    </a:p>
                  </a:txBody>
                  <a:tcPr marL="64008" marR="64008" marT="27432" marB="27432" anchor="ctr">
                    <a:solidFill>
                      <a:srgbClr val="242852"/>
                    </a:solidFill>
                  </a:tcPr>
                </a:tc>
              </a:tr>
              <a:tr h="411480">
                <a:tc>
                  <a:txBody>
                    <a:bodyPr wrap="square"/>
                    <a:lstStyle/>
                    <a:p>
                      <a:pPr algn="l"/>
                      <a:r>
                        <a:rPr sz="1150" b="1" i="0">
                          <a:solidFill>
                            <a:srgbClr val="2B2B2B"/>
                          </a:solidFill>
                          <a:latin typeface="Arial"/>
                        </a:rPr>
                        <a:t>Real normal</a:t>
                      </a:r>
                    </a:p>
                  </a:txBody>
                  <a:tcPr marL="64008" marR="64008" marT="27432" marB="27432" anchor="ctr">
                    <a:solidFill>
                      <a:srgbClr val="FFFFFF"/>
                    </a:solidFill>
                  </a:tcPr>
                </a:tc>
                <a:tc>
                  <a:txBody>
                    <a:bodyPr wrap="square"/>
                    <a:lstStyle/>
                    <a:p>
                      <a:pPr algn="ctr"/>
                      <a:r>
                        <a:rPr sz="1150" b="0" i="0">
                          <a:solidFill>
                            <a:srgbClr val="2B2B2B"/>
                          </a:solidFill>
                          <a:latin typeface="Arial"/>
                        </a:rPr>
                        <a:t>950 + 30 = 980</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Real fraude</a:t>
                      </a:r>
                    </a:p>
                  </a:txBody>
                  <a:tcPr marL="64008" marR="64008" marT="27432" marB="27432" anchor="ctr">
                    <a:solidFill>
                      <a:srgbClr val="F2F3F5"/>
                    </a:solidFill>
                  </a:tcPr>
                </a:tc>
                <a:tc>
                  <a:txBody>
                    <a:bodyPr wrap="square"/>
                    <a:lstStyle/>
                    <a:p>
                      <a:pPr algn="ctr"/>
                      <a:r>
                        <a:rPr sz="1150" b="0" i="0">
                          <a:solidFill>
                            <a:srgbClr val="2B2B2B"/>
                          </a:solidFill>
                          <a:latin typeface="Arial"/>
                        </a:rPr>
                        <a:t>5 + 15 = 20</a:t>
                      </a:r>
                    </a:p>
                  </a:txBody>
                  <a:tcPr marL="64008" marR="64008" marT="27432" marB="27432" anchor="ctr">
                    <a:solidFill>
                      <a:srgbClr val="F2F3F5"/>
                    </a:solidFill>
                  </a:tcPr>
                </a:tc>
              </a:tr>
              <a:tr h="411480">
                <a:tc>
                  <a:txBody>
                    <a:bodyPr wrap="square"/>
                    <a:lstStyle/>
                    <a:p>
                      <a:pPr algn="l"/>
                      <a:r>
                        <a:rPr sz="1150" b="1" i="0">
                          <a:solidFill>
                            <a:srgbClr val="2B2B2B"/>
                          </a:solidFill>
                          <a:latin typeface="Arial"/>
                        </a:rPr>
                        <a:t>Alertas emitidas</a:t>
                      </a:r>
                    </a:p>
                  </a:txBody>
                  <a:tcPr marL="64008" marR="64008" marT="27432" marB="27432" anchor="ctr">
                    <a:solidFill>
                      <a:srgbClr val="FFFFFF"/>
                    </a:solidFill>
                  </a:tcPr>
                </a:tc>
                <a:tc>
                  <a:txBody>
                    <a:bodyPr wrap="square"/>
                    <a:lstStyle/>
                    <a:p>
                      <a:pPr algn="ctr"/>
                      <a:r>
                        <a:rPr sz="1150" b="0" i="0">
                          <a:solidFill>
                            <a:srgbClr val="2B2B2B"/>
                          </a:solidFill>
                          <a:latin typeface="Arial"/>
                        </a:rPr>
                        <a:t>30 + 15 = 45</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Total</a:t>
                      </a:r>
                    </a:p>
                  </a:txBody>
                  <a:tcPr marL="64008" marR="64008" marT="27432" marB="27432" anchor="ctr">
                    <a:solidFill>
                      <a:srgbClr val="F2F3F5"/>
                    </a:solidFill>
                  </a:tcPr>
                </a:tc>
                <a:tc>
                  <a:txBody>
                    <a:bodyPr wrap="square"/>
                    <a:lstStyle/>
                    <a:p>
                      <a:pPr algn="ctr"/>
                      <a:r>
                        <a:rPr sz="1150" b="0" i="0">
                          <a:solidFill>
                            <a:srgbClr val="2B2B2B"/>
                          </a:solidFill>
                          <a:latin typeface="Arial"/>
                        </a:rPr>
                        <a:t>1 000</a:t>
                      </a:r>
                    </a:p>
                  </a:txBody>
                  <a:tcPr marL="64008" marR="64008" marT="27432" marB="27432" anchor="ctr">
                    <a:solidFill>
                      <a:srgbClr val="F2F3F5"/>
                    </a:solidFill>
                  </a:tcPr>
                </a:tc>
              </a:tr>
            </a:tbl>
          </a:graphicData>
        </a:graphic>
      </p:graphicFrame>
      <p:sp>
        <p:nvSpPr>
          <p:cNvPr id="12" name="Rounded Rectangle 11"/>
          <p:cNvSpPr/>
          <p:nvPr/>
        </p:nvSpPr>
        <p:spPr>
          <a:xfrm>
            <a:off x="731520" y="4434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Diagonal = aciertos </a:t>
            </a:r>
            <a:r>
              <a:rPr sz="1200" b="0" i="0">
                <a:solidFill>
                  <a:srgbClr val="2B2B2B"/>
                </a:solidFill>
                <a:latin typeface="Arial"/>
              </a:rPr>
              <a:t>(VN y VP). </a:t>
            </a:r>
            <a:r>
              <a:rPr sz="1200" b="1" i="0">
                <a:solidFill>
                  <a:srgbClr val="D7263D"/>
                </a:solidFill>
                <a:latin typeface="Arial"/>
              </a:rPr>
              <a:t>Fuera de la diagonal = errores </a:t>
            </a:r>
            <a:r>
              <a:rPr sz="1200" b="0" i="0">
                <a:solidFill>
                  <a:srgbClr val="2B2B2B"/>
                </a:solidFill>
                <a:latin typeface="Arial"/>
              </a:rPr>
              <a:t>(FP y FN). Fraude es la clase positiva.</a:t>
            </a:r>
          </a:p>
        </p:txBody>
      </p:sp>
      <p:sp>
        <p:nvSpPr>
          <p:cNvPr id="13" name="Rounded Rectangle 12"/>
          <p:cNvSpPr/>
          <p:nvPr/>
        </p:nvSpPr>
        <p:spPr>
          <a:xfrm>
            <a:off x="731520" y="5120640"/>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Nombre: </a:t>
            </a:r>
            <a:r>
              <a:rPr sz="1200" b="0" i="0">
                <a:solidFill>
                  <a:srgbClr val="2B2B2B"/>
                </a:solidFill>
                <a:latin typeface="Arial"/>
              </a:rPr>
              <a:t>«confusión» porque muestra qué clase confundió el modelo con cuál.</a:t>
            </a:r>
          </a:p>
        </p:txBody>
      </p:sp>
      <p:sp>
        <p:nvSpPr>
          <p:cNvPr id="14" name="TextBox 13"/>
          <p:cNvSpPr txBox="1"/>
          <p:nvPr/>
        </p:nvSpPr>
        <p:spPr>
          <a:xfrm>
            <a:off x="731520" y="5760720"/>
            <a:ext cx="7772400" cy="365760"/>
          </a:xfrm>
          <a:prstGeom prst="rect">
            <a:avLst/>
          </a:prstGeom>
          <a:noFill/>
        </p:spPr>
        <p:txBody>
          <a:bodyPr wrap="square" anchor="t" lIns="36576" rIns="36576" tIns="36576" bIns="36576">
            <a:spAutoFit/>
          </a:bodyPr>
          <a:lstStyle/>
          <a:p>
            <a:pPr algn="l">
              <a:spcAft>
                <a:spcPts val="400"/>
              </a:spcAft>
            </a:pPr>
            <a:r>
              <a:rPr sz="1100" b="0" i="1">
                <a:solidFill>
                  <a:srgbClr val="5F6368"/>
                </a:solidFill>
                <a:latin typeface="Arial"/>
              </a:rPr>
              <a:t>Matriz ilustrativa de un DecisionTreeClassifier evaluado en 1 000 transacciones nuevas.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Cada casilla en un sistema de pagos</a:t>
            </a:r>
          </a:p>
        </p:txBody>
      </p:sp>
      <p:graphicFrame>
        <p:nvGraphicFramePr>
          <p:cNvPr id="3" name="Table 2"/>
          <p:cNvGraphicFramePr>
            <a:graphicFrameLocks noGrp="1"/>
          </p:cNvGraphicFramePr>
          <p:nvPr/>
        </p:nvGraphicFramePr>
        <p:xfrm>
          <a:off x="731520" y="1965960"/>
          <a:ext cx="7772400" cy="2286000"/>
        </p:xfrm>
        <a:graphic>
          <a:graphicData uri="http://schemas.openxmlformats.org/drawingml/2006/table">
            <a:tbl>
              <a:tblPr firstRow="1" bandRow="1">
                <a:tableStyleId>{5C22544A-7EE6-4342-B048-85BDC9FD1C3A}</a:tableStyleId>
              </a:tblPr>
              <a:tblGrid>
                <a:gridCol w="2651760"/>
                <a:gridCol w="5120640"/>
              </a:tblGrid>
              <a:tr h="457200">
                <a:tc>
                  <a:txBody>
                    <a:bodyPr wrap="square"/>
                    <a:lstStyle/>
                    <a:p>
                      <a:pPr algn="l"/>
                      <a:r>
                        <a:rPr sz="1250" b="1" i="0">
                          <a:solidFill>
                            <a:srgbClr val="FFFFFF"/>
                          </a:solidFill>
                          <a:latin typeface="Arial"/>
                        </a:rPr>
                        <a:t>Resultado</a:t>
                      </a:r>
                    </a:p>
                  </a:txBody>
                  <a:tcPr marL="64008" marR="64008" marT="27432" marB="27432" anchor="ctr">
                    <a:solidFill>
                      <a:srgbClr val="242852"/>
                    </a:solidFill>
                  </a:tcPr>
                </a:tc>
                <a:tc>
                  <a:txBody>
                    <a:bodyPr wrap="square"/>
                    <a:lstStyle/>
                    <a:p>
                      <a:pPr algn="ctr"/>
                      <a:r>
                        <a:rPr sz="1250" b="1" i="0">
                          <a:solidFill>
                            <a:srgbClr val="FFFFFF"/>
                          </a:solidFill>
                          <a:latin typeface="Arial"/>
                        </a:rPr>
                        <a:t>Qué significa en un sistema de pagos</a:t>
                      </a:r>
                    </a:p>
                  </a:txBody>
                  <a:tcPr marL="64008" marR="64008" marT="27432" marB="27432" anchor="ctr">
                    <a:solidFill>
                      <a:srgbClr val="242852"/>
                    </a:solidFill>
                  </a:tcPr>
                </a:tc>
              </a:tr>
              <a:tr h="457200">
                <a:tc>
                  <a:txBody>
                    <a:bodyPr wrap="square"/>
                    <a:lstStyle/>
                    <a:p>
                      <a:pPr algn="l"/>
                      <a:r>
                        <a:rPr sz="1250" b="1" i="0">
                          <a:solidFill>
                            <a:srgbClr val="2A9D8F"/>
                          </a:solidFill>
                          <a:latin typeface="Arial"/>
                        </a:rPr>
                        <a:t>Verdadero negativo (950)</a:t>
                      </a:r>
                    </a:p>
                  </a:txBody>
                  <a:tcPr marL="64008" marR="64008" marT="27432" marB="27432" anchor="ctr">
                    <a:solidFill>
                      <a:srgbClr val="FFFFFF"/>
                    </a:solidFill>
                  </a:tcPr>
                </a:tc>
                <a:tc>
                  <a:txBody>
                    <a:bodyPr wrap="square"/>
                    <a:lstStyle/>
                    <a:p>
                      <a:pPr algn="ctr"/>
                      <a:r>
                        <a:rPr sz="1250" b="0" i="0">
                          <a:solidFill>
                            <a:srgbClr val="2B2B2B"/>
                          </a:solidFill>
                          <a:latin typeface="Arial"/>
                        </a:rPr>
                        <a:t>La operación era normal y el sistema la clasificó correctamente</a:t>
                      </a:r>
                    </a:p>
                  </a:txBody>
                  <a:tcPr marL="64008" marR="64008" marT="27432" marB="27432" anchor="ctr">
                    <a:solidFill>
                      <a:srgbClr val="FFFFFF"/>
                    </a:solidFill>
                  </a:tcPr>
                </a:tc>
              </a:tr>
              <a:tr h="457200">
                <a:tc>
                  <a:txBody>
                    <a:bodyPr wrap="square"/>
                    <a:lstStyle/>
                    <a:p>
                      <a:pPr algn="l"/>
                      <a:r>
                        <a:rPr sz="1250" b="1" i="0">
                          <a:solidFill>
                            <a:srgbClr val="D7263D"/>
                          </a:solidFill>
                          <a:latin typeface="Arial"/>
                        </a:rPr>
                        <a:t>Falso positivo (30)</a:t>
                      </a:r>
                    </a:p>
                  </a:txBody>
                  <a:tcPr marL="64008" marR="64008" marT="27432" marB="27432" anchor="ctr">
                    <a:solidFill>
                      <a:srgbClr val="F2F3F5"/>
                    </a:solidFill>
                  </a:tcPr>
                </a:tc>
                <a:tc>
                  <a:txBody>
                    <a:bodyPr wrap="square"/>
                    <a:lstStyle/>
                    <a:p>
                      <a:pPr algn="ctr"/>
                      <a:r>
                        <a:rPr sz="1250" b="0" i="0">
                          <a:solidFill>
                            <a:srgbClr val="2B2B2B"/>
                          </a:solidFill>
                          <a:latin typeface="Arial"/>
                        </a:rPr>
                        <a:t>La operación era legítima, pero el sistema generó una alerta</a:t>
                      </a:r>
                    </a:p>
                  </a:txBody>
                  <a:tcPr marL="64008" marR="64008" marT="27432" marB="27432" anchor="ctr">
                    <a:solidFill>
                      <a:srgbClr val="F2F3F5"/>
                    </a:solidFill>
                  </a:tcPr>
                </a:tc>
              </a:tr>
              <a:tr h="457200">
                <a:tc>
                  <a:txBody>
                    <a:bodyPr wrap="square"/>
                    <a:lstStyle/>
                    <a:p>
                      <a:pPr algn="l"/>
                      <a:r>
                        <a:rPr sz="1250" b="1" i="0">
                          <a:solidFill>
                            <a:srgbClr val="D7263D"/>
                          </a:solidFill>
                          <a:latin typeface="Arial"/>
                        </a:rPr>
                        <a:t>Falso negativo (5)</a:t>
                      </a:r>
                    </a:p>
                  </a:txBody>
                  <a:tcPr marL="64008" marR="64008" marT="27432" marB="27432" anchor="ctr">
                    <a:solidFill>
                      <a:srgbClr val="FFFFFF"/>
                    </a:solidFill>
                  </a:tcPr>
                </a:tc>
                <a:tc>
                  <a:txBody>
                    <a:bodyPr wrap="square"/>
                    <a:lstStyle/>
                    <a:p>
                      <a:pPr algn="ctr"/>
                      <a:r>
                        <a:rPr sz="1250" b="0" i="0">
                          <a:solidFill>
                            <a:srgbClr val="2B2B2B"/>
                          </a:solidFill>
                          <a:latin typeface="Arial"/>
                        </a:rPr>
                        <a:t>Era fraude, pero el modelo no lo detectó</a:t>
                      </a:r>
                    </a:p>
                  </a:txBody>
                  <a:tcPr marL="64008" marR="64008" marT="27432" marB="27432" anchor="ctr">
                    <a:solidFill>
                      <a:srgbClr val="FFFFFF"/>
                    </a:solidFill>
                  </a:tcPr>
                </a:tc>
              </a:tr>
              <a:tr h="457200">
                <a:tc>
                  <a:txBody>
                    <a:bodyPr wrap="square"/>
                    <a:lstStyle/>
                    <a:p>
                      <a:pPr algn="l"/>
                      <a:r>
                        <a:rPr sz="1250" b="1" i="0">
                          <a:solidFill>
                            <a:srgbClr val="2A9D8F"/>
                          </a:solidFill>
                          <a:latin typeface="Arial"/>
                        </a:rPr>
                        <a:t>Verdadero positivo (15)</a:t>
                      </a:r>
                    </a:p>
                  </a:txBody>
                  <a:tcPr marL="64008" marR="64008" marT="27432" marB="27432" anchor="ctr">
                    <a:solidFill>
                      <a:srgbClr val="F2F3F5"/>
                    </a:solidFill>
                  </a:tcPr>
                </a:tc>
                <a:tc>
                  <a:txBody>
                    <a:bodyPr wrap="square"/>
                    <a:lstStyle/>
                    <a:p>
                      <a:pPr algn="ctr"/>
                      <a:r>
                        <a:rPr sz="1250" b="0" i="0">
                          <a:solidFill>
                            <a:srgbClr val="2B2B2B"/>
                          </a:solidFill>
                          <a:latin typeface="Arial"/>
                        </a:rPr>
                        <a:t>Era fraude y el modelo lo detectó</a:t>
                      </a:r>
                    </a:p>
                  </a:txBody>
                  <a:tcPr marL="64008" marR="64008" marT="27432" marB="27432" anchor="ctr">
                    <a:solidFill>
                      <a:srgbClr val="F2F3F5"/>
                    </a:solidFill>
                  </a:tcPr>
                </a:tc>
              </a:tr>
            </a:tbl>
          </a:graphicData>
        </a:graphic>
      </p:graphicFrame>
      <p:sp>
        <p:nvSpPr>
          <p:cNvPr id="4" name="Rounded Rectangle 3"/>
          <p:cNvSpPr/>
          <p:nvPr/>
        </p:nvSpPr>
        <p:spPr>
          <a:xfrm>
            <a:off x="731520" y="443484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5445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Costo de un FN</a:t>
            </a:r>
          </a:p>
        </p:txBody>
      </p:sp>
      <p:sp>
        <p:nvSpPr>
          <p:cNvPr id="6" name="TextBox 5"/>
          <p:cNvSpPr txBox="1"/>
          <p:nvPr/>
        </p:nvSpPr>
        <p:spPr>
          <a:xfrm>
            <a:off x="868680" y="5093207"/>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un fraude que pasa desapercibido: dinero perdido.</a:t>
            </a:r>
          </a:p>
        </p:txBody>
      </p:sp>
      <p:sp>
        <p:nvSpPr>
          <p:cNvPr id="7" name="Rounded Rectangle 6"/>
          <p:cNvSpPr/>
          <p:nvPr/>
        </p:nvSpPr>
        <p:spPr>
          <a:xfrm>
            <a:off x="4709160" y="4434840"/>
            <a:ext cx="3794760" cy="12344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5445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Costo de un FP</a:t>
            </a:r>
          </a:p>
        </p:txBody>
      </p:sp>
      <p:sp>
        <p:nvSpPr>
          <p:cNvPr id="9" name="TextBox 8"/>
          <p:cNvSpPr txBox="1"/>
          <p:nvPr/>
        </p:nvSpPr>
        <p:spPr>
          <a:xfrm>
            <a:off x="4846320" y="5093207"/>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horas de revisión y un cliente legítimo molesto.</a:t>
            </a:r>
          </a:p>
        </p:txBody>
      </p:sp>
      <p:sp>
        <p:nvSpPr>
          <p:cNvPr id="10" name="Rounded Rectangle 9"/>
          <p:cNvSpPr/>
          <p:nvPr/>
        </p:nvSpPr>
        <p:spPr>
          <a:xfrm>
            <a:off x="731520" y="5833872"/>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El negocio decide </a:t>
            </a:r>
            <a:r>
              <a:rPr sz="1200" b="0" i="0">
                <a:solidFill>
                  <a:srgbClr val="2B2B2B"/>
                </a:solidFill>
                <a:latin typeface="Arial"/>
              </a:rPr>
              <a:t>cuál de los dos errores pesa más; las métricas solo los cuentan.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leer VP, VN, FP y FN sin confundirse</a:t>
            </a:r>
          </a:p>
        </p:txBody>
      </p:sp>
      <p:sp>
        <p:nvSpPr>
          <p:cNvPr id="3" name="TextBox 2"/>
          <p:cNvSpPr txBox="1"/>
          <p:nvPr/>
        </p:nvSpPr>
        <p:spPr>
          <a:xfrm>
            <a:off x="731520" y="1965960"/>
            <a:ext cx="1920240" cy="365760"/>
          </a:xfrm>
          <a:prstGeom prst="rect">
            <a:avLst/>
          </a:prstGeom>
          <a:noFill/>
        </p:spPr>
        <p:txBody>
          <a:bodyPr wrap="square" anchor="t" lIns="36576" rIns="36576" tIns="36576" bIns="36576">
            <a:spAutoFit/>
          </a:bodyPr>
          <a:lstStyle/>
          <a:p>
            <a:pPr algn="l">
              <a:spcAft>
                <a:spcPts val="400"/>
              </a:spcAft>
            </a:pPr>
            <a:r>
              <a:rPr sz="1100" b="0" i="0">
                <a:solidFill>
                  <a:srgbClr val="2B2B2B"/>
                </a:solidFill>
                <a:latin typeface="Arial"/>
              </a:rPr>
              <a:t/>
            </a:r>
          </a:p>
        </p:txBody>
      </p:sp>
      <p:sp>
        <p:nvSpPr>
          <p:cNvPr id="4" name="Rounded Rectangle 3"/>
          <p:cNvSpPr/>
          <p:nvPr/>
        </p:nvSpPr>
        <p:spPr>
          <a:xfrm>
            <a:off x="731520" y="1965960"/>
            <a:ext cx="3794760" cy="9601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0" i="0">
                <a:solidFill>
                  <a:srgbClr val="C9D2E8"/>
                </a:solidFill>
                <a:latin typeface="Arial"/>
              </a:rPr>
              <a:t>1.ª palabra</a:t>
            </a:r>
          </a:p>
          <a:p>
            <a:pPr algn="ctr">
              <a:spcAft>
                <a:spcPts val="300"/>
              </a:spcAft>
            </a:pPr>
            <a:r>
              <a:rPr sz="1400" b="1" i="0">
                <a:solidFill>
                  <a:srgbClr val="FFFFFF"/>
                </a:solidFill>
                <a:latin typeface="Arial"/>
              </a:rPr>
              <a:t>¿Acertó?  verdadero / falso</a:t>
            </a:r>
          </a:p>
        </p:txBody>
      </p:sp>
      <p:sp>
        <p:nvSpPr>
          <p:cNvPr id="5" name="Rounded Rectangle 4"/>
          <p:cNvSpPr/>
          <p:nvPr/>
        </p:nvSpPr>
        <p:spPr>
          <a:xfrm>
            <a:off x="4709160" y="1965960"/>
            <a:ext cx="3794760" cy="9601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0" i="0">
                <a:solidFill>
                  <a:srgbClr val="FBE8EA"/>
                </a:solidFill>
                <a:latin typeface="Arial"/>
              </a:rPr>
              <a:t>2.ª palabra</a:t>
            </a:r>
          </a:p>
          <a:p>
            <a:pPr algn="ctr">
              <a:spcAft>
                <a:spcPts val="300"/>
              </a:spcAft>
            </a:pPr>
            <a:r>
              <a:rPr sz="1300" b="1" i="0">
                <a:solidFill>
                  <a:srgbClr val="FFFFFF"/>
                </a:solidFill>
                <a:latin typeface="Arial"/>
              </a:rPr>
              <a:t>¿Qué dijo?  positivo = fraude / negativo = normal</a:t>
            </a:r>
          </a:p>
        </p:txBody>
      </p:sp>
      <p:graphicFrame>
        <p:nvGraphicFramePr>
          <p:cNvPr id="6" name="Table 5"/>
          <p:cNvGraphicFramePr>
            <a:graphicFrameLocks noGrp="1"/>
          </p:cNvGraphicFramePr>
          <p:nvPr/>
        </p:nvGraphicFramePr>
        <p:xfrm>
          <a:off x="731520" y="3154680"/>
          <a:ext cx="7772400" cy="2057400"/>
        </p:xfrm>
        <a:graphic>
          <a:graphicData uri="http://schemas.openxmlformats.org/drawingml/2006/table">
            <a:tbl>
              <a:tblPr firstRow="1" bandRow="1">
                <a:tableStyleId>{5C22544A-7EE6-4342-B048-85BDC9FD1C3A}</a:tableStyleId>
              </a:tblPr>
              <a:tblGrid>
                <a:gridCol w="1005840"/>
                <a:gridCol w="1097280"/>
                <a:gridCol w="1828800"/>
                <a:gridCol w="1828800"/>
                <a:gridCol w="2011680"/>
              </a:tblGrid>
              <a:tr h="411480">
                <a:tc>
                  <a:txBody>
                    <a:bodyPr wrap="square"/>
                    <a:lstStyle/>
                    <a:p>
                      <a:pPr algn="l"/>
                      <a:r>
                        <a:rPr sz="1250" b="1" i="0">
                          <a:solidFill>
                            <a:srgbClr val="FFFFFF"/>
                          </a:solidFill>
                          <a:latin typeface="Arial"/>
                        </a:rPr>
                        <a:t>Nombre</a:t>
                      </a:r>
                    </a:p>
                  </a:txBody>
                  <a:tcPr marL="64008" marR="64008" marT="27432" marB="27432" anchor="ctr">
                    <a:solidFill>
                      <a:srgbClr val="242852"/>
                    </a:solidFill>
                  </a:tcPr>
                </a:tc>
                <a:tc>
                  <a:txBody>
                    <a:bodyPr wrap="square"/>
                    <a:lstStyle/>
                    <a:p>
                      <a:pPr algn="ctr"/>
                      <a:r>
                        <a:rPr sz="1250" b="1" i="0">
                          <a:solidFill>
                            <a:srgbClr val="FFFFFF"/>
                          </a:solidFill>
                          <a:latin typeface="Arial"/>
                        </a:rPr>
                        <a:t>¿Acertó?</a:t>
                      </a:r>
                    </a:p>
                  </a:txBody>
                  <a:tcPr marL="64008" marR="64008" marT="27432" marB="27432" anchor="ctr">
                    <a:solidFill>
                      <a:srgbClr val="242852"/>
                    </a:solidFill>
                  </a:tcPr>
                </a:tc>
                <a:tc>
                  <a:txBody>
                    <a:bodyPr wrap="square"/>
                    <a:lstStyle/>
                    <a:p>
                      <a:pPr algn="ctr"/>
                      <a:r>
                        <a:rPr sz="1250" b="1" i="0">
                          <a:solidFill>
                            <a:srgbClr val="FFFFFF"/>
                          </a:solidFill>
                          <a:latin typeface="Arial"/>
                        </a:rPr>
                        <a:t>¿Qué dijo el modelo?</a:t>
                      </a:r>
                    </a:p>
                  </a:txBody>
                  <a:tcPr marL="64008" marR="64008" marT="27432" marB="27432" anchor="ctr">
                    <a:solidFill>
                      <a:srgbClr val="242852"/>
                    </a:solidFill>
                  </a:tcPr>
                </a:tc>
                <a:tc>
                  <a:txBody>
                    <a:bodyPr wrap="square"/>
                    <a:lstStyle/>
                    <a:p>
                      <a:pPr algn="ctr"/>
                      <a:r>
                        <a:rPr sz="1250" b="1" i="0">
                          <a:solidFill>
                            <a:srgbClr val="FFFFFF"/>
                          </a:solidFill>
                          <a:latin typeface="Arial"/>
                        </a:rPr>
                        <a:t>¿Qué era en realidad?</a:t>
                      </a:r>
                    </a:p>
                  </a:txBody>
                  <a:tcPr marL="64008" marR="64008" marT="27432" marB="27432" anchor="ctr">
                    <a:solidFill>
                      <a:srgbClr val="242852"/>
                    </a:solidFill>
                  </a:tcPr>
                </a:tc>
                <a:tc>
                  <a:txBody>
                    <a:bodyPr wrap="square"/>
                    <a:lstStyle/>
                    <a:p>
                      <a:pPr algn="ctr"/>
                      <a:r>
                        <a:rPr sz="1250" b="1" i="0">
                          <a:solidFill>
                            <a:srgbClr val="FFFFFF"/>
                          </a:solidFill>
                          <a:latin typeface="Arial"/>
                        </a:rPr>
                        <a:t>En palabras</a:t>
                      </a:r>
                    </a:p>
                  </a:txBody>
                  <a:tcPr marL="64008" marR="64008" marT="27432" marB="27432" anchor="ctr">
                    <a:solidFill>
                      <a:srgbClr val="242852"/>
                    </a:solidFill>
                  </a:tcPr>
                </a:tc>
              </a:tr>
              <a:tr h="411480">
                <a:tc>
                  <a:txBody>
                    <a:bodyPr wrap="square"/>
                    <a:lstStyle/>
                    <a:p>
                      <a:pPr algn="l"/>
                      <a:r>
                        <a:rPr sz="1250" b="1" i="0">
                          <a:solidFill>
                            <a:srgbClr val="2A9D8F"/>
                          </a:solidFill>
                          <a:latin typeface="Arial"/>
                        </a:rPr>
                        <a:t>VP</a:t>
                      </a:r>
                    </a:p>
                  </a:txBody>
                  <a:tcPr marL="64008" marR="64008" marT="27432" marB="27432" anchor="ctr">
                    <a:solidFill>
                      <a:srgbClr val="FFFFFF"/>
                    </a:solidFill>
                  </a:tcPr>
                </a:tc>
                <a:tc>
                  <a:txBody>
                    <a:bodyPr wrap="square"/>
                    <a:lstStyle/>
                    <a:p>
                      <a:pPr algn="ctr"/>
                      <a:r>
                        <a:rPr sz="1250" b="0" i="0">
                          <a:solidFill>
                            <a:srgbClr val="2B2B2B"/>
                          </a:solidFill>
                          <a:latin typeface="Arial"/>
                        </a:rPr>
                        <a:t>sí</a:t>
                      </a:r>
                    </a:p>
                  </a:txBody>
                  <a:tcPr marL="64008" marR="64008" marT="27432" marB="27432" anchor="ctr">
                    <a:solidFill>
                      <a:srgbClr val="FFFFFF"/>
                    </a:solidFill>
                  </a:tcPr>
                </a:tc>
                <a:tc>
                  <a:txBody>
                    <a:bodyPr wrap="square"/>
                    <a:lstStyle/>
                    <a:p>
                      <a:pPr algn="ctr"/>
                      <a:r>
                        <a:rPr sz="1250" b="0" i="0">
                          <a:solidFill>
                            <a:srgbClr val="2B2B2B"/>
                          </a:solidFill>
                          <a:latin typeface="Arial"/>
                        </a:rPr>
                        <a:t>fraude</a:t>
                      </a:r>
                    </a:p>
                  </a:txBody>
                  <a:tcPr marL="64008" marR="64008" marT="27432" marB="27432" anchor="ctr">
                    <a:solidFill>
                      <a:srgbClr val="FFFFFF"/>
                    </a:solidFill>
                  </a:tcPr>
                </a:tc>
                <a:tc>
                  <a:txBody>
                    <a:bodyPr wrap="square"/>
                    <a:lstStyle/>
                    <a:p>
                      <a:pPr algn="ctr"/>
                      <a:r>
                        <a:rPr sz="1250" b="0" i="0">
                          <a:solidFill>
                            <a:srgbClr val="2B2B2B"/>
                          </a:solidFill>
                          <a:latin typeface="Arial"/>
                        </a:rPr>
                        <a:t>fraude</a:t>
                      </a:r>
                    </a:p>
                  </a:txBody>
                  <a:tcPr marL="64008" marR="64008" marT="27432" marB="27432" anchor="ctr">
                    <a:solidFill>
                      <a:srgbClr val="FFFFFF"/>
                    </a:solidFill>
                  </a:tcPr>
                </a:tc>
                <a:tc>
                  <a:txBody>
                    <a:bodyPr wrap="square"/>
                    <a:lstStyle/>
                    <a:p>
                      <a:pPr algn="ctr"/>
                      <a:r>
                        <a:rPr sz="1250" b="0" i="0">
                          <a:solidFill>
                            <a:srgbClr val="2B2B2B"/>
                          </a:solidFill>
                          <a:latin typeface="Arial"/>
                        </a:rPr>
                        <a:t>fraude detectado</a:t>
                      </a:r>
                    </a:p>
                  </a:txBody>
                  <a:tcPr marL="64008" marR="64008" marT="27432" marB="27432" anchor="ctr">
                    <a:solidFill>
                      <a:srgbClr val="FFFFFF"/>
                    </a:solidFill>
                  </a:tcPr>
                </a:tc>
              </a:tr>
              <a:tr h="411480">
                <a:tc>
                  <a:txBody>
                    <a:bodyPr wrap="square"/>
                    <a:lstStyle/>
                    <a:p>
                      <a:pPr algn="l"/>
                      <a:r>
                        <a:rPr sz="1250" b="1" i="0">
                          <a:solidFill>
                            <a:srgbClr val="2A9D8F"/>
                          </a:solidFill>
                          <a:latin typeface="Arial"/>
                        </a:rPr>
                        <a:t>VN</a:t>
                      </a:r>
                    </a:p>
                  </a:txBody>
                  <a:tcPr marL="64008" marR="64008" marT="27432" marB="27432" anchor="ctr">
                    <a:solidFill>
                      <a:srgbClr val="F2F3F5"/>
                    </a:solidFill>
                  </a:tcPr>
                </a:tc>
                <a:tc>
                  <a:txBody>
                    <a:bodyPr wrap="square"/>
                    <a:lstStyle/>
                    <a:p>
                      <a:pPr algn="ctr"/>
                      <a:r>
                        <a:rPr sz="1250" b="0" i="0">
                          <a:solidFill>
                            <a:srgbClr val="2B2B2B"/>
                          </a:solidFill>
                          <a:latin typeface="Arial"/>
                        </a:rPr>
                        <a:t>sí</a:t>
                      </a:r>
                    </a:p>
                  </a:txBody>
                  <a:tcPr marL="64008" marR="64008" marT="27432" marB="27432" anchor="ctr">
                    <a:solidFill>
                      <a:srgbClr val="F2F3F5"/>
                    </a:solidFill>
                  </a:tcPr>
                </a:tc>
                <a:tc>
                  <a:txBody>
                    <a:bodyPr wrap="square"/>
                    <a:lstStyle/>
                    <a:p>
                      <a:pPr algn="ctr"/>
                      <a:r>
                        <a:rPr sz="1250" b="0" i="0">
                          <a:solidFill>
                            <a:srgbClr val="2B2B2B"/>
                          </a:solidFill>
                          <a:latin typeface="Arial"/>
                        </a:rPr>
                        <a:t>normal</a:t>
                      </a:r>
                    </a:p>
                  </a:txBody>
                  <a:tcPr marL="64008" marR="64008" marT="27432" marB="27432" anchor="ctr">
                    <a:solidFill>
                      <a:srgbClr val="F2F3F5"/>
                    </a:solidFill>
                  </a:tcPr>
                </a:tc>
                <a:tc>
                  <a:txBody>
                    <a:bodyPr wrap="square"/>
                    <a:lstStyle/>
                    <a:p>
                      <a:pPr algn="ctr"/>
                      <a:r>
                        <a:rPr sz="1250" b="0" i="0">
                          <a:solidFill>
                            <a:srgbClr val="2B2B2B"/>
                          </a:solidFill>
                          <a:latin typeface="Arial"/>
                        </a:rPr>
                        <a:t>normal</a:t>
                      </a:r>
                    </a:p>
                  </a:txBody>
                  <a:tcPr marL="64008" marR="64008" marT="27432" marB="27432" anchor="ctr">
                    <a:solidFill>
                      <a:srgbClr val="F2F3F5"/>
                    </a:solidFill>
                  </a:tcPr>
                </a:tc>
                <a:tc>
                  <a:txBody>
                    <a:bodyPr wrap="square"/>
                    <a:lstStyle/>
                    <a:p>
                      <a:pPr algn="ctr"/>
                      <a:r>
                        <a:rPr sz="1250" b="0" i="0">
                          <a:solidFill>
                            <a:srgbClr val="2B2B2B"/>
                          </a:solidFill>
                          <a:latin typeface="Arial"/>
                        </a:rPr>
                        <a:t>normal bien aceptada</a:t>
                      </a:r>
                    </a:p>
                  </a:txBody>
                  <a:tcPr marL="64008" marR="64008" marT="27432" marB="27432" anchor="ctr">
                    <a:solidFill>
                      <a:srgbClr val="F2F3F5"/>
                    </a:solidFill>
                  </a:tcPr>
                </a:tc>
              </a:tr>
              <a:tr h="411480">
                <a:tc>
                  <a:txBody>
                    <a:bodyPr wrap="square"/>
                    <a:lstStyle/>
                    <a:p>
                      <a:pPr algn="l"/>
                      <a:r>
                        <a:rPr sz="1250" b="1" i="0">
                          <a:solidFill>
                            <a:srgbClr val="D7263D"/>
                          </a:solidFill>
                          <a:latin typeface="Arial"/>
                        </a:rPr>
                        <a:t>FP</a:t>
                      </a:r>
                    </a:p>
                  </a:txBody>
                  <a:tcPr marL="64008" marR="64008" marT="27432" marB="27432" anchor="ctr">
                    <a:solidFill>
                      <a:srgbClr val="FFFFFF"/>
                    </a:solidFill>
                  </a:tcPr>
                </a:tc>
                <a:tc>
                  <a:txBody>
                    <a:bodyPr wrap="square"/>
                    <a:lstStyle/>
                    <a:p>
                      <a:pPr algn="ctr"/>
                      <a:r>
                        <a:rPr sz="1250" b="0" i="0">
                          <a:solidFill>
                            <a:srgbClr val="2B2B2B"/>
                          </a:solidFill>
                          <a:latin typeface="Arial"/>
                        </a:rPr>
                        <a:t>no</a:t>
                      </a:r>
                    </a:p>
                  </a:txBody>
                  <a:tcPr marL="64008" marR="64008" marT="27432" marB="27432" anchor="ctr">
                    <a:solidFill>
                      <a:srgbClr val="FFFFFF"/>
                    </a:solidFill>
                  </a:tcPr>
                </a:tc>
                <a:tc>
                  <a:txBody>
                    <a:bodyPr wrap="square"/>
                    <a:lstStyle/>
                    <a:p>
                      <a:pPr algn="ctr"/>
                      <a:r>
                        <a:rPr sz="1250" b="0" i="0">
                          <a:solidFill>
                            <a:srgbClr val="2B2B2B"/>
                          </a:solidFill>
                          <a:latin typeface="Arial"/>
                        </a:rPr>
                        <a:t>fraude</a:t>
                      </a:r>
                    </a:p>
                  </a:txBody>
                  <a:tcPr marL="64008" marR="64008" marT="27432" marB="27432" anchor="ctr">
                    <a:solidFill>
                      <a:srgbClr val="FFFFFF"/>
                    </a:solidFill>
                  </a:tcPr>
                </a:tc>
                <a:tc>
                  <a:txBody>
                    <a:bodyPr wrap="square"/>
                    <a:lstStyle/>
                    <a:p>
                      <a:pPr algn="ctr"/>
                      <a:r>
                        <a:rPr sz="1250" b="0" i="0">
                          <a:solidFill>
                            <a:srgbClr val="2B2B2B"/>
                          </a:solidFill>
                          <a:latin typeface="Arial"/>
                        </a:rPr>
                        <a:t>normal</a:t>
                      </a:r>
                    </a:p>
                  </a:txBody>
                  <a:tcPr marL="64008" marR="64008" marT="27432" marB="27432" anchor="ctr">
                    <a:solidFill>
                      <a:srgbClr val="FFFFFF"/>
                    </a:solidFill>
                  </a:tcPr>
                </a:tc>
                <a:tc>
                  <a:txBody>
                    <a:bodyPr wrap="square"/>
                    <a:lstStyle/>
                    <a:p>
                      <a:pPr algn="ctr"/>
                      <a:r>
                        <a:rPr sz="1250" b="0" i="0">
                          <a:solidFill>
                            <a:srgbClr val="2B2B2B"/>
                          </a:solidFill>
                          <a:latin typeface="Arial"/>
                        </a:rPr>
                        <a:t>falsa alarma</a:t>
                      </a:r>
                    </a:p>
                  </a:txBody>
                  <a:tcPr marL="64008" marR="64008" marT="27432" marB="27432" anchor="ctr">
                    <a:solidFill>
                      <a:srgbClr val="FFFFFF"/>
                    </a:solidFill>
                  </a:tcPr>
                </a:tc>
              </a:tr>
              <a:tr h="411480">
                <a:tc>
                  <a:txBody>
                    <a:bodyPr wrap="square"/>
                    <a:lstStyle/>
                    <a:p>
                      <a:pPr algn="l"/>
                      <a:r>
                        <a:rPr sz="1250" b="1" i="0">
                          <a:solidFill>
                            <a:srgbClr val="D7263D"/>
                          </a:solidFill>
                          <a:latin typeface="Arial"/>
                        </a:rPr>
                        <a:t>FN</a:t>
                      </a:r>
                    </a:p>
                  </a:txBody>
                  <a:tcPr marL="64008" marR="64008" marT="27432" marB="27432" anchor="ctr">
                    <a:solidFill>
                      <a:srgbClr val="F2F3F5"/>
                    </a:solidFill>
                  </a:tcPr>
                </a:tc>
                <a:tc>
                  <a:txBody>
                    <a:bodyPr wrap="square"/>
                    <a:lstStyle/>
                    <a:p>
                      <a:pPr algn="ctr"/>
                      <a:r>
                        <a:rPr sz="1250" b="0" i="0">
                          <a:solidFill>
                            <a:srgbClr val="2B2B2B"/>
                          </a:solidFill>
                          <a:latin typeface="Arial"/>
                        </a:rPr>
                        <a:t>no</a:t>
                      </a:r>
                    </a:p>
                  </a:txBody>
                  <a:tcPr marL="64008" marR="64008" marT="27432" marB="27432" anchor="ctr">
                    <a:solidFill>
                      <a:srgbClr val="F2F3F5"/>
                    </a:solidFill>
                  </a:tcPr>
                </a:tc>
                <a:tc>
                  <a:txBody>
                    <a:bodyPr wrap="square"/>
                    <a:lstStyle/>
                    <a:p>
                      <a:pPr algn="ctr"/>
                      <a:r>
                        <a:rPr sz="1250" b="0" i="0">
                          <a:solidFill>
                            <a:srgbClr val="2B2B2B"/>
                          </a:solidFill>
                          <a:latin typeface="Arial"/>
                        </a:rPr>
                        <a:t>normal</a:t>
                      </a:r>
                    </a:p>
                  </a:txBody>
                  <a:tcPr marL="64008" marR="64008" marT="27432" marB="27432" anchor="ctr">
                    <a:solidFill>
                      <a:srgbClr val="F2F3F5"/>
                    </a:solidFill>
                  </a:tcPr>
                </a:tc>
                <a:tc>
                  <a:txBody>
                    <a:bodyPr wrap="square"/>
                    <a:lstStyle/>
                    <a:p>
                      <a:pPr algn="ctr"/>
                      <a:r>
                        <a:rPr sz="1250" b="0" i="0">
                          <a:solidFill>
                            <a:srgbClr val="2B2B2B"/>
                          </a:solidFill>
                          <a:latin typeface="Arial"/>
                        </a:rPr>
                        <a:t>fraude</a:t>
                      </a:r>
                    </a:p>
                  </a:txBody>
                  <a:tcPr marL="64008" marR="64008" marT="27432" marB="27432" anchor="ctr">
                    <a:solidFill>
                      <a:srgbClr val="F2F3F5"/>
                    </a:solidFill>
                  </a:tcPr>
                </a:tc>
                <a:tc>
                  <a:txBody>
                    <a:bodyPr wrap="square"/>
                    <a:lstStyle/>
                    <a:p>
                      <a:pPr algn="ctr"/>
                      <a:r>
                        <a:rPr sz="1250" b="0" i="0">
                          <a:solidFill>
                            <a:srgbClr val="2B2B2B"/>
                          </a:solidFill>
                          <a:latin typeface="Arial"/>
                        </a:rPr>
                        <a:t>fraude que se escapó</a:t>
                      </a:r>
                    </a:p>
                  </a:txBody>
                  <a:tcPr marL="64008" marR="64008" marT="27432" marB="27432" anchor="ctr">
                    <a:solidFill>
                      <a:srgbClr val="F2F3F5"/>
                    </a:solidFill>
                  </a:tcPr>
                </a:tc>
              </a:tr>
            </a:tbl>
          </a:graphicData>
        </a:graphic>
      </p:graphicFrame>
      <p:sp>
        <p:nvSpPr>
          <p:cNvPr id="7" name="Rounded Rectangle 6"/>
          <p:cNvSpPr/>
          <p:nvPr/>
        </p:nvSpPr>
        <p:spPr>
          <a:xfrm>
            <a:off x="731520" y="544068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Truco: </a:t>
            </a:r>
            <a:r>
              <a:rPr sz="1200" b="0" i="0">
                <a:solidFill>
                  <a:srgbClr val="2B2B2B"/>
                </a:solidFill>
                <a:latin typeface="Arial"/>
              </a:rPr>
              <a:t>lee primero la segunda letra (P o N = lo que dijo el modelo) y después la primera (V o F = si acertó).</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Métricas nuevas (1): Accuracy</a:t>
            </a:r>
          </a:p>
        </p:txBody>
      </p:sp>
      <p:sp>
        <p:nvSpPr>
          <p:cNvPr id="3" name="TextBox 2"/>
          <p:cNvSpPr txBox="1"/>
          <p:nvPr/>
        </p:nvSpPr>
        <p:spPr>
          <a:xfrm>
            <a:off x="731520" y="1947672"/>
            <a:ext cx="3291839"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Accuracy usa las cuatro casillas</a:t>
            </a:r>
          </a:p>
        </p:txBody>
      </p:sp>
      <p:sp>
        <p:nvSpPr>
          <p:cNvPr id="4" name="TextBox 3"/>
          <p:cNvSpPr txBox="1"/>
          <p:nvPr/>
        </p:nvSpPr>
        <p:spPr>
          <a:xfrm>
            <a:off x="192024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5" name="TextBox 4"/>
          <p:cNvSpPr txBox="1"/>
          <p:nvPr/>
        </p:nvSpPr>
        <p:spPr>
          <a:xfrm>
            <a:off x="297180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6" name="TextBox 5"/>
          <p:cNvSpPr txBox="1"/>
          <p:nvPr/>
        </p:nvSpPr>
        <p:spPr>
          <a:xfrm>
            <a:off x="73152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7" name="Rectangle 6"/>
          <p:cNvSpPr/>
          <p:nvPr/>
        </p:nvSpPr>
        <p:spPr>
          <a:xfrm>
            <a:off x="1920240" y="2642615"/>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950</a:t>
            </a:r>
          </a:p>
        </p:txBody>
      </p:sp>
      <p:sp>
        <p:nvSpPr>
          <p:cNvPr id="8" name="Rectangle 7"/>
          <p:cNvSpPr/>
          <p:nvPr/>
        </p:nvSpPr>
        <p:spPr>
          <a:xfrm>
            <a:off x="2971800" y="2642615"/>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30</a:t>
            </a:r>
          </a:p>
        </p:txBody>
      </p:sp>
      <p:sp>
        <p:nvSpPr>
          <p:cNvPr id="9" name="TextBox 8"/>
          <p:cNvSpPr txBox="1"/>
          <p:nvPr/>
        </p:nvSpPr>
        <p:spPr>
          <a:xfrm>
            <a:off x="73152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0" name="Rectangle 9"/>
          <p:cNvSpPr/>
          <p:nvPr/>
        </p:nvSpPr>
        <p:spPr>
          <a:xfrm>
            <a:off x="1920240" y="3392423"/>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5</a:t>
            </a:r>
          </a:p>
        </p:txBody>
      </p:sp>
      <p:sp>
        <p:nvSpPr>
          <p:cNvPr id="11" name="Rectangle 10"/>
          <p:cNvSpPr/>
          <p:nvPr/>
        </p:nvSpPr>
        <p:spPr>
          <a:xfrm>
            <a:off x="2971800" y="3392423"/>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15</a:t>
            </a:r>
          </a:p>
        </p:txBody>
      </p:sp>
      <p:sp>
        <p:nvSpPr>
          <p:cNvPr id="12" name="Rounded Rectangle 11"/>
          <p:cNvSpPr/>
          <p:nvPr/>
        </p:nvSpPr>
        <p:spPr>
          <a:xfrm>
            <a:off x="4617720" y="2011680"/>
            <a:ext cx="3886200" cy="11887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0" i="0">
                <a:solidFill>
                  <a:srgbClr val="C9D2E8"/>
                </a:solidFill>
                <a:latin typeface="Arial"/>
              </a:rPr>
              <a:t>Accuracy = (VP + VN) / total</a:t>
            </a:r>
          </a:p>
          <a:p>
            <a:pPr algn="ctr">
              <a:spcAft>
                <a:spcPts val="300"/>
              </a:spcAft>
            </a:pPr>
            <a:r>
              <a:rPr sz="1900" b="1" i="0">
                <a:solidFill>
                  <a:srgbClr val="FFFFFF"/>
                </a:solidFill>
                <a:latin typeface="Arial"/>
              </a:rPr>
              <a:t>(950 + 15) / 1 000 = 96,5 %</a:t>
            </a:r>
          </a:p>
        </p:txBody>
      </p:sp>
      <p:sp>
        <p:nvSpPr>
          <p:cNvPr id="13" name="Rounded Rectangle 12"/>
          <p:cNvSpPr/>
          <p:nvPr/>
        </p:nvSpPr>
        <p:spPr>
          <a:xfrm>
            <a:off x="4617720" y="3383280"/>
            <a:ext cx="388620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4754880" y="3493008"/>
            <a:ext cx="365760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Qué responde</a:t>
            </a:r>
          </a:p>
        </p:txBody>
      </p:sp>
      <p:sp>
        <p:nvSpPr>
          <p:cNvPr id="15" name="TextBox 14"/>
          <p:cNvSpPr txBox="1"/>
          <p:nvPr/>
        </p:nvSpPr>
        <p:spPr>
          <a:xfrm>
            <a:off x="4754880" y="4041648"/>
            <a:ext cx="361188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Porcentaje total de operaciones correctamente clasificadas.</a:t>
            </a:r>
          </a:p>
        </p:txBody>
      </p:sp>
      <p:sp>
        <p:nvSpPr>
          <p:cNvPr id="16" name="Rounded Rectangle 15"/>
          <p:cNvSpPr/>
          <p:nvPr/>
        </p:nvSpPr>
        <p:spPr>
          <a:xfrm>
            <a:off x="731520" y="51206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Cuándo sirve: </a:t>
            </a:r>
            <a:r>
              <a:rPr sz="1200" b="0" i="0">
                <a:solidFill>
                  <a:srgbClr val="2B2B2B"/>
                </a:solidFill>
                <a:latin typeface="Arial"/>
              </a:rPr>
              <a:t>clases equilibradas y errores de costo parecido. Con 98 % de normales, engaña.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Métricas nuevas (2): Precision</a:t>
            </a:r>
          </a:p>
        </p:txBody>
      </p:sp>
      <p:sp>
        <p:nvSpPr>
          <p:cNvPr id="3" name="TextBox 2"/>
          <p:cNvSpPr txBox="1"/>
          <p:nvPr/>
        </p:nvSpPr>
        <p:spPr>
          <a:xfrm>
            <a:off x="731520" y="1947672"/>
            <a:ext cx="3291839"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Precision mira la columna de alertas</a:t>
            </a:r>
          </a:p>
        </p:txBody>
      </p:sp>
      <p:sp>
        <p:nvSpPr>
          <p:cNvPr id="4" name="TextBox 3"/>
          <p:cNvSpPr txBox="1"/>
          <p:nvPr/>
        </p:nvSpPr>
        <p:spPr>
          <a:xfrm>
            <a:off x="192024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5" name="TextBox 4"/>
          <p:cNvSpPr txBox="1"/>
          <p:nvPr/>
        </p:nvSpPr>
        <p:spPr>
          <a:xfrm>
            <a:off x="297180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6" name="TextBox 5"/>
          <p:cNvSpPr txBox="1"/>
          <p:nvPr/>
        </p:nvSpPr>
        <p:spPr>
          <a:xfrm>
            <a:off x="73152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7" name="Rectangle 6"/>
          <p:cNvSpPr/>
          <p:nvPr/>
        </p:nvSpPr>
        <p:spPr>
          <a:xfrm>
            <a:off x="1920240" y="2642615"/>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950</a:t>
            </a:r>
          </a:p>
        </p:txBody>
      </p:sp>
      <p:sp>
        <p:nvSpPr>
          <p:cNvPr id="8" name="Rectangle 7"/>
          <p:cNvSpPr/>
          <p:nvPr/>
        </p:nvSpPr>
        <p:spPr>
          <a:xfrm>
            <a:off x="2971800" y="2642615"/>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30</a:t>
            </a:r>
          </a:p>
        </p:txBody>
      </p:sp>
      <p:sp>
        <p:nvSpPr>
          <p:cNvPr id="9" name="TextBox 8"/>
          <p:cNvSpPr txBox="1"/>
          <p:nvPr/>
        </p:nvSpPr>
        <p:spPr>
          <a:xfrm>
            <a:off x="73152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0" name="Rectangle 9"/>
          <p:cNvSpPr/>
          <p:nvPr/>
        </p:nvSpPr>
        <p:spPr>
          <a:xfrm>
            <a:off x="1920240" y="3392423"/>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5</a:t>
            </a:r>
          </a:p>
        </p:txBody>
      </p:sp>
      <p:sp>
        <p:nvSpPr>
          <p:cNvPr id="11" name="Rectangle 10"/>
          <p:cNvSpPr/>
          <p:nvPr/>
        </p:nvSpPr>
        <p:spPr>
          <a:xfrm>
            <a:off x="2971800" y="3392423"/>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15</a:t>
            </a:r>
          </a:p>
        </p:txBody>
      </p:sp>
      <p:sp>
        <p:nvSpPr>
          <p:cNvPr id="12" name="Rounded Rectangle 11"/>
          <p:cNvSpPr/>
          <p:nvPr/>
        </p:nvSpPr>
        <p:spPr>
          <a:xfrm>
            <a:off x="4617720" y="2011680"/>
            <a:ext cx="3886200" cy="11887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0" i="0">
                <a:solidFill>
                  <a:srgbClr val="C9D2E8"/>
                </a:solidFill>
                <a:latin typeface="Arial"/>
              </a:rPr>
              <a:t>Precision = VP / (VP + FP)</a:t>
            </a:r>
          </a:p>
          <a:p>
            <a:pPr algn="ctr">
              <a:spcAft>
                <a:spcPts val="300"/>
              </a:spcAft>
            </a:pPr>
            <a:r>
              <a:rPr sz="1900" b="1" i="0">
                <a:solidFill>
                  <a:srgbClr val="FFFFFF"/>
                </a:solidFill>
                <a:latin typeface="Arial"/>
              </a:rPr>
              <a:t>15 / (15 + 30) = 33,3 %</a:t>
            </a:r>
          </a:p>
        </p:txBody>
      </p:sp>
      <p:sp>
        <p:nvSpPr>
          <p:cNvPr id="13" name="Rounded Rectangle 12"/>
          <p:cNvSpPr/>
          <p:nvPr/>
        </p:nvSpPr>
        <p:spPr>
          <a:xfrm>
            <a:off x="4617720" y="3383280"/>
            <a:ext cx="388620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4754880" y="3493008"/>
            <a:ext cx="365760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Qué responde</a:t>
            </a:r>
          </a:p>
        </p:txBody>
      </p:sp>
      <p:sp>
        <p:nvSpPr>
          <p:cNvPr id="15" name="TextBox 14"/>
          <p:cNvSpPr txBox="1"/>
          <p:nvPr/>
        </p:nvSpPr>
        <p:spPr>
          <a:xfrm>
            <a:off x="4754880" y="4041648"/>
            <a:ext cx="361188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¿Mis alertas son confiables? De cada 3 alertas, solo 1 era fraude.</a:t>
            </a:r>
          </a:p>
        </p:txBody>
      </p:sp>
      <p:sp>
        <p:nvSpPr>
          <p:cNvPr id="16" name="Rounded Rectangle 15"/>
          <p:cNvSpPr/>
          <p:nvPr/>
        </p:nvSpPr>
        <p:spPr>
          <a:xfrm>
            <a:off x="731520" y="51206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Importa cuando </a:t>
            </a:r>
            <a:r>
              <a:rPr sz="1200" b="0" i="0">
                <a:solidFill>
                  <a:srgbClr val="2B2B2B"/>
                </a:solidFill>
                <a:latin typeface="Arial"/>
              </a:rPr>
              <a:t>cada alerta es costosa: revisión manual, bloquear la tarjeta de un buen cliente.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Métricas nuevas (3): Recall</a:t>
            </a:r>
          </a:p>
        </p:txBody>
      </p:sp>
      <p:sp>
        <p:nvSpPr>
          <p:cNvPr id="3" name="TextBox 2"/>
          <p:cNvSpPr txBox="1"/>
          <p:nvPr/>
        </p:nvSpPr>
        <p:spPr>
          <a:xfrm>
            <a:off x="731520" y="1947672"/>
            <a:ext cx="3291839"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Recall mira la fila de fraudes reales</a:t>
            </a:r>
          </a:p>
        </p:txBody>
      </p:sp>
      <p:sp>
        <p:nvSpPr>
          <p:cNvPr id="4" name="TextBox 3"/>
          <p:cNvSpPr txBox="1"/>
          <p:nvPr/>
        </p:nvSpPr>
        <p:spPr>
          <a:xfrm>
            <a:off x="192024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5" name="TextBox 4"/>
          <p:cNvSpPr txBox="1"/>
          <p:nvPr/>
        </p:nvSpPr>
        <p:spPr>
          <a:xfrm>
            <a:off x="297180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6" name="TextBox 5"/>
          <p:cNvSpPr txBox="1"/>
          <p:nvPr/>
        </p:nvSpPr>
        <p:spPr>
          <a:xfrm>
            <a:off x="73152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7" name="Rectangle 6"/>
          <p:cNvSpPr/>
          <p:nvPr/>
        </p:nvSpPr>
        <p:spPr>
          <a:xfrm>
            <a:off x="1920240" y="2642615"/>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950</a:t>
            </a:r>
          </a:p>
        </p:txBody>
      </p:sp>
      <p:sp>
        <p:nvSpPr>
          <p:cNvPr id="8" name="Rectangle 7"/>
          <p:cNvSpPr/>
          <p:nvPr/>
        </p:nvSpPr>
        <p:spPr>
          <a:xfrm>
            <a:off x="2971800" y="2642615"/>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30</a:t>
            </a:r>
          </a:p>
        </p:txBody>
      </p:sp>
      <p:sp>
        <p:nvSpPr>
          <p:cNvPr id="9" name="TextBox 8"/>
          <p:cNvSpPr txBox="1"/>
          <p:nvPr/>
        </p:nvSpPr>
        <p:spPr>
          <a:xfrm>
            <a:off x="73152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0" name="Rectangle 9"/>
          <p:cNvSpPr/>
          <p:nvPr/>
        </p:nvSpPr>
        <p:spPr>
          <a:xfrm>
            <a:off x="1920240" y="3392423"/>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5</a:t>
            </a:r>
          </a:p>
        </p:txBody>
      </p:sp>
      <p:sp>
        <p:nvSpPr>
          <p:cNvPr id="11" name="Rectangle 10"/>
          <p:cNvSpPr/>
          <p:nvPr/>
        </p:nvSpPr>
        <p:spPr>
          <a:xfrm>
            <a:off x="2971800" y="3392423"/>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15</a:t>
            </a:r>
          </a:p>
        </p:txBody>
      </p:sp>
      <p:sp>
        <p:nvSpPr>
          <p:cNvPr id="12" name="Rounded Rectangle 11"/>
          <p:cNvSpPr/>
          <p:nvPr/>
        </p:nvSpPr>
        <p:spPr>
          <a:xfrm>
            <a:off x="4617720" y="2011680"/>
            <a:ext cx="3886200" cy="11887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0" i="0">
                <a:solidFill>
                  <a:srgbClr val="FBE8EA"/>
                </a:solidFill>
                <a:latin typeface="Arial"/>
              </a:rPr>
              <a:t>Recall = VP / (VP + FN)</a:t>
            </a:r>
          </a:p>
          <a:p>
            <a:pPr algn="ctr">
              <a:spcAft>
                <a:spcPts val="300"/>
              </a:spcAft>
            </a:pPr>
            <a:r>
              <a:rPr sz="1900" b="1" i="0">
                <a:solidFill>
                  <a:srgbClr val="FFFFFF"/>
                </a:solidFill>
                <a:latin typeface="Arial"/>
              </a:rPr>
              <a:t>15 / (15 + 5) = 75,0 %</a:t>
            </a:r>
          </a:p>
        </p:txBody>
      </p:sp>
      <p:sp>
        <p:nvSpPr>
          <p:cNvPr id="13" name="Rounded Rectangle 12"/>
          <p:cNvSpPr/>
          <p:nvPr/>
        </p:nvSpPr>
        <p:spPr>
          <a:xfrm>
            <a:off x="4617720" y="3383280"/>
            <a:ext cx="388620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4754880" y="3493008"/>
            <a:ext cx="365760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Qué responde</a:t>
            </a:r>
          </a:p>
        </p:txBody>
      </p:sp>
      <p:sp>
        <p:nvSpPr>
          <p:cNvPr id="15" name="TextBox 14"/>
          <p:cNvSpPr txBox="1"/>
          <p:nvPr/>
        </p:nvSpPr>
        <p:spPr>
          <a:xfrm>
            <a:off x="4754880" y="4041648"/>
            <a:ext cx="361188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¿Se me escapan los fraudes? De cada 4 fraudes, encontró 3.</a:t>
            </a:r>
          </a:p>
        </p:txBody>
      </p:sp>
      <p:sp>
        <p:nvSpPr>
          <p:cNvPr id="16" name="Rounded Rectangle 15"/>
          <p:cNvSpPr/>
          <p:nvPr/>
        </p:nvSpPr>
        <p:spPr>
          <a:xfrm>
            <a:off x="731520" y="51206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Importa cuando </a:t>
            </a:r>
            <a:r>
              <a:rPr sz="1200" b="0" i="0">
                <a:solidFill>
                  <a:srgbClr val="2B2B2B"/>
                </a:solidFill>
                <a:latin typeface="Arial"/>
              </a:rPr>
              <a:t>dejar pasar un positivo cuesta mucho: un fraude, un préstamo grande que no se pagará.</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Métricas nuevas (4): F1-score</a:t>
            </a:r>
          </a:p>
        </p:txBody>
      </p:sp>
      <p:sp>
        <p:nvSpPr>
          <p:cNvPr id="3" name="Rounded Rectangle 2"/>
          <p:cNvSpPr/>
          <p:nvPr/>
        </p:nvSpPr>
        <p:spPr>
          <a:xfrm>
            <a:off x="731520" y="1965960"/>
            <a:ext cx="3794760" cy="128016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0" i="0">
                <a:solidFill>
                  <a:srgbClr val="C9D2E8"/>
                </a:solidFill>
                <a:latin typeface="Arial"/>
              </a:rPr>
              <a:t>F1 = 2VP / (2VP + FP + FN)</a:t>
            </a:r>
          </a:p>
          <a:p>
            <a:pPr algn="ctr">
              <a:spcAft>
                <a:spcPts val="300"/>
              </a:spcAft>
            </a:pPr>
            <a:r>
              <a:rPr sz="1800" b="1" i="0">
                <a:solidFill>
                  <a:srgbClr val="FFFFFF"/>
                </a:solidFill>
                <a:latin typeface="Arial"/>
              </a:rPr>
              <a:t>30 / (30 + 30 + 5) = 46,2 %</a:t>
            </a:r>
          </a:p>
        </p:txBody>
      </p:sp>
      <p:sp>
        <p:nvSpPr>
          <p:cNvPr id="4" name="Rounded Rectangle 3"/>
          <p:cNvSpPr/>
          <p:nvPr/>
        </p:nvSpPr>
        <p:spPr>
          <a:xfrm>
            <a:off x="4709160" y="196596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50" b="0" i="0">
                <a:solidFill>
                  <a:srgbClr val="5F6368"/>
                </a:solidFill>
                <a:latin typeface="Arial"/>
              </a:rPr>
              <a:t>Equivale a 2 · P · R / (P + R)</a:t>
            </a:r>
          </a:p>
          <a:p>
            <a:pPr algn="ctr">
              <a:spcAft>
                <a:spcPts val="300"/>
              </a:spcAft>
            </a:pPr>
            <a:r>
              <a:rPr sz="1500" b="1" i="0">
                <a:solidFill>
                  <a:srgbClr val="242852"/>
                </a:solidFill>
                <a:latin typeface="Arial"/>
              </a:rPr>
              <a:t>2 · 0,333 · 0,75 / 1,083 = 0,462</a:t>
            </a:r>
          </a:p>
        </p:txBody>
      </p:sp>
      <p:graphicFrame>
        <p:nvGraphicFramePr>
          <p:cNvPr id="5" name="Table 4"/>
          <p:cNvGraphicFramePr>
            <a:graphicFrameLocks noGrp="1"/>
          </p:cNvGraphicFramePr>
          <p:nvPr/>
        </p:nvGraphicFramePr>
        <p:xfrm>
          <a:off x="731520" y="3474720"/>
          <a:ext cx="7772400" cy="1316736"/>
        </p:xfrm>
        <a:graphic>
          <a:graphicData uri="http://schemas.openxmlformats.org/drawingml/2006/table">
            <a:tbl>
              <a:tblPr firstRow="1" bandRow="1">
                <a:tableStyleId>{5C22544A-7EE6-4342-B048-85BDC9FD1C3A}</a:tableStyleId>
              </a:tblPr>
              <a:tblGrid>
                <a:gridCol w="2651760"/>
                <a:gridCol w="1188720"/>
                <a:gridCol w="1188720"/>
                <a:gridCol w="1463040"/>
                <a:gridCol w="1280160"/>
              </a:tblGrid>
              <a:tr h="438912">
                <a:tc>
                  <a:txBody>
                    <a:bodyPr wrap="square"/>
                    <a:lstStyle/>
                    <a:p>
                      <a:pPr algn="l"/>
                      <a:r>
                        <a:rPr sz="1250" b="1" i="0">
                          <a:solidFill>
                            <a:srgbClr val="FFFFFF"/>
                          </a:solidFill>
                          <a:latin typeface="Arial"/>
                        </a:rPr>
                        <a:t/>
                      </a:r>
                    </a:p>
                  </a:txBody>
                  <a:tcPr marL="64008" marR="64008" marT="27432" marB="27432" anchor="ctr">
                    <a:solidFill>
                      <a:srgbClr val="242852"/>
                    </a:solidFill>
                  </a:tcPr>
                </a:tc>
                <a:tc>
                  <a:txBody>
                    <a:bodyPr wrap="square"/>
                    <a:lstStyle/>
                    <a:p>
                      <a:pPr algn="ctr"/>
                      <a:r>
                        <a:rPr sz="1250" b="1" i="0">
                          <a:solidFill>
                            <a:srgbClr val="FFFFFF"/>
                          </a:solidFill>
                          <a:latin typeface="Arial"/>
                        </a:rPr>
                        <a:t>Precision</a:t>
                      </a:r>
                    </a:p>
                  </a:txBody>
                  <a:tcPr marL="64008" marR="64008" marT="27432" marB="27432" anchor="ctr">
                    <a:solidFill>
                      <a:srgbClr val="242852"/>
                    </a:solidFill>
                  </a:tcPr>
                </a:tc>
                <a:tc>
                  <a:txBody>
                    <a:bodyPr wrap="square"/>
                    <a:lstStyle/>
                    <a:p>
                      <a:pPr algn="ctr"/>
                      <a:r>
                        <a:rPr sz="1250" b="1" i="0">
                          <a:solidFill>
                            <a:srgbClr val="FFFFFF"/>
                          </a:solidFill>
                          <a:latin typeface="Arial"/>
                        </a:rPr>
                        <a:t>Recall</a:t>
                      </a:r>
                    </a:p>
                  </a:txBody>
                  <a:tcPr marL="64008" marR="64008" marT="27432" marB="27432" anchor="ctr">
                    <a:solidFill>
                      <a:srgbClr val="242852"/>
                    </a:solidFill>
                  </a:tcPr>
                </a:tc>
                <a:tc>
                  <a:txBody>
                    <a:bodyPr wrap="square"/>
                    <a:lstStyle/>
                    <a:p>
                      <a:pPr algn="ctr"/>
                      <a:r>
                        <a:rPr sz="1250" b="1" i="0">
                          <a:solidFill>
                            <a:srgbClr val="FFFFFF"/>
                          </a:solidFill>
                          <a:latin typeface="Arial"/>
                        </a:rPr>
                        <a:t>Promedio simple</a:t>
                      </a:r>
                    </a:p>
                  </a:txBody>
                  <a:tcPr marL="64008" marR="64008" marT="27432" marB="27432" anchor="ctr">
                    <a:solidFill>
                      <a:srgbClr val="242852"/>
                    </a:solidFill>
                  </a:tcPr>
                </a:tc>
                <a:tc>
                  <a:txBody>
                    <a:bodyPr wrap="square"/>
                    <a:lstStyle/>
                    <a:p>
                      <a:pPr algn="ctr"/>
                      <a:r>
                        <a:rPr sz="1250" b="1" i="0">
                          <a:solidFill>
                            <a:srgbClr val="FFFFFF"/>
                          </a:solidFill>
                          <a:latin typeface="Arial"/>
                        </a:rPr>
                        <a:t>F1</a:t>
                      </a:r>
                    </a:p>
                  </a:txBody>
                  <a:tcPr marL="64008" marR="64008" marT="27432" marB="27432" anchor="ctr">
                    <a:solidFill>
                      <a:srgbClr val="242852"/>
                    </a:solidFill>
                  </a:tcPr>
                </a:tc>
              </a:tr>
              <a:tr h="438912">
                <a:tc>
                  <a:txBody>
                    <a:bodyPr wrap="square"/>
                    <a:lstStyle/>
                    <a:p>
                      <a:pPr algn="l"/>
                      <a:r>
                        <a:rPr sz="1250" b="1" i="0">
                          <a:solidFill>
                            <a:srgbClr val="2B2B2B"/>
                          </a:solidFill>
                          <a:latin typeface="Arial"/>
                        </a:rPr>
                        <a:t>Ejemplo de 1 000</a:t>
                      </a:r>
                    </a:p>
                  </a:txBody>
                  <a:tcPr marL="64008" marR="64008" marT="27432" marB="27432" anchor="ctr">
                    <a:solidFill>
                      <a:srgbClr val="FFFFFF"/>
                    </a:solidFill>
                  </a:tcPr>
                </a:tc>
                <a:tc>
                  <a:txBody>
                    <a:bodyPr wrap="square"/>
                    <a:lstStyle/>
                    <a:p>
                      <a:pPr algn="ctr"/>
                      <a:r>
                        <a:rPr sz="1250" b="0" i="0">
                          <a:solidFill>
                            <a:srgbClr val="2B2B2B"/>
                          </a:solidFill>
                          <a:latin typeface="Arial"/>
                        </a:rPr>
                        <a:t>0,333</a:t>
                      </a:r>
                    </a:p>
                  </a:txBody>
                  <a:tcPr marL="64008" marR="64008" marT="27432" marB="27432" anchor="ctr">
                    <a:solidFill>
                      <a:srgbClr val="FFFFFF"/>
                    </a:solidFill>
                  </a:tcPr>
                </a:tc>
                <a:tc>
                  <a:txBody>
                    <a:bodyPr wrap="square"/>
                    <a:lstStyle/>
                    <a:p>
                      <a:pPr algn="ctr"/>
                      <a:r>
                        <a:rPr sz="1250" b="0" i="0">
                          <a:solidFill>
                            <a:srgbClr val="2B2B2B"/>
                          </a:solidFill>
                          <a:latin typeface="Arial"/>
                        </a:rPr>
                        <a:t>0,750</a:t>
                      </a:r>
                    </a:p>
                  </a:txBody>
                  <a:tcPr marL="64008" marR="64008" marT="27432" marB="27432" anchor="ctr">
                    <a:solidFill>
                      <a:srgbClr val="FFFFFF"/>
                    </a:solidFill>
                  </a:tcPr>
                </a:tc>
                <a:tc>
                  <a:txBody>
                    <a:bodyPr wrap="square"/>
                    <a:lstStyle/>
                    <a:p>
                      <a:pPr algn="ctr"/>
                      <a:r>
                        <a:rPr sz="1250" b="0" i="0">
                          <a:solidFill>
                            <a:srgbClr val="2B2B2B"/>
                          </a:solidFill>
                          <a:latin typeface="Arial"/>
                        </a:rPr>
                        <a:t>0,542</a:t>
                      </a:r>
                    </a:p>
                  </a:txBody>
                  <a:tcPr marL="64008" marR="64008" marT="27432" marB="27432" anchor="ctr">
                    <a:solidFill>
                      <a:srgbClr val="FFFFFF"/>
                    </a:solidFill>
                  </a:tcPr>
                </a:tc>
                <a:tc>
                  <a:txBody>
                    <a:bodyPr wrap="square"/>
                    <a:lstStyle/>
                    <a:p>
                      <a:pPr algn="ctr"/>
                      <a:r>
                        <a:rPr sz="1250" b="1" i="0">
                          <a:solidFill>
                            <a:srgbClr val="2B2B2B"/>
                          </a:solidFill>
                          <a:latin typeface="Arial"/>
                        </a:rPr>
                        <a:t>0,462</a:t>
                      </a:r>
                    </a:p>
                  </a:txBody>
                  <a:tcPr marL="64008" marR="64008" marT="27432" marB="27432" anchor="ctr">
                    <a:solidFill>
                      <a:srgbClr val="FFFFFF"/>
                    </a:solidFill>
                  </a:tcPr>
                </a:tc>
              </a:tr>
              <a:tr h="438912">
                <a:tc>
                  <a:txBody>
                    <a:bodyPr wrap="square"/>
                    <a:lstStyle/>
                    <a:p>
                      <a:pPr algn="l"/>
                      <a:r>
                        <a:rPr sz="1250" b="1" i="0">
                          <a:solidFill>
                            <a:srgbClr val="2B2B2B"/>
                          </a:solidFill>
                          <a:latin typeface="Arial"/>
                        </a:rPr>
                        <a:t>Regla isFlaggedFraud (PaySim)</a:t>
                      </a:r>
                    </a:p>
                  </a:txBody>
                  <a:tcPr marL="64008" marR="64008" marT="27432" marB="27432" anchor="ctr">
                    <a:solidFill>
                      <a:srgbClr val="FBE8EA"/>
                    </a:solidFill>
                  </a:tcPr>
                </a:tc>
                <a:tc>
                  <a:txBody>
                    <a:bodyPr wrap="square"/>
                    <a:lstStyle/>
                    <a:p>
                      <a:pPr algn="ctr"/>
                      <a:r>
                        <a:rPr sz="1250" b="0" i="0">
                          <a:solidFill>
                            <a:srgbClr val="2B2B2B"/>
                          </a:solidFill>
                          <a:latin typeface="Arial"/>
                        </a:rPr>
                        <a:t>1,000</a:t>
                      </a:r>
                    </a:p>
                  </a:txBody>
                  <a:tcPr marL="64008" marR="64008" marT="27432" marB="27432" anchor="ctr">
                    <a:solidFill>
                      <a:srgbClr val="FBE8EA"/>
                    </a:solidFill>
                  </a:tcPr>
                </a:tc>
                <a:tc>
                  <a:txBody>
                    <a:bodyPr wrap="square"/>
                    <a:lstStyle/>
                    <a:p>
                      <a:pPr algn="ctr"/>
                      <a:r>
                        <a:rPr sz="1250" b="0" i="0">
                          <a:solidFill>
                            <a:srgbClr val="2B2B2B"/>
                          </a:solidFill>
                          <a:latin typeface="Arial"/>
                        </a:rPr>
                        <a:t>0,004</a:t>
                      </a:r>
                    </a:p>
                  </a:txBody>
                  <a:tcPr marL="64008" marR="64008" marT="27432" marB="27432" anchor="ctr">
                    <a:solidFill>
                      <a:srgbClr val="FBE8EA"/>
                    </a:solidFill>
                  </a:tcPr>
                </a:tc>
                <a:tc>
                  <a:txBody>
                    <a:bodyPr wrap="square"/>
                    <a:lstStyle/>
                    <a:p>
                      <a:pPr algn="ctr"/>
                      <a:r>
                        <a:rPr sz="1250" b="1" i="0">
                          <a:solidFill>
                            <a:srgbClr val="D7263D"/>
                          </a:solidFill>
                          <a:latin typeface="Arial"/>
                        </a:rPr>
                        <a:t>0,502</a:t>
                      </a:r>
                    </a:p>
                  </a:txBody>
                  <a:tcPr marL="64008" marR="64008" marT="27432" marB="27432" anchor="ctr">
                    <a:solidFill>
                      <a:srgbClr val="FBE8EA"/>
                    </a:solidFill>
                  </a:tcPr>
                </a:tc>
                <a:tc>
                  <a:txBody>
                    <a:bodyPr wrap="square"/>
                    <a:lstStyle/>
                    <a:p>
                      <a:pPr algn="ctr"/>
                      <a:r>
                        <a:rPr sz="1250" b="1" i="0">
                          <a:solidFill>
                            <a:srgbClr val="D7263D"/>
                          </a:solidFill>
                          <a:latin typeface="Arial"/>
                        </a:rPr>
                        <a:t>0,008</a:t>
                      </a:r>
                    </a:p>
                  </a:txBody>
                  <a:tcPr marL="64008" marR="64008" marT="27432" marB="27432" anchor="ctr">
                    <a:solidFill>
                      <a:srgbClr val="FBE8EA"/>
                    </a:solidFill>
                  </a:tcPr>
                </a:tc>
              </a:tr>
            </a:tbl>
          </a:graphicData>
        </a:graphic>
      </p:graphicFrame>
      <p:sp>
        <p:nvSpPr>
          <p:cNvPr id="6" name="Rounded Rectangle 5"/>
          <p:cNvSpPr/>
          <p:nvPr/>
        </p:nvSpPr>
        <p:spPr>
          <a:xfrm>
            <a:off x="731520" y="49834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Media armónica: </a:t>
            </a:r>
            <a:r>
              <a:rPr sz="1200" b="0" i="0">
                <a:solidFill>
                  <a:srgbClr val="2B2B2B"/>
                </a:solidFill>
                <a:latin typeface="Arial"/>
              </a:rPr>
              <a:t>se acerca al valor más bajo. Si una de las dos es casi 0, F1 es casi 0.</a:t>
            </a:r>
          </a:p>
        </p:txBody>
      </p:sp>
      <p:sp>
        <p:nvSpPr>
          <p:cNvPr id="7" name="Rounded Rectangle 6"/>
          <p:cNvSpPr/>
          <p:nvPr/>
        </p:nvSpPr>
        <p:spPr>
          <a:xfrm>
            <a:off x="731520" y="5669280"/>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Rango: </a:t>
            </a:r>
            <a:r>
              <a:rPr sz="1200" b="0" i="0">
                <a:solidFill>
                  <a:srgbClr val="2B2B2B"/>
                </a:solidFill>
                <a:latin typeface="Arial"/>
              </a:rPr>
              <a:t>0 = no detecta nada · 1 = detecta todos los fraudes sin ninguna falsa alarma.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¿Por qué no podemos confiar solo en Accuracy?</a:t>
            </a:r>
          </a:p>
        </p:txBody>
      </p:sp>
      <p:sp>
        <p:nvSpPr>
          <p:cNvPr id="3" name="Rounded Rectangle 2"/>
          <p:cNvSpPr/>
          <p:nvPr/>
        </p:nvSpPr>
        <p:spPr>
          <a:xfrm>
            <a:off x="731520" y="1965960"/>
            <a:ext cx="3794760" cy="292608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731520" y="2057400"/>
            <a:ext cx="3794760" cy="411480"/>
          </a:xfrm>
          <a:prstGeom prst="rect">
            <a:avLst/>
          </a:prstGeom>
          <a:noFill/>
        </p:spPr>
        <p:txBody>
          <a:bodyPr wrap="square" anchor="t" lIns="36576" rIns="36576" tIns="36576" bIns="36576">
            <a:spAutoFit/>
          </a:bodyPr>
          <a:lstStyle/>
          <a:p>
            <a:pPr algn="ctr">
              <a:spcAft>
                <a:spcPts val="400"/>
              </a:spcAft>
            </a:pPr>
            <a:r>
              <a:rPr sz="1600" b="1" i="0">
                <a:solidFill>
                  <a:srgbClr val="2A9D8F"/>
                </a:solidFill>
                <a:latin typeface="Arial"/>
              </a:rPr>
              <a:t>Nuestro árbol</a:t>
            </a:r>
          </a:p>
        </p:txBody>
      </p:sp>
      <p:sp>
        <p:nvSpPr>
          <p:cNvPr id="5" name="TextBox 4"/>
          <p:cNvSpPr txBox="1"/>
          <p:nvPr/>
        </p:nvSpPr>
        <p:spPr>
          <a:xfrm>
            <a:off x="914400" y="260604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Accuracy</a:t>
            </a:r>
          </a:p>
        </p:txBody>
      </p:sp>
      <p:sp>
        <p:nvSpPr>
          <p:cNvPr id="6" name="TextBox 5"/>
          <p:cNvSpPr txBox="1"/>
          <p:nvPr/>
        </p:nvSpPr>
        <p:spPr>
          <a:xfrm>
            <a:off x="2834639" y="260604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242852"/>
                </a:solidFill>
                <a:latin typeface="Arial"/>
              </a:rPr>
              <a:t>96,5 %</a:t>
            </a:r>
          </a:p>
        </p:txBody>
      </p:sp>
      <p:sp>
        <p:nvSpPr>
          <p:cNvPr id="7" name="TextBox 6"/>
          <p:cNvSpPr txBox="1"/>
          <p:nvPr/>
        </p:nvSpPr>
        <p:spPr>
          <a:xfrm>
            <a:off x="914400" y="333756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Fraudes detectados</a:t>
            </a:r>
          </a:p>
        </p:txBody>
      </p:sp>
      <p:sp>
        <p:nvSpPr>
          <p:cNvPr id="8" name="TextBox 7"/>
          <p:cNvSpPr txBox="1"/>
          <p:nvPr/>
        </p:nvSpPr>
        <p:spPr>
          <a:xfrm>
            <a:off x="2834639" y="333756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2A9D8F"/>
                </a:solidFill>
                <a:latin typeface="Arial"/>
              </a:rPr>
              <a:t>15 de 20</a:t>
            </a:r>
          </a:p>
        </p:txBody>
      </p:sp>
      <p:sp>
        <p:nvSpPr>
          <p:cNvPr id="9" name="TextBox 8"/>
          <p:cNvSpPr txBox="1"/>
          <p:nvPr/>
        </p:nvSpPr>
        <p:spPr>
          <a:xfrm>
            <a:off x="914400" y="406908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F1</a:t>
            </a:r>
          </a:p>
        </p:txBody>
      </p:sp>
      <p:sp>
        <p:nvSpPr>
          <p:cNvPr id="10" name="TextBox 9"/>
          <p:cNvSpPr txBox="1"/>
          <p:nvPr/>
        </p:nvSpPr>
        <p:spPr>
          <a:xfrm>
            <a:off x="2834639" y="406908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2A9D8F"/>
                </a:solidFill>
                <a:latin typeface="Arial"/>
              </a:rPr>
              <a:t>0,462</a:t>
            </a:r>
          </a:p>
        </p:txBody>
      </p:sp>
      <p:sp>
        <p:nvSpPr>
          <p:cNvPr id="11" name="Rounded Rectangle 10"/>
          <p:cNvSpPr/>
          <p:nvPr/>
        </p:nvSpPr>
        <p:spPr>
          <a:xfrm>
            <a:off x="4709160" y="1965960"/>
            <a:ext cx="3794760" cy="29260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4709160" y="2057400"/>
            <a:ext cx="3794760" cy="411480"/>
          </a:xfrm>
          <a:prstGeom prst="rect">
            <a:avLst/>
          </a:prstGeom>
          <a:noFill/>
        </p:spPr>
        <p:txBody>
          <a:bodyPr wrap="square" anchor="t" lIns="36576" rIns="36576" tIns="36576" bIns="36576">
            <a:spAutoFit/>
          </a:bodyPr>
          <a:lstStyle/>
          <a:p>
            <a:pPr algn="ctr">
              <a:spcAft>
                <a:spcPts val="400"/>
              </a:spcAft>
            </a:pPr>
            <a:r>
              <a:rPr sz="1600" b="1" i="0">
                <a:solidFill>
                  <a:srgbClr val="D7263D"/>
                </a:solidFill>
                <a:latin typeface="Arial"/>
              </a:rPr>
              <a:t>«Todas son normales»</a:t>
            </a:r>
          </a:p>
        </p:txBody>
      </p:sp>
      <p:sp>
        <p:nvSpPr>
          <p:cNvPr id="13" name="TextBox 12"/>
          <p:cNvSpPr txBox="1"/>
          <p:nvPr/>
        </p:nvSpPr>
        <p:spPr>
          <a:xfrm>
            <a:off x="4892040" y="260604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Accuracy</a:t>
            </a:r>
          </a:p>
        </p:txBody>
      </p:sp>
      <p:sp>
        <p:nvSpPr>
          <p:cNvPr id="14" name="TextBox 13"/>
          <p:cNvSpPr txBox="1"/>
          <p:nvPr/>
        </p:nvSpPr>
        <p:spPr>
          <a:xfrm>
            <a:off x="6812280" y="260604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242852"/>
                </a:solidFill>
                <a:latin typeface="Arial"/>
              </a:rPr>
              <a:t>98,0 %</a:t>
            </a:r>
          </a:p>
        </p:txBody>
      </p:sp>
      <p:sp>
        <p:nvSpPr>
          <p:cNvPr id="15" name="TextBox 14"/>
          <p:cNvSpPr txBox="1"/>
          <p:nvPr/>
        </p:nvSpPr>
        <p:spPr>
          <a:xfrm>
            <a:off x="4892040" y="333756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Fraudes detectados</a:t>
            </a:r>
          </a:p>
        </p:txBody>
      </p:sp>
      <p:sp>
        <p:nvSpPr>
          <p:cNvPr id="16" name="TextBox 15"/>
          <p:cNvSpPr txBox="1"/>
          <p:nvPr/>
        </p:nvSpPr>
        <p:spPr>
          <a:xfrm>
            <a:off x="6812280" y="333756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D7263D"/>
                </a:solidFill>
                <a:latin typeface="Arial"/>
              </a:rPr>
              <a:t>0 de 20</a:t>
            </a:r>
          </a:p>
        </p:txBody>
      </p:sp>
      <p:sp>
        <p:nvSpPr>
          <p:cNvPr id="17" name="TextBox 16"/>
          <p:cNvSpPr txBox="1"/>
          <p:nvPr/>
        </p:nvSpPr>
        <p:spPr>
          <a:xfrm>
            <a:off x="4892040" y="4069080"/>
            <a:ext cx="2011680" cy="548640"/>
          </a:xfrm>
          <a:prstGeom prst="rect">
            <a:avLst/>
          </a:prstGeom>
          <a:noFill/>
        </p:spPr>
        <p:txBody>
          <a:bodyPr wrap="square" anchor="ctr" lIns="36576" rIns="36576" tIns="36576" bIns="36576">
            <a:spAutoFit/>
          </a:bodyPr>
          <a:lstStyle/>
          <a:p>
            <a:pPr algn="l">
              <a:spcAft>
                <a:spcPts val="400"/>
              </a:spcAft>
            </a:pPr>
            <a:r>
              <a:rPr sz="1300" b="0" i="0">
                <a:solidFill>
                  <a:srgbClr val="2B2B2B"/>
                </a:solidFill>
                <a:latin typeface="Arial"/>
              </a:rPr>
              <a:t>F1</a:t>
            </a:r>
          </a:p>
        </p:txBody>
      </p:sp>
      <p:sp>
        <p:nvSpPr>
          <p:cNvPr id="18" name="TextBox 17"/>
          <p:cNvSpPr txBox="1"/>
          <p:nvPr/>
        </p:nvSpPr>
        <p:spPr>
          <a:xfrm>
            <a:off x="6812280" y="4069080"/>
            <a:ext cx="1554480" cy="548640"/>
          </a:xfrm>
          <a:prstGeom prst="rect">
            <a:avLst/>
          </a:prstGeom>
          <a:noFill/>
        </p:spPr>
        <p:txBody>
          <a:bodyPr wrap="square" anchor="ctr" lIns="36576" rIns="36576" tIns="36576" bIns="36576">
            <a:spAutoFit/>
          </a:bodyPr>
          <a:lstStyle/>
          <a:p>
            <a:pPr algn="r">
              <a:spcAft>
                <a:spcPts val="400"/>
              </a:spcAft>
            </a:pPr>
            <a:r>
              <a:rPr sz="2000" b="1" i="0">
                <a:solidFill>
                  <a:srgbClr val="D7263D"/>
                </a:solidFill>
                <a:latin typeface="Arial"/>
              </a:rPr>
              <a:t>0,000</a:t>
            </a:r>
          </a:p>
        </p:txBody>
      </p:sp>
      <p:sp>
        <p:nvSpPr>
          <p:cNvPr id="19" name="Rounded Rectangle 18"/>
          <p:cNvSpPr/>
          <p:nvPr/>
        </p:nvSpPr>
        <p:spPr>
          <a:xfrm>
            <a:off x="731520" y="512064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D7263D"/>
                </a:solidFill>
                <a:latin typeface="Arial"/>
              </a:rPr>
              <a:t>Más Accuracy, cero fraudes. </a:t>
            </a:r>
            <a:r>
              <a:rPr sz="1300" b="0" i="0">
                <a:solidFill>
                  <a:srgbClr val="2B2B2B"/>
                </a:solidFill>
                <a:latin typeface="Arial"/>
              </a:rPr>
              <a:t>Con clases desbalanceadas, Accuracy premia ignorar la clase rara.</a:t>
            </a:r>
          </a:p>
        </p:txBody>
      </p:sp>
      <p:sp>
        <p:nvSpPr>
          <p:cNvPr id="20" name="Rounded Rectangle 19"/>
          <p:cNvSpPr/>
          <p:nvPr/>
        </p:nvSpPr>
        <p:spPr>
          <a:xfrm>
            <a:off x="731520" y="5806440"/>
            <a:ext cx="7772400" cy="50292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eso: </a:t>
            </a:r>
            <a:r>
              <a:rPr sz="1200" b="0" i="0">
                <a:solidFill>
                  <a:srgbClr val="2B2B2B"/>
                </a:solidFill>
                <a:latin typeface="Arial"/>
              </a:rPr>
              <a:t>en fraude miramos Recall, Precision y F1, además del costo de cada error.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F1: la métrica para todo problema de clasificación</a:t>
            </a:r>
          </a:p>
        </p:txBody>
      </p:sp>
      <p:sp>
        <p:nvSpPr>
          <p:cNvPr id="3" name="Rounded Rectangle 2"/>
          <p:cNvSpPr/>
          <p:nvPr/>
        </p:nvSpPr>
        <p:spPr>
          <a:xfrm>
            <a:off x="731520" y="1965960"/>
            <a:ext cx="2487168" cy="21031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2258568" cy="502920"/>
          </a:xfrm>
          <a:prstGeom prst="rect">
            <a:avLst/>
          </a:prstGeom>
          <a:noFill/>
        </p:spPr>
        <p:txBody>
          <a:bodyPr wrap="square" anchor="ctr" lIns="36576" rIns="36576" tIns="36576" bIns="36576">
            <a:spAutoFit/>
          </a:bodyPr>
          <a:lstStyle/>
          <a:p>
            <a:pPr algn="l">
              <a:spcAft>
                <a:spcPts val="400"/>
              </a:spcAft>
            </a:pPr>
            <a:r>
              <a:rPr sz="1350" b="1" i="0">
                <a:solidFill>
                  <a:srgbClr val="242852"/>
                </a:solidFill>
                <a:latin typeface="Arial"/>
              </a:rPr>
              <a:t>¿Qué es?</a:t>
            </a:r>
          </a:p>
        </p:txBody>
      </p:sp>
      <p:sp>
        <p:nvSpPr>
          <p:cNvPr id="5" name="TextBox 4"/>
          <p:cNvSpPr txBox="1"/>
          <p:nvPr/>
        </p:nvSpPr>
        <p:spPr>
          <a:xfrm>
            <a:off x="868680" y="2624328"/>
            <a:ext cx="2212848" cy="137159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Un número de 0 a 1 que resume Precision y Recall. Solo es alto si ambas son altas.</a:t>
            </a:r>
          </a:p>
        </p:txBody>
      </p:sp>
      <p:sp>
        <p:nvSpPr>
          <p:cNvPr id="6" name="Rounded Rectangle 5"/>
          <p:cNvSpPr/>
          <p:nvPr/>
        </p:nvSpPr>
        <p:spPr>
          <a:xfrm>
            <a:off x="3355848" y="1965960"/>
            <a:ext cx="2487168" cy="21031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3493008" y="2075688"/>
            <a:ext cx="2258568" cy="502920"/>
          </a:xfrm>
          <a:prstGeom prst="rect">
            <a:avLst/>
          </a:prstGeom>
          <a:noFill/>
        </p:spPr>
        <p:txBody>
          <a:bodyPr wrap="square" anchor="ctr" lIns="36576" rIns="36576" tIns="36576" bIns="36576">
            <a:spAutoFit/>
          </a:bodyPr>
          <a:lstStyle/>
          <a:p>
            <a:pPr algn="l">
              <a:spcAft>
                <a:spcPts val="400"/>
              </a:spcAft>
            </a:pPr>
            <a:r>
              <a:rPr sz="1350" b="1" i="0">
                <a:solidFill>
                  <a:srgbClr val="2A9D8F"/>
                </a:solidFill>
                <a:latin typeface="Arial"/>
              </a:rPr>
              <a:t>¿Por qué con desbalance?</a:t>
            </a:r>
          </a:p>
        </p:txBody>
      </p:sp>
      <p:sp>
        <p:nvSpPr>
          <p:cNvPr id="8" name="TextBox 7"/>
          <p:cNvSpPr txBox="1"/>
          <p:nvPr/>
        </p:nvSpPr>
        <p:spPr>
          <a:xfrm>
            <a:off x="3493008" y="2624328"/>
            <a:ext cx="2212848" cy="137159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No usa los VN: las normales bien aceptadas no lo inflan. «Siempre normal» → F1 = 0.</a:t>
            </a:r>
          </a:p>
        </p:txBody>
      </p:sp>
      <p:sp>
        <p:nvSpPr>
          <p:cNvPr id="9" name="Rounded Rectangle 8"/>
          <p:cNvSpPr/>
          <p:nvPr/>
        </p:nvSpPr>
        <p:spPr>
          <a:xfrm>
            <a:off x="5989320" y="1965960"/>
            <a:ext cx="2514600" cy="21031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126480" y="2075688"/>
            <a:ext cx="2286000" cy="502920"/>
          </a:xfrm>
          <a:prstGeom prst="rect">
            <a:avLst/>
          </a:prstGeom>
          <a:noFill/>
        </p:spPr>
        <p:txBody>
          <a:bodyPr wrap="square" anchor="ctr" lIns="36576" rIns="36576" tIns="36576" bIns="36576">
            <a:spAutoFit/>
          </a:bodyPr>
          <a:lstStyle/>
          <a:p>
            <a:pPr algn="l">
              <a:spcAft>
                <a:spcPts val="400"/>
              </a:spcAft>
            </a:pPr>
            <a:r>
              <a:rPr sz="1350" b="1" i="0">
                <a:solidFill>
                  <a:srgbClr val="D7263D"/>
                </a:solidFill>
                <a:latin typeface="Arial"/>
              </a:rPr>
              <a:t>¿Para qué la usaremos?</a:t>
            </a:r>
          </a:p>
        </p:txBody>
      </p:sp>
      <p:sp>
        <p:nvSpPr>
          <p:cNvPr id="11" name="TextBox 10"/>
          <p:cNvSpPr txBox="1"/>
          <p:nvPr/>
        </p:nvSpPr>
        <p:spPr>
          <a:xfrm>
            <a:off x="6126480" y="2624328"/>
            <a:ext cx="2240280" cy="137159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Elegir hiperparámetros y comparar modelos en Validation: árbol, bosque, KNN y SVM.</a:t>
            </a:r>
          </a:p>
        </p:txBody>
      </p:sp>
      <p:sp>
        <p:nvSpPr>
          <p:cNvPr id="12" name="Rounded Rectangle 11"/>
          <p:cNvSpPr/>
          <p:nvPr/>
        </p:nvSpPr>
        <p:spPr>
          <a:xfrm>
            <a:off x="731520" y="4297680"/>
            <a:ext cx="777240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F1 = 2VP / (2VP + FP + FN)  </a:t>
            </a:r>
            <a:r>
              <a:rPr sz="1300" b="0" i="0">
                <a:solidFill>
                  <a:srgbClr val="C9D2E8"/>
                </a:solidFill>
                <a:latin typeface="Arial"/>
              </a:rPr>
              <a:t>· no aparece VN</a:t>
            </a:r>
          </a:p>
        </p:txBody>
      </p:sp>
      <p:sp>
        <p:nvSpPr>
          <p:cNvPr id="13" name="Rounded Rectangle 12"/>
          <p:cNvSpPr/>
          <p:nvPr/>
        </p:nvSpPr>
        <p:spPr>
          <a:xfrm>
            <a:off x="731520" y="539496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Hoy: </a:t>
            </a:r>
            <a:r>
              <a:rPr sz="1200" b="0" i="0">
                <a:solidFill>
                  <a:srgbClr val="2B2B2B"/>
                </a:solidFill>
                <a:latin typeface="Arial"/>
              </a:rPr>
              <a:t>PaySim (fraude), BankChurners (abandono) y Credit Risk (impago) se comparan con F1 de la clase positiva.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métrica elegir?</a:t>
            </a:r>
          </a:p>
        </p:txBody>
      </p:sp>
      <p:graphicFrame>
        <p:nvGraphicFramePr>
          <p:cNvPr id="3" name="Table 2"/>
          <p:cNvGraphicFramePr>
            <a:graphicFrameLocks noGrp="1"/>
          </p:cNvGraphicFramePr>
          <p:nvPr/>
        </p:nvGraphicFramePr>
        <p:xfrm>
          <a:off x="731520" y="2011680"/>
          <a:ext cx="7772400" cy="2743200"/>
        </p:xfrm>
        <a:graphic>
          <a:graphicData uri="http://schemas.openxmlformats.org/drawingml/2006/table">
            <a:tbl>
              <a:tblPr firstRow="1" bandRow="1">
                <a:tableStyleId>{5C22544A-7EE6-4342-B048-85BDC9FD1C3A}</a:tableStyleId>
              </a:tblPr>
              <a:tblGrid>
                <a:gridCol w="4023360"/>
                <a:gridCol w="2377440"/>
                <a:gridCol w="1371600"/>
              </a:tblGrid>
              <a:tr h="548640">
                <a:tc>
                  <a:txBody>
                    <a:bodyPr wrap="square"/>
                    <a:lstStyle/>
                    <a:p>
                      <a:pPr algn="l"/>
                      <a:r>
                        <a:rPr sz="1250" b="1" i="0">
                          <a:solidFill>
                            <a:srgbClr val="FFFFFF"/>
                          </a:solidFill>
                          <a:latin typeface="Arial"/>
                        </a:rPr>
                        <a:t>Situación</a:t>
                      </a:r>
                    </a:p>
                  </a:txBody>
                  <a:tcPr marL="64008" marR="64008" marT="27432" marB="27432" anchor="ctr">
                    <a:solidFill>
                      <a:srgbClr val="242852"/>
                    </a:solidFill>
                  </a:tcPr>
                </a:tc>
                <a:tc>
                  <a:txBody>
                    <a:bodyPr wrap="square"/>
                    <a:lstStyle/>
                    <a:p>
                      <a:pPr algn="l"/>
                      <a:r>
                        <a:rPr sz="1250" b="1" i="0">
                          <a:solidFill>
                            <a:srgbClr val="FFFFFF"/>
                          </a:solidFill>
                          <a:latin typeface="Arial"/>
                        </a:rPr>
                        <a:t>Error más costoso</a:t>
                      </a:r>
                    </a:p>
                  </a:txBody>
                  <a:tcPr marL="64008" marR="64008" marT="27432" marB="27432" anchor="ctr">
                    <a:solidFill>
                      <a:srgbClr val="242852"/>
                    </a:solidFill>
                  </a:tcPr>
                </a:tc>
                <a:tc>
                  <a:txBody>
                    <a:bodyPr wrap="square"/>
                    <a:lstStyle/>
                    <a:p>
                      <a:pPr algn="ctr"/>
                      <a:r>
                        <a:rPr sz="1250" b="1" i="0">
                          <a:solidFill>
                            <a:srgbClr val="FFFFFF"/>
                          </a:solidFill>
                          <a:latin typeface="Arial"/>
                        </a:rPr>
                        <a:t>Métrica</a:t>
                      </a:r>
                    </a:p>
                  </a:txBody>
                  <a:tcPr marL="64008" marR="64008" marT="27432" marB="27432" anchor="ctr">
                    <a:solidFill>
                      <a:srgbClr val="242852"/>
                    </a:solidFill>
                  </a:tcPr>
                </a:tc>
              </a:tr>
              <a:tr h="548640">
                <a:tc>
                  <a:txBody>
                    <a:bodyPr wrap="square"/>
                    <a:lstStyle/>
                    <a:p>
                      <a:pPr algn="l"/>
                      <a:r>
                        <a:rPr sz="1250" b="0" i="0">
                          <a:solidFill>
                            <a:srgbClr val="2B2B2B"/>
                          </a:solidFill>
                          <a:latin typeface="Arial"/>
                        </a:rPr>
                        <a:t>Fraude, impago de un crédito grande, enfermedad grave</a:t>
                      </a:r>
                    </a:p>
                  </a:txBody>
                  <a:tcPr marL="64008" marR="64008" marT="27432" marB="27432" anchor="ctr">
                    <a:solidFill>
                      <a:srgbClr val="FFFFFF"/>
                    </a:solidFill>
                  </a:tcPr>
                </a:tc>
                <a:tc>
                  <a:txBody>
                    <a:bodyPr wrap="square"/>
                    <a:lstStyle/>
                    <a:p>
                      <a:pPr algn="l"/>
                      <a:r>
                        <a:rPr sz="1250" b="0" i="0">
                          <a:solidFill>
                            <a:srgbClr val="2B2B2B"/>
                          </a:solidFill>
                          <a:latin typeface="Arial"/>
                        </a:rPr>
                        <a:t>FN: dejar pasar un positivo</a:t>
                      </a:r>
                    </a:p>
                  </a:txBody>
                  <a:tcPr marL="64008" marR="64008" marT="27432" marB="27432" anchor="ctr">
                    <a:solidFill>
                      <a:srgbClr val="FFFFFF"/>
                    </a:solidFill>
                  </a:tcPr>
                </a:tc>
                <a:tc>
                  <a:txBody>
                    <a:bodyPr wrap="square"/>
                    <a:lstStyle/>
                    <a:p>
                      <a:pPr algn="ctr"/>
                      <a:r>
                        <a:rPr sz="1250" b="1" i="0">
                          <a:solidFill>
                            <a:srgbClr val="D7263D"/>
                          </a:solidFill>
                          <a:latin typeface="Arial"/>
                        </a:rPr>
                        <a:t>Recall</a:t>
                      </a:r>
                    </a:p>
                  </a:txBody>
                  <a:tcPr marL="64008" marR="64008" marT="27432" marB="27432" anchor="ctr">
                    <a:solidFill>
                      <a:srgbClr val="FFFFFF"/>
                    </a:solidFill>
                  </a:tcPr>
                </a:tc>
              </a:tr>
              <a:tr h="548640">
                <a:tc>
                  <a:txBody>
                    <a:bodyPr wrap="square"/>
                    <a:lstStyle/>
                    <a:p>
                      <a:pPr algn="l"/>
                      <a:r>
                        <a:rPr sz="1250" b="0" i="0">
                          <a:solidFill>
                            <a:srgbClr val="2B2B2B"/>
                          </a:solidFill>
                          <a:latin typeface="Arial"/>
                        </a:rPr>
                        <a:t>Revisión manual costosa, bloquear tarjetas de buenos clientes, spam</a:t>
                      </a:r>
                    </a:p>
                  </a:txBody>
                  <a:tcPr marL="64008" marR="64008" marT="27432" marB="27432" anchor="ctr">
                    <a:solidFill>
                      <a:srgbClr val="F2F3F5"/>
                    </a:solidFill>
                  </a:tcPr>
                </a:tc>
                <a:tc>
                  <a:txBody>
                    <a:bodyPr wrap="square"/>
                    <a:lstStyle/>
                    <a:p>
                      <a:pPr algn="l"/>
                      <a:r>
                        <a:rPr sz="1250" b="0" i="0">
                          <a:solidFill>
                            <a:srgbClr val="2B2B2B"/>
                          </a:solidFill>
                          <a:latin typeface="Arial"/>
                        </a:rPr>
                        <a:t>FP: falsa alarma</a:t>
                      </a:r>
                    </a:p>
                  </a:txBody>
                  <a:tcPr marL="64008" marR="64008" marT="27432" marB="27432" anchor="ctr">
                    <a:solidFill>
                      <a:srgbClr val="F2F3F5"/>
                    </a:solidFill>
                  </a:tcPr>
                </a:tc>
                <a:tc>
                  <a:txBody>
                    <a:bodyPr wrap="square"/>
                    <a:lstStyle/>
                    <a:p>
                      <a:pPr algn="ctr"/>
                      <a:r>
                        <a:rPr sz="1250" b="1" i="0">
                          <a:solidFill>
                            <a:srgbClr val="3D5A99"/>
                          </a:solidFill>
                          <a:latin typeface="Arial"/>
                        </a:rPr>
                        <a:t>Precision</a:t>
                      </a:r>
                    </a:p>
                  </a:txBody>
                  <a:tcPr marL="64008" marR="64008" marT="27432" marB="27432" anchor="ctr">
                    <a:solidFill>
                      <a:srgbClr val="F2F3F5"/>
                    </a:solidFill>
                  </a:tcPr>
                </a:tc>
              </a:tr>
              <a:tr h="548640">
                <a:tc>
                  <a:txBody>
                    <a:bodyPr wrap="square"/>
                    <a:lstStyle/>
                    <a:p>
                      <a:pPr algn="l"/>
                      <a:r>
                        <a:rPr sz="1250" b="0" i="0">
                          <a:solidFill>
                            <a:srgbClr val="2B2B2B"/>
                          </a:solidFill>
                          <a:latin typeface="Arial"/>
                        </a:rPr>
                        <a:t>Ambos errores pesan parecido</a:t>
                      </a:r>
                    </a:p>
                  </a:txBody>
                  <a:tcPr marL="64008" marR="64008" marT="27432" marB="27432" anchor="ctr">
                    <a:solidFill>
                      <a:srgbClr val="FFFFFF"/>
                    </a:solidFill>
                  </a:tcPr>
                </a:tc>
                <a:tc>
                  <a:txBody>
                    <a:bodyPr wrap="square"/>
                    <a:lstStyle/>
                    <a:p>
                      <a:pPr algn="l"/>
                      <a:r>
                        <a:rPr sz="1250" b="0" i="0">
                          <a:solidFill>
                            <a:srgbClr val="2B2B2B"/>
                          </a:solidFill>
                          <a:latin typeface="Arial"/>
                        </a:rPr>
                        <a:t>Los dos</a:t>
                      </a:r>
                    </a:p>
                  </a:txBody>
                  <a:tcPr marL="64008" marR="64008" marT="27432" marB="27432" anchor="ctr">
                    <a:solidFill>
                      <a:srgbClr val="FFFFFF"/>
                    </a:solidFill>
                  </a:tcPr>
                </a:tc>
                <a:tc>
                  <a:txBody>
                    <a:bodyPr wrap="square"/>
                    <a:lstStyle/>
                    <a:p>
                      <a:pPr algn="ctr"/>
                      <a:r>
                        <a:rPr sz="1250" b="1" i="0">
                          <a:solidFill>
                            <a:srgbClr val="242852"/>
                          </a:solidFill>
                          <a:latin typeface="Arial"/>
                        </a:rPr>
                        <a:t>F1</a:t>
                      </a:r>
                    </a:p>
                  </a:txBody>
                  <a:tcPr marL="64008" marR="64008" marT="27432" marB="27432" anchor="ctr">
                    <a:solidFill>
                      <a:srgbClr val="FFFFFF"/>
                    </a:solidFill>
                  </a:tcPr>
                </a:tc>
              </a:tr>
              <a:tr h="548640">
                <a:tc>
                  <a:txBody>
                    <a:bodyPr wrap="square"/>
                    <a:lstStyle/>
                    <a:p>
                      <a:pPr algn="l"/>
                      <a:r>
                        <a:rPr sz="1250" b="0" i="0">
                          <a:solidFill>
                            <a:srgbClr val="2B2B2B"/>
                          </a:solidFill>
                          <a:latin typeface="Arial"/>
                        </a:rPr>
                        <a:t>Clases ≈ 50 / 50 y errores de costo parecido</a:t>
                      </a:r>
                    </a:p>
                  </a:txBody>
                  <a:tcPr marL="64008" marR="64008" marT="27432" marB="27432" anchor="ctr">
                    <a:solidFill>
                      <a:srgbClr val="F2F3F5"/>
                    </a:solidFill>
                  </a:tcPr>
                </a:tc>
                <a:tc>
                  <a:txBody>
                    <a:bodyPr wrap="square"/>
                    <a:lstStyle/>
                    <a:p>
                      <a:pPr algn="l"/>
                      <a:r>
                        <a:rPr sz="1250" b="0" i="0">
                          <a:solidFill>
                            <a:srgbClr val="2B2B2B"/>
                          </a:solidFill>
                          <a:latin typeface="Arial"/>
                        </a:rPr>
                        <a:t>Los dos</a:t>
                      </a:r>
                    </a:p>
                  </a:txBody>
                  <a:tcPr marL="64008" marR="64008" marT="27432" marB="27432" anchor="ctr">
                    <a:solidFill>
                      <a:srgbClr val="F2F3F5"/>
                    </a:solidFill>
                  </a:tcPr>
                </a:tc>
                <a:tc>
                  <a:txBody>
                    <a:bodyPr wrap="square"/>
                    <a:lstStyle/>
                    <a:p>
                      <a:pPr algn="ctr"/>
                      <a:r>
                        <a:rPr sz="1250" b="1" i="0">
                          <a:solidFill>
                            <a:srgbClr val="2A9D8F"/>
                          </a:solidFill>
                          <a:latin typeface="Arial"/>
                        </a:rPr>
                        <a:t>Accuracy</a:t>
                      </a:r>
                    </a:p>
                  </a:txBody>
                  <a:tcPr marL="64008" marR="64008" marT="27432" marB="27432" anchor="ctr">
                    <a:solidFill>
                      <a:srgbClr val="F2F3F5"/>
                    </a:solidFill>
                  </a:tcPr>
                </a:tc>
              </a:tr>
            </a:tbl>
          </a:graphicData>
        </a:graphic>
      </p:graphicFrame>
      <p:sp>
        <p:nvSpPr>
          <p:cNvPr id="4" name="Rounded Rectangle 3"/>
          <p:cNvSpPr/>
          <p:nvPr/>
        </p:nvSpPr>
        <p:spPr>
          <a:xfrm>
            <a:off x="731520" y="493776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En clase </a:t>
            </a:r>
            <a:r>
              <a:rPr sz="1200" b="0" i="0">
                <a:solidFill>
                  <a:srgbClr val="2B2B2B"/>
                </a:solidFill>
                <a:latin typeface="Arial"/>
              </a:rPr>
              <a:t>usaremos F1 para elegir modelos. En un banco real habría que traducir cada FP y cada FN a dinero o a tiempo.</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PaySim: el árbol completo y sus métricas</a:t>
            </a:r>
          </a:p>
        </p:txBody>
      </p:sp>
      <p:sp>
        <p:nvSpPr>
          <p:cNvPr id="3" name="TextBox 2"/>
          <p:cNvSpPr txBox="1"/>
          <p:nvPr/>
        </p:nvSpPr>
        <p:spPr>
          <a:xfrm>
            <a:off x="731520" y="1947672"/>
            <a:ext cx="3291839"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Árbol en Validation (15 063 transacciones)</a:t>
            </a:r>
          </a:p>
        </p:txBody>
      </p:sp>
      <p:sp>
        <p:nvSpPr>
          <p:cNvPr id="4" name="TextBox 3"/>
          <p:cNvSpPr txBox="1"/>
          <p:nvPr/>
        </p:nvSpPr>
        <p:spPr>
          <a:xfrm>
            <a:off x="192024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5" name="TextBox 4"/>
          <p:cNvSpPr txBox="1"/>
          <p:nvPr/>
        </p:nvSpPr>
        <p:spPr>
          <a:xfrm>
            <a:off x="2971800" y="2331720"/>
            <a:ext cx="105156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6" name="TextBox 5"/>
          <p:cNvSpPr txBox="1"/>
          <p:nvPr/>
        </p:nvSpPr>
        <p:spPr>
          <a:xfrm>
            <a:off x="73152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7" name="Rectangle 6"/>
          <p:cNvSpPr/>
          <p:nvPr/>
        </p:nvSpPr>
        <p:spPr>
          <a:xfrm>
            <a:off x="1920240" y="2642615"/>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13 619</a:t>
            </a:r>
          </a:p>
        </p:txBody>
      </p:sp>
      <p:sp>
        <p:nvSpPr>
          <p:cNvPr id="8" name="Rectangle 7"/>
          <p:cNvSpPr/>
          <p:nvPr/>
        </p:nvSpPr>
        <p:spPr>
          <a:xfrm>
            <a:off x="2971800" y="2642615"/>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161</a:t>
            </a:r>
          </a:p>
        </p:txBody>
      </p:sp>
      <p:sp>
        <p:nvSpPr>
          <p:cNvPr id="9" name="TextBox 8"/>
          <p:cNvSpPr txBox="1"/>
          <p:nvPr/>
        </p:nvSpPr>
        <p:spPr>
          <a:xfrm>
            <a:off x="73152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0" name="Rectangle 9"/>
          <p:cNvSpPr/>
          <p:nvPr/>
        </p:nvSpPr>
        <p:spPr>
          <a:xfrm>
            <a:off x="1920240" y="3392423"/>
            <a:ext cx="1005839"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615</a:t>
            </a:r>
          </a:p>
        </p:txBody>
      </p:sp>
      <p:sp>
        <p:nvSpPr>
          <p:cNvPr id="11" name="Rectangle 10"/>
          <p:cNvSpPr/>
          <p:nvPr/>
        </p:nvSpPr>
        <p:spPr>
          <a:xfrm>
            <a:off x="2971800" y="3392423"/>
            <a:ext cx="1005839"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668</a:t>
            </a:r>
          </a:p>
        </p:txBody>
      </p:sp>
      <p:graphicFrame>
        <p:nvGraphicFramePr>
          <p:cNvPr id="12" name="Table 11"/>
          <p:cNvGraphicFramePr>
            <a:graphicFrameLocks noGrp="1"/>
          </p:cNvGraphicFramePr>
          <p:nvPr/>
        </p:nvGraphicFramePr>
        <p:xfrm>
          <a:off x="4572000" y="2011680"/>
          <a:ext cx="3931920" cy="2057400"/>
        </p:xfrm>
        <a:graphic>
          <a:graphicData uri="http://schemas.openxmlformats.org/drawingml/2006/table">
            <a:tbl>
              <a:tblPr firstRow="1" bandRow="1">
                <a:tableStyleId>{5C22544A-7EE6-4342-B048-85BDC9FD1C3A}</a:tableStyleId>
              </a:tblPr>
              <a:tblGrid>
                <a:gridCol w="1005840"/>
                <a:gridCol w="2103120"/>
                <a:gridCol w="822960"/>
              </a:tblGrid>
              <a:tr h="411480">
                <a:tc>
                  <a:txBody>
                    <a:bodyPr wrap="square"/>
                    <a:lstStyle/>
                    <a:p>
                      <a:pPr algn="l"/>
                      <a:r>
                        <a:rPr sz="1150" b="1" i="0">
                          <a:solidFill>
                            <a:srgbClr val="FFFFFF"/>
                          </a:solidFill>
                          <a:latin typeface="Arial"/>
                        </a:rPr>
                        <a:t>Métrica</a:t>
                      </a:r>
                    </a:p>
                  </a:txBody>
                  <a:tcPr marL="64008" marR="64008" marT="27432" marB="27432" anchor="ctr">
                    <a:solidFill>
                      <a:srgbClr val="242852"/>
                    </a:solidFill>
                  </a:tcPr>
                </a:tc>
                <a:tc>
                  <a:txBody>
                    <a:bodyPr wrap="square"/>
                    <a:lstStyle/>
                    <a:p>
                      <a:pPr algn="ctr"/>
                      <a:r>
                        <a:rPr sz="1150" b="1" i="0">
                          <a:solidFill>
                            <a:srgbClr val="FFFFFF"/>
                          </a:solidFill>
                          <a:latin typeface="Arial"/>
                        </a:rPr>
                        <a:t>Cálculo</a:t>
                      </a:r>
                    </a:p>
                  </a:txBody>
                  <a:tcPr marL="64008" marR="64008" marT="27432" marB="27432" anchor="ctr">
                    <a:solidFill>
                      <a:srgbClr val="242852"/>
                    </a:solidFill>
                  </a:tcPr>
                </a:tc>
                <a:tc>
                  <a:txBody>
                    <a:bodyPr wrap="square"/>
                    <a:lstStyle/>
                    <a:p>
                      <a:pPr algn="ctr"/>
                      <a:r>
                        <a:rPr sz="1150" b="1" i="0">
                          <a:solidFill>
                            <a:srgbClr val="FFFFFF"/>
                          </a:solidFill>
                          <a:latin typeface="Arial"/>
                        </a:rPr>
                        <a:t>Valor</a:t>
                      </a:r>
                    </a:p>
                  </a:txBody>
                  <a:tcPr marL="64008" marR="64008" marT="27432" marB="27432" anchor="ctr">
                    <a:solidFill>
                      <a:srgbClr val="242852"/>
                    </a:solidFill>
                  </a:tcPr>
                </a:tc>
              </a:tr>
              <a:tr h="411480">
                <a:tc>
                  <a:txBody>
                    <a:bodyPr wrap="square"/>
                    <a:lstStyle/>
                    <a:p>
                      <a:pPr algn="l"/>
                      <a:r>
                        <a:rPr sz="1150" b="1" i="0">
                          <a:solidFill>
                            <a:srgbClr val="2B2B2B"/>
                          </a:solidFill>
                          <a:latin typeface="Arial"/>
                        </a:rPr>
                        <a:t>Accuracy</a:t>
                      </a:r>
                    </a:p>
                  </a:txBody>
                  <a:tcPr marL="64008" marR="64008" marT="27432" marB="27432" anchor="ctr">
                    <a:solidFill>
                      <a:srgbClr val="FFFFFF"/>
                    </a:solidFill>
                  </a:tcPr>
                </a:tc>
                <a:tc>
                  <a:txBody>
                    <a:bodyPr wrap="square"/>
                    <a:lstStyle/>
                    <a:p>
                      <a:pPr algn="ctr"/>
                      <a:r>
                        <a:rPr sz="1150" b="0" i="0">
                          <a:solidFill>
                            <a:srgbClr val="2B2B2B"/>
                          </a:solidFill>
                          <a:latin typeface="Arial"/>
                        </a:rPr>
                        <a:t>(668 + 13 619) / 15 063</a:t>
                      </a:r>
                    </a:p>
                  </a:txBody>
                  <a:tcPr marL="64008" marR="64008" marT="27432" marB="27432" anchor="ctr">
                    <a:solidFill>
                      <a:srgbClr val="FFFFFF"/>
                    </a:solidFill>
                  </a:tcPr>
                </a:tc>
                <a:tc>
                  <a:txBody>
                    <a:bodyPr wrap="square"/>
                    <a:lstStyle/>
                    <a:p>
                      <a:pPr algn="ctr"/>
                      <a:r>
                        <a:rPr sz="1150" b="0" i="0">
                          <a:solidFill>
                            <a:srgbClr val="2B2B2B"/>
                          </a:solidFill>
                          <a:latin typeface="Arial"/>
                        </a:rPr>
                        <a:t>0,948</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Precision</a:t>
                      </a:r>
                    </a:p>
                  </a:txBody>
                  <a:tcPr marL="64008" marR="64008" marT="27432" marB="27432" anchor="ctr">
                    <a:solidFill>
                      <a:srgbClr val="F2F3F5"/>
                    </a:solidFill>
                  </a:tcPr>
                </a:tc>
                <a:tc>
                  <a:txBody>
                    <a:bodyPr wrap="square"/>
                    <a:lstStyle/>
                    <a:p>
                      <a:pPr algn="ctr"/>
                      <a:r>
                        <a:rPr sz="1150" b="0" i="0">
                          <a:solidFill>
                            <a:srgbClr val="2B2B2B"/>
                          </a:solidFill>
                          <a:latin typeface="Arial"/>
                        </a:rPr>
                        <a:t>668 / (668 + 161)</a:t>
                      </a:r>
                    </a:p>
                  </a:txBody>
                  <a:tcPr marL="64008" marR="64008" marT="27432" marB="27432" anchor="ctr">
                    <a:solidFill>
                      <a:srgbClr val="F2F3F5"/>
                    </a:solidFill>
                  </a:tcPr>
                </a:tc>
                <a:tc>
                  <a:txBody>
                    <a:bodyPr wrap="square"/>
                    <a:lstStyle/>
                    <a:p>
                      <a:pPr algn="ctr"/>
                      <a:r>
                        <a:rPr sz="1150" b="0" i="0">
                          <a:solidFill>
                            <a:srgbClr val="2B2B2B"/>
                          </a:solidFill>
                          <a:latin typeface="Arial"/>
                        </a:rPr>
                        <a:t>0,806</a:t>
                      </a:r>
                    </a:p>
                  </a:txBody>
                  <a:tcPr marL="64008" marR="64008" marT="27432" marB="27432" anchor="ctr">
                    <a:solidFill>
                      <a:srgbClr val="F2F3F5"/>
                    </a:solidFill>
                  </a:tcPr>
                </a:tc>
              </a:tr>
              <a:tr h="411480">
                <a:tc>
                  <a:txBody>
                    <a:bodyPr wrap="square"/>
                    <a:lstStyle/>
                    <a:p>
                      <a:pPr algn="l"/>
                      <a:r>
                        <a:rPr sz="1150" b="1" i="0">
                          <a:solidFill>
                            <a:srgbClr val="2B2B2B"/>
                          </a:solidFill>
                          <a:latin typeface="Arial"/>
                        </a:rPr>
                        <a:t>Recall</a:t>
                      </a:r>
                    </a:p>
                  </a:txBody>
                  <a:tcPr marL="64008" marR="64008" marT="27432" marB="27432" anchor="ctr">
                    <a:solidFill>
                      <a:srgbClr val="FFFFFF"/>
                    </a:solidFill>
                  </a:tcPr>
                </a:tc>
                <a:tc>
                  <a:txBody>
                    <a:bodyPr wrap="square"/>
                    <a:lstStyle/>
                    <a:p>
                      <a:pPr algn="ctr"/>
                      <a:r>
                        <a:rPr sz="1150" b="0" i="0">
                          <a:solidFill>
                            <a:srgbClr val="2B2B2B"/>
                          </a:solidFill>
                          <a:latin typeface="Arial"/>
                        </a:rPr>
                        <a:t>668 / (668 + 615)</a:t>
                      </a:r>
                    </a:p>
                  </a:txBody>
                  <a:tcPr marL="64008" marR="64008" marT="27432" marB="27432" anchor="ctr">
                    <a:solidFill>
                      <a:srgbClr val="FFFFFF"/>
                    </a:solidFill>
                  </a:tcPr>
                </a:tc>
                <a:tc>
                  <a:txBody>
                    <a:bodyPr wrap="square"/>
                    <a:lstStyle/>
                    <a:p>
                      <a:pPr algn="ctr"/>
                      <a:r>
                        <a:rPr sz="1150" b="0" i="0">
                          <a:solidFill>
                            <a:srgbClr val="2B2B2B"/>
                          </a:solidFill>
                          <a:latin typeface="Arial"/>
                        </a:rPr>
                        <a:t>0,521</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F1</a:t>
                      </a:r>
                    </a:p>
                  </a:txBody>
                  <a:tcPr marL="64008" marR="64008" marT="27432" marB="27432" anchor="ctr">
                    <a:solidFill>
                      <a:srgbClr val="F2F3F5"/>
                    </a:solidFill>
                  </a:tcPr>
                </a:tc>
                <a:tc>
                  <a:txBody>
                    <a:bodyPr wrap="square"/>
                    <a:lstStyle/>
                    <a:p>
                      <a:pPr algn="ctr"/>
                      <a:r>
                        <a:rPr sz="1150" b="0" i="0">
                          <a:solidFill>
                            <a:srgbClr val="2B2B2B"/>
                          </a:solidFill>
                          <a:latin typeface="Arial"/>
                        </a:rPr>
                        <a:t>2·0,806·0,521 / 1,327</a:t>
                      </a:r>
                    </a:p>
                  </a:txBody>
                  <a:tcPr marL="64008" marR="64008" marT="27432" marB="27432" anchor="ctr">
                    <a:solidFill>
                      <a:srgbClr val="F2F3F5"/>
                    </a:solidFill>
                  </a:tcPr>
                </a:tc>
                <a:tc>
                  <a:txBody>
                    <a:bodyPr wrap="square"/>
                    <a:lstStyle/>
                    <a:p>
                      <a:pPr algn="ctr"/>
                      <a:r>
                        <a:rPr sz="1150" b="0" i="0">
                          <a:solidFill>
                            <a:srgbClr val="2B2B2B"/>
                          </a:solidFill>
                          <a:latin typeface="Arial"/>
                        </a:rPr>
                        <a:t>0,633</a:t>
                      </a:r>
                    </a:p>
                  </a:txBody>
                  <a:tcPr marL="64008" marR="64008" marT="27432" marB="27432" anchor="ctr">
                    <a:solidFill>
                      <a:srgbClr val="F2F3F5"/>
                    </a:solidFill>
                  </a:tcPr>
                </a:tc>
              </a:tr>
            </a:tbl>
          </a:graphicData>
        </a:graphic>
      </p:graphicFrame>
      <p:sp>
        <p:nvSpPr>
          <p:cNvPr id="13" name="Rounded Rectangle 12"/>
          <p:cNvSpPr/>
          <p:nvPr/>
        </p:nvSpPr>
        <p:spPr>
          <a:xfrm>
            <a:off x="731520" y="43434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Lectura: </a:t>
            </a:r>
            <a:r>
              <a:rPr sz="1200" b="0" i="0">
                <a:solidFill>
                  <a:srgbClr val="2B2B2B"/>
                </a:solidFill>
                <a:latin typeface="Arial"/>
              </a:rPr>
              <a:t>detecta la mitad de los fraudes (Recall 0,521) y, cuando avisa, acierta 8 de cada 10 veces (Precision 0,806).</a:t>
            </a:r>
          </a:p>
        </p:txBody>
      </p:sp>
      <p:sp>
        <p:nvSpPr>
          <p:cNvPr id="14" name="Rounded Rectangle 13"/>
          <p:cNvSpPr/>
          <p:nvPr/>
        </p:nvSpPr>
        <p:spPr>
          <a:xfrm>
            <a:off x="731520" y="5303520"/>
            <a:ext cx="7772400" cy="6858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No memoriza: </a:t>
            </a:r>
            <a:r>
              <a:rPr sz="1200" b="0" i="0">
                <a:solidFill>
                  <a:srgbClr val="2B2B2B"/>
                </a:solidFill>
                <a:latin typeface="Arial"/>
              </a:rPr>
              <a:t>F1 en Train 0,610 y en Validation 0,633: casi iguales. Lo que aprendió también funciona con transacciones nuevas.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PaySim: el árbol frente a las referencias</a:t>
            </a:r>
          </a:p>
        </p:txBody>
      </p:sp>
      <p:graphicFrame>
        <p:nvGraphicFramePr>
          <p:cNvPr id="3" name="Table 2"/>
          <p:cNvGraphicFramePr>
            <a:graphicFrameLocks noGrp="1"/>
          </p:cNvGraphicFramePr>
          <p:nvPr/>
        </p:nvGraphicFramePr>
        <p:xfrm>
          <a:off x="731520" y="2011680"/>
          <a:ext cx="7772400" cy="2011680"/>
        </p:xfrm>
        <a:graphic>
          <a:graphicData uri="http://schemas.openxmlformats.org/drawingml/2006/table">
            <a:tbl>
              <a:tblPr firstRow="1" bandRow="1">
                <a:tableStyleId>{5C22544A-7EE6-4342-B048-85BDC9FD1C3A}</a:tableStyleId>
              </a:tblPr>
              <a:tblGrid>
                <a:gridCol w="2743200"/>
                <a:gridCol w="914400"/>
                <a:gridCol w="1005840"/>
                <a:gridCol w="1005840"/>
                <a:gridCol w="1005840"/>
                <a:gridCol w="1097280"/>
              </a:tblGrid>
              <a:tr h="502920">
                <a:tc>
                  <a:txBody>
                    <a:bodyPr wrap="square"/>
                    <a:lstStyle/>
                    <a:p>
                      <a:pPr algn="l"/>
                      <a:r>
                        <a:rPr sz="1250" b="1" i="0">
                          <a:solidFill>
                            <a:srgbClr val="FFFFFF"/>
                          </a:solidFill>
                          <a:latin typeface="Arial"/>
                        </a:rPr>
                        <a:t>En Validation (15 063 transacciones)</a:t>
                      </a:r>
                    </a:p>
                  </a:txBody>
                  <a:tcPr marL="64008" marR="64008" marT="27432" marB="27432" anchor="ctr">
                    <a:solidFill>
                      <a:srgbClr val="242852"/>
                    </a:solidFill>
                  </a:tcPr>
                </a:tc>
                <a:tc>
                  <a:txBody>
                    <a:bodyPr wrap="square"/>
                    <a:lstStyle/>
                    <a:p>
                      <a:pPr algn="ctr"/>
                      <a:r>
                        <a:rPr sz="1250" b="1" i="0">
                          <a:solidFill>
                            <a:srgbClr val="FFFFFF"/>
                          </a:solidFill>
                          <a:latin typeface="Arial"/>
                        </a:rPr>
                        <a:t>Alertas</a:t>
                      </a:r>
                    </a:p>
                  </a:txBody>
                  <a:tcPr marL="64008" marR="64008" marT="27432" marB="27432" anchor="ctr">
                    <a:solidFill>
                      <a:srgbClr val="242852"/>
                    </a:solidFill>
                  </a:tcPr>
                </a:tc>
                <a:tc>
                  <a:txBody>
                    <a:bodyPr wrap="square"/>
                    <a:lstStyle/>
                    <a:p>
                      <a:pPr algn="ctr"/>
                      <a:r>
                        <a:rPr sz="1250" b="1" i="0">
                          <a:solidFill>
                            <a:srgbClr val="FFFFFF"/>
                          </a:solidFill>
                          <a:latin typeface="Arial"/>
                        </a:rPr>
                        <a:t>Accuracy</a:t>
                      </a:r>
                    </a:p>
                  </a:txBody>
                  <a:tcPr marL="64008" marR="64008" marT="27432" marB="27432" anchor="ctr">
                    <a:solidFill>
                      <a:srgbClr val="242852"/>
                    </a:solidFill>
                  </a:tcPr>
                </a:tc>
                <a:tc>
                  <a:txBody>
                    <a:bodyPr wrap="square"/>
                    <a:lstStyle/>
                    <a:p>
                      <a:pPr algn="ctr"/>
                      <a:r>
                        <a:rPr sz="1250" b="1" i="0">
                          <a:solidFill>
                            <a:srgbClr val="FFFFFF"/>
                          </a:solidFill>
                          <a:latin typeface="Arial"/>
                        </a:rPr>
                        <a:t>Precision</a:t>
                      </a:r>
                    </a:p>
                  </a:txBody>
                  <a:tcPr marL="64008" marR="64008" marT="27432" marB="27432" anchor="ctr">
                    <a:solidFill>
                      <a:srgbClr val="242852"/>
                    </a:solidFill>
                  </a:tcPr>
                </a:tc>
                <a:tc>
                  <a:txBody>
                    <a:bodyPr wrap="square"/>
                    <a:lstStyle/>
                    <a:p>
                      <a:pPr algn="ctr"/>
                      <a:r>
                        <a:rPr sz="1250" b="1" i="0">
                          <a:solidFill>
                            <a:srgbClr val="FFFFFF"/>
                          </a:solidFill>
                          <a:latin typeface="Arial"/>
                        </a:rPr>
                        <a:t>Recall</a:t>
                      </a:r>
                    </a:p>
                  </a:txBody>
                  <a:tcPr marL="64008" marR="64008" marT="27432" marB="27432" anchor="ctr">
                    <a:solidFill>
                      <a:srgbClr val="242852"/>
                    </a:solidFill>
                  </a:tcPr>
                </a:tc>
                <a:tc>
                  <a:txBody>
                    <a:bodyPr wrap="square"/>
                    <a:lstStyle/>
                    <a:p>
                      <a:pPr algn="ctr"/>
                      <a:r>
                        <a:rPr sz="1250" b="1" i="0">
                          <a:solidFill>
                            <a:srgbClr val="FFFFFF"/>
                          </a:solidFill>
                          <a:latin typeface="Arial"/>
                        </a:rPr>
                        <a:t>F1</a:t>
                      </a:r>
                    </a:p>
                  </a:txBody>
                  <a:tcPr marL="64008" marR="64008" marT="27432" marB="27432" anchor="ctr">
                    <a:solidFill>
                      <a:srgbClr val="242852"/>
                    </a:solidFill>
                  </a:tcPr>
                </a:tc>
              </a:tr>
              <a:tr h="502920">
                <a:tc>
                  <a:txBody>
                    <a:bodyPr wrap="square"/>
                    <a:lstStyle/>
                    <a:p>
                      <a:pPr algn="l"/>
                      <a:r>
                        <a:rPr sz="1250" b="0" i="0">
                          <a:solidFill>
                            <a:srgbClr val="2B2B2B"/>
                          </a:solidFill>
                          <a:latin typeface="Arial"/>
                        </a:rPr>
                        <a:t>Siempre «normal»</a:t>
                      </a:r>
                    </a:p>
                  </a:txBody>
                  <a:tcPr marL="64008" marR="64008" marT="27432" marB="27432" anchor="ctr">
                    <a:solidFill>
                      <a:srgbClr val="FFFFFF"/>
                    </a:solidFill>
                  </a:tcPr>
                </a:tc>
                <a:tc>
                  <a:txBody>
                    <a:bodyPr wrap="square"/>
                    <a:lstStyle/>
                    <a:p>
                      <a:pPr algn="ctr"/>
                      <a:r>
                        <a:rPr sz="1250" b="0" i="0">
                          <a:solidFill>
                            <a:srgbClr val="2B2B2B"/>
                          </a:solidFill>
                          <a:latin typeface="Arial"/>
                        </a:rPr>
                        <a:t>0</a:t>
                      </a:r>
                    </a:p>
                  </a:txBody>
                  <a:tcPr marL="64008" marR="64008" marT="27432" marB="27432" anchor="ctr">
                    <a:solidFill>
                      <a:srgbClr val="FFFFFF"/>
                    </a:solidFill>
                  </a:tcPr>
                </a:tc>
                <a:tc>
                  <a:txBody>
                    <a:bodyPr wrap="square"/>
                    <a:lstStyle/>
                    <a:p>
                      <a:pPr algn="ctr"/>
                      <a:r>
                        <a:rPr sz="1250" b="0" i="0">
                          <a:solidFill>
                            <a:srgbClr val="2B2B2B"/>
                          </a:solidFill>
                          <a:latin typeface="Arial"/>
                        </a:rPr>
                        <a:t>0,915</a:t>
                      </a:r>
                    </a:p>
                  </a:txBody>
                  <a:tcPr marL="64008" marR="64008" marT="27432" marB="27432" anchor="ctr">
                    <a:solidFill>
                      <a:srgbClr val="FFFFFF"/>
                    </a:solidFill>
                  </a:tcPr>
                </a:tc>
                <a:tc>
                  <a:txBody>
                    <a:bodyPr wrap="square"/>
                    <a:lstStyle/>
                    <a:p>
                      <a:pPr algn="ctr"/>
                      <a:r>
                        <a:rPr sz="1250" b="0" i="0">
                          <a:solidFill>
                            <a:srgbClr val="2B2B2B"/>
                          </a:solidFill>
                          <a:latin typeface="Arial"/>
                        </a:rPr>
                        <a:t>—</a:t>
                      </a:r>
                    </a:p>
                  </a:txBody>
                  <a:tcPr marL="64008" marR="64008" marT="27432" marB="27432" anchor="ctr">
                    <a:solidFill>
                      <a:srgbClr val="FFFFFF"/>
                    </a:solidFill>
                  </a:tcPr>
                </a:tc>
                <a:tc>
                  <a:txBody>
                    <a:bodyPr wrap="square"/>
                    <a:lstStyle/>
                    <a:p>
                      <a:pPr algn="ctr"/>
                      <a:r>
                        <a:rPr sz="1250" b="0" i="0">
                          <a:solidFill>
                            <a:srgbClr val="2B2B2B"/>
                          </a:solidFill>
                          <a:latin typeface="Arial"/>
                        </a:rPr>
                        <a:t>0,000</a:t>
                      </a:r>
                    </a:p>
                  </a:txBody>
                  <a:tcPr marL="64008" marR="64008" marT="27432" marB="27432" anchor="ctr">
                    <a:solidFill>
                      <a:srgbClr val="FFFFFF"/>
                    </a:solidFill>
                  </a:tcPr>
                </a:tc>
                <a:tc>
                  <a:txBody>
                    <a:bodyPr wrap="square"/>
                    <a:lstStyle/>
                    <a:p>
                      <a:pPr algn="ctr"/>
                      <a:r>
                        <a:rPr sz="1250" b="1" i="0">
                          <a:solidFill>
                            <a:srgbClr val="D7263D"/>
                          </a:solidFill>
                          <a:latin typeface="Arial"/>
                        </a:rPr>
                        <a:t>0,000</a:t>
                      </a:r>
                    </a:p>
                  </a:txBody>
                  <a:tcPr marL="64008" marR="64008" marT="27432" marB="27432" anchor="ctr">
                    <a:solidFill>
                      <a:srgbClr val="FFFFFF"/>
                    </a:solidFill>
                  </a:tcPr>
                </a:tc>
              </a:tr>
              <a:tr h="502920">
                <a:tc>
                  <a:txBody>
                    <a:bodyPr wrap="square"/>
                    <a:lstStyle/>
                    <a:p>
                      <a:pPr algn="l"/>
                      <a:r>
                        <a:rPr sz="1250" b="0" i="0">
                          <a:solidFill>
                            <a:srgbClr val="2B2B2B"/>
                          </a:solidFill>
                          <a:latin typeface="Arial"/>
                        </a:rPr>
                        <a:t>Regla isFlaggedFraud</a:t>
                      </a:r>
                    </a:p>
                  </a:txBody>
                  <a:tcPr marL="64008" marR="64008" marT="27432" marB="27432" anchor="ctr">
                    <a:solidFill>
                      <a:srgbClr val="F2F3F5"/>
                    </a:solidFill>
                  </a:tcPr>
                </a:tc>
                <a:tc>
                  <a:txBody>
                    <a:bodyPr wrap="square"/>
                    <a:lstStyle/>
                    <a:p>
                      <a:pPr algn="ctr"/>
                      <a:r>
                        <a:rPr sz="1250" b="0" i="0">
                          <a:solidFill>
                            <a:srgbClr val="2B2B2B"/>
                          </a:solidFill>
                          <a:latin typeface="Arial"/>
                        </a:rPr>
                        <a:t>5</a:t>
                      </a:r>
                    </a:p>
                  </a:txBody>
                  <a:tcPr marL="64008" marR="64008" marT="27432" marB="27432" anchor="ctr">
                    <a:solidFill>
                      <a:srgbClr val="F2F3F5"/>
                    </a:solidFill>
                  </a:tcPr>
                </a:tc>
                <a:tc>
                  <a:txBody>
                    <a:bodyPr wrap="square"/>
                    <a:lstStyle/>
                    <a:p>
                      <a:pPr algn="ctr"/>
                      <a:r>
                        <a:rPr sz="1250" b="0" i="0">
                          <a:solidFill>
                            <a:srgbClr val="2B2B2B"/>
                          </a:solidFill>
                          <a:latin typeface="Arial"/>
                        </a:rPr>
                        <a:t>0,915</a:t>
                      </a:r>
                    </a:p>
                  </a:txBody>
                  <a:tcPr marL="64008" marR="64008" marT="27432" marB="27432" anchor="ctr">
                    <a:solidFill>
                      <a:srgbClr val="F2F3F5"/>
                    </a:solidFill>
                  </a:tcPr>
                </a:tc>
                <a:tc>
                  <a:txBody>
                    <a:bodyPr wrap="square"/>
                    <a:lstStyle/>
                    <a:p>
                      <a:pPr algn="ctr"/>
                      <a:r>
                        <a:rPr sz="1250" b="0" i="0">
                          <a:solidFill>
                            <a:srgbClr val="2B2B2B"/>
                          </a:solidFill>
                          <a:latin typeface="Arial"/>
                        </a:rPr>
                        <a:t>1,000</a:t>
                      </a:r>
                    </a:p>
                  </a:txBody>
                  <a:tcPr marL="64008" marR="64008" marT="27432" marB="27432" anchor="ctr">
                    <a:solidFill>
                      <a:srgbClr val="F2F3F5"/>
                    </a:solidFill>
                  </a:tcPr>
                </a:tc>
                <a:tc>
                  <a:txBody>
                    <a:bodyPr wrap="square"/>
                    <a:lstStyle/>
                    <a:p>
                      <a:pPr algn="ctr"/>
                      <a:r>
                        <a:rPr sz="1250" b="0" i="0">
                          <a:solidFill>
                            <a:srgbClr val="2B2B2B"/>
                          </a:solidFill>
                          <a:latin typeface="Arial"/>
                        </a:rPr>
                        <a:t>0,004</a:t>
                      </a:r>
                    </a:p>
                  </a:txBody>
                  <a:tcPr marL="64008" marR="64008" marT="27432" marB="27432" anchor="ctr">
                    <a:solidFill>
                      <a:srgbClr val="F2F3F5"/>
                    </a:solidFill>
                  </a:tcPr>
                </a:tc>
                <a:tc>
                  <a:txBody>
                    <a:bodyPr wrap="square"/>
                    <a:lstStyle/>
                    <a:p>
                      <a:pPr algn="ctr"/>
                      <a:r>
                        <a:rPr sz="1250" b="1" i="0">
                          <a:solidFill>
                            <a:srgbClr val="D7263D"/>
                          </a:solidFill>
                          <a:latin typeface="Arial"/>
                        </a:rPr>
                        <a:t>0,008</a:t>
                      </a:r>
                    </a:p>
                  </a:txBody>
                  <a:tcPr marL="64008" marR="64008" marT="27432" marB="27432" anchor="ctr">
                    <a:solidFill>
                      <a:srgbClr val="F2F3F5"/>
                    </a:solidFill>
                  </a:tcPr>
                </a:tc>
              </a:tr>
              <a:tr h="502920">
                <a:tc>
                  <a:txBody>
                    <a:bodyPr wrap="square"/>
                    <a:lstStyle/>
                    <a:p>
                      <a:pPr algn="l"/>
                      <a:r>
                        <a:rPr sz="1250" b="1" i="0">
                          <a:solidFill>
                            <a:srgbClr val="2B2B2B"/>
                          </a:solidFill>
                          <a:latin typeface="Arial"/>
                        </a:rPr>
                        <a:t>Árbol (prof. 5, hoja ≥ 30)</a:t>
                      </a:r>
                    </a:p>
                  </a:txBody>
                  <a:tcPr marL="64008" marR="64008" marT="27432" marB="27432" anchor="ctr">
                    <a:solidFill>
                      <a:srgbClr val="E3F3F1"/>
                    </a:solidFill>
                  </a:tcPr>
                </a:tc>
                <a:tc>
                  <a:txBody>
                    <a:bodyPr wrap="square"/>
                    <a:lstStyle/>
                    <a:p>
                      <a:pPr algn="ctr"/>
                      <a:r>
                        <a:rPr sz="1250" b="0" i="0">
                          <a:solidFill>
                            <a:srgbClr val="2B2B2B"/>
                          </a:solidFill>
                          <a:latin typeface="Arial"/>
                        </a:rPr>
                        <a:t>829</a:t>
                      </a:r>
                    </a:p>
                  </a:txBody>
                  <a:tcPr marL="64008" marR="64008" marT="27432" marB="27432" anchor="ctr">
                    <a:solidFill>
                      <a:srgbClr val="E3F3F1"/>
                    </a:solidFill>
                  </a:tcPr>
                </a:tc>
                <a:tc>
                  <a:txBody>
                    <a:bodyPr wrap="square"/>
                    <a:lstStyle/>
                    <a:p>
                      <a:pPr algn="ctr"/>
                      <a:r>
                        <a:rPr sz="1250" b="0" i="0">
                          <a:solidFill>
                            <a:srgbClr val="2B2B2B"/>
                          </a:solidFill>
                          <a:latin typeface="Arial"/>
                        </a:rPr>
                        <a:t>0,948</a:t>
                      </a:r>
                    </a:p>
                  </a:txBody>
                  <a:tcPr marL="64008" marR="64008" marT="27432" marB="27432" anchor="ctr">
                    <a:solidFill>
                      <a:srgbClr val="E3F3F1"/>
                    </a:solidFill>
                  </a:tcPr>
                </a:tc>
                <a:tc>
                  <a:txBody>
                    <a:bodyPr wrap="square"/>
                    <a:lstStyle/>
                    <a:p>
                      <a:pPr algn="ctr"/>
                      <a:r>
                        <a:rPr sz="1250" b="0" i="0">
                          <a:solidFill>
                            <a:srgbClr val="2B2B2B"/>
                          </a:solidFill>
                          <a:latin typeface="Arial"/>
                        </a:rPr>
                        <a:t>0,806</a:t>
                      </a:r>
                    </a:p>
                  </a:txBody>
                  <a:tcPr marL="64008" marR="64008" marT="27432" marB="27432" anchor="ctr">
                    <a:solidFill>
                      <a:srgbClr val="E3F3F1"/>
                    </a:solidFill>
                  </a:tcPr>
                </a:tc>
                <a:tc>
                  <a:txBody>
                    <a:bodyPr wrap="square"/>
                    <a:lstStyle/>
                    <a:p>
                      <a:pPr algn="ctr"/>
                      <a:r>
                        <a:rPr sz="1250" b="0" i="0">
                          <a:solidFill>
                            <a:srgbClr val="2B2B2B"/>
                          </a:solidFill>
                          <a:latin typeface="Arial"/>
                        </a:rPr>
                        <a:t>0,521</a:t>
                      </a:r>
                    </a:p>
                  </a:txBody>
                  <a:tcPr marL="64008" marR="64008" marT="27432" marB="27432" anchor="ctr">
                    <a:solidFill>
                      <a:srgbClr val="E3F3F1"/>
                    </a:solidFill>
                  </a:tcPr>
                </a:tc>
                <a:tc>
                  <a:txBody>
                    <a:bodyPr wrap="square"/>
                    <a:lstStyle/>
                    <a:p>
                      <a:pPr algn="ctr"/>
                      <a:r>
                        <a:rPr sz="1250" b="1" i="0">
                          <a:solidFill>
                            <a:srgbClr val="2A9D8F"/>
                          </a:solidFill>
                          <a:latin typeface="Arial"/>
                        </a:rPr>
                        <a:t>0,633</a:t>
                      </a:r>
                    </a:p>
                  </a:txBody>
                  <a:tcPr marL="64008" marR="64008" marT="27432" marB="27432" anchor="ctr">
                    <a:solidFill>
                      <a:srgbClr val="E3F3F1"/>
                    </a:solidFill>
                  </a:tcPr>
                </a:tc>
              </a:tr>
            </a:tbl>
          </a:graphicData>
        </a:graphic>
      </p:graphicFrame>
      <p:sp>
        <p:nvSpPr>
          <p:cNvPr id="4" name="Rounded Rectangle 3"/>
          <p:cNvSpPr/>
          <p:nvPr/>
        </p:nvSpPr>
        <p:spPr>
          <a:xfrm>
            <a:off x="731520" y="42062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Accuracy: </a:t>
            </a:r>
            <a:r>
              <a:rPr sz="1200" b="0" i="0">
                <a:solidFill>
                  <a:srgbClr val="2B2B2B"/>
                </a:solidFill>
                <a:latin typeface="Arial"/>
              </a:rPr>
              <a:t>0,915 frente a 0,948, casi igual. </a:t>
            </a:r>
            <a:r>
              <a:rPr sz="1200" b="1" i="0">
                <a:solidFill>
                  <a:srgbClr val="242852"/>
                </a:solidFill>
                <a:latin typeface="Arial"/>
              </a:rPr>
              <a:t>F1: </a:t>
            </a:r>
            <a:r>
              <a:rPr sz="1200" b="0" i="0">
                <a:solidFill>
                  <a:srgbClr val="2B2B2B"/>
                </a:solidFill>
                <a:latin typeface="Arial"/>
              </a:rPr>
              <a:t>0 y 0,008 frente a 0,633, la diferencia salta a la vista.</a:t>
            </a:r>
          </a:p>
        </p:txBody>
      </p:sp>
      <p:sp>
        <p:nvSpPr>
          <p:cNvPr id="5" name="Rounded Rectangle 4"/>
          <p:cNvSpPr/>
          <p:nvPr/>
        </p:nvSpPr>
        <p:spPr>
          <a:xfrm>
            <a:off x="731520" y="5074920"/>
            <a:ext cx="7772400" cy="5943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Le ganamos a la regla actual: </a:t>
            </a:r>
            <a:r>
              <a:rPr sz="1200" b="0" i="0">
                <a:solidFill>
                  <a:srgbClr val="2B2B2B"/>
                </a:solidFill>
                <a:latin typeface="Arial"/>
              </a:rPr>
              <a:t>encontramos 668 fraudes en lugar de 5, con 161 falsas alarmas.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class_weight</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Estrategias</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Bosque</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Memorizar</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5</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Desbalance y Random Forest</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Cuatro formas de tratar el desbalance y muchos árboles que votan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class_weight: dar más peso a los fraudes</a:t>
            </a:r>
          </a:p>
        </p:txBody>
      </p:sp>
      <p:sp>
        <p:nvSpPr>
          <p:cNvPr id="3" name="TextBox 2"/>
          <p:cNvSpPr txBox="1"/>
          <p:nvPr/>
        </p:nvSpPr>
        <p:spPr>
          <a:xfrm>
            <a:off x="731520" y="1947672"/>
            <a:ext cx="3108960"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Árbol sin pesos</a:t>
            </a:r>
          </a:p>
        </p:txBody>
      </p:sp>
      <p:sp>
        <p:nvSpPr>
          <p:cNvPr id="4" name="TextBox 3"/>
          <p:cNvSpPr txBox="1"/>
          <p:nvPr/>
        </p:nvSpPr>
        <p:spPr>
          <a:xfrm>
            <a:off x="1920240" y="2331720"/>
            <a:ext cx="96012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5" name="TextBox 4"/>
          <p:cNvSpPr txBox="1"/>
          <p:nvPr/>
        </p:nvSpPr>
        <p:spPr>
          <a:xfrm>
            <a:off x="2880360" y="2331720"/>
            <a:ext cx="96012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6" name="TextBox 5"/>
          <p:cNvSpPr txBox="1"/>
          <p:nvPr/>
        </p:nvSpPr>
        <p:spPr>
          <a:xfrm>
            <a:off x="73152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7" name="Rectangle 6"/>
          <p:cNvSpPr/>
          <p:nvPr/>
        </p:nvSpPr>
        <p:spPr>
          <a:xfrm>
            <a:off x="1920240" y="2642615"/>
            <a:ext cx="914400"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13 619</a:t>
            </a:r>
          </a:p>
        </p:txBody>
      </p:sp>
      <p:sp>
        <p:nvSpPr>
          <p:cNvPr id="8" name="Rectangle 7"/>
          <p:cNvSpPr/>
          <p:nvPr/>
        </p:nvSpPr>
        <p:spPr>
          <a:xfrm>
            <a:off x="2880360" y="2642615"/>
            <a:ext cx="914400"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161</a:t>
            </a:r>
          </a:p>
        </p:txBody>
      </p:sp>
      <p:sp>
        <p:nvSpPr>
          <p:cNvPr id="9" name="TextBox 8"/>
          <p:cNvSpPr txBox="1"/>
          <p:nvPr/>
        </p:nvSpPr>
        <p:spPr>
          <a:xfrm>
            <a:off x="73152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0" name="Rectangle 9"/>
          <p:cNvSpPr/>
          <p:nvPr/>
        </p:nvSpPr>
        <p:spPr>
          <a:xfrm>
            <a:off x="1920240" y="3392423"/>
            <a:ext cx="914400"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615</a:t>
            </a:r>
          </a:p>
        </p:txBody>
      </p:sp>
      <p:sp>
        <p:nvSpPr>
          <p:cNvPr id="11" name="Rectangle 10"/>
          <p:cNvSpPr/>
          <p:nvPr/>
        </p:nvSpPr>
        <p:spPr>
          <a:xfrm>
            <a:off x="2880360" y="3392423"/>
            <a:ext cx="914400"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668</a:t>
            </a:r>
          </a:p>
        </p:txBody>
      </p:sp>
      <p:sp>
        <p:nvSpPr>
          <p:cNvPr id="12" name="TextBox 11"/>
          <p:cNvSpPr txBox="1"/>
          <p:nvPr/>
        </p:nvSpPr>
        <p:spPr>
          <a:xfrm>
            <a:off x="4663440" y="1947672"/>
            <a:ext cx="3108960" cy="347472"/>
          </a:xfrm>
          <a:prstGeom prst="rect">
            <a:avLst/>
          </a:prstGeom>
          <a:noFill/>
        </p:spPr>
        <p:txBody>
          <a:bodyPr wrap="square" anchor="t" lIns="36576" rIns="36576" tIns="36576" bIns="36576">
            <a:spAutoFit/>
          </a:bodyPr>
          <a:lstStyle/>
          <a:p>
            <a:pPr algn="ctr">
              <a:spcAft>
                <a:spcPts val="400"/>
              </a:spcAft>
            </a:pPr>
            <a:r>
              <a:rPr sz="1250" b="1" i="0">
                <a:solidFill>
                  <a:srgbClr val="242852"/>
                </a:solidFill>
                <a:latin typeface="Arial"/>
              </a:rPr>
              <a:t>Árbol balanced</a:t>
            </a:r>
          </a:p>
        </p:txBody>
      </p:sp>
      <p:sp>
        <p:nvSpPr>
          <p:cNvPr id="13" name="TextBox 12"/>
          <p:cNvSpPr txBox="1"/>
          <p:nvPr/>
        </p:nvSpPr>
        <p:spPr>
          <a:xfrm>
            <a:off x="5852159" y="2331720"/>
            <a:ext cx="96012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normal</a:t>
            </a:r>
          </a:p>
        </p:txBody>
      </p:sp>
      <p:sp>
        <p:nvSpPr>
          <p:cNvPr id="14" name="TextBox 13"/>
          <p:cNvSpPr txBox="1"/>
          <p:nvPr/>
        </p:nvSpPr>
        <p:spPr>
          <a:xfrm>
            <a:off x="6812279" y="2331720"/>
            <a:ext cx="960120" cy="292608"/>
          </a:xfrm>
          <a:prstGeom prst="rect">
            <a:avLst/>
          </a:prstGeom>
          <a:noFill/>
        </p:spPr>
        <p:txBody>
          <a:bodyPr wrap="square" anchor="t" lIns="36576" rIns="36576" tIns="36576" bIns="36576">
            <a:spAutoFit/>
          </a:bodyPr>
          <a:lstStyle/>
          <a:p>
            <a:pPr algn="ctr">
              <a:spcAft>
                <a:spcPts val="400"/>
              </a:spcAft>
            </a:pPr>
            <a:r>
              <a:rPr sz="1050" b="1" i="0">
                <a:solidFill>
                  <a:srgbClr val="5F6368"/>
                </a:solidFill>
                <a:latin typeface="Arial"/>
              </a:rPr>
              <a:t>pred. fraude</a:t>
            </a:r>
          </a:p>
        </p:txBody>
      </p:sp>
      <p:sp>
        <p:nvSpPr>
          <p:cNvPr id="15" name="TextBox 14"/>
          <p:cNvSpPr txBox="1"/>
          <p:nvPr/>
        </p:nvSpPr>
        <p:spPr>
          <a:xfrm>
            <a:off x="4663440" y="2843784"/>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normal</a:t>
            </a:r>
          </a:p>
        </p:txBody>
      </p:sp>
      <p:sp>
        <p:nvSpPr>
          <p:cNvPr id="16" name="Rectangle 15"/>
          <p:cNvSpPr/>
          <p:nvPr/>
        </p:nvSpPr>
        <p:spPr>
          <a:xfrm>
            <a:off x="5852159" y="2642615"/>
            <a:ext cx="914400"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VN</a:t>
            </a:r>
          </a:p>
          <a:p>
            <a:pPr algn="ctr">
              <a:spcAft>
                <a:spcPts val="0"/>
              </a:spcAft>
            </a:pPr>
            <a:r>
              <a:rPr sz="1600" b="1" i="0">
                <a:solidFill>
                  <a:srgbClr val="2A9D8F"/>
                </a:solidFill>
                <a:latin typeface="Arial"/>
              </a:rPr>
              <a:t>11 829</a:t>
            </a:r>
          </a:p>
        </p:txBody>
      </p:sp>
      <p:sp>
        <p:nvSpPr>
          <p:cNvPr id="17" name="Rectangle 16"/>
          <p:cNvSpPr/>
          <p:nvPr/>
        </p:nvSpPr>
        <p:spPr>
          <a:xfrm>
            <a:off x="6812279" y="2642615"/>
            <a:ext cx="914400"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FP</a:t>
            </a:r>
          </a:p>
          <a:p>
            <a:pPr algn="ctr">
              <a:spcAft>
                <a:spcPts val="0"/>
              </a:spcAft>
            </a:pPr>
            <a:r>
              <a:rPr sz="1600" b="1" i="0">
                <a:solidFill>
                  <a:srgbClr val="D7263D"/>
                </a:solidFill>
                <a:latin typeface="Arial"/>
              </a:rPr>
              <a:t>1 951</a:t>
            </a:r>
          </a:p>
        </p:txBody>
      </p:sp>
      <p:sp>
        <p:nvSpPr>
          <p:cNvPr id="18" name="TextBox 17"/>
          <p:cNvSpPr txBox="1"/>
          <p:nvPr/>
        </p:nvSpPr>
        <p:spPr>
          <a:xfrm>
            <a:off x="4663440" y="3593591"/>
            <a:ext cx="1143000" cy="365760"/>
          </a:xfrm>
          <a:prstGeom prst="rect">
            <a:avLst/>
          </a:prstGeom>
          <a:noFill/>
        </p:spPr>
        <p:txBody>
          <a:bodyPr wrap="square" anchor="t" lIns="36576" rIns="36576" tIns="36576" bIns="36576">
            <a:spAutoFit/>
          </a:bodyPr>
          <a:lstStyle/>
          <a:p>
            <a:pPr algn="r">
              <a:spcAft>
                <a:spcPts val="400"/>
              </a:spcAft>
            </a:pPr>
            <a:r>
              <a:rPr sz="1100" b="1" i="0">
                <a:solidFill>
                  <a:srgbClr val="5F6368"/>
                </a:solidFill>
                <a:latin typeface="Arial"/>
              </a:rPr>
              <a:t>real fraude</a:t>
            </a:r>
          </a:p>
        </p:txBody>
      </p:sp>
      <p:sp>
        <p:nvSpPr>
          <p:cNvPr id="19" name="Rectangle 18"/>
          <p:cNvSpPr/>
          <p:nvPr/>
        </p:nvSpPr>
        <p:spPr>
          <a:xfrm>
            <a:off x="5852159" y="3392423"/>
            <a:ext cx="914400" cy="704088"/>
          </a:xfrm>
          <a:prstGeom prst="rect">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FN</a:t>
            </a:r>
          </a:p>
          <a:p>
            <a:pPr algn="ctr">
              <a:spcAft>
                <a:spcPts val="0"/>
              </a:spcAft>
            </a:pPr>
            <a:r>
              <a:rPr sz="1600" b="1" i="0">
                <a:solidFill>
                  <a:srgbClr val="D7263D"/>
                </a:solidFill>
                <a:latin typeface="Arial"/>
              </a:rPr>
              <a:t>246</a:t>
            </a:r>
          </a:p>
        </p:txBody>
      </p:sp>
      <p:sp>
        <p:nvSpPr>
          <p:cNvPr id="20" name="Rectangle 19"/>
          <p:cNvSpPr/>
          <p:nvPr/>
        </p:nvSpPr>
        <p:spPr>
          <a:xfrm>
            <a:off x="6812279" y="3392423"/>
            <a:ext cx="914400" cy="704088"/>
          </a:xfrm>
          <a:prstGeom prst="rect">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0"/>
              </a:spcAft>
            </a:pPr>
            <a:r>
              <a:rPr sz="1000" b="0" i="0">
                <a:solidFill>
                  <a:srgbClr val="5F6368"/>
                </a:solidFill>
                <a:latin typeface="Arial"/>
              </a:rPr>
              <a:t>VP</a:t>
            </a:r>
          </a:p>
          <a:p>
            <a:pPr algn="ctr">
              <a:spcAft>
                <a:spcPts val="0"/>
              </a:spcAft>
            </a:pPr>
            <a:r>
              <a:rPr sz="1600" b="1" i="0">
                <a:solidFill>
                  <a:srgbClr val="2A9D8F"/>
                </a:solidFill>
                <a:latin typeface="Arial"/>
              </a:rPr>
              <a:t>1 037</a:t>
            </a:r>
          </a:p>
        </p:txBody>
      </p:sp>
      <p:graphicFrame>
        <p:nvGraphicFramePr>
          <p:cNvPr id="21" name="Table 20"/>
          <p:cNvGraphicFramePr>
            <a:graphicFrameLocks noGrp="1"/>
          </p:cNvGraphicFramePr>
          <p:nvPr/>
        </p:nvGraphicFramePr>
        <p:xfrm>
          <a:off x="731520" y="4224528"/>
          <a:ext cx="7772400" cy="1179576"/>
        </p:xfrm>
        <a:graphic>
          <a:graphicData uri="http://schemas.openxmlformats.org/drawingml/2006/table">
            <a:tbl>
              <a:tblPr firstRow="1" bandRow="1">
                <a:tableStyleId>{5C22544A-7EE6-4342-B048-85BDC9FD1C3A}</a:tableStyleId>
              </a:tblPr>
              <a:tblGrid>
                <a:gridCol w="1920240"/>
                <a:gridCol w="1463040"/>
                <a:gridCol w="1463040"/>
                <a:gridCol w="1463040"/>
                <a:gridCol w="1463040"/>
              </a:tblGrid>
              <a:tr h="393192">
                <a:tc>
                  <a:txBody>
                    <a:bodyPr wrap="square"/>
                    <a:lstStyle/>
                    <a:p>
                      <a:pPr algn="l"/>
                      <a:r>
                        <a:rPr sz="1250" b="1" i="0">
                          <a:solidFill>
                            <a:srgbClr val="FFFFFF"/>
                          </a:solidFill>
                          <a:latin typeface="Arial"/>
                        </a:rPr>
                        <a:t/>
                      </a:r>
                    </a:p>
                  </a:txBody>
                  <a:tcPr marL="64008" marR="64008" marT="27432" marB="27432" anchor="ctr">
                    <a:solidFill>
                      <a:srgbClr val="242852"/>
                    </a:solidFill>
                  </a:tcPr>
                </a:tc>
                <a:tc>
                  <a:txBody>
                    <a:bodyPr wrap="square"/>
                    <a:lstStyle/>
                    <a:p>
                      <a:pPr algn="ctr"/>
                      <a:r>
                        <a:rPr sz="1250" b="1" i="0">
                          <a:solidFill>
                            <a:srgbClr val="FFFFFF"/>
                          </a:solidFill>
                          <a:latin typeface="Arial"/>
                        </a:rPr>
                        <a:t>Alertas</a:t>
                      </a:r>
                    </a:p>
                  </a:txBody>
                  <a:tcPr marL="64008" marR="64008" marT="27432" marB="27432" anchor="ctr">
                    <a:solidFill>
                      <a:srgbClr val="242852"/>
                    </a:solidFill>
                  </a:tcPr>
                </a:tc>
                <a:tc>
                  <a:txBody>
                    <a:bodyPr wrap="square"/>
                    <a:lstStyle/>
                    <a:p>
                      <a:pPr algn="ctr"/>
                      <a:r>
                        <a:rPr sz="1250" b="1" i="0">
                          <a:solidFill>
                            <a:srgbClr val="FFFFFF"/>
                          </a:solidFill>
                          <a:latin typeface="Arial"/>
                        </a:rPr>
                        <a:t>Precision</a:t>
                      </a:r>
                    </a:p>
                  </a:txBody>
                  <a:tcPr marL="64008" marR="64008" marT="27432" marB="27432" anchor="ctr">
                    <a:solidFill>
                      <a:srgbClr val="242852"/>
                    </a:solidFill>
                  </a:tcPr>
                </a:tc>
                <a:tc>
                  <a:txBody>
                    <a:bodyPr wrap="square"/>
                    <a:lstStyle/>
                    <a:p>
                      <a:pPr algn="ctr"/>
                      <a:r>
                        <a:rPr sz="1250" b="1" i="0">
                          <a:solidFill>
                            <a:srgbClr val="FFFFFF"/>
                          </a:solidFill>
                          <a:latin typeface="Arial"/>
                        </a:rPr>
                        <a:t>Recall</a:t>
                      </a:r>
                    </a:p>
                  </a:txBody>
                  <a:tcPr marL="64008" marR="64008" marT="27432" marB="27432" anchor="ctr">
                    <a:solidFill>
                      <a:srgbClr val="242852"/>
                    </a:solidFill>
                  </a:tcPr>
                </a:tc>
                <a:tc>
                  <a:txBody>
                    <a:bodyPr wrap="square"/>
                    <a:lstStyle/>
                    <a:p>
                      <a:pPr algn="ctr"/>
                      <a:r>
                        <a:rPr sz="1250" b="1" i="0">
                          <a:solidFill>
                            <a:srgbClr val="FFFFFF"/>
                          </a:solidFill>
                          <a:latin typeface="Arial"/>
                        </a:rPr>
                        <a:t>F1</a:t>
                      </a:r>
                    </a:p>
                  </a:txBody>
                  <a:tcPr marL="64008" marR="64008" marT="27432" marB="27432" anchor="ctr">
                    <a:solidFill>
                      <a:srgbClr val="242852"/>
                    </a:solidFill>
                  </a:tcPr>
                </a:tc>
              </a:tr>
              <a:tr h="393192">
                <a:tc>
                  <a:txBody>
                    <a:bodyPr wrap="square"/>
                    <a:lstStyle/>
                    <a:p>
                      <a:pPr algn="l"/>
                      <a:r>
                        <a:rPr sz="1250" b="1" i="0">
                          <a:solidFill>
                            <a:srgbClr val="2B2B2B"/>
                          </a:solidFill>
                          <a:latin typeface="Arial"/>
                        </a:rPr>
                        <a:t>Sin pesos</a:t>
                      </a:r>
                    </a:p>
                  </a:txBody>
                  <a:tcPr marL="64008" marR="64008" marT="27432" marB="27432" anchor="ctr">
                    <a:solidFill>
                      <a:srgbClr val="FFFFFF"/>
                    </a:solidFill>
                  </a:tcPr>
                </a:tc>
                <a:tc>
                  <a:txBody>
                    <a:bodyPr wrap="square"/>
                    <a:lstStyle/>
                    <a:p>
                      <a:pPr algn="ctr"/>
                      <a:r>
                        <a:rPr sz="1250" b="0" i="0">
                          <a:solidFill>
                            <a:srgbClr val="2B2B2B"/>
                          </a:solidFill>
                          <a:latin typeface="Arial"/>
                        </a:rPr>
                        <a:t>829</a:t>
                      </a:r>
                    </a:p>
                  </a:txBody>
                  <a:tcPr marL="64008" marR="64008" marT="27432" marB="27432" anchor="ctr">
                    <a:solidFill>
                      <a:srgbClr val="FFFFFF"/>
                    </a:solidFill>
                  </a:tcPr>
                </a:tc>
                <a:tc>
                  <a:txBody>
                    <a:bodyPr wrap="square"/>
                    <a:lstStyle/>
                    <a:p>
                      <a:pPr algn="ctr"/>
                      <a:r>
                        <a:rPr sz="1250" b="0" i="0">
                          <a:solidFill>
                            <a:srgbClr val="2B2B2B"/>
                          </a:solidFill>
                          <a:latin typeface="Arial"/>
                        </a:rPr>
                        <a:t>0,806</a:t>
                      </a:r>
                    </a:p>
                  </a:txBody>
                  <a:tcPr marL="64008" marR="64008" marT="27432" marB="27432" anchor="ctr">
                    <a:solidFill>
                      <a:srgbClr val="FFFFFF"/>
                    </a:solidFill>
                  </a:tcPr>
                </a:tc>
                <a:tc>
                  <a:txBody>
                    <a:bodyPr wrap="square"/>
                    <a:lstStyle/>
                    <a:p>
                      <a:pPr algn="ctr"/>
                      <a:r>
                        <a:rPr sz="1250" b="0" i="0">
                          <a:solidFill>
                            <a:srgbClr val="2B2B2B"/>
                          </a:solidFill>
                          <a:latin typeface="Arial"/>
                        </a:rPr>
                        <a:t>0,521</a:t>
                      </a:r>
                    </a:p>
                  </a:txBody>
                  <a:tcPr marL="64008" marR="64008" marT="27432" marB="27432" anchor="ctr">
                    <a:solidFill>
                      <a:srgbClr val="FFFFFF"/>
                    </a:solidFill>
                  </a:tcPr>
                </a:tc>
                <a:tc>
                  <a:txBody>
                    <a:bodyPr wrap="square"/>
                    <a:lstStyle/>
                    <a:p>
                      <a:pPr algn="ctr"/>
                      <a:r>
                        <a:rPr sz="1250" b="0" i="0">
                          <a:solidFill>
                            <a:srgbClr val="2B2B2B"/>
                          </a:solidFill>
                          <a:latin typeface="Arial"/>
                        </a:rPr>
                        <a:t>0,633</a:t>
                      </a:r>
                    </a:p>
                  </a:txBody>
                  <a:tcPr marL="64008" marR="64008" marT="27432" marB="27432" anchor="ctr">
                    <a:solidFill>
                      <a:srgbClr val="FFFFFF"/>
                    </a:solidFill>
                  </a:tcPr>
                </a:tc>
              </a:tr>
              <a:tr h="393192">
                <a:tc>
                  <a:txBody>
                    <a:bodyPr wrap="square"/>
                    <a:lstStyle/>
                    <a:p>
                      <a:pPr algn="l"/>
                      <a:r>
                        <a:rPr sz="1250" b="1" i="0">
                          <a:solidFill>
                            <a:srgbClr val="2B2B2B"/>
                          </a:solidFill>
                          <a:latin typeface="Arial"/>
                        </a:rPr>
                        <a:t>Balanced</a:t>
                      </a:r>
                    </a:p>
                  </a:txBody>
                  <a:tcPr marL="64008" marR="64008" marT="27432" marB="27432" anchor="ctr">
                    <a:solidFill>
                      <a:srgbClr val="E3F3F1"/>
                    </a:solidFill>
                  </a:tcPr>
                </a:tc>
                <a:tc>
                  <a:txBody>
                    <a:bodyPr wrap="square"/>
                    <a:lstStyle/>
                    <a:p>
                      <a:pPr algn="ctr"/>
                      <a:r>
                        <a:rPr sz="1250" b="0" i="0">
                          <a:solidFill>
                            <a:srgbClr val="2B2B2B"/>
                          </a:solidFill>
                          <a:latin typeface="Arial"/>
                        </a:rPr>
                        <a:t>2 988</a:t>
                      </a:r>
                    </a:p>
                  </a:txBody>
                  <a:tcPr marL="64008" marR="64008" marT="27432" marB="27432" anchor="ctr">
                    <a:solidFill>
                      <a:srgbClr val="E3F3F1"/>
                    </a:solidFill>
                  </a:tcPr>
                </a:tc>
                <a:tc>
                  <a:txBody>
                    <a:bodyPr wrap="square"/>
                    <a:lstStyle/>
                    <a:p>
                      <a:pPr algn="ctr"/>
                      <a:r>
                        <a:rPr sz="1250" b="0" i="0">
                          <a:solidFill>
                            <a:srgbClr val="2B2B2B"/>
                          </a:solidFill>
                          <a:latin typeface="Arial"/>
                        </a:rPr>
                        <a:t>0,347</a:t>
                      </a:r>
                    </a:p>
                  </a:txBody>
                  <a:tcPr marL="64008" marR="64008" marT="27432" marB="27432" anchor="ctr">
                    <a:solidFill>
                      <a:srgbClr val="E3F3F1"/>
                    </a:solidFill>
                  </a:tcPr>
                </a:tc>
                <a:tc>
                  <a:txBody>
                    <a:bodyPr wrap="square"/>
                    <a:lstStyle/>
                    <a:p>
                      <a:pPr algn="ctr"/>
                      <a:r>
                        <a:rPr sz="1250" b="0" i="0">
                          <a:solidFill>
                            <a:srgbClr val="2B2B2B"/>
                          </a:solidFill>
                          <a:latin typeface="Arial"/>
                        </a:rPr>
                        <a:t>0,808</a:t>
                      </a:r>
                    </a:p>
                  </a:txBody>
                  <a:tcPr marL="64008" marR="64008" marT="27432" marB="27432" anchor="ctr">
                    <a:solidFill>
                      <a:srgbClr val="E3F3F1"/>
                    </a:solidFill>
                  </a:tcPr>
                </a:tc>
                <a:tc>
                  <a:txBody>
                    <a:bodyPr wrap="square"/>
                    <a:lstStyle/>
                    <a:p>
                      <a:pPr algn="ctr"/>
                      <a:r>
                        <a:rPr sz="1250" b="0" i="0">
                          <a:solidFill>
                            <a:srgbClr val="2B2B2B"/>
                          </a:solidFill>
                          <a:latin typeface="Arial"/>
                        </a:rPr>
                        <a:t>0,486</a:t>
                      </a:r>
                    </a:p>
                  </a:txBody>
                  <a:tcPr marL="64008" marR="64008" marT="27432" marB="27432" anchor="ctr">
                    <a:solidFill>
                      <a:srgbClr val="E3F3F1"/>
                    </a:solidFill>
                  </a:tcPr>
                </a:tc>
              </a:tr>
            </a:tbl>
          </a:graphicData>
        </a:graphic>
      </p:graphicFrame>
      <p:sp>
        <p:nvSpPr>
          <p:cNvPr id="22" name="Rounded Rectangle 21"/>
          <p:cNvSpPr/>
          <p:nvPr/>
        </p:nvSpPr>
        <p:spPr>
          <a:xfrm>
            <a:off x="731520" y="5532120"/>
            <a:ext cx="7772400" cy="7315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El intercambio: </a:t>
            </a:r>
            <a:r>
              <a:rPr sz="1200" b="0" i="0">
                <a:solidFill>
                  <a:srgbClr val="2B2B2B"/>
                </a:solidFill>
                <a:latin typeface="Arial"/>
              </a:rPr>
              <a:t>encuentra 1 037 fraudes en lugar de 668, a cambio de 1 951 falsas alarmas en lugar de 161. F1 baja, pero si un fraude cuesta mucho más que revisar una alerta, podría convenir.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Cuatro estrategias, la misma Validation</a:t>
            </a:r>
          </a:p>
        </p:txBody>
      </p:sp>
      <p:graphicFrame>
        <p:nvGraphicFramePr>
          <p:cNvPr id="3" name="Table 2"/>
          <p:cNvGraphicFramePr>
            <a:graphicFrameLocks noGrp="1"/>
          </p:cNvGraphicFramePr>
          <p:nvPr/>
        </p:nvGraphicFramePr>
        <p:xfrm>
          <a:off x="731520" y="2011680"/>
          <a:ext cx="7772400" cy="2377440"/>
        </p:xfrm>
        <a:graphic>
          <a:graphicData uri="http://schemas.openxmlformats.org/drawingml/2006/table">
            <a:tbl>
              <a:tblPr firstRow="1" bandRow="1">
                <a:tableStyleId>{5C22544A-7EE6-4342-B048-85BDC9FD1C3A}</a:tableStyleId>
              </a:tblPr>
              <a:tblGrid>
                <a:gridCol w="2011680"/>
                <a:gridCol w="1097280"/>
                <a:gridCol w="1280160"/>
                <a:gridCol w="822960"/>
                <a:gridCol w="868680"/>
                <a:gridCol w="822960"/>
                <a:gridCol w="868680"/>
              </a:tblGrid>
              <a:tr h="475488">
                <a:tc>
                  <a:txBody>
                    <a:bodyPr wrap="square"/>
                    <a:lstStyle/>
                    <a:p>
                      <a:pPr algn="l"/>
                      <a:r>
                        <a:rPr sz="1150" b="1" i="0">
                          <a:solidFill>
                            <a:srgbClr val="FFFFFF"/>
                          </a:solidFill>
                          <a:latin typeface="Arial"/>
                        </a:rPr>
                        <a:t>Estrategia (solo en Train)</a:t>
                      </a:r>
                    </a:p>
                  </a:txBody>
                  <a:tcPr marL="64008" marR="64008" marT="27432" marB="27432" anchor="ctr">
                    <a:solidFill>
                      <a:srgbClr val="242852"/>
                    </a:solidFill>
                  </a:tcPr>
                </a:tc>
                <a:tc>
                  <a:txBody>
                    <a:bodyPr wrap="square"/>
                    <a:lstStyle/>
                    <a:p>
                      <a:pPr algn="ctr"/>
                      <a:r>
                        <a:rPr sz="1150" b="1" i="0">
                          <a:solidFill>
                            <a:srgbClr val="FFFFFF"/>
                          </a:solidFill>
                          <a:latin typeface="Arial"/>
                        </a:rPr>
                        <a:t>Filas de Train</a:t>
                      </a:r>
                    </a:p>
                  </a:txBody>
                  <a:tcPr marL="64008" marR="64008" marT="27432" marB="27432" anchor="ctr">
                    <a:solidFill>
                      <a:srgbClr val="242852"/>
                    </a:solidFill>
                  </a:tcPr>
                </a:tc>
                <a:tc>
                  <a:txBody>
                    <a:bodyPr wrap="square"/>
                    <a:lstStyle/>
                    <a:p>
                      <a:pPr algn="ctr"/>
                      <a:r>
                        <a:rPr sz="1150" b="1" i="0">
                          <a:solidFill>
                            <a:srgbClr val="FFFFFF"/>
                          </a:solidFill>
                          <a:latin typeface="Arial"/>
                        </a:rPr>
                        <a:t>% fraude en Train</a:t>
                      </a:r>
                    </a:p>
                  </a:txBody>
                  <a:tcPr marL="64008" marR="64008" marT="27432" marB="27432" anchor="ctr">
                    <a:solidFill>
                      <a:srgbClr val="242852"/>
                    </a:solidFill>
                  </a:tcPr>
                </a:tc>
                <a:tc>
                  <a:txBody>
                    <a:bodyPr wrap="square"/>
                    <a:lstStyle/>
                    <a:p>
                      <a:pPr algn="ctr"/>
                      <a:r>
                        <a:rPr sz="1150" b="1" i="0">
                          <a:solidFill>
                            <a:srgbClr val="FFFFFF"/>
                          </a:solidFill>
                          <a:latin typeface="Arial"/>
                        </a:rPr>
                        <a:t>Alertas</a:t>
                      </a:r>
                    </a:p>
                  </a:txBody>
                  <a:tcPr marL="64008" marR="64008" marT="27432" marB="27432" anchor="ctr">
                    <a:solidFill>
                      <a:srgbClr val="242852"/>
                    </a:solidFill>
                  </a:tcPr>
                </a:tc>
                <a:tc>
                  <a:txBody>
                    <a:bodyPr wrap="square"/>
                    <a:lstStyle/>
                    <a:p>
                      <a:pPr algn="ctr"/>
                      <a:r>
                        <a:rPr sz="1150" b="1" i="0">
                          <a:solidFill>
                            <a:srgbClr val="FFFFFF"/>
                          </a:solidFill>
                          <a:latin typeface="Arial"/>
                        </a:rPr>
                        <a:t>Precision</a:t>
                      </a:r>
                    </a:p>
                  </a:txBody>
                  <a:tcPr marL="64008" marR="64008" marT="27432" marB="27432" anchor="ctr">
                    <a:solidFill>
                      <a:srgbClr val="242852"/>
                    </a:solidFill>
                  </a:tcPr>
                </a:tc>
                <a:tc>
                  <a:txBody>
                    <a:bodyPr wrap="square"/>
                    <a:lstStyle/>
                    <a:p>
                      <a:pPr algn="ctr"/>
                      <a:r>
                        <a:rPr sz="1150" b="1" i="0">
                          <a:solidFill>
                            <a:srgbClr val="FFFFFF"/>
                          </a:solidFill>
                          <a:latin typeface="Arial"/>
                        </a:rPr>
                        <a:t>Recall</a:t>
                      </a:r>
                    </a:p>
                  </a:txBody>
                  <a:tcPr marL="64008" marR="64008" marT="27432" marB="27432" anchor="ctr">
                    <a:solidFill>
                      <a:srgbClr val="242852"/>
                    </a:solidFill>
                  </a:tcPr>
                </a:tc>
                <a:tc>
                  <a:txBody>
                    <a:bodyPr wrap="square"/>
                    <a:lstStyle/>
                    <a:p>
                      <a:pPr algn="ctr"/>
                      <a:r>
                        <a:rPr sz="1150" b="1" i="0">
                          <a:solidFill>
                            <a:srgbClr val="FFFFFF"/>
                          </a:solidFill>
                          <a:latin typeface="Arial"/>
                        </a:rPr>
                        <a:t>F1</a:t>
                      </a:r>
                    </a:p>
                  </a:txBody>
                  <a:tcPr marL="64008" marR="64008" marT="27432" marB="27432" anchor="ctr">
                    <a:solidFill>
                      <a:srgbClr val="242852"/>
                    </a:solidFill>
                  </a:tcPr>
                </a:tc>
              </a:tr>
              <a:tr h="475488">
                <a:tc>
                  <a:txBody>
                    <a:bodyPr wrap="square"/>
                    <a:lstStyle/>
                    <a:p>
                      <a:pPr algn="l"/>
                      <a:r>
                        <a:rPr sz="1150" b="1" i="0">
                          <a:solidFill>
                            <a:srgbClr val="2B2B2B"/>
                          </a:solidFill>
                          <a:latin typeface="Arial"/>
                        </a:rPr>
                        <a:t>Sin balancear</a:t>
                      </a:r>
                    </a:p>
                  </a:txBody>
                  <a:tcPr marL="64008" marR="64008" marT="27432" marB="27432" anchor="ctr">
                    <a:solidFill>
                      <a:srgbClr val="FFFFFF"/>
                    </a:solidFill>
                  </a:tcPr>
                </a:tc>
                <a:tc>
                  <a:txBody>
                    <a:bodyPr wrap="square"/>
                    <a:lstStyle/>
                    <a:p>
                      <a:pPr algn="ctr"/>
                      <a:r>
                        <a:rPr sz="1150" b="0" i="0">
                          <a:solidFill>
                            <a:srgbClr val="2B2B2B"/>
                          </a:solidFill>
                          <a:latin typeface="Arial"/>
                        </a:rPr>
                        <a:t>70 126</a:t>
                      </a:r>
                    </a:p>
                  </a:txBody>
                  <a:tcPr marL="64008" marR="64008" marT="27432" marB="27432" anchor="ctr">
                    <a:solidFill>
                      <a:srgbClr val="FFFFFF"/>
                    </a:solidFill>
                  </a:tcPr>
                </a:tc>
                <a:tc>
                  <a:txBody>
                    <a:bodyPr wrap="square"/>
                    <a:lstStyle/>
                    <a:p>
                      <a:pPr algn="ctr"/>
                      <a:r>
                        <a:rPr sz="1150" b="0" i="0">
                          <a:solidFill>
                            <a:srgbClr val="2B2B2B"/>
                          </a:solidFill>
                          <a:latin typeface="Arial"/>
                        </a:rPr>
                        <a:t>8,2 %</a:t>
                      </a:r>
                    </a:p>
                  </a:txBody>
                  <a:tcPr marL="64008" marR="64008" marT="27432" marB="27432" anchor="ctr">
                    <a:solidFill>
                      <a:srgbClr val="FFFFFF"/>
                    </a:solidFill>
                  </a:tcPr>
                </a:tc>
                <a:tc>
                  <a:txBody>
                    <a:bodyPr wrap="square"/>
                    <a:lstStyle/>
                    <a:p>
                      <a:pPr algn="ctr"/>
                      <a:r>
                        <a:rPr sz="1150" b="0" i="0">
                          <a:solidFill>
                            <a:srgbClr val="2B2B2B"/>
                          </a:solidFill>
                          <a:latin typeface="Arial"/>
                        </a:rPr>
                        <a:t>829</a:t>
                      </a:r>
                    </a:p>
                  </a:txBody>
                  <a:tcPr marL="64008" marR="64008" marT="27432" marB="27432" anchor="ctr">
                    <a:solidFill>
                      <a:srgbClr val="FFFFFF"/>
                    </a:solidFill>
                  </a:tcPr>
                </a:tc>
                <a:tc>
                  <a:txBody>
                    <a:bodyPr wrap="square"/>
                    <a:lstStyle/>
                    <a:p>
                      <a:pPr algn="ctr"/>
                      <a:r>
                        <a:rPr sz="1150" b="0" i="0">
                          <a:solidFill>
                            <a:srgbClr val="2B2B2B"/>
                          </a:solidFill>
                          <a:latin typeface="Arial"/>
                        </a:rPr>
                        <a:t>0,806</a:t>
                      </a:r>
                    </a:p>
                  </a:txBody>
                  <a:tcPr marL="64008" marR="64008" marT="27432" marB="27432" anchor="ctr">
                    <a:solidFill>
                      <a:srgbClr val="FFFFFF"/>
                    </a:solidFill>
                  </a:tcPr>
                </a:tc>
                <a:tc>
                  <a:txBody>
                    <a:bodyPr wrap="square"/>
                    <a:lstStyle/>
                    <a:p>
                      <a:pPr algn="ctr"/>
                      <a:r>
                        <a:rPr sz="1150" b="0" i="0">
                          <a:solidFill>
                            <a:srgbClr val="2B2B2B"/>
                          </a:solidFill>
                          <a:latin typeface="Arial"/>
                        </a:rPr>
                        <a:t>0,521</a:t>
                      </a:r>
                    </a:p>
                  </a:txBody>
                  <a:tcPr marL="64008" marR="64008" marT="27432" marB="27432" anchor="ctr">
                    <a:solidFill>
                      <a:srgbClr val="FFFFFF"/>
                    </a:solidFill>
                  </a:tcPr>
                </a:tc>
                <a:tc>
                  <a:txBody>
                    <a:bodyPr wrap="square"/>
                    <a:lstStyle/>
                    <a:p>
                      <a:pPr algn="ctr"/>
                      <a:r>
                        <a:rPr sz="1150" b="0" i="0">
                          <a:solidFill>
                            <a:srgbClr val="2B2B2B"/>
                          </a:solidFill>
                          <a:latin typeface="Arial"/>
                        </a:rPr>
                        <a:t>0,633</a:t>
                      </a:r>
                    </a:p>
                  </a:txBody>
                  <a:tcPr marL="64008" marR="64008" marT="27432" marB="27432" anchor="ctr">
                    <a:solidFill>
                      <a:srgbClr val="FFFFFF"/>
                    </a:solidFill>
                  </a:tcPr>
                </a:tc>
              </a:tr>
              <a:tr h="475488">
                <a:tc>
                  <a:txBody>
                    <a:bodyPr wrap="square"/>
                    <a:lstStyle/>
                    <a:p>
                      <a:pPr algn="l"/>
                      <a:r>
                        <a:rPr sz="1150" b="1" i="0">
                          <a:solidFill>
                            <a:srgbClr val="2B2B2B"/>
                          </a:solidFill>
                          <a:latin typeface="Arial"/>
                        </a:rPr>
                        <a:t>class_weight balanced</a:t>
                      </a:r>
                    </a:p>
                  </a:txBody>
                  <a:tcPr marL="64008" marR="64008" marT="27432" marB="27432" anchor="ctr">
                    <a:solidFill>
                      <a:srgbClr val="F2F3F5"/>
                    </a:solidFill>
                  </a:tcPr>
                </a:tc>
                <a:tc>
                  <a:txBody>
                    <a:bodyPr wrap="square"/>
                    <a:lstStyle/>
                    <a:p>
                      <a:pPr algn="ctr"/>
                      <a:r>
                        <a:rPr sz="1150" b="0" i="0">
                          <a:solidFill>
                            <a:srgbClr val="2B2B2B"/>
                          </a:solidFill>
                          <a:latin typeface="Arial"/>
                        </a:rPr>
                        <a:t>70 126</a:t>
                      </a:r>
                    </a:p>
                  </a:txBody>
                  <a:tcPr marL="64008" marR="64008" marT="27432" marB="27432" anchor="ctr">
                    <a:solidFill>
                      <a:srgbClr val="F2F3F5"/>
                    </a:solidFill>
                  </a:tcPr>
                </a:tc>
                <a:tc>
                  <a:txBody>
                    <a:bodyPr wrap="square"/>
                    <a:lstStyle/>
                    <a:p>
                      <a:pPr algn="ctr"/>
                      <a:r>
                        <a:rPr sz="1150" b="0" i="0">
                          <a:solidFill>
                            <a:srgbClr val="2B2B2B"/>
                          </a:solidFill>
                          <a:latin typeface="Arial"/>
                        </a:rPr>
                        <a:t>8,2 % (con pesos)</a:t>
                      </a:r>
                    </a:p>
                  </a:txBody>
                  <a:tcPr marL="64008" marR="64008" marT="27432" marB="27432" anchor="ctr">
                    <a:solidFill>
                      <a:srgbClr val="F2F3F5"/>
                    </a:solidFill>
                  </a:tcPr>
                </a:tc>
                <a:tc>
                  <a:txBody>
                    <a:bodyPr wrap="square"/>
                    <a:lstStyle/>
                    <a:p>
                      <a:pPr algn="ctr"/>
                      <a:r>
                        <a:rPr sz="1150" b="0" i="0">
                          <a:solidFill>
                            <a:srgbClr val="2B2B2B"/>
                          </a:solidFill>
                          <a:latin typeface="Arial"/>
                        </a:rPr>
                        <a:t>2 988</a:t>
                      </a:r>
                    </a:p>
                  </a:txBody>
                  <a:tcPr marL="64008" marR="64008" marT="27432" marB="27432" anchor="ctr">
                    <a:solidFill>
                      <a:srgbClr val="F2F3F5"/>
                    </a:solidFill>
                  </a:tcPr>
                </a:tc>
                <a:tc>
                  <a:txBody>
                    <a:bodyPr wrap="square"/>
                    <a:lstStyle/>
                    <a:p>
                      <a:pPr algn="ctr"/>
                      <a:r>
                        <a:rPr sz="1150" b="0" i="0">
                          <a:solidFill>
                            <a:srgbClr val="2B2B2B"/>
                          </a:solidFill>
                          <a:latin typeface="Arial"/>
                        </a:rPr>
                        <a:t>0,347</a:t>
                      </a:r>
                    </a:p>
                  </a:txBody>
                  <a:tcPr marL="64008" marR="64008" marT="27432" marB="27432" anchor="ctr">
                    <a:solidFill>
                      <a:srgbClr val="F2F3F5"/>
                    </a:solidFill>
                  </a:tcPr>
                </a:tc>
                <a:tc>
                  <a:txBody>
                    <a:bodyPr wrap="square"/>
                    <a:lstStyle/>
                    <a:p>
                      <a:pPr algn="ctr"/>
                      <a:r>
                        <a:rPr sz="1150" b="0" i="0">
                          <a:solidFill>
                            <a:srgbClr val="2B2B2B"/>
                          </a:solidFill>
                          <a:latin typeface="Arial"/>
                        </a:rPr>
                        <a:t>0,808</a:t>
                      </a:r>
                    </a:p>
                  </a:txBody>
                  <a:tcPr marL="64008" marR="64008" marT="27432" marB="27432" anchor="ctr">
                    <a:solidFill>
                      <a:srgbClr val="F2F3F5"/>
                    </a:solidFill>
                  </a:tcPr>
                </a:tc>
                <a:tc>
                  <a:txBody>
                    <a:bodyPr wrap="square"/>
                    <a:lstStyle/>
                    <a:p>
                      <a:pPr algn="ctr"/>
                      <a:r>
                        <a:rPr sz="1150" b="0" i="0">
                          <a:solidFill>
                            <a:srgbClr val="2B2B2B"/>
                          </a:solidFill>
                          <a:latin typeface="Arial"/>
                        </a:rPr>
                        <a:t>0,486</a:t>
                      </a:r>
                    </a:p>
                  </a:txBody>
                  <a:tcPr marL="64008" marR="64008" marT="27432" marB="27432" anchor="ctr">
                    <a:solidFill>
                      <a:srgbClr val="F2F3F5"/>
                    </a:solidFill>
                  </a:tcPr>
                </a:tc>
              </a:tr>
              <a:tr h="475488">
                <a:tc>
                  <a:txBody>
                    <a:bodyPr wrap="square"/>
                    <a:lstStyle/>
                    <a:p>
                      <a:pPr algn="l"/>
                      <a:r>
                        <a:rPr sz="1150" b="1" i="0">
                          <a:solidFill>
                            <a:srgbClr val="2B2B2B"/>
                          </a:solidFill>
                          <a:latin typeface="Arial"/>
                        </a:rPr>
                        <a:t>Sobremuestreo</a:t>
                      </a:r>
                    </a:p>
                  </a:txBody>
                  <a:tcPr marL="64008" marR="64008" marT="27432" marB="27432" anchor="ctr">
                    <a:solidFill>
                      <a:srgbClr val="FFFFFF"/>
                    </a:solidFill>
                  </a:tcPr>
                </a:tc>
                <a:tc>
                  <a:txBody>
                    <a:bodyPr wrap="square"/>
                    <a:lstStyle/>
                    <a:p>
                      <a:pPr algn="ctr"/>
                      <a:r>
                        <a:rPr sz="1150" b="0" i="0">
                          <a:solidFill>
                            <a:srgbClr val="2B2B2B"/>
                          </a:solidFill>
                          <a:latin typeface="Arial"/>
                        </a:rPr>
                        <a:t>128 782</a:t>
                      </a:r>
                    </a:p>
                  </a:txBody>
                  <a:tcPr marL="64008" marR="64008" marT="27432" marB="27432" anchor="ctr">
                    <a:solidFill>
                      <a:srgbClr val="FFFFFF"/>
                    </a:solidFill>
                  </a:tcPr>
                </a:tc>
                <a:tc>
                  <a:txBody>
                    <a:bodyPr wrap="square"/>
                    <a:lstStyle/>
                    <a:p>
                      <a:pPr algn="ctr"/>
                      <a:r>
                        <a:rPr sz="1150" b="0" i="0">
                          <a:solidFill>
                            <a:srgbClr val="2B2B2B"/>
                          </a:solidFill>
                          <a:latin typeface="Arial"/>
                        </a:rPr>
                        <a:t>50 %</a:t>
                      </a:r>
                    </a:p>
                  </a:txBody>
                  <a:tcPr marL="64008" marR="64008" marT="27432" marB="27432" anchor="ctr">
                    <a:solidFill>
                      <a:srgbClr val="FFFFFF"/>
                    </a:solidFill>
                  </a:tcPr>
                </a:tc>
                <a:tc>
                  <a:txBody>
                    <a:bodyPr wrap="square"/>
                    <a:lstStyle/>
                    <a:p>
                      <a:pPr algn="ctr"/>
                      <a:r>
                        <a:rPr sz="1150" b="0" i="0">
                          <a:solidFill>
                            <a:srgbClr val="2B2B2B"/>
                          </a:solidFill>
                          <a:latin typeface="Arial"/>
                        </a:rPr>
                        <a:t>3 351</a:t>
                      </a:r>
                    </a:p>
                  </a:txBody>
                  <a:tcPr marL="64008" marR="64008" marT="27432" marB="27432" anchor="ctr">
                    <a:solidFill>
                      <a:srgbClr val="FFFFFF"/>
                    </a:solidFill>
                  </a:tcPr>
                </a:tc>
                <a:tc>
                  <a:txBody>
                    <a:bodyPr wrap="square"/>
                    <a:lstStyle/>
                    <a:p>
                      <a:pPr algn="ctr"/>
                      <a:r>
                        <a:rPr sz="1150" b="0" i="0">
                          <a:solidFill>
                            <a:srgbClr val="2B2B2B"/>
                          </a:solidFill>
                          <a:latin typeface="Arial"/>
                        </a:rPr>
                        <a:t>0,317</a:t>
                      </a:r>
                    </a:p>
                  </a:txBody>
                  <a:tcPr marL="64008" marR="64008" marT="27432" marB="27432" anchor="ctr">
                    <a:solidFill>
                      <a:srgbClr val="FFFFFF"/>
                    </a:solidFill>
                  </a:tcPr>
                </a:tc>
                <a:tc>
                  <a:txBody>
                    <a:bodyPr wrap="square"/>
                    <a:lstStyle/>
                    <a:p>
                      <a:pPr algn="ctr"/>
                      <a:r>
                        <a:rPr sz="1150" b="0" i="0">
                          <a:solidFill>
                            <a:srgbClr val="2B2B2B"/>
                          </a:solidFill>
                          <a:latin typeface="Arial"/>
                        </a:rPr>
                        <a:t>0,829</a:t>
                      </a:r>
                    </a:p>
                  </a:txBody>
                  <a:tcPr marL="64008" marR="64008" marT="27432" marB="27432" anchor="ctr">
                    <a:solidFill>
                      <a:srgbClr val="FFFFFF"/>
                    </a:solidFill>
                  </a:tcPr>
                </a:tc>
                <a:tc>
                  <a:txBody>
                    <a:bodyPr wrap="square"/>
                    <a:lstStyle/>
                    <a:p>
                      <a:pPr algn="ctr"/>
                      <a:r>
                        <a:rPr sz="1150" b="0" i="0">
                          <a:solidFill>
                            <a:srgbClr val="2B2B2B"/>
                          </a:solidFill>
                          <a:latin typeface="Arial"/>
                        </a:rPr>
                        <a:t>0,459</a:t>
                      </a:r>
                    </a:p>
                  </a:txBody>
                  <a:tcPr marL="64008" marR="64008" marT="27432" marB="27432" anchor="ctr">
                    <a:solidFill>
                      <a:srgbClr val="FFFFFF"/>
                    </a:solidFill>
                  </a:tcPr>
                </a:tc>
              </a:tr>
              <a:tr h="475488">
                <a:tc>
                  <a:txBody>
                    <a:bodyPr wrap="square"/>
                    <a:lstStyle/>
                    <a:p>
                      <a:pPr algn="l"/>
                      <a:r>
                        <a:rPr sz="1150" b="1" i="0">
                          <a:solidFill>
                            <a:srgbClr val="2B2B2B"/>
                          </a:solidFill>
                          <a:latin typeface="Arial"/>
                        </a:rPr>
                        <a:t>Submuestreo</a:t>
                      </a:r>
                    </a:p>
                  </a:txBody>
                  <a:tcPr marL="64008" marR="64008" marT="27432" marB="27432" anchor="ctr">
                    <a:solidFill>
                      <a:srgbClr val="F2F3F5"/>
                    </a:solidFill>
                  </a:tcPr>
                </a:tc>
                <a:tc>
                  <a:txBody>
                    <a:bodyPr wrap="square"/>
                    <a:lstStyle/>
                    <a:p>
                      <a:pPr algn="ctr"/>
                      <a:r>
                        <a:rPr sz="1150" b="0" i="0">
                          <a:solidFill>
                            <a:srgbClr val="2B2B2B"/>
                          </a:solidFill>
                          <a:latin typeface="Arial"/>
                        </a:rPr>
                        <a:t>11 470</a:t>
                      </a:r>
                    </a:p>
                  </a:txBody>
                  <a:tcPr marL="64008" marR="64008" marT="27432" marB="27432" anchor="ctr">
                    <a:solidFill>
                      <a:srgbClr val="F2F3F5"/>
                    </a:solidFill>
                  </a:tcPr>
                </a:tc>
                <a:tc>
                  <a:txBody>
                    <a:bodyPr wrap="square"/>
                    <a:lstStyle/>
                    <a:p>
                      <a:pPr algn="ctr"/>
                      <a:r>
                        <a:rPr sz="1150" b="0" i="0">
                          <a:solidFill>
                            <a:srgbClr val="2B2B2B"/>
                          </a:solidFill>
                          <a:latin typeface="Arial"/>
                        </a:rPr>
                        <a:t>50 %</a:t>
                      </a:r>
                    </a:p>
                  </a:txBody>
                  <a:tcPr marL="64008" marR="64008" marT="27432" marB="27432" anchor="ctr">
                    <a:solidFill>
                      <a:srgbClr val="F2F3F5"/>
                    </a:solidFill>
                  </a:tcPr>
                </a:tc>
                <a:tc>
                  <a:txBody>
                    <a:bodyPr wrap="square"/>
                    <a:lstStyle/>
                    <a:p>
                      <a:pPr algn="ctr"/>
                      <a:r>
                        <a:rPr sz="1150" b="0" i="0">
                          <a:solidFill>
                            <a:srgbClr val="2B2B2B"/>
                          </a:solidFill>
                          <a:latin typeface="Arial"/>
                        </a:rPr>
                        <a:t>2 247</a:t>
                      </a:r>
                    </a:p>
                  </a:txBody>
                  <a:tcPr marL="64008" marR="64008" marT="27432" marB="27432" anchor="ctr">
                    <a:solidFill>
                      <a:srgbClr val="F2F3F5"/>
                    </a:solidFill>
                  </a:tcPr>
                </a:tc>
                <a:tc>
                  <a:txBody>
                    <a:bodyPr wrap="square"/>
                    <a:lstStyle/>
                    <a:p>
                      <a:pPr algn="ctr"/>
                      <a:r>
                        <a:rPr sz="1150" b="0" i="0">
                          <a:solidFill>
                            <a:srgbClr val="2B2B2B"/>
                          </a:solidFill>
                          <a:latin typeface="Arial"/>
                        </a:rPr>
                        <a:t>0,427</a:t>
                      </a:r>
                    </a:p>
                  </a:txBody>
                  <a:tcPr marL="64008" marR="64008" marT="27432" marB="27432" anchor="ctr">
                    <a:solidFill>
                      <a:srgbClr val="F2F3F5"/>
                    </a:solidFill>
                  </a:tcPr>
                </a:tc>
                <a:tc>
                  <a:txBody>
                    <a:bodyPr wrap="square"/>
                    <a:lstStyle/>
                    <a:p>
                      <a:pPr algn="ctr"/>
                      <a:r>
                        <a:rPr sz="1150" b="0" i="0">
                          <a:solidFill>
                            <a:srgbClr val="2B2B2B"/>
                          </a:solidFill>
                          <a:latin typeface="Arial"/>
                        </a:rPr>
                        <a:t>0,748</a:t>
                      </a:r>
                    </a:p>
                  </a:txBody>
                  <a:tcPr marL="64008" marR="64008" marT="27432" marB="27432" anchor="ctr">
                    <a:solidFill>
                      <a:srgbClr val="F2F3F5"/>
                    </a:solidFill>
                  </a:tcPr>
                </a:tc>
                <a:tc>
                  <a:txBody>
                    <a:bodyPr wrap="square"/>
                    <a:lstStyle/>
                    <a:p>
                      <a:pPr algn="ctr"/>
                      <a:r>
                        <a:rPr sz="1150" b="0" i="0">
                          <a:solidFill>
                            <a:srgbClr val="2B2B2B"/>
                          </a:solidFill>
                          <a:latin typeface="Arial"/>
                        </a:rPr>
                        <a:t>0,544</a:t>
                      </a:r>
                    </a:p>
                  </a:txBody>
                  <a:tcPr marL="64008" marR="64008" marT="27432" marB="27432" anchor="ctr">
                    <a:solidFill>
                      <a:srgbClr val="F2F3F5"/>
                    </a:solidFill>
                  </a:tcPr>
                </a:tc>
              </a:tr>
            </a:tbl>
          </a:graphicData>
        </a:graphic>
      </p:graphicFrame>
      <p:sp>
        <p:nvSpPr>
          <p:cNvPr id="4" name="Rounded Rectangle 3"/>
          <p:cNvSpPr/>
          <p:nvPr/>
        </p:nvSpPr>
        <p:spPr>
          <a:xfrm>
            <a:off x="731520" y="45720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¿Cuál elegir? </a:t>
            </a:r>
            <a:r>
              <a:rPr sz="1200" b="0" i="0">
                <a:solidFill>
                  <a:srgbClr val="2B2B2B"/>
                </a:solidFill>
                <a:latin typeface="Arial"/>
              </a:rPr>
              <a:t>Si el costo de un fraude perdido es muy alto, una estrategia con más Recall. Si las alertas se revisan a mano y son caras, sin balancear.</a:t>
            </a:r>
          </a:p>
        </p:txBody>
      </p:sp>
      <p:sp>
        <p:nvSpPr>
          <p:cNvPr id="5" name="Rounded Rectangle 4"/>
          <p:cNvSpPr/>
          <p:nvPr/>
        </p:nvSpPr>
        <p:spPr>
          <a:xfrm>
            <a:off x="731520" y="5532120"/>
            <a:ext cx="7772400" cy="6858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Sobremuestreo </a:t>
            </a:r>
            <a:r>
              <a:rPr sz="1200" b="0" i="0">
                <a:solidFill>
                  <a:srgbClr val="2B2B2B"/>
                </a:solidFill>
                <a:latin typeface="Arial"/>
              </a:rPr>
              <a:t>repite filas: el modelo puede memorizarlas. Submuestreo es rápido pero descarta información.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Random Forest: muchos árboles que votan</a:t>
            </a:r>
          </a:p>
        </p:txBody>
      </p:sp>
      <p:sp>
        <p:nvSpPr>
          <p:cNvPr id="3" name="Rounded Rectangle 2"/>
          <p:cNvSpPr/>
          <p:nvPr/>
        </p:nvSpPr>
        <p:spPr>
          <a:xfrm>
            <a:off x="868680" y="2057400"/>
            <a:ext cx="1005840" cy="100584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1</a:t>
            </a:r>
          </a:p>
          <a:p>
            <a:pPr algn="ctr">
              <a:spcAft>
                <a:spcPts val="300"/>
              </a:spcAft>
            </a:pPr>
            <a:r>
              <a:rPr sz="1300" b="1" i="0">
                <a:solidFill>
                  <a:srgbClr val="FFFFFF"/>
                </a:solidFill>
                <a:latin typeface="Arial"/>
              </a:rPr>
              <a:t>fraude</a:t>
            </a:r>
          </a:p>
        </p:txBody>
      </p:sp>
      <p:cxnSp>
        <p:nvCxnSpPr>
          <p:cNvPr id="4" name="Connector 3"/>
          <p:cNvCxnSpPr/>
          <p:nvPr/>
        </p:nvCxnSpPr>
        <p:spPr>
          <a:xfrm>
            <a:off x="1371600" y="3063240"/>
            <a:ext cx="292608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057400" y="2057400"/>
            <a:ext cx="1005840" cy="100584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2</a:t>
            </a:r>
          </a:p>
          <a:p>
            <a:pPr algn="ctr">
              <a:spcAft>
                <a:spcPts val="300"/>
              </a:spcAft>
            </a:pPr>
            <a:r>
              <a:rPr sz="1300" b="1" i="0">
                <a:solidFill>
                  <a:srgbClr val="FFFFFF"/>
                </a:solidFill>
                <a:latin typeface="Arial"/>
              </a:rPr>
              <a:t>normal</a:t>
            </a:r>
          </a:p>
        </p:txBody>
      </p:sp>
      <p:cxnSp>
        <p:nvCxnSpPr>
          <p:cNvPr id="6" name="Connector 5"/>
          <p:cNvCxnSpPr/>
          <p:nvPr/>
        </p:nvCxnSpPr>
        <p:spPr>
          <a:xfrm>
            <a:off x="2560320" y="3063240"/>
            <a:ext cx="173736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46120" y="2057400"/>
            <a:ext cx="1005840" cy="100584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3</a:t>
            </a:r>
          </a:p>
          <a:p>
            <a:pPr algn="ctr">
              <a:spcAft>
                <a:spcPts val="300"/>
              </a:spcAft>
            </a:pPr>
            <a:r>
              <a:rPr sz="1300" b="1" i="0">
                <a:solidFill>
                  <a:srgbClr val="FFFFFF"/>
                </a:solidFill>
                <a:latin typeface="Arial"/>
              </a:rPr>
              <a:t>fraude</a:t>
            </a:r>
          </a:p>
        </p:txBody>
      </p:sp>
      <p:cxnSp>
        <p:nvCxnSpPr>
          <p:cNvPr id="8" name="Connector 7"/>
          <p:cNvCxnSpPr/>
          <p:nvPr/>
        </p:nvCxnSpPr>
        <p:spPr>
          <a:xfrm>
            <a:off x="3749039" y="3063240"/>
            <a:ext cx="548641"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34840" y="2057400"/>
            <a:ext cx="1005840" cy="100584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4</a:t>
            </a:r>
          </a:p>
          <a:p>
            <a:pPr algn="ctr">
              <a:spcAft>
                <a:spcPts val="300"/>
              </a:spcAft>
            </a:pPr>
            <a:r>
              <a:rPr sz="1300" b="1" i="0">
                <a:solidFill>
                  <a:srgbClr val="FFFFFF"/>
                </a:solidFill>
                <a:latin typeface="Arial"/>
              </a:rPr>
              <a:t>fraude</a:t>
            </a:r>
          </a:p>
        </p:txBody>
      </p:sp>
      <p:cxnSp>
        <p:nvCxnSpPr>
          <p:cNvPr id="10" name="Connector 9"/>
          <p:cNvCxnSpPr/>
          <p:nvPr/>
        </p:nvCxnSpPr>
        <p:spPr>
          <a:xfrm flipH="1">
            <a:off x="4297680" y="3063240"/>
            <a:ext cx="64008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23560" y="2057400"/>
            <a:ext cx="1005840" cy="100584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100" b="1" i="0">
                <a:solidFill>
                  <a:srgbClr val="FFFFFF"/>
                </a:solidFill>
                <a:latin typeface="Arial"/>
              </a:rPr>
              <a:t>Árbol 5</a:t>
            </a:r>
          </a:p>
          <a:p>
            <a:pPr algn="ctr">
              <a:spcAft>
                <a:spcPts val="300"/>
              </a:spcAft>
            </a:pPr>
            <a:r>
              <a:rPr sz="1300" b="1" i="0">
                <a:solidFill>
                  <a:srgbClr val="FFFFFF"/>
                </a:solidFill>
                <a:latin typeface="Arial"/>
              </a:rPr>
              <a:t>normal</a:t>
            </a:r>
          </a:p>
        </p:txBody>
      </p:sp>
      <p:cxnSp>
        <p:nvCxnSpPr>
          <p:cNvPr id="12" name="Connector 11"/>
          <p:cNvCxnSpPr/>
          <p:nvPr/>
        </p:nvCxnSpPr>
        <p:spPr>
          <a:xfrm flipH="1">
            <a:off x="4297680" y="3063240"/>
            <a:ext cx="1828800" cy="59436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108960" y="3657600"/>
            <a:ext cx="2377440" cy="8686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Mayoría: 3 contra 2</a:t>
            </a:r>
          </a:p>
          <a:p>
            <a:pPr algn="ctr">
              <a:spcAft>
                <a:spcPts val="300"/>
              </a:spcAft>
            </a:pPr>
            <a:r>
              <a:rPr sz="1700" b="1" i="0">
                <a:solidFill>
                  <a:srgbClr val="FFFFFF"/>
                </a:solidFill>
                <a:latin typeface="Arial"/>
              </a:rPr>
              <a:t>predice fraude</a:t>
            </a:r>
          </a:p>
        </p:txBody>
      </p:sp>
      <p:sp>
        <p:nvSpPr>
          <p:cNvPr id="14" name="TextBox 13"/>
          <p:cNvSpPr txBox="1"/>
          <p:nvPr/>
        </p:nvSpPr>
        <p:spPr>
          <a:xfrm>
            <a:off x="6949440" y="2194560"/>
            <a:ext cx="1554480" cy="914400"/>
          </a:xfrm>
          <a:prstGeom prst="rect">
            <a:avLst/>
          </a:prstGeom>
          <a:noFill/>
        </p:spPr>
        <p:txBody>
          <a:bodyPr wrap="square" anchor="t" lIns="36576" rIns="36576" tIns="36576" bIns="36576">
            <a:spAutoFit/>
          </a:bodyPr>
          <a:lstStyle/>
          <a:p>
            <a:pPr algn="l">
              <a:spcAft>
                <a:spcPts val="0"/>
              </a:spcAft>
            </a:pPr>
            <a:r>
              <a:rPr sz="1200" b="1" i="0">
                <a:solidFill>
                  <a:srgbClr val="242852"/>
                </a:solidFill>
                <a:latin typeface="Arial"/>
              </a:rPr>
              <a:t>Cada árbol opina</a:t>
            </a:r>
          </a:p>
          <a:p>
            <a:pPr algn="l">
              <a:spcAft>
                <a:spcPts val="0"/>
              </a:spcAft>
            </a:pPr>
            <a:r>
              <a:rPr sz="1000" b="0" i="1">
                <a:solidFill>
                  <a:srgbClr val="5F6368"/>
                </a:solidFill>
                <a:latin typeface="Arial"/>
              </a:rPr>
              <a:t>votos ilustrativos</a:t>
            </a:r>
          </a:p>
        </p:txBody>
      </p:sp>
      <p:sp>
        <p:nvSpPr>
          <p:cNvPr id="15" name="Rounded Rectangle 14"/>
          <p:cNvSpPr/>
          <p:nvPr/>
        </p:nvSpPr>
        <p:spPr>
          <a:xfrm>
            <a:off x="731520" y="4709160"/>
            <a:ext cx="379476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868680" y="48188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Regresión (Día 2)</a:t>
            </a:r>
          </a:p>
        </p:txBody>
      </p:sp>
      <p:sp>
        <p:nvSpPr>
          <p:cNvPr id="17" name="TextBox 16"/>
          <p:cNvSpPr txBox="1"/>
          <p:nvPr/>
        </p:nvSpPr>
        <p:spPr>
          <a:xfrm>
            <a:off x="868680" y="5367528"/>
            <a:ext cx="352044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árbol da un número; el bosque promedia.</a:t>
            </a:r>
          </a:p>
        </p:txBody>
      </p:sp>
      <p:sp>
        <p:nvSpPr>
          <p:cNvPr id="18" name="Rounded Rectangle 17"/>
          <p:cNvSpPr/>
          <p:nvPr/>
        </p:nvSpPr>
        <p:spPr>
          <a:xfrm>
            <a:off x="4709160" y="4709160"/>
            <a:ext cx="3794760" cy="146304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4846320" y="4818888"/>
            <a:ext cx="3566160" cy="502920"/>
          </a:xfrm>
          <a:prstGeom prst="rect">
            <a:avLst/>
          </a:prstGeom>
          <a:noFill/>
        </p:spPr>
        <p:txBody>
          <a:bodyPr wrap="square" anchor="ctr" lIns="36576" rIns="36576" tIns="36576" bIns="36576">
            <a:spAutoFit/>
          </a:bodyPr>
          <a:lstStyle/>
          <a:p>
            <a:pPr algn="l">
              <a:spcAft>
                <a:spcPts val="400"/>
              </a:spcAft>
            </a:pPr>
            <a:r>
              <a:rPr sz="1400" b="1" i="0">
                <a:solidFill>
                  <a:srgbClr val="2A9D8F"/>
                </a:solidFill>
                <a:latin typeface="Arial"/>
              </a:rPr>
              <a:t>Clasificación (hoy)</a:t>
            </a:r>
          </a:p>
        </p:txBody>
      </p:sp>
      <p:sp>
        <p:nvSpPr>
          <p:cNvPr id="20" name="TextBox 19"/>
          <p:cNvSpPr txBox="1"/>
          <p:nvPr/>
        </p:nvSpPr>
        <p:spPr>
          <a:xfrm>
            <a:off x="4846320" y="5367528"/>
            <a:ext cx="352044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árbol da una clase; el bosque cuenta votos.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Un árbol que memoriza y uno que no</a:t>
            </a:r>
          </a:p>
        </p:txBody>
      </p:sp>
      <p:graphicFrame>
        <p:nvGraphicFramePr>
          <p:cNvPr id="3" name="Table 2"/>
          <p:cNvGraphicFramePr>
            <a:graphicFrameLocks noGrp="1"/>
          </p:cNvGraphicFramePr>
          <p:nvPr/>
        </p:nvGraphicFramePr>
        <p:xfrm>
          <a:off x="731520" y="2011680"/>
          <a:ext cx="7772400" cy="2633472"/>
        </p:xfrm>
        <a:graphic>
          <a:graphicData uri="http://schemas.openxmlformats.org/drawingml/2006/table">
            <a:tbl>
              <a:tblPr firstRow="1" bandRow="1">
                <a:tableStyleId>{5C22544A-7EE6-4342-B048-85BDC9FD1C3A}</a:tableStyleId>
              </a:tblPr>
              <a:tblGrid>
                <a:gridCol w="2286000"/>
                <a:gridCol w="822960"/>
                <a:gridCol w="914400"/>
                <a:gridCol w="822960"/>
                <a:gridCol w="914400"/>
                <a:gridCol w="1097280"/>
                <a:gridCol w="914400"/>
              </a:tblGrid>
              <a:tr h="438912">
                <a:tc>
                  <a:txBody>
                    <a:bodyPr wrap="square"/>
                    <a:lstStyle/>
                    <a:p>
                      <a:pPr algn="l"/>
                      <a:r>
                        <a:rPr sz="1150" b="1" i="0">
                          <a:solidFill>
                            <a:srgbClr val="FFFFFF"/>
                          </a:solidFill>
                          <a:latin typeface="Arial"/>
                        </a:rPr>
                        <a:t>Modelo</a:t>
                      </a:r>
                    </a:p>
                  </a:txBody>
                  <a:tcPr marL="64008" marR="64008" marT="27432" marB="27432" anchor="ctr">
                    <a:solidFill>
                      <a:srgbClr val="242852"/>
                    </a:solidFill>
                  </a:tcPr>
                </a:tc>
                <a:tc>
                  <a:txBody>
                    <a:bodyPr wrap="square"/>
                    <a:lstStyle/>
                    <a:p>
                      <a:pPr algn="ctr"/>
                      <a:r>
                        <a:rPr sz="1150" b="1" i="0">
                          <a:solidFill>
                            <a:srgbClr val="FFFFFF"/>
                          </a:solidFill>
                          <a:latin typeface="Arial"/>
                        </a:rPr>
                        <a:t>Alertas</a:t>
                      </a:r>
                    </a:p>
                  </a:txBody>
                  <a:tcPr marL="64008" marR="64008" marT="27432" marB="27432" anchor="ctr">
                    <a:solidFill>
                      <a:srgbClr val="242852"/>
                    </a:solidFill>
                  </a:tcPr>
                </a:tc>
                <a:tc>
                  <a:txBody>
                    <a:bodyPr wrap="square"/>
                    <a:lstStyle/>
                    <a:p>
                      <a:pPr algn="ctr"/>
                      <a:r>
                        <a:rPr sz="1150" b="1" i="0">
                          <a:solidFill>
                            <a:srgbClr val="FFFFFF"/>
                          </a:solidFill>
                          <a:latin typeface="Arial"/>
                        </a:rPr>
                        <a:t>Precision</a:t>
                      </a:r>
                    </a:p>
                  </a:txBody>
                  <a:tcPr marL="64008" marR="64008" marT="27432" marB="27432" anchor="ctr">
                    <a:solidFill>
                      <a:srgbClr val="242852"/>
                    </a:solidFill>
                  </a:tcPr>
                </a:tc>
                <a:tc>
                  <a:txBody>
                    <a:bodyPr wrap="square"/>
                    <a:lstStyle/>
                    <a:p>
                      <a:pPr algn="ctr"/>
                      <a:r>
                        <a:rPr sz="1150" b="1" i="0">
                          <a:solidFill>
                            <a:srgbClr val="FFFFFF"/>
                          </a:solidFill>
                          <a:latin typeface="Arial"/>
                        </a:rPr>
                        <a:t>Recall</a:t>
                      </a:r>
                    </a:p>
                  </a:txBody>
                  <a:tcPr marL="64008" marR="64008" marT="27432" marB="27432" anchor="ctr">
                    <a:solidFill>
                      <a:srgbClr val="242852"/>
                    </a:solidFill>
                  </a:tcPr>
                </a:tc>
                <a:tc>
                  <a:txBody>
                    <a:bodyPr wrap="square"/>
                    <a:lstStyle/>
                    <a:p>
                      <a:pPr algn="ctr"/>
                      <a:r>
                        <a:rPr sz="1150" b="1" i="0">
                          <a:solidFill>
                            <a:srgbClr val="FFFFFF"/>
                          </a:solidFill>
                          <a:latin typeface="Arial"/>
                        </a:rPr>
                        <a:t>F1 Train</a:t>
                      </a:r>
                    </a:p>
                  </a:txBody>
                  <a:tcPr marL="64008" marR="64008" marT="27432" marB="27432" anchor="ctr">
                    <a:solidFill>
                      <a:srgbClr val="242852"/>
                    </a:solidFill>
                  </a:tcPr>
                </a:tc>
                <a:tc>
                  <a:txBody>
                    <a:bodyPr wrap="square"/>
                    <a:lstStyle/>
                    <a:p>
                      <a:pPr algn="ctr"/>
                      <a:r>
                        <a:rPr sz="1150" b="1" i="0">
                          <a:solidFill>
                            <a:srgbClr val="FFFFFF"/>
                          </a:solidFill>
                          <a:latin typeface="Arial"/>
                        </a:rPr>
                        <a:t>F1 Validation</a:t>
                      </a:r>
                    </a:p>
                  </a:txBody>
                  <a:tcPr marL="64008" marR="64008" marT="27432" marB="27432" anchor="ctr">
                    <a:solidFill>
                      <a:srgbClr val="242852"/>
                    </a:solidFill>
                  </a:tcPr>
                </a:tc>
                <a:tc>
                  <a:txBody>
                    <a:bodyPr wrap="square"/>
                    <a:lstStyle/>
                    <a:p>
                      <a:pPr algn="ctr"/>
                      <a:r>
                        <a:rPr sz="1150" b="1" i="0">
                          <a:solidFill>
                            <a:srgbClr val="FFFFFF"/>
                          </a:solidFill>
                          <a:latin typeface="Arial"/>
                        </a:rPr>
                        <a:t>Brecha</a:t>
                      </a:r>
                    </a:p>
                  </a:txBody>
                  <a:tcPr marL="64008" marR="64008" marT="27432" marB="27432" anchor="ctr">
                    <a:solidFill>
                      <a:srgbClr val="242852"/>
                    </a:solidFill>
                  </a:tcPr>
                </a:tc>
              </a:tr>
              <a:tr h="438912">
                <a:tc>
                  <a:txBody>
                    <a:bodyPr wrap="square"/>
                    <a:lstStyle/>
                    <a:p>
                      <a:pPr algn="l"/>
                      <a:r>
                        <a:rPr sz="1150" b="1" i="0">
                          <a:solidFill>
                            <a:srgbClr val="2B2B2B"/>
                          </a:solidFill>
                          <a:latin typeface="Arial"/>
                        </a:rPr>
                        <a:t>Árbol (prof. 5, hoja ≥ 30)</a:t>
                      </a:r>
                    </a:p>
                  </a:txBody>
                  <a:tcPr marL="64008" marR="64008" marT="27432" marB="27432" anchor="ctr">
                    <a:solidFill>
                      <a:srgbClr val="FFFFFF"/>
                    </a:solidFill>
                  </a:tcPr>
                </a:tc>
                <a:tc>
                  <a:txBody>
                    <a:bodyPr wrap="square"/>
                    <a:lstStyle/>
                    <a:p>
                      <a:pPr algn="ctr"/>
                      <a:r>
                        <a:rPr sz="1150" b="0" i="0">
                          <a:solidFill>
                            <a:srgbClr val="2B2B2B"/>
                          </a:solidFill>
                          <a:latin typeface="Arial"/>
                        </a:rPr>
                        <a:t>829</a:t>
                      </a:r>
                    </a:p>
                  </a:txBody>
                  <a:tcPr marL="64008" marR="64008" marT="27432" marB="27432" anchor="ctr">
                    <a:solidFill>
                      <a:srgbClr val="FFFFFF"/>
                    </a:solidFill>
                  </a:tcPr>
                </a:tc>
                <a:tc>
                  <a:txBody>
                    <a:bodyPr wrap="square"/>
                    <a:lstStyle/>
                    <a:p>
                      <a:pPr algn="ctr"/>
                      <a:r>
                        <a:rPr sz="1150" b="0" i="0">
                          <a:solidFill>
                            <a:srgbClr val="2B2B2B"/>
                          </a:solidFill>
                          <a:latin typeface="Arial"/>
                        </a:rPr>
                        <a:t>0,806</a:t>
                      </a:r>
                    </a:p>
                  </a:txBody>
                  <a:tcPr marL="64008" marR="64008" marT="27432" marB="27432" anchor="ctr">
                    <a:solidFill>
                      <a:srgbClr val="FFFFFF"/>
                    </a:solidFill>
                  </a:tcPr>
                </a:tc>
                <a:tc>
                  <a:txBody>
                    <a:bodyPr wrap="square"/>
                    <a:lstStyle/>
                    <a:p>
                      <a:pPr algn="ctr"/>
                      <a:r>
                        <a:rPr sz="1150" b="0" i="0">
                          <a:solidFill>
                            <a:srgbClr val="2B2B2B"/>
                          </a:solidFill>
                          <a:latin typeface="Arial"/>
                        </a:rPr>
                        <a:t>0,521</a:t>
                      </a:r>
                    </a:p>
                  </a:txBody>
                  <a:tcPr marL="64008" marR="64008" marT="27432" marB="27432" anchor="ctr">
                    <a:solidFill>
                      <a:srgbClr val="FFFFFF"/>
                    </a:solidFill>
                  </a:tcPr>
                </a:tc>
                <a:tc>
                  <a:txBody>
                    <a:bodyPr wrap="square"/>
                    <a:lstStyle/>
                    <a:p>
                      <a:pPr algn="ctr"/>
                      <a:r>
                        <a:rPr sz="1150" b="0" i="0">
                          <a:solidFill>
                            <a:srgbClr val="2B2B2B"/>
                          </a:solidFill>
                          <a:latin typeface="Arial"/>
                        </a:rPr>
                        <a:t>0,610</a:t>
                      </a:r>
                    </a:p>
                  </a:txBody>
                  <a:tcPr marL="64008" marR="64008" marT="27432" marB="27432" anchor="ctr">
                    <a:solidFill>
                      <a:srgbClr val="FFFFFF"/>
                    </a:solidFill>
                  </a:tcPr>
                </a:tc>
                <a:tc>
                  <a:txBody>
                    <a:bodyPr wrap="square"/>
                    <a:lstStyle/>
                    <a:p>
                      <a:pPr algn="ctr"/>
                      <a:r>
                        <a:rPr sz="1150" b="1" i="0">
                          <a:solidFill>
                            <a:srgbClr val="2A9D8F"/>
                          </a:solidFill>
                          <a:latin typeface="Arial"/>
                        </a:rPr>
                        <a:t>0,633</a:t>
                      </a:r>
                    </a:p>
                  </a:txBody>
                  <a:tcPr marL="64008" marR="64008" marT="27432" marB="27432" anchor="ctr">
                    <a:solidFill>
                      <a:srgbClr val="FFFFFF"/>
                    </a:solidFill>
                  </a:tcPr>
                </a:tc>
                <a:tc>
                  <a:txBody>
                    <a:bodyPr wrap="square"/>
                    <a:lstStyle/>
                    <a:p>
                      <a:pPr algn="ctr"/>
                      <a:r>
                        <a:rPr sz="1150" b="0" i="0">
                          <a:solidFill>
                            <a:srgbClr val="2B2B2B"/>
                          </a:solidFill>
                          <a:latin typeface="Arial"/>
                        </a:rPr>
                        <a:t>−0,02</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Árbol balanced</a:t>
                      </a:r>
                    </a:p>
                  </a:txBody>
                  <a:tcPr marL="64008" marR="64008" marT="27432" marB="27432" anchor="ctr">
                    <a:solidFill>
                      <a:srgbClr val="F2F3F5"/>
                    </a:solidFill>
                  </a:tcPr>
                </a:tc>
                <a:tc>
                  <a:txBody>
                    <a:bodyPr wrap="square"/>
                    <a:lstStyle/>
                    <a:p>
                      <a:pPr algn="ctr"/>
                      <a:r>
                        <a:rPr sz="1150" b="0" i="0">
                          <a:solidFill>
                            <a:srgbClr val="2B2B2B"/>
                          </a:solidFill>
                          <a:latin typeface="Arial"/>
                        </a:rPr>
                        <a:t>2 988</a:t>
                      </a:r>
                    </a:p>
                  </a:txBody>
                  <a:tcPr marL="64008" marR="64008" marT="27432" marB="27432" anchor="ctr">
                    <a:solidFill>
                      <a:srgbClr val="F2F3F5"/>
                    </a:solidFill>
                  </a:tcPr>
                </a:tc>
                <a:tc>
                  <a:txBody>
                    <a:bodyPr wrap="square"/>
                    <a:lstStyle/>
                    <a:p>
                      <a:pPr algn="ctr"/>
                      <a:r>
                        <a:rPr sz="1150" b="0" i="0">
                          <a:solidFill>
                            <a:srgbClr val="2B2B2B"/>
                          </a:solidFill>
                          <a:latin typeface="Arial"/>
                        </a:rPr>
                        <a:t>0,347</a:t>
                      </a:r>
                    </a:p>
                  </a:txBody>
                  <a:tcPr marL="64008" marR="64008" marT="27432" marB="27432" anchor="ctr">
                    <a:solidFill>
                      <a:srgbClr val="F2F3F5"/>
                    </a:solidFill>
                  </a:tcPr>
                </a:tc>
                <a:tc>
                  <a:txBody>
                    <a:bodyPr wrap="square"/>
                    <a:lstStyle/>
                    <a:p>
                      <a:pPr algn="ctr"/>
                      <a:r>
                        <a:rPr sz="1150" b="0" i="0">
                          <a:solidFill>
                            <a:srgbClr val="2B2B2B"/>
                          </a:solidFill>
                          <a:latin typeface="Arial"/>
                        </a:rPr>
                        <a:t>0,808</a:t>
                      </a:r>
                    </a:p>
                  </a:txBody>
                  <a:tcPr marL="64008" marR="64008" marT="27432" marB="27432" anchor="ctr">
                    <a:solidFill>
                      <a:srgbClr val="F2F3F5"/>
                    </a:solidFill>
                  </a:tcPr>
                </a:tc>
                <a:tc>
                  <a:txBody>
                    <a:bodyPr wrap="square"/>
                    <a:lstStyle/>
                    <a:p>
                      <a:pPr algn="ctr"/>
                      <a:r>
                        <a:rPr sz="1150" b="0" i="0">
                          <a:solidFill>
                            <a:srgbClr val="2B2B2B"/>
                          </a:solidFill>
                          <a:latin typeface="Arial"/>
                        </a:rPr>
                        <a:t>0,474</a:t>
                      </a:r>
                    </a:p>
                  </a:txBody>
                  <a:tcPr marL="64008" marR="64008" marT="27432" marB="27432" anchor="ctr">
                    <a:solidFill>
                      <a:srgbClr val="F2F3F5"/>
                    </a:solidFill>
                  </a:tcPr>
                </a:tc>
                <a:tc>
                  <a:txBody>
                    <a:bodyPr wrap="square"/>
                    <a:lstStyle/>
                    <a:p>
                      <a:pPr algn="ctr"/>
                      <a:r>
                        <a:rPr sz="1150" b="0" i="0">
                          <a:solidFill>
                            <a:srgbClr val="2B2B2B"/>
                          </a:solidFill>
                          <a:latin typeface="Arial"/>
                        </a:rPr>
                        <a:t>0,486</a:t>
                      </a:r>
                    </a:p>
                  </a:txBody>
                  <a:tcPr marL="64008" marR="64008" marT="27432" marB="27432" anchor="ctr">
                    <a:solidFill>
                      <a:srgbClr val="F2F3F5"/>
                    </a:solidFill>
                  </a:tcPr>
                </a:tc>
                <a:tc>
                  <a:txBody>
                    <a:bodyPr wrap="square"/>
                    <a:lstStyle/>
                    <a:p>
                      <a:pPr algn="ctr"/>
                      <a:r>
                        <a:rPr sz="1150" b="0" i="0">
                          <a:solidFill>
                            <a:srgbClr val="2B2B2B"/>
                          </a:solidFill>
                          <a:latin typeface="Arial"/>
                        </a:rPr>
                        <a:t>−0,01</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Random Forest</a:t>
                      </a:r>
                    </a:p>
                  </a:txBody>
                  <a:tcPr marL="64008" marR="64008" marT="27432" marB="27432" anchor="ctr">
                    <a:solidFill>
                      <a:srgbClr val="FFFFFF"/>
                    </a:solidFill>
                  </a:tcPr>
                </a:tc>
                <a:tc>
                  <a:txBody>
                    <a:bodyPr wrap="square"/>
                    <a:lstStyle/>
                    <a:p>
                      <a:pPr algn="ctr"/>
                      <a:r>
                        <a:rPr sz="1150" b="0" i="0">
                          <a:solidFill>
                            <a:srgbClr val="2B2B2B"/>
                          </a:solidFill>
                          <a:latin typeface="Arial"/>
                        </a:rPr>
                        <a:t>789</a:t>
                      </a:r>
                    </a:p>
                  </a:txBody>
                  <a:tcPr marL="64008" marR="64008" marT="27432" marB="27432" anchor="ctr">
                    <a:solidFill>
                      <a:srgbClr val="FFFFFF"/>
                    </a:solidFill>
                  </a:tcPr>
                </a:tc>
                <a:tc>
                  <a:txBody>
                    <a:bodyPr wrap="square"/>
                    <a:lstStyle/>
                    <a:p>
                      <a:pPr algn="ctr"/>
                      <a:r>
                        <a:rPr sz="1150" b="0" i="0">
                          <a:solidFill>
                            <a:srgbClr val="2B2B2B"/>
                          </a:solidFill>
                          <a:latin typeface="Arial"/>
                        </a:rPr>
                        <a:t>0,823</a:t>
                      </a:r>
                    </a:p>
                  </a:txBody>
                  <a:tcPr marL="64008" marR="64008" marT="27432" marB="27432" anchor="ctr">
                    <a:solidFill>
                      <a:srgbClr val="FFFFFF"/>
                    </a:solidFill>
                  </a:tcPr>
                </a:tc>
                <a:tc>
                  <a:txBody>
                    <a:bodyPr wrap="square"/>
                    <a:lstStyle/>
                    <a:p>
                      <a:pPr algn="ctr"/>
                      <a:r>
                        <a:rPr sz="1150" b="0" i="0">
                          <a:solidFill>
                            <a:srgbClr val="2B2B2B"/>
                          </a:solidFill>
                          <a:latin typeface="Arial"/>
                        </a:rPr>
                        <a:t>0,506</a:t>
                      </a:r>
                    </a:p>
                  </a:txBody>
                  <a:tcPr marL="64008" marR="64008" marT="27432" marB="27432" anchor="ctr">
                    <a:solidFill>
                      <a:srgbClr val="FFFFFF"/>
                    </a:solidFill>
                  </a:tcPr>
                </a:tc>
                <a:tc>
                  <a:txBody>
                    <a:bodyPr wrap="square"/>
                    <a:lstStyle/>
                    <a:p>
                      <a:pPr algn="ctr"/>
                      <a:r>
                        <a:rPr sz="1150" b="0" i="0">
                          <a:solidFill>
                            <a:srgbClr val="2B2B2B"/>
                          </a:solidFill>
                          <a:latin typeface="Arial"/>
                        </a:rPr>
                        <a:t>0,620</a:t>
                      </a:r>
                    </a:p>
                  </a:txBody>
                  <a:tcPr marL="64008" marR="64008" marT="27432" marB="27432" anchor="ctr">
                    <a:solidFill>
                      <a:srgbClr val="FFFFFF"/>
                    </a:solidFill>
                  </a:tcPr>
                </a:tc>
                <a:tc>
                  <a:txBody>
                    <a:bodyPr wrap="square"/>
                    <a:lstStyle/>
                    <a:p>
                      <a:pPr algn="ctr"/>
                      <a:r>
                        <a:rPr sz="1150" b="0" i="0">
                          <a:solidFill>
                            <a:srgbClr val="2B2B2B"/>
                          </a:solidFill>
                          <a:latin typeface="Arial"/>
                        </a:rPr>
                        <a:t>0,626</a:t>
                      </a:r>
                    </a:p>
                  </a:txBody>
                  <a:tcPr marL="64008" marR="64008" marT="27432" marB="27432" anchor="ctr">
                    <a:solidFill>
                      <a:srgbClr val="FFFFFF"/>
                    </a:solidFill>
                  </a:tcPr>
                </a:tc>
                <a:tc>
                  <a:txBody>
                    <a:bodyPr wrap="square"/>
                    <a:lstStyle/>
                    <a:p>
                      <a:pPr algn="ctr"/>
                      <a:r>
                        <a:rPr sz="1150" b="0" i="0">
                          <a:solidFill>
                            <a:srgbClr val="2B2B2B"/>
                          </a:solidFill>
                          <a:latin typeface="Arial"/>
                        </a:rPr>
                        <a:t>−0,01</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Random Forest balanced</a:t>
                      </a:r>
                    </a:p>
                  </a:txBody>
                  <a:tcPr marL="64008" marR="64008" marT="27432" marB="27432" anchor="ctr">
                    <a:solidFill>
                      <a:srgbClr val="F2F3F5"/>
                    </a:solidFill>
                  </a:tcPr>
                </a:tc>
                <a:tc>
                  <a:txBody>
                    <a:bodyPr wrap="square"/>
                    <a:lstStyle/>
                    <a:p>
                      <a:pPr algn="ctr"/>
                      <a:r>
                        <a:rPr sz="1150" b="0" i="0">
                          <a:solidFill>
                            <a:srgbClr val="2B2B2B"/>
                          </a:solidFill>
                          <a:latin typeface="Arial"/>
                        </a:rPr>
                        <a:t>3 080</a:t>
                      </a:r>
                    </a:p>
                  </a:txBody>
                  <a:tcPr marL="64008" marR="64008" marT="27432" marB="27432" anchor="ctr">
                    <a:solidFill>
                      <a:srgbClr val="F2F3F5"/>
                    </a:solidFill>
                  </a:tcPr>
                </a:tc>
                <a:tc>
                  <a:txBody>
                    <a:bodyPr wrap="square"/>
                    <a:lstStyle/>
                    <a:p>
                      <a:pPr algn="ctr"/>
                      <a:r>
                        <a:rPr sz="1150" b="0" i="0">
                          <a:solidFill>
                            <a:srgbClr val="2B2B2B"/>
                          </a:solidFill>
                          <a:latin typeface="Arial"/>
                        </a:rPr>
                        <a:t>0,339</a:t>
                      </a:r>
                    </a:p>
                  </a:txBody>
                  <a:tcPr marL="64008" marR="64008" marT="27432" marB="27432" anchor="ctr">
                    <a:solidFill>
                      <a:srgbClr val="F2F3F5"/>
                    </a:solidFill>
                  </a:tcPr>
                </a:tc>
                <a:tc>
                  <a:txBody>
                    <a:bodyPr wrap="square"/>
                    <a:lstStyle/>
                    <a:p>
                      <a:pPr algn="ctr"/>
                      <a:r>
                        <a:rPr sz="1150" b="0" i="0">
                          <a:solidFill>
                            <a:srgbClr val="2B2B2B"/>
                          </a:solidFill>
                          <a:latin typeface="Arial"/>
                        </a:rPr>
                        <a:t>0,814</a:t>
                      </a:r>
                    </a:p>
                  </a:txBody>
                  <a:tcPr marL="64008" marR="64008" marT="27432" marB="27432" anchor="ctr">
                    <a:solidFill>
                      <a:srgbClr val="F2F3F5"/>
                    </a:solidFill>
                  </a:tcPr>
                </a:tc>
                <a:tc>
                  <a:txBody>
                    <a:bodyPr wrap="square"/>
                    <a:lstStyle/>
                    <a:p>
                      <a:pPr algn="ctr"/>
                      <a:r>
                        <a:rPr sz="1150" b="0" i="0">
                          <a:solidFill>
                            <a:srgbClr val="2B2B2B"/>
                          </a:solidFill>
                          <a:latin typeface="Arial"/>
                        </a:rPr>
                        <a:t>0,483</a:t>
                      </a:r>
                    </a:p>
                  </a:txBody>
                  <a:tcPr marL="64008" marR="64008" marT="27432" marB="27432" anchor="ctr">
                    <a:solidFill>
                      <a:srgbClr val="F2F3F5"/>
                    </a:solidFill>
                  </a:tcPr>
                </a:tc>
                <a:tc>
                  <a:txBody>
                    <a:bodyPr wrap="square"/>
                    <a:lstStyle/>
                    <a:p>
                      <a:pPr algn="ctr"/>
                      <a:r>
                        <a:rPr sz="1150" b="0" i="0">
                          <a:solidFill>
                            <a:srgbClr val="2B2B2B"/>
                          </a:solidFill>
                          <a:latin typeface="Arial"/>
                        </a:rPr>
                        <a:t>0,479</a:t>
                      </a:r>
                    </a:p>
                  </a:txBody>
                  <a:tcPr marL="64008" marR="64008" marT="27432" marB="27432" anchor="ctr">
                    <a:solidFill>
                      <a:srgbClr val="F2F3F5"/>
                    </a:solidFill>
                  </a:tcPr>
                </a:tc>
                <a:tc>
                  <a:txBody>
                    <a:bodyPr wrap="square"/>
                    <a:lstStyle/>
                    <a:p>
                      <a:pPr algn="ctr"/>
                      <a:r>
                        <a:rPr sz="1150" b="0" i="0">
                          <a:solidFill>
                            <a:srgbClr val="2B2B2B"/>
                          </a:solidFill>
                          <a:latin typeface="Arial"/>
                        </a:rPr>
                        <a:t>0,00</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Árbol sin límite</a:t>
                      </a:r>
                    </a:p>
                  </a:txBody>
                  <a:tcPr marL="64008" marR="64008" marT="27432" marB="27432" anchor="ctr">
                    <a:solidFill>
                      <a:srgbClr val="FBE8EA"/>
                    </a:solidFill>
                  </a:tcPr>
                </a:tc>
                <a:tc>
                  <a:txBody>
                    <a:bodyPr wrap="square"/>
                    <a:lstStyle/>
                    <a:p>
                      <a:pPr algn="ctr"/>
                      <a:r>
                        <a:rPr sz="1150" b="0" i="0">
                          <a:solidFill>
                            <a:srgbClr val="2B2B2B"/>
                          </a:solidFill>
                          <a:latin typeface="Arial"/>
                        </a:rPr>
                        <a:t>953</a:t>
                      </a:r>
                    </a:p>
                  </a:txBody>
                  <a:tcPr marL="64008" marR="64008" marT="27432" marB="27432" anchor="ctr">
                    <a:solidFill>
                      <a:srgbClr val="FBE8EA"/>
                    </a:solidFill>
                  </a:tcPr>
                </a:tc>
                <a:tc>
                  <a:txBody>
                    <a:bodyPr wrap="square"/>
                    <a:lstStyle/>
                    <a:p>
                      <a:pPr algn="ctr"/>
                      <a:r>
                        <a:rPr sz="1150" b="0" i="0">
                          <a:solidFill>
                            <a:srgbClr val="2B2B2B"/>
                          </a:solidFill>
                          <a:latin typeface="Arial"/>
                        </a:rPr>
                        <a:t>0,626</a:t>
                      </a:r>
                    </a:p>
                  </a:txBody>
                  <a:tcPr marL="64008" marR="64008" marT="27432" marB="27432" anchor="ctr">
                    <a:solidFill>
                      <a:srgbClr val="FBE8EA"/>
                    </a:solidFill>
                  </a:tcPr>
                </a:tc>
                <a:tc>
                  <a:txBody>
                    <a:bodyPr wrap="square"/>
                    <a:lstStyle/>
                    <a:p>
                      <a:pPr algn="ctr"/>
                      <a:r>
                        <a:rPr sz="1150" b="0" i="0">
                          <a:solidFill>
                            <a:srgbClr val="2B2B2B"/>
                          </a:solidFill>
                          <a:latin typeface="Arial"/>
                        </a:rPr>
                        <a:t>0,465</a:t>
                      </a:r>
                    </a:p>
                  </a:txBody>
                  <a:tcPr marL="64008" marR="64008" marT="27432" marB="27432" anchor="ctr">
                    <a:solidFill>
                      <a:srgbClr val="FBE8EA"/>
                    </a:solidFill>
                  </a:tcPr>
                </a:tc>
                <a:tc>
                  <a:txBody>
                    <a:bodyPr wrap="square"/>
                    <a:lstStyle/>
                    <a:p>
                      <a:pPr algn="ctr"/>
                      <a:r>
                        <a:rPr sz="1150" b="1" i="0">
                          <a:solidFill>
                            <a:srgbClr val="D7263D"/>
                          </a:solidFill>
                          <a:latin typeface="Arial"/>
                        </a:rPr>
                        <a:t>0,998</a:t>
                      </a:r>
                    </a:p>
                  </a:txBody>
                  <a:tcPr marL="64008" marR="64008" marT="27432" marB="27432" anchor="ctr">
                    <a:solidFill>
                      <a:srgbClr val="FBE8EA"/>
                    </a:solidFill>
                  </a:tcPr>
                </a:tc>
                <a:tc>
                  <a:txBody>
                    <a:bodyPr wrap="square"/>
                    <a:lstStyle/>
                    <a:p>
                      <a:pPr algn="ctr"/>
                      <a:r>
                        <a:rPr sz="1150" b="1" i="0">
                          <a:solidFill>
                            <a:srgbClr val="D7263D"/>
                          </a:solidFill>
                          <a:latin typeface="Arial"/>
                        </a:rPr>
                        <a:t>0,534</a:t>
                      </a:r>
                    </a:p>
                  </a:txBody>
                  <a:tcPr marL="64008" marR="64008" marT="27432" marB="27432" anchor="ctr">
                    <a:solidFill>
                      <a:srgbClr val="FBE8EA"/>
                    </a:solidFill>
                  </a:tcPr>
                </a:tc>
                <a:tc>
                  <a:txBody>
                    <a:bodyPr wrap="square"/>
                    <a:lstStyle/>
                    <a:p>
                      <a:pPr algn="ctr"/>
                      <a:r>
                        <a:rPr sz="1150" b="1" i="0">
                          <a:solidFill>
                            <a:srgbClr val="D7263D"/>
                          </a:solidFill>
                          <a:latin typeface="Arial"/>
                        </a:rPr>
                        <a:t>0,46</a:t>
                      </a:r>
                    </a:p>
                  </a:txBody>
                  <a:tcPr marL="64008" marR="64008" marT="27432" marB="27432" anchor="ctr">
                    <a:solidFill>
                      <a:srgbClr val="FBE8EA"/>
                    </a:solidFill>
                  </a:tcPr>
                </a:tc>
              </a:tr>
            </a:tbl>
          </a:graphicData>
        </a:graphic>
      </p:graphicFrame>
      <p:sp>
        <p:nvSpPr>
          <p:cNvPr id="4" name="Rounded Rectangle 3"/>
          <p:cNvSpPr/>
          <p:nvPr/>
        </p:nvSpPr>
        <p:spPr>
          <a:xfrm>
            <a:off x="731520" y="48006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D7263D"/>
                </a:solidFill>
                <a:latin typeface="Arial"/>
              </a:rPr>
              <a:t>La señal de memorizar: </a:t>
            </a:r>
            <a:r>
              <a:rPr sz="1200" b="0" i="0">
                <a:solidFill>
                  <a:srgbClr val="2B2B2B"/>
                </a:solidFill>
                <a:latin typeface="Arial"/>
              </a:rPr>
              <a:t>Train casi perfecto y Validation mucho peor. Se corrige limitando el árbol (max_depth, min_samples_leaf), como en el Día 2.</a:t>
            </a:r>
          </a:p>
        </p:txBody>
      </p:sp>
      <p:sp>
        <p:nvSpPr>
          <p:cNvPr id="5" name="Rounded Rectangle 4"/>
          <p:cNvSpPr/>
          <p:nvPr/>
        </p:nvSpPr>
        <p:spPr>
          <a:xfrm>
            <a:off x="731520" y="5669280"/>
            <a:ext cx="7772400" cy="5943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Bosque: </a:t>
            </a:r>
            <a:r>
              <a:rPr sz="1200" b="0" i="0">
                <a:solidFill>
                  <a:srgbClr val="2B2B2B"/>
                </a:solidFill>
                <a:latin typeface="Arial"/>
              </a:rPr>
              <a:t>si no mejora la métrica que importa, su costo de cálculo y su menor facilidad para explicarse no se justifican.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variable usó más el bosque?</a:t>
            </a:r>
          </a:p>
        </p:txBody>
      </p:sp>
      <p:graphicFrame>
        <p:nvGraphicFramePr>
          <p:cNvPr id="3" name="Chart 2"/>
          <p:cNvGraphicFramePr>
            <a:graphicFrameLocks noGrp="1"/>
          </p:cNvGraphicFramePr>
          <p:nvPr/>
        </p:nvGraphicFramePr>
        <p:xfrm>
          <a:off x="731520" y="1920240"/>
          <a:ext cx="4937760" cy="3200400"/>
        </p:xfrm>
        <a:graphic>
          <a:graphicData uri="http://schemas.openxmlformats.org/drawingml/2006/chart">
            <c:chart xmlns:c="http://schemas.openxmlformats.org/drawingml/2006/chart" r:id="rId3"/>
          </a:graphicData>
        </a:graphic>
      </p:graphicFrame>
      <p:sp>
        <p:nvSpPr>
          <p:cNvPr id="4" name="Rounded Rectangle 3"/>
          <p:cNvSpPr/>
          <p:nvPr/>
        </p:nvSpPr>
        <p:spPr>
          <a:xfrm>
            <a:off x="5852160" y="1965960"/>
            <a:ext cx="2651760" cy="15087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989320" y="2075688"/>
            <a:ext cx="2423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Cómo se lee</a:t>
            </a:r>
          </a:p>
        </p:txBody>
      </p:sp>
      <p:sp>
        <p:nvSpPr>
          <p:cNvPr id="6" name="TextBox 5"/>
          <p:cNvSpPr txBox="1"/>
          <p:nvPr/>
        </p:nvSpPr>
        <p:spPr>
          <a:xfrm>
            <a:off x="5989320" y="2624328"/>
            <a:ext cx="2377440" cy="7772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La hora aportó 44,5 % de toda la reducción de Gini.</a:t>
            </a:r>
          </a:p>
        </p:txBody>
      </p:sp>
      <p:sp>
        <p:nvSpPr>
          <p:cNvPr id="7" name="Rounded Rectangle 6"/>
          <p:cNvSpPr/>
          <p:nvPr/>
        </p:nvSpPr>
        <p:spPr>
          <a:xfrm>
            <a:off x="5852160" y="3611880"/>
            <a:ext cx="2651760" cy="15087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989320" y="3721608"/>
            <a:ext cx="2423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Qué NO dice</a:t>
            </a:r>
          </a:p>
        </p:txBody>
      </p:sp>
      <p:sp>
        <p:nvSpPr>
          <p:cNvPr id="9" name="TextBox 8"/>
          <p:cNvSpPr txBox="1"/>
          <p:nvPr/>
        </p:nvSpPr>
        <p:spPr>
          <a:xfrm>
            <a:off x="5989320" y="4270248"/>
            <a:ext cx="2377440" cy="777239"/>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Ni causa ni dirección: solo qué variable separó mejor.</a:t>
            </a:r>
          </a:p>
        </p:txBody>
      </p:sp>
      <p:sp>
        <p:nvSpPr>
          <p:cNvPr id="10" name="Rounded Rectangle 9"/>
          <p:cNvSpPr/>
          <p:nvPr/>
        </p:nvSpPr>
        <p:spPr>
          <a:xfrm>
            <a:off x="731520" y="539496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Coherente con el árbol: </a:t>
            </a:r>
            <a:r>
              <a:rPr sz="1200" b="0" i="0">
                <a:solidFill>
                  <a:srgbClr val="2B2B2B"/>
                </a:solidFill>
                <a:latin typeface="Arial"/>
              </a:rPr>
              <a:t>su primera pregunta también fue sobre la hora.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Datos y fuga</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La idea</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Normalizar</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Elegir k</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6</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KNN: clasificar por parecido</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BankChurners: si los clientes que más se le parecen se fueron, es una señal de alerta. Antes, normalizar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BankChurners: clientes que abandonan la tarjeta</a:t>
            </a:r>
          </a:p>
        </p:txBody>
      </p:sp>
      <p:sp>
        <p:nvSpPr>
          <p:cNvPr id="3" name="Rounded Rectangle 2"/>
          <p:cNvSpPr/>
          <p:nvPr/>
        </p:nvSpPr>
        <p:spPr>
          <a:xfrm>
            <a:off x="731520" y="2011680"/>
            <a:ext cx="2487168" cy="128016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Clientes</a:t>
            </a:r>
          </a:p>
          <a:p>
            <a:pPr algn="ctr">
              <a:spcAft>
                <a:spcPts val="300"/>
              </a:spcAft>
            </a:pPr>
            <a:r>
              <a:rPr sz="2600" b="1" i="0">
                <a:solidFill>
                  <a:srgbClr val="FFFFFF"/>
                </a:solidFill>
                <a:latin typeface="Arial"/>
              </a:rPr>
              <a:t>10 127</a:t>
            </a:r>
          </a:p>
        </p:txBody>
      </p:sp>
      <p:sp>
        <p:nvSpPr>
          <p:cNvPr id="4" name="Rounded Rectangle 3"/>
          <p:cNvSpPr/>
          <p:nvPr/>
        </p:nvSpPr>
        <p:spPr>
          <a:xfrm>
            <a:off x="3355848" y="2011680"/>
            <a:ext cx="2487168"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Abandonaron</a:t>
            </a:r>
          </a:p>
          <a:p>
            <a:pPr algn="ctr">
              <a:spcAft>
                <a:spcPts val="300"/>
              </a:spcAft>
            </a:pPr>
            <a:r>
              <a:rPr sz="2600" b="1" i="0">
                <a:solidFill>
                  <a:srgbClr val="D7263D"/>
                </a:solidFill>
                <a:latin typeface="Arial"/>
              </a:rPr>
              <a:t>16,07 %</a:t>
            </a:r>
          </a:p>
        </p:txBody>
      </p:sp>
      <p:sp>
        <p:nvSpPr>
          <p:cNvPr id="5" name="Rounded Rectangle 4"/>
          <p:cNvSpPr/>
          <p:nvPr/>
        </p:nvSpPr>
        <p:spPr>
          <a:xfrm>
            <a:off x="5989320" y="2011680"/>
            <a:ext cx="251460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Abandonos en Validation</a:t>
            </a:r>
          </a:p>
          <a:p>
            <a:pPr algn="ctr">
              <a:spcAft>
                <a:spcPts val="300"/>
              </a:spcAft>
            </a:pPr>
            <a:r>
              <a:rPr sz="2000" b="1" i="0">
                <a:solidFill>
                  <a:srgbClr val="242852"/>
                </a:solidFill>
                <a:latin typeface="Arial"/>
              </a:rPr>
              <a:t>244 de 1 519</a:t>
            </a:r>
          </a:p>
        </p:txBody>
      </p:sp>
      <p:graphicFrame>
        <p:nvGraphicFramePr>
          <p:cNvPr id="6" name="Table 5"/>
          <p:cNvGraphicFramePr>
            <a:graphicFrameLocks noGrp="1"/>
          </p:cNvGraphicFramePr>
          <p:nvPr/>
        </p:nvGraphicFramePr>
        <p:xfrm>
          <a:off x="731520" y="3520440"/>
          <a:ext cx="7772400" cy="1536192"/>
        </p:xfrm>
        <a:graphic>
          <a:graphicData uri="http://schemas.openxmlformats.org/drawingml/2006/table">
            <a:tbl>
              <a:tblPr firstRow="1" bandRow="1">
                <a:tableStyleId>{5C22544A-7EE6-4342-B048-85BDC9FD1C3A}</a:tableStyleId>
              </a:tblPr>
              <a:tblGrid>
                <a:gridCol w="7772400"/>
              </a:tblGrid>
              <a:tr h="384048">
                <a:tc>
                  <a:txBody>
                    <a:bodyPr wrap="square"/>
                    <a:lstStyle/>
                    <a:p>
                      <a:pPr algn="l"/>
                      <a:r>
                        <a:rPr sz="1200" b="1" i="0">
                          <a:solidFill>
                            <a:srgbClr val="FFFFFF"/>
                          </a:solidFill>
                          <a:latin typeface="Arial"/>
                        </a:rPr>
                        <a:t>Usamos 11 variables numéricas de comportamiento</a:t>
                      </a:r>
                    </a:p>
                  </a:txBody>
                  <a:tcPr marL="64008" marR="64008" marT="27432" marB="27432" anchor="ctr">
                    <a:solidFill>
                      <a:srgbClr val="242852"/>
                    </a:solidFill>
                  </a:tcPr>
                </a:tc>
              </a:tr>
              <a:tr h="384048">
                <a:tc>
                  <a:txBody>
                    <a:bodyPr wrap="square"/>
                    <a:lstStyle/>
                    <a:p>
                      <a:pPr algn="l"/>
                      <a:r>
                        <a:rPr sz="1200" b="0" i="0">
                          <a:solidFill>
                            <a:srgbClr val="2B2B2B"/>
                          </a:solidFill>
                          <a:latin typeface="Arial"/>
                        </a:rPr>
                        <a:t>Edad · límite de crédito · saldo que arrastra · monto y número de transacciones</a:t>
                      </a:r>
                    </a:p>
                  </a:txBody>
                  <a:tcPr marL="64008" marR="64008" marT="27432" marB="27432" anchor="ctr">
                    <a:solidFill>
                      <a:srgbClr val="FFFFFF"/>
                    </a:solidFill>
                  </a:tcPr>
                </a:tc>
              </a:tr>
              <a:tr h="384048">
                <a:tc>
                  <a:txBody>
                    <a:bodyPr wrap="square"/>
                    <a:lstStyle/>
                    <a:p>
                      <a:pPr algn="l"/>
                      <a:r>
                        <a:rPr sz="1200" b="0" i="0">
                          <a:solidFill>
                            <a:srgbClr val="2B2B2B"/>
                          </a:solidFill>
                          <a:latin typeface="Arial"/>
                        </a:rPr>
                        <a:t>Cambio de monto y de transacciones (Q4 frente a Q1) · uso promedio del límite</a:t>
                      </a:r>
                    </a:p>
                  </a:txBody>
                  <a:tcPr marL="64008" marR="64008" marT="27432" marB="27432" anchor="ctr">
                    <a:solidFill>
                      <a:srgbClr val="F2F3F5"/>
                    </a:solidFill>
                  </a:tcPr>
                </a:tc>
              </a:tr>
              <a:tr h="384048">
                <a:tc>
                  <a:txBody>
                    <a:bodyPr wrap="square"/>
                    <a:lstStyle/>
                    <a:p>
                      <a:pPr algn="l"/>
                      <a:r>
                        <a:rPr sz="1200" b="0" i="0">
                          <a:solidFill>
                            <a:srgbClr val="2B2B2B"/>
                          </a:solidFill>
                          <a:latin typeface="Arial"/>
                        </a:rPr>
                        <a:t>Meses inactivo · contactos con el banco · número de productos</a:t>
                      </a:r>
                    </a:p>
                  </a:txBody>
                  <a:tcPr marL="64008" marR="64008" marT="27432" marB="27432" anchor="ctr">
                    <a:solidFill>
                      <a:srgbClr val="FFFFFF"/>
                    </a:solidFill>
                  </a:tcPr>
                </a:tc>
              </a:tr>
            </a:tbl>
          </a:graphicData>
        </a:graphic>
      </p:graphicFrame>
      <p:sp>
        <p:nvSpPr>
          <p:cNvPr id="7" name="Rounded Rectangle 6"/>
          <p:cNvSpPr/>
          <p:nvPr/>
        </p:nvSpPr>
        <p:spPr>
          <a:xfrm>
            <a:off x="731520" y="534924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qué para KNN: </a:t>
            </a:r>
            <a:r>
              <a:rPr sz="1200" b="0" i="0">
                <a:solidFill>
                  <a:srgbClr val="2B2B2B"/>
                </a:solidFill>
                <a:latin typeface="Arial"/>
              </a:rPr>
              <a:t>tiene comportamiento transaccional y actividad: explica bien cómo se clasifica a un cliente por clientes similares.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Otra fuga: columnas que ya conocen la respuesta</a:t>
            </a:r>
          </a:p>
        </p:txBody>
      </p:sp>
      <p:sp>
        <p:nvSpPr>
          <p:cNvPr id="3" name="Rounded Rectangle 2"/>
          <p:cNvSpPr/>
          <p:nvPr/>
        </p:nvSpPr>
        <p:spPr>
          <a:xfrm>
            <a:off x="731520" y="2011680"/>
            <a:ext cx="3794760" cy="146304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FBE8EA"/>
                </a:solidFill>
                <a:latin typeface="Arial"/>
              </a:rPr>
              <a:t>Accuracy de la regla con la columna</a:t>
            </a:r>
          </a:p>
          <a:p>
            <a:pPr algn="ctr">
              <a:spcAft>
                <a:spcPts val="300"/>
              </a:spcAft>
            </a:pPr>
            <a:r>
              <a:rPr sz="2600" b="1" i="0">
                <a:solidFill>
                  <a:srgbClr val="FFFFFF"/>
                </a:solidFill>
                <a:latin typeface="Arial"/>
              </a:rPr>
              <a:t>100 %</a:t>
            </a:r>
          </a:p>
        </p:txBody>
      </p:sp>
      <p:sp>
        <p:nvSpPr>
          <p:cNvPr id="4" name="Rounded Rectangle 3"/>
          <p:cNvSpPr/>
          <p:nvPr/>
        </p:nvSpPr>
        <p:spPr>
          <a:xfrm>
            <a:off x="4709160" y="2011680"/>
            <a:ext cx="379476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4846320" y="212140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Señal de alarma</a:t>
            </a:r>
          </a:p>
        </p:txBody>
      </p:sp>
      <p:sp>
        <p:nvSpPr>
          <p:cNvPr id="6" name="TextBox 5"/>
          <p:cNvSpPr txBox="1"/>
          <p:nvPr/>
        </p:nvSpPr>
        <p:spPr>
          <a:xfrm>
            <a:off x="4846320" y="2670048"/>
            <a:ext cx="352044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Un resultado perfecto casi siempre indica fuga, no un gran modelo.</a:t>
            </a:r>
          </a:p>
        </p:txBody>
      </p:sp>
      <p:graphicFrame>
        <p:nvGraphicFramePr>
          <p:cNvPr id="7" name="Table 6"/>
          <p:cNvGraphicFramePr>
            <a:graphicFrameLocks noGrp="1"/>
          </p:cNvGraphicFramePr>
          <p:nvPr/>
        </p:nvGraphicFramePr>
        <p:xfrm>
          <a:off x="731520" y="3703320"/>
          <a:ext cx="7772400" cy="1682496"/>
        </p:xfrm>
        <a:graphic>
          <a:graphicData uri="http://schemas.openxmlformats.org/drawingml/2006/table">
            <a:tbl>
              <a:tblPr firstRow="1" bandRow="1">
                <a:tableStyleId>{5C22544A-7EE6-4342-B048-85BDC9FD1C3A}</a:tableStyleId>
              </a:tblPr>
              <a:tblGrid>
                <a:gridCol w="2194560"/>
                <a:gridCol w="1645920"/>
                <a:gridCol w="3931920"/>
              </a:tblGrid>
              <a:tr h="420624">
                <a:tc>
                  <a:txBody>
                    <a:bodyPr wrap="square"/>
                    <a:lstStyle/>
                    <a:p>
                      <a:pPr algn="l"/>
                      <a:r>
                        <a:rPr sz="1250" b="1" i="0">
                          <a:solidFill>
                            <a:srgbClr val="FFFFFF"/>
                          </a:solidFill>
                          <a:latin typeface="Arial"/>
                        </a:rPr>
                        <a:t>Columna</a:t>
                      </a:r>
                    </a:p>
                  </a:txBody>
                  <a:tcPr marL="64008" marR="64008" marT="27432" marB="27432" anchor="ctr">
                    <a:solidFill>
                      <a:srgbClr val="242852"/>
                    </a:solidFill>
                  </a:tcPr>
                </a:tc>
                <a:tc>
                  <a:txBody>
                    <a:bodyPr wrap="square"/>
                    <a:lstStyle/>
                    <a:p>
                      <a:pPr algn="ctr"/>
                      <a:r>
                        <a:rPr sz="1250" b="1" i="0">
                          <a:solidFill>
                            <a:srgbClr val="FFFFFF"/>
                          </a:solidFill>
                          <a:latin typeface="Arial"/>
                        </a:rPr>
                        <a:t>Qué hacemos</a:t>
                      </a:r>
                    </a:p>
                  </a:txBody>
                  <a:tcPr marL="64008" marR="64008" marT="27432" marB="27432" anchor="ctr">
                    <a:solidFill>
                      <a:srgbClr val="242852"/>
                    </a:solidFill>
                  </a:tcPr>
                </a:tc>
                <a:tc>
                  <a:txBody>
                    <a:bodyPr wrap="square"/>
                    <a:lstStyle/>
                    <a:p>
                      <a:pPr algn="ctr"/>
                      <a:r>
                        <a:rPr sz="1250" b="1" i="0">
                          <a:solidFill>
                            <a:srgbClr val="FFFFFF"/>
                          </a:solidFill>
                          <a:latin typeface="Arial"/>
                        </a:rPr>
                        <a:t>Por qué</a:t>
                      </a:r>
                    </a:p>
                  </a:txBody>
                  <a:tcPr marL="64008" marR="64008" marT="27432" marB="27432" anchor="ctr">
                    <a:solidFill>
                      <a:srgbClr val="242852"/>
                    </a:solidFill>
                  </a:tcPr>
                </a:tc>
              </a:tr>
              <a:tr h="420624">
                <a:tc>
                  <a:txBody>
                    <a:bodyPr wrap="square"/>
                    <a:lstStyle/>
                    <a:p>
                      <a:pPr algn="l"/>
                      <a:r>
                        <a:rPr sz="1250" b="1" i="0">
                          <a:solidFill>
                            <a:srgbClr val="2B2B2B"/>
                          </a:solidFill>
                          <a:latin typeface="Arial"/>
                        </a:rPr>
                        <a:t>CLIENTNUM</a:t>
                      </a:r>
                    </a:p>
                  </a:txBody>
                  <a:tcPr marL="64008" marR="64008" marT="27432" marB="27432" anchor="ctr">
                    <a:solidFill>
                      <a:srgbClr val="FFFFFF"/>
                    </a:solidFill>
                  </a:tcPr>
                </a:tc>
                <a:tc>
                  <a:txBody>
                    <a:bodyPr wrap="square"/>
                    <a:lstStyle/>
                    <a:p>
                      <a:pPr algn="ctr"/>
                      <a:r>
                        <a:rPr sz="1250" b="0" i="0">
                          <a:solidFill>
                            <a:srgbClr val="2B2B2B"/>
                          </a:solidFill>
                          <a:latin typeface="Arial"/>
                        </a:rPr>
                        <a:t>Eliminar</a:t>
                      </a:r>
                    </a:p>
                  </a:txBody>
                  <a:tcPr marL="64008" marR="64008" marT="27432" marB="27432" anchor="ctr">
                    <a:solidFill>
                      <a:srgbClr val="FFFFFF"/>
                    </a:solidFill>
                  </a:tcPr>
                </a:tc>
                <a:tc>
                  <a:txBody>
                    <a:bodyPr wrap="square"/>
                    <a:lstStyle/>
                    <a:p>
                      <a:pPr algn="ctr"/>
                      <a:r>
                        <a:rPr sz="1250" b="0" i="0">
                          <a:solidFill>
                            <a:srgbClr val="2B2B2B"/>
                          </a:solidFill>
                          <a:latin typeface="Arial"/>
                        </a:rPr>
                        <a:t>identificador, no describe al cliente</a:t>
                      </a:r>
                    </a:p>
                  </a:txBody>
                  <a:tcPr marL="64008" marR="64008" marT="27432" marB="27432" anchor="ctr">
                    <a:solidFill>
                      <a:srgbClr val="FFFFFF"/>
                    </a:solidFill>
                  </a:tcPr>
                </a:tc>
              </a:tr>
              <a:tr h="420624">
                <a:tc>
                  <a:txBody>
                    <a:bodyPr wrap="square"/>
                    <a:lstStyle/>
                    <a:p>
                      <a:pPr algn="l"/>
                      <a:r>
                        <a:rPr sz="1250" b="1" i="0">
                          <a:solidFill>
                            <a:srgbClr val="2B2B2B"/>
                          </a:solidFill>
                          <a:latin typeface="Arial"/>
                        </a:rPr>
                        <a:t>Naive_Bayes… (2)</a:t>
                      </a:r>
                    </a:p>
                  </a:txBody>
                  <a:tcPr marL="64008" marR="64008" marT="27432" marB="27432" anchor="ctr">
                    <a:solidFill>
                      <a:srgbClr val="F2F3F5"/>
                    </a:solidFill>
                  </a:tcPr>
                </a:tc>
                <a:tc>
                  <a:txBody>
                    <a:bodyPr wrap="square"/>
                    <a:lstStyle/>
                    <a:p>
                      <a:pPr algn="ctr"/>
                      <a:r>
                        <a:rPr sz="1250" b="0" i="0">
                          <a:solidFill>
                            <a:srgbClr val="2B2B2B"/>
                          </a:solidFill>
                          <a:latin typeface="Arial"/>
                        </a:rPr>
                        <a:t>Eliminar</a:t>
                      </a:r>
                    </a:p>
                  </a:txBody>
                  <a:tcPr marL="64008" marR="64008" marT="27432" marB="27432" anchor="ctr">
                    <a:solidFill>
                      <a:srgbClr val="F2F3F5"/>
                    </a:solidFill>
                  </a:tcPr>
                </a:tc>
                <a:tc>
                  <a:txBody>
                    <a:bodyPr wrap="square"/>
                    <a:lstStyle/>
                    <a:p>
                      <a:pPr algn="ctr"/>
                      <a:r>
                        <a:rPr sz="1250" b="0" i="0">
                          <a:solidFill>
                            <a:srgbClr val="2B2B2B"/>
                          </a:solidFill>
                          <a:latin typeface="Arial"/>
                        </a:rPr>
                        <a:t>contienen la respuesta</a:t>
                      </a:r>
                    </a:p>
                  </a:txBody>
                  <a:tcPr marL="64008" marR="64008" marT="27432" marB="27432" anchor="ctr">
                    <a:solidFill>
                      <a:srgbClr val="F2F3F5"/>
                    </a:solidFill>
                  </a:tcPr>
                </a:tc>
              </a:tr>
              <a:tr h="420624">
                <a:tc>
                  <a:txBody>
                    <a:bodyPr wrap="square"/>
                    <a:lstStyle/>
                    <a:p>
                      <a:pPr algn="l"/>
                      <a:r>
                        <a:rPr sz="1250" b="1" i="0">
                          <a:solidFill>
                            <a:srgbClr val="2B2B2B"/>
                          </a:solidFill>
                          <a:latin typeface="Arial"/>
                        </a:rPr>
                        <a:t>Attrition_Flag</a:t>
                      </a:r>
                    </a:p>
                  </a:txBody>
                  <a:tcPr marL="64008" marR="64008" marT="27432" marB="27432" anchor="ctr">
                    <a:solidFill>
                      <a:srgbClr val="FFFFFF"/>
                    </a:solidFill>
                  </a:tcPr>
                </a:tc>
                <a:tc>
                  <a:txBody>
                    <a:bodyPr wrap="square"/>
                    <a:lstStyle/>
                    <a:p>
                      <a:pPr algn="ctr"/>
                      <a:r>
                        <a:rPr sz="1250" b="0" i="0">
                          <a:solidFill>
                            <a:srgbClr val="2B2B2B"/>
                          </a:solidFill>
                          <a:latin typeface="Arial"/>
                        </a:rPr>
                        <a:t>Target y</a:t>
                      </a:r>
                    </a:p>
                  </a:txBody>
                  <a:tcPr marL="64008" marR="64008" marT="27432" marB="27432" anchor="ctr">
                    <a:solidFill>
                      <a:srgbClr val="FFFFFF"/>
                    </a:solidFill>
                  </a:tcPr>
                </a:tc>
                <a:tc>
                  <a:txBody>
                    <a:bodyPr wrap="square"/>
                    <a:lstStyle/>
                    <a:p>
                      <a:pPr algn="ctr"/>
                      <a:r>
                        <a:rPr sz="1250" b="0" i="0">
                          <a:solidFill>
                            <a:srgbClr val="2B2B2B"/>
                          </a:solidFill>
                          <a:latin typeface="Arial"/>
                        </a:rPr>
                        <a:t>Attrited Customer = 1</a:t>
                      </a:r>
                    </a:p>
                  </a:txBody>
                  <a:tcPr marL="64008" marR="64008" marT="27432" marB="27432" anchor="ctr">
                    <a:solidFill>
                      <a:srgbClr val="FFFFFF"/>
                    </a:solidFill>
                  </a:tcPr>
                </a:tc>
              </a:tr>
            </a:tbl>
          </a:graphicData>
        </a:graphic>
      </p:graphicFrame>
      <p:sp>
        <p:nvSpPr>
          <p:cNvPr id="8" name="Rounded Rectangle 7"/>
          <p:cNvSpPr/>
          <p:nvPr/>
        </p:nvSpPr>
        <p:spPr>
          <a:xfrm>
            <a:off x="731520" y="557784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Pregunta de control: </a:t>
            </a:r>
            <a:r>
              <a:rPr sz="1200" b="0" i="0">
                <a:solidFill>
                  <a:srgbClr val="2B2B2B"/>
                </a:solidFill>
                <a:latin typeface="Arial"/>
              </a:rPr>
              <a:t>¿esta columna existiría antes de saber la respuesta?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idea de KNN: preguntar a los vecinos</a:t>
            </a:r>
          </a:p>
        </p:txBody>
      </p:sp>
      <p:pic>
        <p:nvPicPr>
          <p:cNvPr id="3" name="Picture 2" descr="knn_toy.png"/>
          <p:cNvPicPr>
            <a:picLocks noChangeAspect="1"/>
          </p:cNvPicPr>
          <p:nvPr/>
        </p:nvPicPr>
        <p:blipFill>
          <a:blip r:embed="rId3"/>
          <a:stretch>
            <a:fillRect/>
          </a:stretch>
        </p:blipFill>
        <p:spPr>
          <a:xfrm>
            <a:off x="786507" y="1874519"/>
            <a:ext cx="3821944" cy="3291840"/>
          </a:xfrm>
          <a:prstGeom prst="rect">
            <a:avLst/>
          </a:prstGeom>
        </p:spPr>
      </p:pic>
      <p:graphicFrame>
        <p:nvGraphicFramePr>
          <p:cNvPr id="4" name="Table 3"/>
          <p:cNvGraphicFramePr>
            <a:graphicFrameLocks noGrp="1"/>
          </p:cNvGraphicFramePr>
          <p:nvPr/>
        </p:nvGraphicFramePr>
        <p:xfrm>
          <a:off x="4892040" y="2011680"/>
          <a:ext cx="3611880" cy="1920240"/>
        </p:xfrm>
        <a:graphic>
          <a:graphicData uri="http://schemas.openxmlformats.org/drawingml/2006/table">
            <a:tbl>
              <a:tblPr firstRow="1" bandRow="1">
                <a:tableStyleId>{5C22544A-7EE6-4342-B048-85BDC9FD1C3A}</a:tableStyleId>
              </a:tblPr>
              <a:tblGrid>
                <a:gridCol w="822960"/>
                <a:gridCol w="960120"/>
                <a:gridCol w="822960"/>
                <a:gridCol w="1005840"/>
              </a:tblGrid>
              <a:tr h="384048">
                <a:tc>
                  <a:txBody>
                    <a:bodyPr wrap="square"/>
                    <a:lstStyle/>
                    <a:p>
                      <a:pPr algn="l"/>
                      <a:r>
                        <a:rPr sz="1200" b="1" i="0">
                          <a:solidFill>
                            <a:srgbClr val="FFFFFF"/>
                          </a:solidFill>
                          <a:latin typeface="Arial"/>
                        </a:rPr>
                        <a:t>Punto</a:t>
                      </a:r>
                    </a:p>
                  </a:txBody>
                  <a:tcPr marL="64008" marR="64008" marT="27432" marB="27432" anchor="ctr">
                    <a:solidFill>
                      <a:srgbClr val="242852"/>
                    </a:solidFill>
                  </a:tcPr>
                </a:tc>
                <a:tc>
                  <a:txBody>
                    <a:bodyPr wrap="square"/>
                    <a:lstStyle/>
                    <a:p>
                      <a:pPr algn="ctr"/>
                      <a:r>
                        <a:rPr sz="1200" b="1" i="0">
                          <a:solidFill>
                            <a:srgbClr val="FFFFFF"/>
                          </a:solidFill>
                          <a:latin typeface="Arial"/>
                        </a:rPr>
                        <a:t>Distancia</a:t>
                      </a:r>
                    </a:p>
                  </a:txBody>
                  <a:tcPr marL="64008" marR="64008" marT="27432" marB="27432" anchor="ctr">
                    <a:solidFill>
                      <a:srgbClr val="242852"/>
                    </a:solidFill>
                  </a:tcPr>
                </a:tc>
                <a:tc>
                  <a:txBody>
                    <a:bodyPr wrap="square"/>
                    <a:lstStyle/>
                    <a:p>
                      <a:pPr algn="ctr"/>
                      <a:r>
                        <a:rPr sz="1200" b="1" i="0">
                          <a:solidFill>
                            <a:srgbClr val="FFFFFF"/>
                          </a:solidFill>
                          <a:latin typeface="Arial"/>
                        </a:rPr>
                        <a:t>Clase</a:t>
                      </a:r>
                    </a:p>
                  </a:txBody>
                  <a:tcPr marL="64008" marR="64008" marT="27432" marB="27432" anchor="ctr">
                    <a:solidFill>
                      <a:srgbClr val="242852"/>
                    </a:solidFill>
                  </a:tcPr>
                </a:tc>
                <a:tc>
                  <a:txBody>
                    <a:bodyPr wrap="square"/>
                    <a:lstStyle/>
                    <a:p>
                      <a:pPr algn="ctr"/>
                      <a:r>
                        <a:rPr sz="1200" b="1" i="0">
                          <a:solidFill>
                            <a:srgbClr val="FFFFFF"/>
                          </a:solidFill>
                          <a:latin typeface="Arial"/>
                        </a:rPr>
                        <a:t>¿Entre los 3?</a:t>
                      </a:r>
                    </a:p>
                  </a:txBody>
                  <a:tcPr marL="64008" marR="64008" marT="27432" marB="27432" anchor="ctr">
                    <a:solidFill>
                      <a:srgbClr val="242852"/>
                    </a:solidFill>
                  </a:tcPr>
                </a:tc>
              </a:tr>
              <a:tr h="384048">
                <a:tc>
                  <a:txBody>
                    <a:bodyPr wrap="square"/>
                    <a:lstStyle/>
                    <a:p>
                      <a:pPr algn="l"/>
                      <a:r>
                        <a:rPr sz="1200" b="1" i="0">
                          <a:solidFill>
                            <a:srgbClr val="2B2B2B"/>
                          </a:solidFill>
                          <a:latin typeface="Arial"/>
                        </a:rPr>
                        <a:t>B</a:t>
                      </a:r>
                    </a:p>
                  </a:txBody>
                  <a:tcPr marL="64008" marR="64008" marT="27432" marB="27432" anchor="ctr">
                    <a:solidFill>
                      <a:srgbClr val="FFFFFF"/>
                    </a:solidFill>
                  </a:tcPr>
                </a:tc>
                <a:tc>
                  <a:txBody>
                    <a:bodyPr wrap="square"/>
                    <a:lstStyle/>
                    <a:p>
                      <a:pPr algn="ctr"/>
                      <a:r>
                        <a:rPr sz="1200" b="0" i="0">
                          <a:solidFill>
                            <a:srgbClr val="2B2B2B"/>
                          </a:solidFill>
                          <a:latin typeface="Arial"/>
                        </a:rPr>
                        <a:t>0,50</a:t>
                      </a:r>
                    </a:p>
                  </a:txBody>
                  <a:tcPr marL="64008" marR="64008" marT="27432" marB="27432" anchor="ctr">
                    <a:solidFill>
                      <a:srgbClr val="FFFFFF"/>
                    </a:solidFill>
                  </a:tcPr>
                </a:tc>
                <a:tc>
                  <a:txBody>
                    <a:bodyPr wrap="square"/>
                    <a:lstStyle/>
                    <a:p>
                      <a:pPr algn="ctr"/>
                      <a:r>
                        <a:rPr sz="1200" b="0" i="0">
                          <a:solidFill>
                            <a:srgbClr val="2B2B2B"/>
                          </a:solidFill>
                          <a:latin typeface="Arial"/>
                        </a:rPr>
                        <a:t>yes</a:t>
                      </a:r>
                    </a:p>
                  </a:txBody>
                  <a:tcPr marL="64008" marR="64008" marT="27432" marB="27432" anchor="ctr">
                    <a:solidFill>
                      <a:srgbClr val="FFFFFF"/>
                    </a:solidFill>
                  </a:tcPr>
                </a:tc>
                <a:tc>
                  <a:txBody>
                    <a:bodyPr wrap="square"/>
                    <a:lstStyle/>
                    <a:p>
                      <a:pPr algn="ctr"/>
                      <a:r>
                        <a:rPr sz="1200" b="0" i="0">
                          <a:solidFill>
                            <a:srgbClr val="2B2B2B"/>
                          </a:solidFill>
                          <a:latin typeface="Arial"/>
                        </a:rPr>
                        <a:t>sí</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D</a:t>
                      </a:r>
                    </a:p>
                  </a:txBody>
                  <a:tcPr marL="64008" marR="64008" marT="27432" marB="27432" anchor="ctr">
                    <a:solidFill>
                      <a:srgbClr val="F2F3F5"/>
                    </a:solidFill>
                  </a:tcPr>
                </a:tc>
                <a:tc>
                  <a:txBody>
                    <a:bodyPr wrap="square"/>
                    <a:lstStyle/>
                    <a:p>
                      <a:pPr algn="ctr"/>
                      <a:r>
                        <a:rPr sz="1200" b="0" i="0">
                          <a:solidFill>
                            <a:srgbClr val="2B2B2B"/>
                          </a:solidFill>
                          <a:latin typeface="Arial"/>
                        </a:rPr>
                        <a:t>1,12</a:t>
                      </a:r>
                    </a:p>
                  </a:txBody>
                  <a:tcPr marL="64008" marR="64008" marT="27432" marB="27432" anchor="ctr">
                    <a:solidFill>
                      <a:srgbClr val="F2F3F5"/>
                    </a:solidFill>
                  </a:tcPr>
                </a:tc>
                <a:tc>
                  <a:txBody>
                    <a:bodyPr wrap="square"/>
                    <a:lstStyle/>
                    <a:p>
                      <a:pPr algn="ctr"/>
                      <a:r>
                        <a:rPr sz="1200" b="0" i="0">
                          <a:solidFill>
                            <a:srgbClr val="2B2B2B"/>
                          </a:solidFill>
                          <a:latin typeface="Arial"/>
                        </a:rPr>
                        <a:t>no</a:t>
                      </a:r>
                    </a:p>
                  </a:txBody>
                  <a:tcPr marL="64008" marR="64008" marT="27432" marB="27432" anchor="ctr">
                    <a:solidFill>
                      <a:srgbClr val="F2F3F5"/>
                    </a:solidFill>
                  </a:tcPr>
                </a:tc>
                <a:tc>
                  <a:txBody>
                    <a:bodyPr wrap="square"/>
                    <a:lstStyle/>
                    <a:p>
                      <a:pPr algn="ctr"/>
                      <a:r>
                        <a:rPr sz="1200" b="0" i="0">
                          <a:solidFill>
                            <a:srgbClr val="2B2B2B"/>
                          </a:solidFill>
                          <a:latin typeface="Arial"/>
                        </a:rPr>
                        <a:t>sí</a:t>
                      </a:r>
                    </a:p>
                  </a:txBody>
                  <a:tcPr marL="64008" marR="64008" marT="27432" marB="27432" anchor="ctr">
                    <a:solidFill>
                      <a:srgbClr val="F2F3F5"/>
                    </a:solidFill>
                  </a:tcPr>
                </a:tc>
              </a:tr>
              <a:tr h="384048">
                <a:tc>
                  <a:txBody>
                    <a:bodyPr wrap="square"/>
                    <a:lstStyle/>
                    <a:p>
                      <a:pPr algn="l"/>
                      <a:r>
                        <a:rPr sz="1200" b="1" i="0">
                          <a:solidFill>
                            <a:srgbClr val="2B2B2B"/>
                          </a:solidFill>
                          <a:latin typeface="Arial"/>
                        </a:rPr>
                        <a:t>A</a:t>
                      </a:r>
                    </a:p>
                  </a:txBody>
                  <a:tcPr marL="64008" marR="64008" marT="27432" marB="27432" anchor="ctr">
                    <a:solidFill>
                      <a:srgbClr val="FFFFFF"/>
                    </a:solidFill>
                  </a:tcPr>
                </a:tc>
                <a:tc>
                  <a:txBody>
                    <a:bodyPr wrap="square"/>
                    <a:lstStyle/>
                    <a:p>
                      <a:pPr algn="ctr"/>
                      <a:r>
                        <a:rPr sz="1200" b="0" i="0">
                          <a:solidFill>
                            <a:srgbClr val="2B2B2B"/>
                          </a:solidFill>
                          <a:latin typeface="Arial"/>
                        </a:rPr>
                        <a:t>1,41</a:t>
                      </a:r>
                    </a:p>
                  </a:txBody>
                  <a:tcPr marL="64008" marR="64008" marT="27432" marB="27432" anchor="ctr">
                    <a:solidFill>
                      <a:srgbClr val="FFFFFF"/>
                    </a:solidFill>
                  </a:tcPr>
                </a:tc>
                <a:tc>
                  <a:txBody>
                    <a:bodyPr wrap="square"/>
                    <a:lstStyle/>
                    <a:p>
                      <a:pPr algn="ctr"/>
                      <a:r>
                        <a:rPr sz="1200" b="0" i="0">
                          <a:solidFill>
                            <a:srgbClr val="2B2B2B"/>
                          </a:solidFill>
                          <a:latin typeface="Arial"/>
                        </a:rPr>
                        <a:t>no</a:t>
                      </a:r>
                    </a:p>
                  </a:txBody>
                  <a:tcPr marL="64008" marR="64008" marT="27432" marB="27432" anchor="ctr">
                    <a:solidFill>
                      <a:srgbClr val="FFFFFF"/>
                    </a:solidFill>
                  </a:tcPr>
                </a:tc>
                <a:tc>
                  <a:txBody>
                    <a:bodyPr wrap="square"/>
                    <a:lstStyle/>
                    <a:p>
                      <a:pPr algn="ctr"/>
                      <a:r>
                        <a:rPr sz="1200" b="0" i="0">
                          <a:solidFill>
                            <a:srgbClr val="2B2B2B"/>
                          </a:solidFill>
                          <a:latin typeface="Arial"/>
                        </a:rPr>
                        <a:t>sí</a:t>
                      </a:r>
                    </a:p>
                  </a:txBody>
                  <a:tcPr marL="64008" marR="64008" marT="27432" marB="27432" anchor="ctr">
                    <a:solidFill>
                      <a:srgbClr val="FFFFFF"/>
                    </a:solidFill>
                  </a:tcPr>
                </a:tc>
              </a:tr>
              <a:tr h="384048">
                <a:tc>
                  <a:txBody>
                    <a:bodyPr wrap="square"/>
                    <a:lstStyle/>
                    <a:p>
                      <a:pPr algn="l"/>
                      <a:r>
                        <a:rPr sz="1200" b="1" i="0">
                          <a:solidFill>
                            <a:srgbClr val="2B2B2B"/>
                          </a:solidFill>
                          <a:latin typeface="Arial"/>
                        </a:rPr>
                        <a:t>C</a:t>
                      </a:r>
                    </a:p>
                  </a:txBody>
                  <a:tcPr marL="64008" marR="64008" marT="27432" marB="27432" anchor="ctr">
                    <a:solidFill>
                      <a:srgbClr val="F2F3F5"/>
                    </a:solidFill>
                  </a:tcPr>
                </a:tc>
                <a:tc>
                  <a:txBody>
                    <a:bodyPr wrap="square"/>
                    <a:lstStyle/>
                    <a:p>
                      <a:pPr algn="ctr"/>
                      <a:r>
                        <a:rPr sz="1200" b="0" i="0">
                          <a:solidFill>
                            <a:srgbClr val="2B2B2B"/>
                          </a:solidFill>
                          <a:latin typeface="Arial"/>
                        </a:rPr>
                        <a:t>2,24</a:t>
                      </a:r>
                    </a:p>
                  </a:txBody>
                  <a:tcPr marL="64008" marR="64008" marT="27432" marB="27432" anchor="ctr">
                    <a:solidFill>
                      <a:srgbClr val="F2F3F5"/>
                    </a:solidFill>
                  </a:tcPr>
                </a:tc>
                <a:tc>
                  <a:txBody>
                    <a:bodyPr wrap="square"/>
                    <a:lstStyle/>
                    <a:p>
                      <a:pPr algn="ctr"/>
                      <a:r>
                        <a:rPr sz="1200" b="0" i="0">
                          <a:solidFill>
                            <a:srgbClr val="2B2B2B"/>
                          </a:solidFill>
                          <a:latin typeface="Arial"/>
                        </a:rPr>
                        <a:t>yes</a:t>
                      </a:r>
                    </a:p>
                  </a:txBody>
                  <a:tcPr marL="64008" marR="64008" marT="27432" marB="27432" anchor="ctr">
                    <a:solidFill>
                      <a:srgbClr val="F2F3F5"/>
                    </a:solidFill>
                  </a:tcPr>
                </a:tc>
                <a:tc>
                  <a:txBody>
                    <a:bodyPr wrap="square"/>
                    <a:lstStyle/>
                    <a:p>
                      <a:pPr algn="ctr"/>
                      <a:r>
                        <a:rPr sz="1200" b="0" i="0">
                          <a:solidFill>
                            <a:srgbClr val="2B2B2B"/>
                          </a:solidFill>
                          <a:latin typeface="Arial"/>
                        </a:rPr>
                        <a:t>no</a:t>
                      </a:r>
                    </a:p>
                  </a:txBody>
                  <a:tcPr marL="64008" marR="64008" marT="27432" marB="27432" anchor="ctr">
                    <a:solidFill>
                      <a:srgbClr val="F2F3F5"/>
                    </a:solidFill>
                  </a:tcPr>
                </a:tc>
              </a:tr>
            </a:tbl>
          </a:graphicData>
        </a:graphic>
      </p:graphicFrame>
      <p:sp>
        <p:nvSpPr>
          <p:cNvPr id="5" name="Rounded Rectangle 4"/>
          <p:cNvSpPr/>
          <p:nvPr/>
        </p:nvSpPr>
        <p:spPr>
          <a:xfrm>
            <a:off x="4892040" y="4069080"/>
            <a:ext cx="3611880" cy="10972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242852"/>
                </a:solidFill>
                <a:latin typeface="Arial"/>
              </a:rPr>
              <a:t>Voto: 2 no contra 1 yes</a:t>
            </a:r>
          </a:p>
          <a:p>
            <a:pPr algn="ctr">
              <a:spcAft>
                <a:spcPts val="300"/>
              </a:spcAft>
            </a:pPr>
            <a:r>
              <a:rPr sz="1300" b="0" i="0">
                <a:solidFill>
                  <a:srgbClr val="2B2B2B"/>
                </a:solidFill>
                <a:latin typeface="Arial"/>
              </a:rPr>
              <a:t>predice no</a:t>
            </a:r>
          </a:p>
        </p:txBody>
      </p:sp>
      <p:sp>
        <p:nvSpPr>
          <p:cNvPr id="6" name="Rounded Rectangle 5"/>
          <p:cNvSpPr/>
          <p:nvPr/>
        </p:nvSpPr>
        <p:spPr>
          <a:xfrm>
            <a:off x="731520" y="539496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KNN no aprende reglas: </a:t>
            </a:r>
            <a:r>
              <a:rPr sz="1200" b="0" i="0">
                <a:solidFill>
                  <a:srgbClr val="2B2B2B"/>
                </a:solidFill>
                <a:latin typeface="Arial"/>
              </a:rPr>
              <a:t>guarda los casos de Train y los consulta cada vez que llega uno nuevo.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significa «cercano»? Dos distancias</a:t>
            </a:r>
          </a:p>
        </p:txBody>
      </p:sp>
      <p:pic>
        <p:nvPicPr>
          <p:cNvPr id="3" name="Picture 2" descr="distancias.png"/>
          <p:cNvPicPr>
            <a:picLocks noChangeAspect="1"/>
          </p:cNvPicPr>
          <p:nvPr/>
        </p:nvPicPr>
        <p:blipFill>
          <a:blip r:embed="rId3"/>
          <a:stretch>
            <a:fillRect/>
          </a:stretch>
        </p:blipFill>
        <p:spPr>
          <a:xfrm>
            <a:off x="997345" y="1874519"/>
            <a:ext cx="3125948" cy="3566160"/>
          </a:xfrm>
          <a:prstGeom prst="rect">
            <a:avLst/>
          </a:prstGeom>
        </p:spPr>
      </p:pic>
      <p:sp>
        <p:nvSpPr>
          <p:cNvPr id="4" name="Rounded Rectangle 3"/>
          <p:cNvSpPr/>
          <p:nvPr/>
        </p:nvSpPr>
        <p:spPr>
          <a:xfrm>
            <a:off x="4663440" y="2011680"/>
            <a:ext cx="3840480" cy="14630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4800600" y="2121408"/>
            <a:ext cx="361188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Euclidiana (p = 2)</a:t>
            </a:r>
          </a:p>
        </p:txBody>
      </p:sp>
      <p:sp>
        <p:nvSpPr>
          <p:cNvPr id="6" name="TextBox 5"/>
          <p:cNvSpPr txBox="1"/>
          <p:nvPr/>
        </p:nvSpPr>
        <p:spPr>
          <a:xfrm>
            <a:off x="4800600" y="2670048"/>
            <a:ext cx="356616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√(Δ₁² + Δ₂² + …): la opción por defecto de KNN.</a:t>
            </a:r>
          </a:p>
        </p:txBody>
      </p:sp>
      <p:sp>
        <p:nvSpPr>
          <p:cNvPr id="7" name="Rounded Rectangle 6"/>
          <p:cNvSpPr/>
          <p:nvPr/>
        </p:nvSpPr>
        <p:spPr>
          <a:xfrm>
            <a:off x="4663440" y="3657600"/>
            <a:ext cx="3840480" cy="14630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00600" y="3767328"/>
            <a:ext cx="361188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Manhattan (p = 1)</a:t>
            </a:r>
          </a:p>
        </p:txBody>
      </p:sp>
      <p:sp>
        <p:nvSpPr>
          <p:cNvPr id="9" name="TextBox 8"/>
          <p:cNvSpPr txBox="1"/>
          <p:nvPr/>
        </p:nvSpPr>
        <p:spPr>
          <a:xfrm>
            <a:off x="4800600" y="4315968"/>
            <a:ext cx="3566160" cy="7315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|Δ₁| + |Δ₂| + …: castiga menos una diferencia grande en una sola variable.</a:t>
            </a:r>
          </a:p>
        </p:txBody>
      </p:sp>
      <p:sp>
        <p:nvSpPr>
          <p:cNvPr id="10" name="Rounded Rectangle 9"/>
          <p:cNvSpPr/>
          <p:nvPr/>
        </p:nvSpPr>
        <p:spPr>
          <a:xfrm>
            <a:off x="731520" y="562356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Con 11 variables </a:t>
            </a:r>
            <a:r>
              <a:rPr sz="1200" b="0" i="0">
                <a:solidFill>
                  <a:srgbClr val="2B2B2B"/>
                </a:solidFill>
                <a:latin typeface="Arial"/>
              </a:rPr>
              <a:t>la idea es la misma: se suman las diferencias de las 11 columnas.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Antes de medir distancias: escalar</a:t>
            </a:r>
          </a:p>
        </p:txBody>
      </p:sp>
      <p:graphicFrame>
        <p:nvGraphicFramePr>
          <p:cNvPr id="3" name="Table 2"/>
          <p:cNvGraphicFramePr>
            <a:graphicFrameLocks noGrp="1"/>
          </p:cNvGraphicFramePr>
          <p:nvPr/>
        </p:nvGraphicFramePr>
        <p:xfrm>
          <a:off x="731520" y="2011680"/>
          <a:ext cx="4846320" cy="2148840"/>
        </p:xfrm>
        <a:graphic>
          <a:graphicData uri="http://schemas.openxmlformats.org/drawingml/2006/table">
            <a:tbl>
              <a:tblPr firstRow="1" bandRow="1">
                <a:tableStyleId>{5C22544A-7EE6-4342-B048-85BDC9FD1C3A}</a:tableStyleId>
              </a:tblPr>
              <a:tblGrid>
                <a:gridCol w="1737360"/>
                <a:gridCol w="1554480"/>
                <a:gridCol w="1554480"/>
              </a:tblGrid>
              <a:tr h="429768">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Transacciones</a:t>
                      </a:r>
                    </a:p>
                  </a:txBody>
                  <a:tcPr marL="64008" marR="64008" marT="27432" marB="27432" anchor="ctr">
                    <a:solidFill>
                      <a:srgbClr val="242852"/>
                    </a:solidFill>
                  </a:tcPr>
                </a:tc>
                <a:tc>
                  <a:txBody>
                    <a:bodyPr wrap="square"/>
                    <a:lstStyle/>
                    <a:p>
                      <a:pPr algn="ctr"/>
                      <a:r>
                        <a:rPr sz="1200" b="1" i="0">
                          <a:solidFill>
                            <a:srgbClr val="FFFFFF"/>
                          </a:solidFill>
                          <a:latin typeface="Arial"/>
                        </a:rPr>
                        <a:t>Monto (USD)</a:t>
                      </a:r>
                    </a:p>
                  </a:txBody>
                  <a:tcPr marL="64008" marR="64008" marT="27432" marB="27432" anchor="ctr">
                    <a:solidFill>
                      <a:srgbClr val="242852"/>
                    </a:solidFill>
                  </a:tcPr>
                </a:tc>
              </a:tr>
              <a:tr h="429768">
                <a:tc>
                  <a:txBody>
                    <a:bodyPr wrap="square"/>
                    <a:lstStyle/>
                    <a:p>
                      <a:pPr algn="l"/>
                      <a:r>
                        <a:rPr sz="1200" b="1" i="0">
                          <a:solidFill>
                            <a:srgbClr val="2B2B2B"/>
                          </a:solidFill>
                          <a:latin typeface="Arial"/>
                        </a:rPr>
                        <a:t>Cliente nuevo</a:t>
                      </a:r>
                    </a:p>
                  </a:txBody>
                  <a:tcPr marL="64008" marR="64008" marT="27432" marB="27432" anchor="ctr">
                    <a:solidFill>
                      <a:srgbClr val="FFFFFF"/>
                    </a:solidFill>
                  </a:tcPr>
                </a:tc>
                <a:tc>
                  <a:txBody>
                    <a:bodyPr wrap="square"/>
                    <a:lstStyle/>
                    <a:p>
                      <a:pPr algn="ctr"/>
                      <a:r>
                        <a:rPr sz="1200" b="0" i="0">
                          <a:solidFill>
                            <a:srgbClr val="2B2B2B"/>
                          </a:solidFill>
                          <a:latin typeface="Arial"/>
                        </a:rPr>
                        <a:t>48</a:t>
                      </a:r>
                    </a:p>
                  </a:txBody>
                  <a:tcPr marL="64008" marR="64008" marT="27432" marB="27432" anchor="ctr">
                    <a:solidFill>
                      <a:srgbClr val="FFFFFF"/>
                    </a:solidFill>
                  </a:tcPr>
                </a:tc>
                <a:tc>
                  <a:txBody>
                    <a:bodyPr wrap="square"/>
                    <a:lstStyle/>
                    <a:p>
                      <a:pPr algn="ctr"/>
                      <a:r>
                        <a:rPr sz="1200" b="0" i="0">
                          <a:solidFill>
                            <a:srgbClr val="2B2B2B"/>
                          </a:solidFill>
                          <a:latin typeface="Arial"/>
                        </a:rPr>
                        <a:t>3 109</a:t>
                      </a:r>
                    </a:p>
                  </a:txBody>
                  <a:tcPr marL="64008" marR="64008" marT="27432" marB="27432" anchor="ctr">
                    <a:solidFill>
                      <a:srgbClr val="FFFFFF"/>
                    </a:solidFill>
                  </a:tcPr>
                </a:tc>
              </a:tr>
              <a:tr h="429768">
                <a:tc>
                  <a:txBody>
                    <a:bodyPr wrap="square"/>
                    <a:lstStyle/>
                    <a:p>
                      <a:pPr algn="l"/>
                      <a:r>
                        <a:rPr sz="1200" b="1" i="0">
                          <a:solidFill>
                            <a:srgbClr val="2B2B2B"/>
                          </a:solidFill>
                          <a:latin typeface="Arial"/>
                        </a:rPr>
                        <a:t>Vecino más cercano</a:t>
                      </a:r>
                    </a:p>
                  </a:txBody>
                  <a:tcPr marL="64008" marR="64008" marT="27432" marB="27432" anchor="ctr">
                    <a:solidFill>
                      <a:srgbClr val="F2F3F5"/>
                    </a:solidFill>
                  </a:tcPr>
                </a:tc>
                <a:tc>
                  <a:txBody>
                    <a:bodyPr wrap="square"/>
                    <a:lstStyle/>
                    <a:p>
                      <a:pPr algn="ctr"/>
                      <a:r>
                        <a:rPr sz="1200" b="0" i="0">
                          <a:solidFill>
                            <a:srgbClr val="2B2B2B"/>
                          </a:solidFill>
                          <a:latin typeface="Arial"/>
                        </a:rPr>
                        <a:t>49</a:t>
                      </a:r>
                    </a:p>
                  </a:txBody>
                  <a:tcPr marL="64008" marR="64008" marT="27432" marB="27432" anchor="ctr">
                    <a:solidFill>
                      <a:srgbClr val="F2F3F5"/>
                    </a:solidFill>
                  </a:tcPr>
                </a:tc>
                <a:tc>
                  <a:txBody>
                    <a:bodyPr wrap="square"/>
                    <a:lstStyle/>
                    <a:p>
                      <a:pPr algn="ctr"/>
                      <a:r>
                        <a:rPr sz="1200" b="0" i="0">
                          <a:solidFill>
                            <a:srgbClr val="2B2B2B"/>
                          </a:solidFill>
                          <a:latin typeface="Arial"/>
                        </a:rPr>
                        <a:t>3 073</a:t>
                      </a:r>
                    </a:p>
                  </a:txBody>
                  <a:tcPr marL="64008" marR="64008" marT="27432" marB="27432" anchor="ctr">
                    <a:solidFill>
                      <a:srgbClr val="F2F3F5"/>
                    </a:solidFill>
                  </a:tcPr>
                </a:tc>
              </a:tr>
              <a:tr h="429768">
                <a:tc>
                  <a:txBody>
                    <a:bodyPr wrap="square"/>
                    <a:lstStyle/>
                    <a:p>
                      <a:pPr algn="l"/>
                      <a:r>
                        <a:rPr sz="1200" b="1" i="0">
                          <a:solidFill>
                            <a:srgbClr val="2B2B2B"/>
                          </a:solidFill>
                          <a:latin typeface="Arial"/>
                        </a:rPr>
                        <a:t>Diferencia</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36</a:t>
                      </a:r>
                    </a:p>
                  </a:txBody>
                  <a:tcPr marL="64008" marR="64008" marT="27432" marB="27432" anchor="ctr">
                    <a:solidFill>
                      <a:srgbClr val="FFFFFF"/>
                    </a:solidFill>
                  </a:tcPr>
                </a:tc>
              </a:tr>
              <a:tr h="429768">
                <a:tc>
                  <a:txBody>
                    <a:bodyPr wrap="square"/>
                    <a:lstStyle/>
                    <a:p>
                      <a:pPr algn="l"/>
                      <a:r>
                        <a:rPr sz="1200" b="1" i="0">
                          <a:solidFill>
                            <a:srgbClr val="2B2B2B"/>
                          </a:solidFill>
                          <a:latin typeface="Arial"/>
                        </a:rPr>
                        <a:t>Diferencia escalada</a:t>
                      </a:r>
                    </a:p>
                  </a:txBody>
                  <a:tcPr marL="64008" marR="64008" marT="27432" marB="27432" anchor="ctr">
                    <a:solidFill>
                      <a:srgbClr val="E3F3F1"/>
                    </a:solidFill>
                  </a:tcPr>
                </a:tc>
                <a:tc>
                  <a:txBody>
                    <a:bodyPr wrap="square"/>
                    <a:lstStyle/>
                    <a:p>
                      <a:pPr algn="ctr"/>
                      <a:r>
                        <a:rPr sz="1200" b="0" i="0">
                          <a:solidFill>
                            <a:srgbClr val="2B2B2B"/>
                          </a:solidFill>
                          <a:latin typeface="Arial"/>
                        </a:rPr>
                        <a:t>1 / 23,6 = 0,042</a:t>
                      </a:r>
                    </a:p>
                  </a:txBody>
                  <a:tcPr marL="64008" marR="64008" marT="27432" marB="27432" anchor="ctr">
                    <a:solidFill>
                      <a:srgbClr val="E3F3F1"/>
                    </a:solidFill>
                  </a:tcPr>
                </a:tc>
                <a:tc>
                  <a:txBody>
                    <a:bodyPr wrap="square"/>
                    <a:lstStyle/>
                    <a:p>
                      <a:pPr algn="ctr"/>
                      <a:r>
                        <a:rPr sz="1200" b="0" i="0">
                          <a:solidFill>
                            <a:srgbClr val="2B2B2B"/>
                          </a:solidFill>
                          <a:latin typeface="Arial"/>
                        </a:rPr>
                        <a:t>36 / 3 391,7 = 0,011</a:t>
                      </a:r>
                    </a:p>
                  </a:txBody>
                  <a:tcPr marL="64008" marR="64008" marT="27432" marB="27432" anchor="ctr">
                    <a:solidFill>
                      <a:srgbClr val="E3F3F1"/>
                    </a:solidFill>
                  </a:tcPr>
                </a:tc>
              </a:tr>
            </a:tbl>
          </a:graphicData>
        </a:graphic>
      </p:graphicFrame>
      <p:sp>
        <p:nvSpPr>
          <p:cNvPr id="4" name="Rounded Rectangle 3"/>
          <p:cNvSpPr/>
          <p:nvPr/>
        </p:nvSpPr>
        <p:spPr>
          <a:xfrm>
            <a:off x="5760720" y="2011680"/>
            <a:ext cx="2743200"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Sin escalar</a:t>
            </a:r>
          </a:p>
          <a:p>
            <a:pPr algn="ctr">
              <a:spcAft>
                <a:spcPts val="300"/>
              </a:spcAft>
            </a:pPr>
            <a:r>
              <a:rPr sz="1500" b="1" i="0">
                <a:solidFill>
                  <a:srgbClr val="D7263D"/>
                </a:solidFill>
                <a:latin typeface="Arial"/>
              </a:rPr>
              <a:t>√(1² + 36²) = 36,0</a:t>
            </a:r>
          </a:p>
          <a:p>
            <a:pPr algn="ctr">
              <a:spcAft>
                <a:spcPts val="300"/>
              </a:spcAft>
            </a:pPr>
            <a:r>
              <a:rPr sz="1100" b="0" i="0">
                <a:solidFill>
                  <a:srgbClr val="2B2B2B"/>
                </a:solidFill>
                <a:latin typeface="Arial"/>
              </a:rPr>
              <a:t>manda el monto</a:t>
            </a:r>
          </a:p>
        </p:txBody>
      </p:sp>
      <p:sp>
        <p:nvSpPr>
          <p:cNvPr id="5" name="Rounded Rectangle 4"/>
          <p:cNvSpPr/>
          <p:nvPr/>
        </p:nvSpPr>
        <p:spPr>
          <a:xfrm>
            <a:off x="5760720" y="3200400"/>
            <a:ext cx="2743200" cy="10515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Escalado</a:t>
            </a:r>
          </a:p>
          <a:p>
            <a:pPr algn="ctr">
              <a:spcAft>
                <a:spcPts val="300"/>
              </a:spcAft>
            </a:pPr>
            <a:r>
              <a:rPr sz="1300" b="1" i="0">
                <a:solidFill>
                  <a:srgbClr val="2A9D8F"/>
                </a:solidFill>
                <a:latin typeface="Arial"/>
              </a:rPr>
              <a:t>√(0,042² + 0,011²) = 0,044</a:t>
            </a:r>
          </a:p>
          <a:p>
            <a:pPr algn="ctr">
              <a:spcAft>
                <a:spcPts val="300"/>
              </a:spcAft>
            </a:pPr>
            <a:r>
              <a:rPr sz="1100" b="0" i="0">
                <a:solidFill>
                  <a:srgbClr val="2B2B2B"/>
                </a:solidFill>
                <a:latin typeface="Arial"/>
              </a:rPr>
              <a:t>ambas cuentan</a:t>
            </a:r>
          </a:p>
        </p:txBody>
      </p:sp>
      <p:sp>
        <p:nvSpPr>
          <p:cNvPr id="6" name="Rounded Rectangle 5"/>
          <p:cNvSpPr/>
          <p:nvPr/>
        </p:nvSpPr>
        <p:spPr>
          <a:xfrm>
            <a:off x="731520" y="45262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z del cliente: </a:t>
            </a:r>
            <a:r>
              <a:rPr sz="1200" b="0" i="0">
                <a:solidFill>
                  <a:srgbClr val="2B2B2B"/>
                </a:solidFill>
                <a:latin typeface="Arial"/>
              </a:rPr>
              <a:t>(48 − 64,9) / 23,6 = −0,71 y (3 109 − 4 397) / 3 391,7 = −0,38: está algo por debajo del cliente promedio en ambas.</a:t>
            </a:r>
          </a:p>
        </p:txBody>
      </p:sp>
      <p:sp>
        <p:nvSpPr>
          <p:cNvPr id="7" name="Rounded Rectangle 6"/>
          <p:cNvSpPr/>
          <p:nvPr/>
        </p:nvSpPr>
        <p:spPr>
          <a:xfrm>
            <a:off x="731520" y="5486400"/>
            <a:ext cx="7772400" cy="54864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Igual que siempre: </a:t>
            </a:r>
            <a:r>
              <a:rPr sz="1200" b="0" i="0">
                <a:solidFill>
                  <a:srgbClr val="2B2B2B"/>
                </a:solidFill>
                <a:latin typeface="Arial"/>
              </a:rPr>
              <a:t>la media y la desviación se aprenden solo con Train.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Un cliente real y sus 15 vecinos</a:t>
            </a:r>
          </a:p>
        </p:txBody>
      </p:sp>
      <p:pic>
        <p:nvPicPr>
          <p:cNvPr id="3" name="Picture 2" descr="knn_real.png"/>
          <p:cNvPicPr>
            <a:picLocks noChangeAspect="1"/>
          </p:cNvPicPr>
          <p:nvPr/>
        </p:nvPicPr>
        <p:blipFill>
          <a:blip r:embed="rId3"/>
          <a:stretch>
            <a:fillRect/>
          </a:stretch>
        </p:blipFill>
        <p:spPr>
          <a:xfrm>
            <a:off x="731520" y="2005474"/>
            <a:ext cx="5120640" cy="3029930"/>
          </a:xfrm>
          <a:prstGeom prst="rect">
            <a:avLst/>
          </a:prstGeom>
        </p:spPr>
      </p:pic>
      <p:sp>
        <p:nvSpPr>
          <p:cNvPr id="4" name="Rounded Rectangle 3"/>
          <p:cNvSpPr/>
          <p:nvPr/>
        </p:nvSpPr>
        <p:spPr>
          <a:xfrm>
            <a:off x="6035040" y="1965960"/>
            <a:ext cx="2468880" cy="114300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FBE8EA"/>
                </a:solidFill>
                <a:latin typeface="Arial"/>
              </a:rPr>
              <a:t>Vecinos que abandonaron</a:t>
            </a:r>
          </a:p>
          <a:p>
            <a:pPr algn="ctr">
              <a:spcAft>
                <a:spcPts val="300"/>
              </a:spcAft>
            </a:pPr>
            <a:r>
              <a:rPr sz="2200" b="1" i="0">
                <a:solidFill>
                  <a:srgbClr val="FFFFFF"/>
                </a:solidFill>
                <a:latin typeface="Arial"/>
              </a:rPr>
              <a:t>12 de 15</a:t>
            </a:r>
          </a:p>
        </p:txBody>
      </p:sp>
      <p:sp>
        <p:nvSpPr>
          <p:cNvPr id="5" name="Rounded Rectangle 4"/>
          <p:cNvSpPr/>
          <p:nvPr/>
        </p:nvSpPr>
        <p:spPr>
          <a:xfrm>
            <a:off x="6035040" y="3246120"/>
            <a:ext cx="2468880" cy="9144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Predicción KNN</a:t>
            </a:r>
          </a:p>
          <a:p>
            <a:pPr algn="ctr">
              <a:spcAft>
                <a:spcPts val="300"/>
              </a:spcAft>
            </a:pPr>
            <a:r>
              <a:rPr sz="1800" b="1" i="0">
                <a:solidFill>
                  <a:srgbClr val="D7263D"/>
                </a:solidFill>
                <a:latin typeface="Arial"/>
              </a:rPr>
              <a:t>abandona</a:t>
            </a:r>
          </a:p>
        </p:txBody>
      </p:sp>
      <p:sp>
        <p:nvSpPr>
          <p:cNvPr id="6" name="Rounded Rectangle 5"/>
          <p:cNvSpPr/>
          <p:nvPr/>
        </p:nvSpPr>
        <p:spPr>
          <a:xfrm>
            <a:off x="6035040" y="4297680"/>
            <a:ext cx="2468880" cy="9144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Lo que pasó</a:t>
            </a:r>
          </a:p>
          <a:p>
            <a:pPr algn="ctr">
              <a:spcAft>
                <a:spcPts val="300"/>
              </a:spcAft>
            </a:pPr>
            <a:r>
              <a:rPr sz="1800" b="1" i="0">
                <a:solidFill>
                  <a:srgbClr val="2A9D8F"/>
                </a:solidFill>
                <a:latin typeface="Arial"/>
              </a:rPr>
              <a:t>abandonó</a:t>
            </a:r>
          </a:p>
        </p:txBody>
      </p:sp>
      <p:sp>
        <p:nvSpPr>
          <p:cNvPr id="7" name="Rounded Rectangle 6"/>
          <p:cNvSpPr/>
          <p:nvPr/>
        </p:nvSpPr>
        <p:spPr>
          <a:xfrm>
            <a:off x="731520" y="54406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Observa: </a:t>
            </a:r>
            <a:r>
              <a:rPr sz="1200" b="0" i="0">
                <a:solidFill>
                  <a:srgbClr val="2B2B2B"/>
                </a:solidFill>
                <a:latin typeface="Arial"/>
              </a:rPr>
              <a:t>a partir de unas 85 transacciones casi no hay puntos rojos. KNN no escribió esa regla: la encuentra al consultar a los vecinos.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Las escalas engañan: el vecino equivocado</a:t>
            </a:r>
          </a:p>
        </p:txBody>
      </p:sp>
      <p:graphicFrame>
        <p:nvGraphicFramePr>
          <p:cNvPr id="3" name="Table 2"/>
          <p:cNvGraphicFramePr>
            <a:graphicFrameLocks noGrp="1"/>
          </p:cNvGraphicFramePr>
          <p:nvPr/>
        </p:nvGraphicFramePr>
        <p:xfrm>
          <a:off x="731520" y="2011680"/>
          <a:ext cx="7772400" cy="1828800"/>
        </p:xfrm>
        <a:graphic>
          <a:graphicData uri="http://schemas.openxmlformats.org/drawingml/2006/table">
            <a:tbl>
              <a:tblPr firstRow="1" bandRow="1">
                <a:tableStyleId>{5C22544A-7EE6-4342-B048-85BDC9FD1C3A}</a:tableStyleId>
              </a:tblPr>
              <a:tblGrid>
                <a:gridCol w="2103120"/>
                <a:gridCol w="1280160"/>
                <a:gridCol w="1280160"/>
                <a:gridCol w="1554480"/>
                <a:gridCol w="1554480"/>
              </a:tblGrid>
              <a:tr h="457200">
                <a:tc>
                  <a:txBody>
                    <a:bodyPr wrap="square"/>
                    <a:lstStyle/>
                    <a:p>
                      <a:pPr algn="l"/>
                      <a:r>
                        <a:rPr sz="1250" b="1" i="0">
                          <a:solidFill>
                            <a:srgbClr val="FFFFFF"/>
                          </a:solidFill>
                          <a:latin typeface="Arial"/>
                        </a:rPr>
                        <a:t/>
                      </a:r>
                    </a:p>
                  </a:txBody>
                  <a:tcPr marL="64008" marR="64008" marT="27432" marB="27432" anchor="ctr">
                    <a:solidFill>
                      <a:srgbClr val="242852"/>
                    </a:solidFill>
                  </a:tcPr>
                </a:tc>
                <a:tc>
                  <a:txBody>
                    <a:bodyPr wrap="square"/>
                    <a:lstStyle/>
                    <a:p>
                      <a:pPr algn="ctr"/>
                      <a:r>
                        <a:rPr sz="1250" b="1" i="0">
                          <a:solidFill>
                            <a:srgbClr val="FFFFFF"/>
                          </a:solidFill>
                          <a:latin typeface="Arial"/>
                        </a:rPr>
                        <a:t>Transacciones</a:t>
                      </a:r>
                    </a:p>
                  </a:txBody>
                  <a:tcPr marL="64008" marR="64008" marT="27432" marB="27432" anchor="ctr">
                    <a:solidFill>
                      <a:srgbClr val="242852"/>
                    </a:solidFill>
                  </a:tcPr>
                </a:tc>
                <a:tc>
                  <a:txBody>
                    <a:bodyPr wrap="square"/>
                    <a:lstStyle/>
                    <a:p>
                      <a:pPr algn="ctr"/>
                      <a:r>
                        <a:rPr sz="1250" b="1" i="0">
                          <a:solidFill>
                            <a:srgbClr val="FFFFFF"/>
                          </a:solidFill>
                          <a:latin typeface="Arial"/>
                        </a:rPr>
                        <a:t>Monto (USD)</a:t>
                      </a:r>
                    </a:p>
                  </a:txBody>
                  <a:tcPr marL="64008" marR="64008" marT="27432" marB="27432" anchor="ctr">
                    <a:solidFill>
                      <a:srgbClr val="242852"/>
                    </a:solidFill>
                  </a:tcPr>
                </a:tc>
                <a:tc>
                  <a:txBody>
                    <a:bodyPr wrap="square"/>
                    <a:lstStyle/>
                    <a:p>
                      <a:pPr algn="ctr"/>
                      <a:r>
                        <a:rPr sz="1250" b="1" i="0">
                          <a:solidFill>
                            <a:srgbClr val="FFFFFF"/>
                          </a:solidFill>
                          <a:latin typeface="Arial"/>
                        </a:rPr>
                        <a:t>Distancia sin escalar</a:t>
                      </a:r>
                    </a:p>
                  </a:txBody>
                  <a:tcPr marL="64008" marR="64008" marT="27432" marB="27432" anchor="ctr">
                    <a:solidFill>
                      <a:srgbClr val="242852"/>
                    </a:solidFill>
                  </a:tcPr>
                </a:tc>
                <a:tc>
                  <a:txBody>
                    <a:bodyPr wrap="square"/>
                    <a:lstStyle/>
                    <a:p>
                      <a:pPr algn="ctr"/>
                      <a:r>
                        <a:rPr sz="1250" b="1" i="0">
                          <a:solidFill>
                            <a:srgbClr val="FFFFFF"/>
                          </a:solidFill>
                          <a:latin typeface="Arial"/>
                        </a:rPr>
                        <a:t>Distancia estandarizada</a:t>
                      </a:r>
                    </a:p>
                  </a:txBody>
                  <a:tcPr marL="64008" marR="64008" marT="27432" marB="27432" anchor="ctr">
                    <a:solidFill>
                      <a:srgbClr val="242852"/>
                    </a:solidFill>
                  </a:tcPr>
                </a:tc>
              </a:tr>
              <a:tr h="457200">
                <a:tc>
                  <a:txBody>
                    <a:bodyPr wrap="square"/>
                    <a:lstStyle/>
                    <a:p>
                      <a:pPr algn="l"/>
                      <a:r>
                        <a:rPr sz="1250" b="1" i="0">
                          <a:solidFill>
                            <a:srgbClr val="2B2B2B"/>
                          </a:solidFill>
                          <a:latin typeface="Arial"/>
                        </a:rPr>
                        <a:t>Cliente nuevo</a:t>
                      </a:r>
                    </a:p>
                  </a:txBody>
                  <a:tcPr marL="64008" marR="64008" marT="27432" marB="27432" anchor="ctr">
                    <a:solidFill>
                      <a:srgbClr val="FFFFFF"/>
                    </a:solidFill>
                  </a:tcPr>
                </a:tc>
                <a:tc>
                  <a:txBody>
                    <a:bodyPr wrap="square"/>
                    <a:lstStyle/>
                    <a:p>
                      <a:pPr algn="ctr"/>
                      <a:r>
                        <a:rPr sz="1250" b="0" i="0">
                          <a:solidFill>
                            <a:srgbClr val="2B2B2B"/>
                          </a:solidFill>
                          <a:latin typeface="Arial"/>
                        </a:rPr>
                        <a:t>48</a:t>
                      </a:r>
                    </a:p>
                  </a:txBody>
                  <a:tcPr marL="64008" marR="64008" marT="27432" marB="27432" anchor="ctr">
                    <a:solidFill>
                      <a:srgbClr val="FFFFFF"/>
                    </a:solidFill>
                  </a:tcPr>
                </a:tc>
                <a:tc>
                  <a:txBody>
                    <a:bodyPr wrap="square"/>
                    <a:lstStyle/>
                    <a:p>
                      <a:pPr algn="ctr"/>
                      <a:r>
                        <a:rPr sz="1250" b="0" i="0">
                          <a:solidFill>
                            <a:srgbClr val="2B2B2B"/>
                          </a:solidFill>
                          <a:latin typeface="Arial"/>
                        </a:rPr>
                        <a:t>3 109</a:t>
                      </a:r>
                    </a:p>
                  </a:txBody>
                  <a:tcPr marL="64008" marR="64008" marT="27432" marB="27432" anchor="ctr">
                    <a:solidFill>
                      <a:srgbClr val="FFFFFF"/>
                    </a:solidFill>
                  </a:tcPr>
                </a:tc>
                <a:tc>
                  <a:txBody>
                    <a:bodyPr wrap="square"/>
                    <a:lstStyle/>
                    <a:p>
                      <a:pPr algn="ctr"/>
                      <a:r>
                        <a:rPr sz="1250" b="0" i="0">
                          <a:solidFill>
                            <a:srgbClr val="2B2B2B"/>
                          </a:solidFill>
                          <a:latin typeface="Arial"/>
                        </a:rPr>
                        <a:t>—</a:t>
                      </a:r>
                    </a:p>
                  </a:txBody>
                  <a:tcPr marL="64008" marR="64008" marT="27432" marB="27432" anchor="ctr">
                    <a:solidFill>
                      <a:srgbClr val="FFFFFF"/>
                    </a:solidFill>
                  </a:tcPr>
                </a:tc>
                <a:tc>
                  <a:txBody>
                    <a:bodyPr wrap="square"/>
                    <a:lstStyle/>
                    <a:p>
                      <a:pPr algn="ctr"/>
                      <a:r>
                        <a:rPr sz="1250" b="0" i="0">
                          <a:solidFill>
                            <a:srgbClr val="2B2B2B"/>
                          </a:solidFill>
                          <a:latin typeface="Arial"/>
                        </a:rPr>
                        <a:t>—</a:t>
                      </a:r>
                    </a:p>
                  </a:txBody>
                  <a:tcPr marL="64008" marR="64008" marT="27432" marB="27432" anchor="ctr">
                    <a:solidFill>
                      <a:srgbClr val="FFFFFF"/>
                    </a:solidFill>
                  </a:tcPr>
                </a:tc>
              </a:tr>
              <a:tr h="457200">
                <a:tc>
                  <a:txBody>
                    <a:bodyPr wrap="square"/>
                    <a:lstStyle/>
                    <a:p>
                      <a:pPr algn="l"/>
                      <a:r>
                        <a:rPr sz="1250" b="1" i="0">
                          <a:solidFill>
                            <a:srgbClr val="2B2B2B"/>
                          </a:solidFill>
                          <a:latin typeface="Arial"/>
                        </a:rPr>
                        <a:t>Cliente A (parecido)</a:t>
                      </a:r>
                    </a:p>
                  </a:txBody>
                  <a:tcPr marL="64008" marR="64008" marT="27432" marB="27432" anchor="ctr">
                    <a:solidFill>
                      <a:srgbClr val="F2F3F5"/>
                    </a:solidFill>
                  </a:tcPr>
                </a:tc>
                <a:tc>
                  <a:txBody>
                    <a:bodyPr wrap="square"/>
                    <a:lstStyle/>
                    <a:p>
                      <a:pPr algn="ctr"/>
                      <a:r>
                        <a:rPr sz="1250" b="0" i="0">
                          <a:solidFill>
                            <a:srgbClr val="2B2B2B"/>
                          </a:solidFill>
                          <a:latin typeface="Arial"/>
                        </a:rPr>
                        <a:t>49</a:t>
                      </a:r>
                    </a:p>
                  </a:txBody>
                  <a:tcPr marL="64008" marR="64008" marT="27432" marB="27432" anchor="ctr">
                    <a:solidFill>
                      <a:srgbClr val="F2F3F5"/>
                    </a:solidFill>
                  </a:tcPr>
                </a:tc>
                <a:tc>
                  <a:txBody>
                    <a:bodyPr wrap="square"/>
                    <a:lstStyle/>
                    <a:p>
                      <a:pPr algn="ctr"/>
                      <a:r>
                        <a:rPr sz="1250" b="0" i="0">
                          <a:solidFill>
                            <a:srgbClr val="2B2B2B"/>
                          </a:solidFill>
                          <a:latin typeface="Arial"/>
                        </a:rPr>
                        <a:t>3 073</a:t>
                      </a:r>
                    </a:p>
                  </a:txBody>
                  <a:tcPr marL="64008" marR="64008" marT="27432" marB="27432" anchor="ctr">
                    <a:solidFill>
                      <a:srgbClr val="F2F3F5"/>
                    </a:solidFill>
                  </a:tcPr>
                </a:tc>
                <a:tc>
                  <a:txBody>
                    <a:bodyPr wrap="square"/>
                    <a:lstStyle/>
                    <a:p>
                      <a:pPr algn="ctr"/>
                      <a:r>
                        <a:rPr sz="1250" b="1" i="0">
                          <a:solidFill>
                            <a:srgbClr val="D7263D"/>
                          </a:solidFill>
                          <a:latin typeface="Arial"/>
                        </a:rPr>
                        <a:t>36,0</a:t>
                      </a:r>
                    </a:p>
                  </a:txBody>
                  <a:tcPr marL="64008" marR="64008" marT="27432" marB="27432" anchor="ctr">
                    <a:solidFill>
                      <a:srgbClr val="F2F3F5"/>
                    </a:solidFill>
                  </a:tcPr>
                </a:tc>
                <a:tc>
                  <a:txBody>
                    <a:bodyPr wrap="square"/>
                    <a:lstStyle/>
                    <a:p>
                      <a:pPr algn="ctr"/>
                      <a:r>
                        <a:rPr sz="1250" b="1" i="0">
                          <a:solidFill>
                            <a:srgbClr val="2A9D8F"/>
                          </a:solidFill>
                          <a:latin typeface="Arial"/>
                        </a:rPr>
                        <a:t>0,044</a:t>
                      </a:r>
                    </a:p>
                  </a:txBody>
                  <a:tcPr marL="64008" marR="64008" marT="27432" marB="27432" anchor="ctr">
                    <a:solidFill>
                      <a:srgbClr val="F2F3F5"/>
                    </a:solidFill>
                  </a:tcPr>
                </a:tc>
              </a:tr>
              <a:tr h="457200">
                <a:tc>
                  <a:txBody>
                    <a:bodyPr wrap="square"/>
                    <a:lstStyle/>
                    <a:p>
                      <a:pPr algn="l"/>
                      <a:r>
                        <a:rPr sz="1250" b="1" i="0">
                          <a:solidFill>
                            <a:srgbClr val="2B2B2B"/>
                          </a:solidFill>
                          <a:latin typeface="Arial"/>
                        </a:rPr>
                        <a:t>Cliente B (distinto)</a:t>
                      </a:r>
                    </a:p>
                  </a:txBody>
                  <a:tcPr marL="64008" marR="64008" marT="27432" marB="27432" anchor="ctr">
                    <a:solidFill>
                      <a:srgbClr val="FFFFFF"/>
                    </a:solidFill>
                  </a:tcPr>
                </a:tc>
                <a:tc>
                  <a:txBody>
                    <a:bodyPr wrap="square"/>
                    <a:lstStyle/>
                    <a:p>
                      <a:pPr algn="ctr"/>
                      <a:r>
                        <a:rPr sz="1250" b="0" i="0">
                          <a:solidFill>
                            <a:srgbClr val="2B2B2B"/>
                          </a:solidFill>
                          <a:latin typeface="Arial"/>
                        </a:rPr>
                        <a:t>79</a:t>
                      </a:r>
                    </a:p>
                  </a:txBody>
                  <a:tcPr marL="64008" marR="64008" marT="27432" marB="27432" anchor="ctr">
                    <a:solidFill>
                      <a:srgbClr val="FFFFFF"/>
                    </a:solidFill>
                  </a:tcPr>
                </a:tc>
                <a:tc>
                  <a:txBody>
                    <a:bodyPr wrap="square"/>
                    <a:lstStyle/>
                    <a:p>
                      <a:pPr algn="ctr"/>
                      <a:r>
                        <a:rPr sz="1250" b="0" i="0">
                          <a:solidFill>
                            <a:srgbClr val="2B2B2B"/>
                          </a:solidFill>
                          <a:latin typeface="Arial"/>
                        </a:rPr>
                        <a:t>3 112</a:t>
                      </a:r>
                    </a:p>
                  </a:txBody>
                  <a:tcPr marL="64008" marR="64008" marT="27432" marB="27432" anchor="ctr">
                    <a:solidFill>
                      <a:srgbClr val="FFFFFF"/>
                    </a:solidFill>
                  </a:tcPr>
                </a:tc>
                <a:tc>
                  <a:txBody>
                    <a:bodyPr wrap="square"/>
                    <a:lstStyle/>
                    <a:p>
                      <a:pPr algn="ctr"/>
                      <a:r>
                        <a:rPr sz="1250" b="1" i="0">
                          <a:solidFill>
                            <a:srgbClr val="D7263D"/>
                          </a:solidFill>
                          <a:latin typeface="Arial"/>
                        </a:rPr>
                        <a:t>31,1</a:t>
                      </a:r>
                    </a:p>
                  </a:txBody>
                  <a:tcPr marL="64008" marR="64008" marT="27432" marB="27432" anchor="ctr">
                    <a:solidFill>
                      <a:srgbClr val="FFFFFF"/>
                    </a:solidFill>
                  </a:tcPr>
                </a:tc>
                <a:tc>
                  <a:txBody>
                    <a:bodyPr wrap="square"/>
                    <a:lstStyle/>
                    <a:p>
                      <a:pPr algn="ctr"/>
                      <a:r>
                        <a:rPr sz="1250" b="1" i="0">
                          <a:solidFill>
                            <a:srgbClr val="2A9D8F"/>
                          </a:solidFill>
                          <a:latin typeface="Arial"/>
                        </a:rPr>
                        <a:t>1,312</a:t>
                      </a:r>
                    </a:p>
                  </a:txBody>
                  <a:tcPr marL="64008" marR="64008" marT="27432" marB="27432" anchor="ctr">
                    <a:solidFill>
                      <a:srgbClr val="FFFFFF"/>
                    </a:solidFill>
                  </a:tcPr>
                </a:tc>
              </a:tr>
            </a:tbl>
          </a:graphicData>
        </a:graphic>
      </p:graphicFrame>
      <p:sp>
        <p:nvSpPr>
          <p:cNvPr id="4" name="Rounded Rectangle 3"/>
          <p:cNvSpPr/>
          <p:nvPr/>
        </p:nvSpPr>
        <p:spPr>
          <a:xfrm>
            <a:off x="731520" y="4023360"/>
            <a:ext cx="3794760" cy="13716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1330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Sin escalar</a:t>
            </a:r>
          </a:p>
        </p:txBody>
      </p:sp>
      <p:sp>
        <p:nvSpPr>
          <p:cNvPr id="6" name="TextBox 5"/>
          <p:cNvSpPr txBox="1"/>
          <p:nvPr/>
        </p:nvSpPr>
        <p:spPr>
          <a:xfrm>
            <a:off x="868680" y="4681728"/>
            <a:ext cx="3520440" cy="6400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B «gana» porque su monto casi coincide; las 31 transacciones de diferencia casi no pesan.</a:t>
            </a:r>
          </a:p>
        </p:txBody>
      </p:sp>
      <p:sp>
        <p:nvSpPr>
          <p:cNvPr id="7" name="Rounded Rectangle 6"/>
          <p:cNvSpPr/>
          <p:nvPr/>
        </p:nvSpPr>
        <p:spPr>
          <a:xfrm>
            <a:off x="4709160" y="4023360"/>
            <a:ext cx="3794760" cy="137160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1330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Estandarizado</a:t>
            </a:r>
          </a:p>
        </p:txBody>
      </p:sp>
      <p:sp>
        <p:nvSpPr>
          <p:cNvPr id="9" name="TextBox 8"/>
          <p:cNvSpPr txBox="1"/>
          <p:nvPr/>
        </p:nvSpPr>
        <p:spPr>
          <a:xfrm>
            <a:off x="4846320" y="4681728"/>
            <a:ext cx="3520440" cy="64008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Cada variable pesa en desviaciones: A es el vecino correcto.</a:t>
            </a:r>
          </a:p>
        </p:txBody>
      </p:sp>
      <p:sp>
        <p:nvSpPr>
          <p:cNvPr id="10" name="Rounded Rectangle 9"/>
          <p:cNvSpPr/>
          <p:nvPr/>
        </p:nvSpPr>
        <p:spPr>
          <a:xfrm>
            <a:off x="731520" y="5623560"/>
            <a:ext cx="7772400" cy="59436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Por eso, </a:t>
            </a:r>
            <a:r>
              <a:rPr sz="1200" b="0" i="0">
                <a:solidFill>
                  <a:srgbClr val="2B2B2B"/>
                </a:solidFill>
                <a:latin typeface="Arial"/>
              </a:rPr>
              <a:t>en KNN y en SVM normalizar no es opcional: la distancia depende de las unidades.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Dos formas de normalizar</a:t>
            </a:r>
          </a:p>
        </p:txBody>
      </p:sp>
      <p:sp>
        <p:nvSpPr>
          <p:cNvPr id="3" name="Rounded Rectangle 2"/>
          <p:cNvSpPr/>
          <p:nvPr/>
        </p:nvSpPr>
        <p:spPr>
          <a:xfrm>
            <a:off x="731520" y="2011680"/>
            <a:ext cx="3794760" cy="11887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Estandarización (StandardScaler)</a:t>
            </a:r>
          </a:p>
          <a:p>
            <a:pPr algn="ctr">
              <a:spcAft>
                <a:spcPts val="300"/>
              </a:spcAft>
            </a:pPr>
            <a:r>
              <a:rPr sz="1600" b="1" i="0">
                <a:solidFill>
                  <a:srgbClr val="FFFFFF"/>
                </a:solidFill>
                <a:latin typeface="Arial"/>
              </a:rPr>
              <a:t>z = (x − media) / desviación</a:t>
            </a:r>
          </a:p>
        </p:txBody>
      </p:sp>
      <p:sp>
        <p:nvSpPr>
          <p:cNvPr id="4" name="Rounded Rectangle 3"/>
          <p:cNvSpPr/>
          <p:nvPr/>
        </p:nvSpPr>
        <p:spPr>
          <a:xfrm>
            <a:off x="4709160" y="2011680"/>
            <a:ext cx="3794760" cy="11887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FBE8EA"/>
                </a:solidFill>
                <a:latin typeface="Arial"/>
              </a:rPr>
              <a:t>Min-max (MinMaxScaler)</a:t>
            </a:r>
          </a:p>
          <a:p>
            <a:pPr algn="ctr">
              <a:spcAft>
                <a:spcPts val="300"/>
              </a:spcAft>
            </a:pPr>
            <a:r>
              <a:rPr sz="1600" b="1" i="0">
                <a:solidFill>
                  <a:srgbClr val="FFFFFF"/>
                </a:solidFill>
                <a:latin typeface="Arial"/>
              </a:rPr>
              <a:t>x' = (x − mín) / (máx − mín)</a:t>
            </a:r>
          </a:p>
        </p:txBody>
      </p:sp>
      <p:graphicFrame>
        <p:nvGraphicFramePr>
          <p:cNvPr id="5" name="Table 4"/>
          <p:cNvGraphicFramePr>
            <a:graphicFrameLocks noGrp="1"/>
          </p:cNvGraphicFramePr>
          <p:nvPr/>
        </p:nvGraphicFramePr>
        <p:xfrm>
          <a:off x="731520" y="3429000"/>
          <a:ext cx="7772400" cy="1371600"/>
        </p:xfrm>
        <a:graphic>
          <a:graphicData uri="http://schemas.openxmlformats.org/drawingml/2006/table">
            <a:tbl>
              <a:tblPr firstRow="1" bandRow="1">
                <a:tableStyleId>{5C22544A-7EE6-4342-B048-85BDC9FD1C3A}</a:tableStyleId>
              </a:tblPr>
              <a:tblGrid>
                <a:gridCol w="1463040"/>
                <a:gridCol w="822960"/>
                <a:gridCol w="2743200"/>
                <a:gridCol w="2743200"/>
              </a:tblGrid>
              <a:tr h="457200">
                <a:tc>
                  <a:txBody>
                    <a:bodyPr wrap="square"/>
                    <a:lstStyle/>
                    <a:p>
                      <a:pPr algn="l"/>
                      <a:r>
                        <a:rPr sz="1150" b="1" i="0">
                          <a:solidFill>
                            <a:srgbClr val="FFFFFF"/>
                          </a:solidFill>
                          <a:latin typeface="Arial"/>
                        </a:rPr>
                        <a:t>Cliente nuevo</a:t>
                      </a:r>
                    </a:p>
                  </a:txBody>
                  <a:tcPr marL="64008" marR="64008" marT="27432" marB="27432" anchor="ctr">
                    <a:solidFill>
                      <a:srgbClr val="242852"/>
                    </a:solidFill>
                  </a:tcPr>
                </a:tc>
                <a:tc>
                  <a:txBody>
                    <a:bodyPr wrap="square"/>
                    <a:lstStyle/>
                    <a:p>
                      <a:pPr algn="ctr"/>
                      <a:r>
                        <a:rPr sz="1150" b="1" i="0">
                          <a:solidFill>
                            <a:srgbClr val="FFFFFF"/>
                          </a:solidFill>
                          <a:latin typeface="Arial"/>
                        </a:rPr>
                        <a:t>Valor</a:t>
                      </a:r>
                    </a:p>
                  </a:txBody>
                  <a:tcPr marL="64008" marR="64008" marT="27432" marB="27432" anchor="ctr">
                    <a:solidFill>
                      <a:srgbClr val="242852"/>
                    </a:solidFill>
                  </a:tcPr>
                </a:tc>
                <a:tc>
                  <a:txBody>
                    <a:bodyPr wrap="square"/>
                    <a:lstStyle/>
                    <a:p>
                      <a:pPr algn="ctr"/>
                      <a:r>
                        <a:rPr sz="1150" b="1" i="0">
                          <a:solidFill>
                            <a:srgbClr val="FFFFFF"/>
                          </a:solidFill>
                          <a:latin typeface="Arial"/>
                        </a:rPr>
                        <a:t>Estandarizado</a:t>
                      </a:r>
                    </a:p>
                  </a:txBody>
                  <a:tcPr marL="64008" marR="64008" marT="27432" marB="27432" anchor="ctr">
                    <a:solidFill>
                      <a:srgbClr val="242852"/>
                    </a:solidFill>
                  </a:tcPr>
                </a:tc>
                <a:tc>
                  <a:txBody>
                    <a:bodyPr wrap="square"/>
                    <a:lstStyle/>
                    <a:p>
                      <a:pPr algn="ctr"/>
                      <a:r>
                        <a:rPr sz="1150" b="1" i="0">
                          <a:solidFill>
                            <a:srgbClr val="FFFFFF"/>
                          </a:solidFill>
                          <a:latin typeface="Arial"/>
                        </a:rPr>
                        <a:t>Min-max</a:t>
                      </a:r>
                    </a:p>
                  </a:txBody>
                  <a:tcPr marL="64008" marR="64008" marT="27432" marB="27432" anchor="ctr">
                    <a:solidFill>
                      <a:srgbClr val="242852"/>
                    </a:solidFill>
                  </a:tcPr>
                </a:tc>
              </a:tr>
              <a:tr h="457200">
                <a:tc>
                  <a:txBody>
                    <a:bodyPr wrap="square"/>
                    <a:lstStyle/>
                    <a:p>
                      <a:pPr algn="l"/>
                      <a:r>
                        <a:rPr sz="1150" b="1" i="0">
                          <a:solidFill>
                            <a:srgbClr val="2B2B2B"/>
                          </a:solidFill>
                          <a:latin typeface="Arial"/>
                        </a:rPr>
                        <a:t>Transacciones</a:t>
                      </a:r>
                    </a:p>
                  </a:txBody>
                  <a:tcPr marL="64008" marR="64008" marT="27432" marB="27432" anchor="ctr">
                    <a:solidFill>
                      <a:srgbClr val="FFFFFF"/>
                    </a:solidFill>
                  </a:tcPr>
                </a:tc>
                <a:tc>
                  <a:txBody>
                    <a:bodyPr wrap="square"/>
                    <a:lstStyle/>
                    <a:p>
                      <a:pPr algn="ctr"/>
                      <a:r>
                        <a:rPr sz="1150" b="0" i="0">
                          <a:solidFill>
                            <a:srgbClr val="2B2B2B"/>
                          </a:solidFill>
                          <a:latin typeface="Arial"/>
                        </a:rPr>
                        <a:t>48</a:t>
                      </a:r>
                    </a:p>
                  </a:txBody>
                  <a:tcPr marL="64008" marR="64008" marT="27432" marB="27432" anchor="ctr">
                    <a:solidFill>
                      <a:srgbClr val="FFFFFF"/>
                    </a:solidFill>
                  </a:tcPr>
                </a:tc>
                <a:tc>
                  <a:txBody>
                    <a:bodyPr wrap="square"/>
                    <a:lstStyle/>
                    <a:p>
                      <a:pPr algn="ctr"/>
                      <a:r>
                        <a:rPr sz="1150" b="0" i="0">
                          <a:solidFill>
                            <a:srgbClr val="2B2B2B"/>
                          </a:solidFill>
                          <a:latin typeface="Arial"/>
                        </a:rPr>
                        <a:t>(48 − 64,9) / 23,6 = −0,71</a:t>
                      </a:r>
                    </a:p>
                  </a:txBody>
                  <a:tcPr marL="64008" marR="64008" marT="27432" marB="27432" anchor="ctr">
                    <a:solidFill>
                      <a:srgbClr val="FFFFFF"/>
                    </a:solidFill>
                  </a:tcPr>
                </a:tc>
                <a:tc>
                  <a:txBody>
                    <a:bodyPr wrap="square"/>
                    <a:lstStyle/>
                    <a:p>
                      <a:pPr algn="ctr"/>
                      <a:r>
                        <a:rPr sz="1150" b="0" i="0">
                          <a:solidFill>
                            <a:srgbClr val="2B2B2B"/>
                          </a:solidFill>
                          <a:latin typeface="Arial"/>
                        </a:rPr>
                        <a:t>(48 − 10) / (139 − 10) = 0,29</a:t>
                      </a:r>
                    </a:p>
                  </a:txBody>
                  <a:tcPr marL="64008" marR="64008" marT="27432" marB="27432" anchor="ctr">
                    <a:solidFill>
                      <a:srgbClr val="FFFFFF"/>
                    </a:solidFill>
                  </a:tcPr>
                </a:tc>
              </a:tr>
              <a:tr h="457200">
                <a:tc>
                  <a:txBody>
                    <a:bodyPr wrap="square"/>
                    <a:lstStyle/>
                    <a:p>
                      <a:pPr algn="l"/>
                      <a:r>
                        <a:rPr sz="1150" b="1" i="0">
                          <a:solidFill>
                            <a:srgbClr val="2B2B2B"/>
                          </a:solidFill>
                          <a:latin typeface="Arial"/>
                        </a:rPr>
                        <a:t>Monto (USD)</a:t>
                      </a:r>
                    </a:p>
                  </a:txBody>
                  <a:tcPr marL="64008" marR="64008" marT="27432" marB="27432" anchor="ctr">
                    <a:solidFill>
                      <a:srgbClr val="F2F3F5"/>
                    </a:solidFill>
                  </a:tcPr>
                </a:tc>
                <a:tc>
                  <a:txBody>
                    <a:bodyPr wrap="square"/>
                    <a:lstStyle/>
                    <a:p>
                      <a:pPr algn="ctr"/>
                      <a:r>
                        <a:rPr sz="1150" b="0" i="0">
                          <a:solidFill>
                            <a:srgbClr val="2B2B2B"/>
                          </a:solidFill>
                          <a:latin typeface="Arial"/>
                        </a:rPr>
                        <a:t>3 109</a:t>
                      </a:r>
                    </a:p>
                  </a:txBody>
                  <a:tcPr marL="64008" marR="64008" marT="27432" marB="27432" anchor="ctr">
                    <a:solidFill>
                      <a:srgbClr val="F2F3F5"/>
                    </a:solidFill>
                  </a:tcPr>
                </a:tc>
                <a:tc>
                  <a:txBody>
                    <a:bodyPr wrap="square"/>
                    <a:lstStyle/>
                    <a:p>
                      <a:pPr algn="ctr"/>
                      <a:r>
                        <a:rPr sz="1150" b="0" i="0">
                          <a:solidFill>
                            <a:srgbClr val="2B2B2B"/>
                          </a:solidFill>
                          <a:latin typeface="Arial"/>
                        </a:rPr>
                        <a:t>(3 109 − 4 397) / 3 391,7 = −0,38</a:t>
                      </a:r>
                    </a:p>
                  </a:txBody>
                  <a:tcPr marL="64008" marR="64008" marT="27432" marB="27432" anchor="ctr">
                    <a:solidFill>
                      <a:srgbClr val="F2F3F5"/>
                    </a:solidFill>
                  </a:tcPr>
                </a:tc>
                <a:tc>
                  <a:txBody>
                    <a:bodyPr wrap="square"/>
                    <a:lstStyle/>
                    <a:p>
                      <a:pPr algn="ctr"/>
                      <a:r>
                        <a:rPr sz="1150" b="0" i="0">
                          <a:solidFill>
                            <a:srgbClr val="2B2B2B"/>
                          </a:solidFill>
                          <a:latin typeface="Arial"/>
                        </a:rPr>
                        <a:t>(3 109 − 530) / (17 995 − 530) = 0,15</a:t>
                      </a:r>
                    </a:p>
                  </a:txBody>
                  <a:tcPr marL="64008" marR="64008" marT="27432" marB="27432" anchor="ctr">
                    <a:solidFill>
                      <a:srgbClr val="F2F3F5"/>
                    </a:solidFill>
                  </a:tcPr>
                </a:tc>
              </a:tr>
            </a:tbl>
          </a:graphicData>
        </a:graphic>
      </p:graphicFrame>
      <p:sp>
        <p:nvSpPr>
          <p:cNvPr id="6" name="Rounded Rectangle 5"/>
          <p:cNvSpPr/>
          <p:nvPr/>
        </p:nvSpPr>
        <p:spPr>
          <a:xfrm>
            <a:off x="731520" y="4892040"/>
            <a:ext cx="3794760" cy="132588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868680" y="50017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Estandarización</a:t>
            </a:r>
          </a:p>
        </p:txBody>
      </p:sp>
      <p:sp>
        <p:nvSpPr>
          <p:cNvPr id="8" name="TextBox 7"/>
          <p:cNvSpPr txBox="1"/>
          <p:nvPr/>
        </p:nvSpPr>
        <p:spPr>
          <a:xfrm>
            <a:off x="868680" y="5550407"/>
            <a:ext cx="3520440" cy="59435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La opción habitual; tolera mejor los valores extremos.</a:t>
            </a:r>
          </a:p>
        </p:txBody>
      </p:sp>
      <p:sp>
        <p:nvSpPr>
          <p:cNvPr id="9" name="Rounded Rectangle 8"/>
          <p:cNvSpPr/>
          <p:nvPr/>
        </p:nvSpPr>
        <p:spPr>
          <a:xfrm>
            <a:off x="4709160" y="4892040"/>
            <a:ext cx="3794760" cy="132588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846320" y="50017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Min-max</a:t>
            </a:r>
          </a:p>
        </p:txBody>
      </p:sp>
      <p:sp>
        <p:nvSpPr>
          <p:cNvPr id="11" name="TextBox 10"/>
          <p:cNvSpPr txBox="1"/>
          <p:nvPr/>
        </p:nvSpPr>
        <p:spPr>
          <a:xfrm>
            <a:off x="4846320" y="5550407"/>
            <a:ext cx="3520440" cy="59435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Fácil de leer (0 a 1); un valor extremo estira todo el rango.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Normalizar cambia los vecinos y el resultado</a:t>
            </a:r>
          </a:p>
        </p:txBody>
      </p:sp>
      <p:graphicFrame>
        <p:nvGraphicFramePr>
          <p:cNvPr id="3" name="Table 2"/>
          <p:cNvGraphicFramePr>
            <a:graphicFrameLocks noGrp="1"/>
          </p:cNvGraphicFramePr>
          <p:nvPr/>
        </p:nvGraphicFramePr>
        <p:xfrm>
          <a:off x="731520" y="2011680"/>
          <a:ext cx="5120640" cy="2286000"/>
        </p:xfrm>
        <a:graphic>
          <a:graphicData uri="http://schemas.openxmlformats.org/drawingml/2006/table">
            <a:tbl>
              <a:tblPr firstRow="1" bandRow="1">
                <a:tableStyleId>{5C22544A-7EE6-4342-B048-85BDC9FD1C3A}</a:tableStyleId>
              </a:tblPr>
              <a:tblGrid>
                <a:gridCol w="1828800"/>
                <a:gridCol w="1097280"/>
                <a:gridCol w="1188720"/>
                <a:gridCol w="1005840"/>
              </a:tblGrid>
              <a:tr h="457200">
                <a:tc>
                  <a:txBody>
                    <a:bodyPr wrap="square"/>
                    <a:lstStyle/>
                    <a:p>
                      <a:pPr algn="l"/>
                      <a:r>
                        <a:rPr sz="1250" b="1" i="0">
                          <a:solidFill>
                            <a:srgbClr val="FFFFFF"/>
                          </a:solidFill>
                          <a:latin typeface="Arial"/>
                        </a:rPr>
                        <a:t>KNN k = 15</a:t>
                      </a:r>
                    </a:p>
                  </a:txBody>
                  <a:tcPr marL="64008" marR="64008" marT="27432" marB="27432" anchor="ctr">
                    <a:solidFill>
                      <a:srgbClr val="242852"/>
                    </a:solidFill>
                  </a:tcPr>
                </a:tc>
                <a:tc>
                  <a:txBody>
                    <a:bodyPr wrap="square"/>
                    <a:lstStyle/>
                    <a:p>
                      <a:pPr algn="ctr"/>
                      <a:r>
                        <a:rPr sz="1250" b="1" i="0">
                          <a:solidFill>
                            <a:srgbClr val="FFFFFF"/>
                          </a:solidFill>
                          <a:latin typeface="Arial"/>
                        </a:rPr>
                        <a:t>Sin escalar</a:t>
                      </a:r>
                    </a:p>
                  </a:txBody>
                  <a:tcPr marL="64008" marR="64008" marT="27432" marB="27432" anchor="ctr">
                    <a:solidFill>
                      <a:srgbClr val="242852"/>
                    </a:solidFill>
                  </a:tcPr>
                </a:tc>
                <a:tc>
                  <a:txBody>
                    <a:bodyPr wrap="square"/>
                    <a:lstStyle/>
                    <a:p>
                      <a:pPr algn="ctr"/>
                      <a:r>
                        <a:rPr sz="1250" b="1" i="0">
                          <a:solidFill>
                            <a:srgbClr val="FFFFFF"/>
                          </a:solidFill>
                          <a:latin typeface="Arial"/>
                        </a:rPr>
                        <a:t>Estandarizado</a:t>
                      </a:r>
                    </a:p>
                  </a:txBody>
                  <a:tcPr marL="64008" marR="64008" marT="27432" marB="27432" anchor="ctr">
                    <a:solidFill>
                      <a:srgbClr val="242852"/>
                    </a:solidFill>
                  </a:tcPr>
                </a:tc>
                <a:tc>
                  <a:txBody>
                    <a:bodyPr wrap="square"/>
                    <a:lstStyle/>
                    <a:p>
                      <a:pPr algn="ctr"/>
                      <a:r>
                        <a:rPr sz="1250" b="1" i="0">
                          <a:solidFill>
                            <a:srgbClr val="FFFFFF"/>
                          </a:solidFill>
                          <a:latin typeface="Arial"/>
                        </a:rPr>
                        <a:t>Min-max</a:t>
                      </a:r>
                    </a:p>
                  </a:txBody>
                  <a:tcPr marL="64008" marR="64008" marT="27432" marB="27432" anchor="ctr">
                    <a:solidFill>
                      <a:srgbClr val="242852"/>
                    </a:solidFill>
                  </a:tcPr>
                </a:tc>
              </a:tr>
              <a:tr h="457200">
                <a:tc>
                  <a:txBody>
                    <a:bodyPr wrap="square"/>
                    <a:lstStyle/>
                    <a:p>
                      <a:pPr algn="l"/>
                      <a:r>
                        <a:rPr sz="1250" b="1" i="0">
                          <a:solidFill>
                            <a:srgbClr val="2B2B2B"/>
                          </a:solidFill>
                          <a:latin typeface="Arial"/>
                        </a:rPr>
                        <a:t>2 variables · F1</a:t>
                      </a:r>
                    </a:p>
                  </a:txBody>
                  <a:tcPr marL="64008" marR="64008" marT="27432" marB="27432" anchor="ctr">
                    <a:solidFill>
                      <a:srgbClr val="FFFFFF"/>
                    </a:solidFill>
                  </a:tcPr>
                </a:tc>
                <a:tc>
                  <a:txBody>
                    <a:bodyPr wrap="square"/>
                    <a:lstStyle/>
                    <a:p>
                      <a:pPr algn="ctr"/>
                      <a:r>
                        <a:rPr sz="1250" b="1" i="0">
                          <a:solidFill>
                            <a:srgbClr val="D7263D"/>
                          </a:solidFill>
                          <a:latin typeface="Arial"/>
                        </a:rPr>
                        <a:t>0,590</a:t>
                      </a:r>
                    </a:p>
                  </a:txBody>
                  <a:tcPr marL="64008" marR="64008" marT="27432" marB="27432" anchor="ctr">
                    <a:solidFill>
                      <a:srgbClr val="FFFFFF"/>
                    </a:solidFill>
                  </a:tcPr>
                </a:tc>
                <a:tc>
                  <a:txBody>
                    <a:bodyPr wrap="square"/>
                    <a:lstStyle/>
                    <a:p>
                      <a:pPr algn="ctr"/>
                      <a:r>
                        <a:rPr sz="1250" b="1" i="0">
                          <a:solidFill>
                            <a:srgbClr val="2A9D8F"/>
                          </a:solidFill>
                          <a:latin typeface="Arial"/>
                        </a:rPr>
                        <a:t>0,685</a:t>
                      </a:r>
                    </a:p>
                  </a:txBody>
                  <a:tcPr marL="64008" marR="64008" marT="27432" marB="27432" anchor="ctr">
                    <a:solidFill>
                      <a:srgbClr val="FFFFFF"/>
                    </a:solidFill>
                  </a:tcPr>
                </a:tc>
                <a:tc>
                  <a:txBody>
                    <a:bodyPr wrap="square"/>
                    <a:lstStyle/>
                    <a:p>
                      <a:pPr algn="ctr"/>
                      <a:r>
                        <a:rPr sz="1250" b="0" i="0">
                          <a:solidFill>
                            <a:srgbClr val="2B2B2B"/>
                          </a:solidFill>
                          <a:latin typeface="Arial"/>
                        </a:rPr>
                        <a:t>0,682</a:t>
                      </a:r>
                    </a:p>
                  </a:txBody>
                  <a:tcPr marL="64008" marR="64008" marT="27432" marB="27432" anchor="ctr">
                    <a:solidFill>
                      <a:srgbClr val="FFFFFF"/>
                    </a:solidFill>
                  </a:tcPr>
                </a:tc>
              </a:tr>
              <a:tr h="457200">
                <a:tc>
                  <a:txBody>
                    <a:bodyPr wrap="square"/>
                    <a:lstStyle/>
                    <a:p>
                      <a:pPr algn="l"/>
                      <a:r>
                        <a:rPr sz="1250" b="1" i="0">
                          <a:solidFill>
                            <a:srgbClr val="2B2B2B"/>
                          </a:solidFill>
                          <a:latin typeface="Arial"/>
                        </a:rPr>
                        <a:t>2 variables · Recall</a:t>
                      </a:r>
                    </a:p>
                  </a:txBody>
                  <a:tcPr marL="64008" marR="64008" marT="27432" marB="27432" anchor="ctr">
                    <a:solidFill>
                      <a:srgbClr val="F2F3F5"/>
                    </a:solidFill>
                  </a:tcPr>
                </a:tc>
                <a:tc>
                  <a:txBody>
                    <a:bodyPr wrap="square"/>
                    <a:lstStyle/>
                    <a:p>
                      <a:pPr algn="ctr"/>
                      <a:r>
                        <a:rPr sz="1250" b="0" i="0">
                          <a:solidFill>
                            <a:srgbClr val="2B2B2B"/>
                          </a:solidFill>
                          <a:latin typeface="Arial"/>
                        </a:rPr>
                        <a:t>0,492</a:t>
                      </a:r>
                    </a:p>
                  </a:txBody>
                  <a:tcPr marL="64008" marR="64008" marT="27432" marB="27432" anchor="ctr">
                    <a:solidFill>
                      <a:srgbClr val="F2F3F5"/>
                    </a:solidFill>
                  </a:tcPr>
                </a:tc>
                <a:tc>
                  <a:txBody>
                    <a:bodyPr wrap="square"/>
                    <a:lstStyle/>
                    <a:p>
                      <a:pPr algn="ctr"/>
                      <a:r>
                        <a:rPr sz="1250" b="0" i="0">
                          <a:solidFill>
                            <a:srgbClr val="2B2B2B"/>
                          </a:solidFill>
                          <a:latin typeface="Arial"/>
                        </a:rPr>
                        <a:t>0,627</a:t>
                      </a:r>
                    </a:p>
                  </a:txBody>
                  <a:tcPr marL="64008" marR="64008" marT="27432" marB="27432" anchor="ctr">
                    <a:solidFill>
                      <a:srgbClr val="F2F3F5"/>
                    </a:solidFill>
                  </a:tcPr>
                </a:tc>
                <a:tc>
                  <a:txBody>
                    <a:bodyPr wrap="square"/>
                    <a:lstStyle/>
                    <a:p>
                      <a:pPr algn="ctr"/>
                      <a:r>
                        <a:rPr sz="1250" b="0" i="0">
                          <a:solidFill>
                            <a:srgbClr val="2B2B2B"/>
                          </a:solidFill>
                          <a:latin typeface="Arial"/>
                        </a:rPr>
                        <a:t>0,623</a:t>
                      </a:r>
                    </a:p>
                  </a:txBody>
                  <a:tcPr marL="64008" marR="64008" marT="27432" marB="27432" anchor="ctr">
                    <a:solidFill>
                      <a:srgbClr val="F2F3F5"/>
                    </a:solidFill>
                  </a:tcPr>
                </a:tc>
              </a:tr>
              <a:tr h="457200">
                <a:tc>
                  <a:txBody>
                    <a:bodyPr wrap="square"/>
                    <a:lstStyle/>
                    <a:p>
                      <a:pPr algn="l"/>
                      <a:r>
                        <a:rPr sz="1250" b="1" i="0">
                          <a:solidFill>
                            <a:srgbClr val="2B2B2B"/>
                          </a:solidFill>
                          <a:latin typeface="Arial"/>
                        </a:rPr>
                        <a:t>11 variables · F1</a:t>
                      </a:r>
                    </a:p>
                  </a:txBody>
                  <a:tcPr marL="64008" marR="64008" marT="27432" marB="27432" anchor="ctr">
                    <a:solidFill>
                      <a:srgbClr val="FFFFFF"/>
                    </a:solidFill>
                  </a:tcPr>
                </a:tc>
                <a:tc>
                  <a:txBody>
                    <a:bodyPr wrap="square"/>
                    <a:lstStyle/>
                    <a:p>
                      <a:pPr algn="ctr"/>
                      <a:r>
                        <a:rPr sz="1250" b="1" i="0">
                          <a:solidFill>
                            <a:srgbClr val="D7263D"/>
                          </a:solidFill>
                          <a:latin typeface="Arial"/>
                        </a:rPr>
                        <a:t>0,624</a:t>
                      </a:r>
                    </a:p>
                  </a:txBody>
                  <a:tcPr marL="64008" marR="64008" marT="27432" marB="27432" anchor="ctr">
                    <a:solidFill>
                      <a:srgbClr val="FFFFFF"/>
                    </a:solidFill>
                  </a:tcPr>
                </a:tc>
                <a:tc>
                  <a:txBody>
                    <a:bodyPr wrap="square"/>
                    <a:lstStyle/>
                    <a:p>
                      <a:pPr algn="ctr"/>
                      <a:r>
                        <a:rPr sz="1250" b="1" i="0">
                          <a:solidFill>
                            <a:srgbClr val="2A9D8F"/>
                          </a:solidFill>
                          <a:latin typeface="Arial"/>
                        </a:rPr>
                        <a:t>0,688</a:t>
                      </a:r>
                    </a:p>
                  </a:txBody>
                  <a:tcPr marL="64008" marR="64008" marT="27432" marB="27432" anchor="ctr">
                    <a:solidFill>
                      <a:srgbClr val="FFFFFF"/>
                    </a:solidFill>
                  </a:tcPr>
                </a:tc>
                <a:tc>
                  <a:txBody>
                    <a:bodyPr wrap="square"/>
                    <a:lstStyle/>
                    <a:p>
                      <a:pPr algn="ctr"/>
                      <a:r>
                        <a:rPr sz="1250" b="0" i="0">
                          <a:solidFill>
                            <a:srgbClr val="2B2B2B"/>
                          </a:solidFill>
                          <a:latin typeface="Arial"/>
                        </a:rPr>
                        <a:t>0,675</a:t>
                      </a:r>
                    </a:p>
                  </a:txBody>
                  <a:tcPr marL="64008" marR="64008" marT="27432" marB="27432" anchor="ctr">
                    <a:solidFill>
                      <a:srgbClr val="FFFFFF"/>
                    </a:solidFill>
                  </a:tcPr>
                </a:tc>
              </a:tr>
              <a:tr h="457200">
                <a:tc>
                  <a:txBody>
                    <a:bodyPr wrap="square"/>
                    <a:lstStyle/>
                    <a:p>
                      <a:pPr algn="l"/>
                      <a:r>
                        <a:rPr sz="1250" b="1" i="0">
                          <a:solidFill>
                            <a:srgbClr val="2B2B2B"/>
                          </a:solidFill>
                          <a:latin typeface="Arial"/>
                        </a:rPr>
                        <a:t>11 variables · Recall</a:t>
                      </a:r>
                    </a:p>
                  </a:txBody>
                  <a:tcPr marL="64008" marR="64008" marT="27432" marB="27432" anchor="ctr">
                    <a:solidFill>
                      <a:srgbClr val="F2F3F5"/>
                    </a:solidFill>
                  </a:tcPr>
                </a:tc>
                <a:tc>
                  <a:txBody>
                    <a:bodyPr wrap="square"/>
                    <a:lstStyle/>
                    <a:p>
                      <a:pPr algn="ctr"/>
                      <a:r>
                        <a:rPr sz="1250" b="0" i="0">
                          <a:solidFill>
                            <a:srgbClr val="2B2B2B"/>
                          </a:solidFill>
                          <a:latin typeface="Arial"/>
                        </a:rPr>
                        <a:t>0,557</a:t>
                      </a:r>
                    </a:p>
                  </a:txBody>
                  <a:tcPr marL="64008" marR="64008" marT="27432" marB="27432" anchor="ctr">
                    <a:solidFill>
                      <a:srgbClr val="F2F3F5"/>
                    </a:solidFill>
                  </a:tcPr>
                </a:tc>
                <a:tc>
                  <a:txBody>
                    <a:bodyPr wrap="square"/>
                    <a:lstStyle/>
                    <a:p>
                      <a:pPr algn="ctr"/>
                      <a:r>
                        <a:rPr sz="1250" b="0" i="0">
                          <a:solidFill>
                            <a:srgbClr val="2B2B2B"/>
                          </a:solidFill>
                          <a:latin typeface="Arial"/>
                        </a:rPr>
                        <a:t>0,586</a:t>
                      </a:r>
                    </a:p>
                  </a:txBody>
                  <a:tcPr marL="64008" marR="64008" marT="27432" marB="27432" anchor="ctr">
                    <a:solidFill>
                      <a:srgbClr val="F2F3F5"/>
                    </a:solidFill>
                  </a:tcPr>
                </a:tc>
                <a:tc>
                  <a:txBody>
                    <a:bodyPr wrap="square"/>
                    <a:lstStyle/>
                    <a:p>
                      <a:pPr algn="ctr"/>
                      <a:r>
                        <a:rPr sz="1250" b="0" i="0">
                          <a:solidFill>
                            <a:srgbClr val="2B2B2B"/>
                          </a:solidFill>
                          <a:latin typeface="Arial"/>
                        </a:rPr>
                        <a:t>0,574</a:t>
                      </a:r>
                    </a:p>
                  </a:txBody>
                  <a:tcPr marL="64008" marR="64008" marT="27432" marB="27432" anchor="ctr">
                    <a:solidFill>
                      <a:srgbClr val="F2F3F5"/>
                    </a:solidFill>
                  </a:tcPr>
                </a:tc>
              </a:tr>
            </a:tbl>
          </a:graphicData>
        </a:graphic>
      </p:graphicFrame>
      <p:sp>
        <p:nvSpPr>
          <p:cNvPr id="4" name="Rounded Rectangle 3"/>
          <p:cNvSpPr/>
          <p:nvPr/>
        </p:nvSpPr>
        <p:spPr>
          <a:xfrm>
            <a:off x="6035040" y="2011680"/>
            <a:ext cx="2468880" cy="114300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FBE8EA"/>
                </a:solidFill>
                <a:latin typeface="Arial"/>
              </a:rPr>
              <a:t>Vecinos en común</a:t>
            </a:r>
          </a:p>
          <a:p>
            <a:pPr algn="ctr">
              <a:spcAft>
                <a:spcPts val="300"/>
              </a:spcAft>
            </a:pPr>
            <a:r>
              <a:rPr sz="2200" b="1" i="0">
                <a:solidFill>
                  <a:srgbClr val="FFFFFF"/>
                </a:solidFill>
                <a:latin typeface="Arial"/>
              </a:rPr>
              <a:t>2 de 15</a:t>
            </a:r>
          </a:p>
        </p:txBody>
      </p:sp>
      <p:sp>
        <p:nvSpPr>
          <p:cNvPr id="5" name="Rounded Rectangle 4"/>
          <p:cNvSpPr/>
          <p:nvPr/>
        </p:nvSpPr>
        <p:spPr>
          <a:xfrm>
            <a:off x="6035040" y="3291840"/>
            <a:ext cx="2468880" cy="11430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Abandonos entre vecinos</a:t>
            </a:r>
          </a:p>
          <a:p>
            <a:pPr algn="ctr">
              <a:spcAft>
                <a:spcPts val="300"/>
              </a:spcAft>
            </a:pPr>
            <a:r>
              <a:rPr sz="1800" b="1" i="0">
                <a:solidFill>
                  <a:srgbClr val="D7263D"/>
                </a:solidFill>
                <a:latin typeface="Arial"/>
              </a:rPr>
              <a:t>2 frente a 12</a:t>
            </a:r>
          </a:p>
        </p:txBody>
      </p:sp>
      <p:sp>
        <p:nvSpPr>
          <p:cNvPr id="6" name="Rounded Rectangle 5"/>
          <p:cNvSpPr/>
          <p:nvPr/>
        </p:nvSpPr>
        <p:spPr>
          <a:xfrm>
            <a:off x="731520" y="457200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Regla: </a:t>
            </a:r>
            <a:r>
              <a:rPr sz="1200" b="0" i="0">
                <a:solidFill>
                  <a:srgbClr val="2B2B2B"/>
                </a:solidFill>
                <a:latin typeface="Arial"/>
              </a:rPr>
              <a:t>el escalador va dentro del Pipeline: aprende media y desviación (o mínimo y máximo) en Train y las aplica igual a Validation y Test.</a:t>
            </a:r>
          </a:p>
        </p:txBody>
      </p:sp>
      <p:sp>
        <p:nvSpPr>
          <p:cNvPr id="7" name="Rounded Rectangle 6"/>
          <p:cNvSpPr/>
          <p:nvPr/>
        </p:nvSpPr>
        <p:spPr>
          <a:xfrm>
            <a:off x="731520" y="5532120"/>
            <a:ext cx="7772400" cy="64008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Baseline: </a:t>
            </a:r>
            <a:r>
              <a:rPr sz="1200" b="0" i="0">
                <a:solidFill>
                  <a:srgbClr val="2B2B2B"/>
                </a:solidFill>
                <a:latin typeface="Arial"/>
              </a:rPr>
              <a:t>Accuracy 0,839 y Recall 0. Incluso sin escalar KNN encuentra abandonos, pero se equivoca de vecinos.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Elegir k y la distancia</a:t>
            </a:r>
          </a:p>
        </p:txBody>
      </p:sp>
      <p:graphicFrame>
        <p:nvGraphicFramePr>
          <p:cNvPr id="3" name="Table 2"/>
          <p:cNvGraphicFramePr>
            <a:graphicFrameLocks noGrp="1"/>
          </p:cNvGraphicFramePr>
          <p:nvPr/>
        </p:nvGraphicFramePr>
        <p:xfrm>
          <a:off x="731520" y="2011680"/>
          <a:ext cx="7772400" cy="2286000"/>
        </p:xfrm>
        <a:graphic>
          <a:graphicData uri="http://schemas.openxmlformats.org/drawingml/2006/table">
            <a:tbl>
              <a:tblPr firstRow="1" bandRow="1">
                <a:tableStyleId>{5C22544A-7EE6-4342-B048-85BDC9FD1C3A}</a:tableStyleId>
              </a:tblPr>
              <a:tblGrid>
                <a:gridCol w="1828800"/>
                <a:gridCol w="822960"/>
                <a:gridCol w="685800"/>
                <a:gridCol w="685800"/>
                <a:gridCol w="685800"/>
                <a:gridCol w="1005840"/>
                <a:gridCol w="1005840"/>
                <a:gridCol w="1051560"/>
              </a:tblGrid>
              <a:tr h="457200">
                <a:tc>
                  <a:txBody>
                    <a:bodyPr wrap="square"/>
                    <a:lstStyle/>
                    <a:p>
                      <a:pPr algn="l"/>
                      <a:r>
                        <a:rPr sz="1200" b="1" i="0">
                          <a:solidFill>
                            <a:srgbClr val="FFFFFF"/>
                          </a:solidFill>
                          <a:latin typeface="Arial"/>
                        </a:rPr>
                        <a:t>Configuración</a:t>
                      </a:r>
                    </a:p>
                  </a:txBody>
                  <a:tcPr marL="64008" marR="64008" marT="27432" marB="27432" anchor="ctr">
                    <a:solidFill>
                      <a:srgbClr val="242852"/>
                    </a:solidFill>
                  </a:tcPr>
                </a:tc>
                <a:tc>
                  <a:txBody>
                    <a:bodyPr wrap="square"/>
                    <a:lstStyle/>
                    <a:p>
                      <a:pPr algn="ctr"/>
                      <a:r>
                        <a:rPr sz="1200" b="1" i="0">
                          <a:solidFill>
                            <a:srgbClr val="FFFFFF"/>
                          </a:solidFill>
                          <a:latin typeface="Arial"/>
                        </a:rPr>
                        <a:t>Alertas</a:t>
                      </a:r>
                    </a:p>
                  </a:txBody>
                  <a:tcPr marL="64008" marR="64008" marT="27432" marB="27432" anchor="ctr">
                    <a:solidFill>
                      <a:srgbClr val="242852"/>
                    </a:solidFill>
                  </a:tcPr>
                </a:tc>
                <a:tc>
                  <a:txBody>
                    <a:bodyPr wrap="square"/>
                    <a:lstStyle/>
                    <a:p>
                      <a:pPr algn="ctr"/>
                      <a:r>
                        <a:rPr sz="1200" b="1" i="0">
                          <a:solidFill>
                            <a:srgbClr val="FFFFFF"/>
                          </a:solidFill>
                          <a:latin typeface="Arial"/>
                        </a:rPr>
                        <a:t>VP</a:t>
                      </a:r>
                    </a:p>
                  </a:txBody>
                  <a:tcPr marL="64008" marR="64008" marT="27432" marB="27432" anchor="ctr">
                    <a:solidFill>
                      <a:srgbClr val="242852"/>
                    </a:solidFill>
                  </a:tcPr>
                </a:tc>
                <a:tc>
                  <a:txBody>
                    <a:bodyPr wrap="square"/>
                    <a:lstStyle/>
                    <a:p>
                      <a:pPr algn="ctr"/>
                      <a:r>
                        <a:rPr sz="1200" b="1" i="0">
                          <a:solidFill>
                            <a:srgbClr val="FFFFFF"/>
                          </a:solidFill>
                          <a:latin typeface="Arial"/>
                        </a:rPr>
                        <a:t>FN</a:t>
                      </a:r>
                    </a:p>
                  </a:txBody>
                  <a:tcPr marL="64008" marR="64008" marT="27432" marB="27432" anchor="ctr">
                    <a:solidFill>
                      <a:srgbClr val="242852"/>
                    </a:solidFill>
                  </a:tcPr>
                </a:tc>
                <a:tc>
                  <a:txBody>
                    <a:bodyPr wrap="square"/>
                    <a:lstStyle/>
                    <a:p>
                      <a:pPr algn="ctr"/>
                      <a:r>
                        <a:rPr sz="1200" b="1" i="0">
                          <a:solidFill>
                            <a:srgbClr val="FFFFFF"/>
                          </a:solidFill>
                          <a:latin typeface="Arial"/>
                        </a:rPr>
                        <a:t>FP</a:t>
                      </a:r>
                    </a:p>
                  </a:txBody>
                  <a:tcPr marL="64008" marR="64008" marT="27432" marB="27432" anchor="ctr">
                    <a:solidFill>
                      <a:srgbClr val="242852"/>
                    </a:solidFill>
                  </a:tcPr>
                </a:tc>
                <a:tc>
                  <a:txBody>
                    <a:bodyPr wrap="square"/>
                    <a:lstStyle/>
                    <a:p>
                      <a:pPr algn="ctr"/>
                      <a:r>
                        <a:rPr sz="1200" b="1" i="0">
                          <a:solidFill>
                            <a:srgbClr val="FFFFFF"/>
                          </a:solidFill>
                          <a:latin typeface="Arial"/>
                        </a:rPr>
                        <a:t>Precision</a:t>
                      </a:r>
                    </a:p>
                  </a:txBody>
                  <a:tcPr marL="64008" marR="64008" marT="27432" marB="27432" anchor="ctr">
                    <a:solidFill>
                      <a:srgbClr val="242852"/>
                    </a:solidFill>
                  </a:tcPr>
                </a:tc>
                <a:tc>
                  <a:txBody>
                    <a:bodyPr wrap="square"/>
                    <a:lstStyle/>
                    <a:p>
                      <a:pPr algn="ctr"/>
                      <a:r>
                        <a:rPr sz="1200" b="1" i="0">
                          <a:solidFill>
                            <a:srgbClr val="FFFFFF"/>
                          </a:solidFill>
                          <a:latin typeface="Arial"/>
                        </a:rPr>
                        <a:t>Recall</a:t>
                      </a:r>
                    </a:p>
                  </a:txBody>
                  <a:tcPr marL="64008" marR="64008" marT="27432" marB="27432" anchor="ctr">
                    <a:solidFill>
                      <a:srgbClr val="242852"/>
                    </a:solidFill>
                  </a:tcPr>
                </a:tc>
                <a:tc>
                  <a:txBody>
                    <a:bodyPr wrap="square"/>
                    <a:lstStyle/>
                    <a:p>
                      <a:pPr algn="ctr"/>
                      <a:r>
                        <a:rPr sz="1200" b="1" i="0">
                          <a:solidFill>
                            <a:srgbClr val="FFFFFF"/>
                          </a:solidFill>
                          <a:latin typeface="Arial"/>
                        </a:rPr>
                        <a:t>F1</a:t>
                      </a:r>
                    </a:p>
                  </a:txBody>
                  <a:tcPr marL="64008" marR="64008" marT="27432" marB="27432" anchor="ctr">
                    <a:solidFill>
                      <a:srgbClr val="242852"/>
                    </a:solidFill>
                  </a:tcPr>
                </a:tc>
              </a:tr>
              <a:tr h="457200">
                <a:tc>
                  <a:txBody>
                    <a:bodyPr wrap="square"/>
                    <a:lstStyle/>
                    <a:p>
                      <a:pPr algn="l"/>
                      <a:r>
                        <a:rPr sz="1200" b="1" i="0">
                          <a:solidFill>
                            <a:srgbClr val="2B2B2B"/>
                          </a:solidFill>
                          <a:latin typeface="Arial"/>
                        </a:rPr>
                        <a:t>k = 5</a:t>
                      </a:r>
                    </a:p>
                  </a:txBody>
                  <a:tcPr marL="64008" marR="64008" marT="27432" marB="27432" anchor="ctr">
                    <a:solidFill>
                      <a:srgbClr val="FFFFFF"/>
                    </a:solidFill>
                  </a:tcPr>
                </a:tc>
                <a:tc>
                  <a:txBody>
                    <a:bodyPr wrap="square"/>
                    <a:lstStyle/>
                    <a:p>
                      <a:pPr algn="ctr"/>
                      <a:r>
                        <a:rPr sz="1200" b="0" i="0">
                          <a:solidFill>
                            <a:srgbClr val="2B2B2B"/>
                          </a:solidFill>
                          <a:latin typeface="Arial"/>
                        </a:rPr>
                        <a:t>186</a:t>
                      </a:r>
                    </a:p>
                  </a:txBody>
                  <a:tcPr marL="64008" marR="64008" marT="27432" marB="27432" anchor="ctr">
                    <a:solidFill>
                      <a:srgbClr val="FFFFFF"/>
                    </a:solidFill>
                  </a:tcPr>
                </a:tc>
                <a:tc>
                  <a:txBody>
                    <a:bodyPr wrap="square"/>
                    <a:lstStyle/>
                    <a:p>
                      <a:pPr algn="ctr"/>
                      <a:r>
                        <a:rPr sz="1200" b="0" i="0">
                          <a:solidFill>
                            <a:srgbClr val="2B2B2B"/>
                          </a:solidFill>
                          <a:latin typeface="Arial"/>
                        </a:rPr>
                        <a:t>153</a:t>
                      </a:r>
                    </a:p>
                  </a:txBody>
                  <a:tcPr marL="64008" marR="64008" marT="27432" marB="27432" anchor="ctr">
                    <a:solidFill>
                      <a:srgbClr val="FFFFFF"/>
                    </a:solidFill>
                  </a:tcPr>
                </a:tc>
                <a:tc>
                  <a:txBody>
                    <a:bodyPr wrap="square"/>
                    <a:lstStyle/>
                    <a:p>
                      <a:pPr algn="ctr"/>
                      <a:r>
                        <a:rPr sz="1200" b="0" i="0">
                          <a:solidFill>
                            <a:srgbClr val="2B2B2B"/>
                          </a:solidFill>
                          <a:latin typeface="Arial"/>
                        </a:rPr>
                        <a:t>91</a:t>
                      </a:r>
                    </a:p>
                  </a:txBody>
                  <a:tcPr marL="64008" marR="64008" marT="27432" marB="27432" anchor="ctr">
                    <a:solidFill>
                      <a:srgbClr val="FFFFFF"/>
                    </a:solidFill>
                  </a:tcPr>
                </a:tc>
                <a:tc>
                  <a:txBody>
                    <a:bodyPr wrap="square"/>
                    <a:lstStyle/>
                    <a:p>
                      <a:pPr algn="ctr"/>
                      <a:r>
                        <a:rPr sz="1200" b="0" i="0">
                          <a:solidFill>
                            <a:srgbClr val="2B2B2B"/>
                          </a:solidFill>
                          <a:latin typeface="Arial"/>
                        </a:rPr>
                        <a:t>33</a:t>
                      </a:r>
                    </a:p>
                  </a:txBody>
                  <a:tcPr marL="64008" marR="64008" marT="27432" marB="27432" anchor="ctr">
                    <a:solidFill>
                      <a:srgbClr val="FFFFFF"/>
                    </a:solidFill>
                  </a:tcPr>
                </a:tc>
                <a:tc>
                  <a:txBody>
                    <a:bodyPr wrap="square"/>
                    <a:lstStyle/>
                    <a:p>
                      <a:pPr algn="ctr"/>
                      <a:r>
                        <a:rPr sz="1200" b="0" i="0">
                          <a:solidFill>
                            <a:srgbClr val="2B2B2B"/>
                          </a:solidFill>
                          <a:latin typeface="Arial"/>
                        </a:rPr>
                        <a:t>0,823</a:t>
                      </a:r>
                    </a:p>
                  </a:txBody>
                  <a:tcPr marL="64008" marR="64008" marT="27432" marB="27432" anchor="ctr">
                    <a:solidFill>
                      <a:srgbClr val="FFFFFF"/>
                    </a:solidFill>
                  </a:tcPr>
                </a:tc>
                <a:tc>
                  <a:txBody>
                    <a:bodyPr wrap="square"/>
                    <a:lstStyle/>
                    <a:p>
                      <a:pPr algn="ctr"/>
                      <a:r>
                        <a:rPr sz="1200" b="0" i="0">
                          <a:solidFill>
                            <a:srgbClr val="2B2B2B"/>
                          </a:solidFill>
                          <a:latin typeface="Arial"/>
                        </a:rPr>
                        <a:t>0,627</a:t>
                      </a:r>
                    </a:p>
                  </a:txBody>
                  <a:tcPr marL="64008" marR="64008" marT="27432" marB="27432" anchor="ctr">
                    <a:solidFill>
                      <a:srgbClr val="FFFFFF"/>
                    </a:solidFill>
                  </a:tcPr>
                </a:tc>
                <a:tc>
                  <a:txBody>
                    <a:bodyPr wrap="square"/>
                    <a:lstStyle/>
                    <a:p>
                      <a:pPr algn="ctr"/>
                      <a:r>
                        <a:rPr sz="1200" b="0" i="0">
                          <a:solidFill>
                            <a:srgbClr val="2B2B2B"/>
                          </a:solidFill>
                          <a:latin typeface="Arial"/>
                        </a:rPr>
                        <a:t>0,712</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k = 15</a:t>
                      </a:r>
                    </a:p>
                  </a:txBody>
                  <a:tcPr marL="64008" marR="64008" marT="27432" marB="27432" anchor="ctr">
                    <a:solidFill>
                      <a:srgbClr val="F2F3F5"/>
                    </a:solidFill>
                  </a:tcPr>
                </a:tc>
                <a:tc>
                  <a:txBody>
                    <a:bodyPr wrap="square"/>
                    <a:lstStyle/>
                    <a:p>
                      <a:pPr algn="ctr"/>
                      <a:r>
                        <a:rPr sz="1200" b="0" i="0">
                          <a:solidFill>
                            <a:srgbClr val="2B2B2B"/>
                          </a:solidFill>
                          <a:latin typeface="Arial"/>
                        </a:rPr>
                        <a:t>172</a:t>
                      </a:r>
                    </a:p>
                  </a:txBody>
                  <a:tcPr marL="64008" marR="64008" marT="27432" marB="27432" anchor="ctr">
                    <a:solidFill>
                      <a:srgbClr val="F2F3F5"/>
                    </a:solidFill>
                  </a:tcPr>
                </a:tc>
                <a:tc>
                  <a:txBody>
                    <a:bodyPr wrap="square"/>
                    <a:lstStyle/>
                    <a:p>
                      <a:pPr algn="ctr"/>
                      <a:r>
                        <a:rPr sz="1200" b="0" i="0">
                          <a:solidFill>
                            <a:srgbClr val="2B2B2B"/>
                          </a:solidFill>
                          <a:latin typeface="Arial"/>
                        </a:rPr>
                        <a:t>143</a:t>
                      </a:r>
                    </a:p>
                  </a:txBody>
                  <a:tcPr marL="64008" marR="64008" marT="27432" marB="27432" anchor="ctr">
                    <a:solidFill>
                      <a:srgbClr val="F2F3F5"/>
                    </a:solidFill>
                  </a:tcPr>
                </a:tc>
                <a:tc>
                  <a:txBody>
                    <a:bodyPr wrap="square"/>
                    <a:lstStyle/>
                    <a:p>
                      <a:pPr algn="ctr"/>
                      <a:r>
                        <a:rPr sz="1200" b="0" i="0">
                          <a:solidFill>
                            <a:srgbClr val="2B2B2B"/>
                          </a:solidFill>
                          <a:latin typeface="Arial"/>
                        </a:rPr>
                        <a:t>101</a:t>
                      </a:r>
                    </a:p>
                  </a:txBody>
                  <a:tcPr marL="64008" marR="64008" marT="27432" marB="27432" anchor="ctr">
                    <a:solidFill>
                      <a:srgbClr val="F2F3F5"/>
                    </a:solidFill>
                  </a:tcPr>
                </a:tc>
                <a:tc>
                  <a:txBody>
                    <a:bodyPr wrap="square"/>
                    <a:lstStyle/>
                    <a:p>
                      <a:pPr algn="ctr"/>
                      <a:r>
                        <a:rPr sz="1200" b="0" i="0">
                          <a:solidFill>
                            <a:srgbClr val="2B2B2B"/>
                          </a:solidFill>
                          <a:latin typeface="Arial"/>
                        </a:rPr>
                        <a:t>29</a:t>
                      </a:r>
                    </a:p>
                  </a:txBody>
                  <a:tcPr marL="64008" marR="64008" marT="27432" marB="27432" anchor="ctr">
                    <a:solidFill>
                      <a:srgbClr val="F2F3F5"/>
                    </a:solidFill>
                  </a:tcPr>
                </a:tc>
                <a:tc>
                  <a:txBody>
                    <a:bodyPr wrap="square"/>
                    <a:lstStyle/>
                    <a:p>
                      <a:pPr algn="ctr"/>
                      <a:r>
                        <a:rPr sz="1200" b="0" i="0">
                          <a:solidFill>
                            <a:srgbClr val="2B2B2B"/>
                          </a:solidFill>
                          <a:latin typeface="Arial"/>
                        </a:rPr>
                        <a:t>0,831</a:t>
                      </a:r>
                    </a:p>
                  </a:txBody>
                  <a:tcPr marL="64008" marR="64008" marT="27432" marB="27432" anchor="ctr">
                    <a:solidFill>
                      <a:srgbClr val="F2F3F5"/>
                    </a:solidFill>
                  </a:tcPr>
                </a:tc>
                <a:tc>
                  <a:txBody>
                    <a:bodyPr wrap="square"/>
                    <a:lstStyle/>
                    <a:p>
                      <a:pPr algn="ctr"/>
                      <a:r>
                        <a:rPr sz="1200" b="0" i="0">
                          <a:solidFill>
                            <a:srgbClr val="2B2B2B"/>
                          </a:solidFill>
                          <a:latin typeface="Arial"/>
                        </a:rPr>
                        <a:t>0,586</a:t>
                      </a:r>
                    </a:p>
                  </a:txBody>
                  <a:tcPr marL="64008" marR="64008" marT="27432" marB="27432" anchor="ctr">
                    <a:solidFill>
                      <a:srgbClr val="F2F3F5"/>
                    </a:solidFill>
                  </a:tcPr>
                </a:tc>
                <a:tc>
                  <a:txBody>
                    <a:bodyPr wrap="square"/>
                    <a:lstStyle/>
                    <a:p>
                      <a:pPr algn="ctr"/>
                      <a:r>
                        <a:rPr sz="1200" b="0" i="0">
                          <a:solidFill>
                            <a:srgbClr val="2B2B2B"/>
                          </a:solidFill>
                          <a:latin typeface="Arial"/>
                        </a:rPr>
                        <a:t>0,688</a:t>
                      </a:r>
                    </a:p>
                  </a:txBody>
                  <a:tcPr marL="64008" marR="64008" marT="27432" marB="27432" anchor="ctr">
                    <a:solidFill>
                      <a:srgbClr val="F2F3F5"/>
                    </a:solidFill>
                  </a:tcPr>
                </a:tc>
              </a:tr>
              <a:tr h="457200">
                <a:tc>
                  <a:txBody>
                    <a:bodyPr wrap="square"/>
                    <a:lstStyle/>
                    <a:p>
                      <a:pPr algn="l"/>
                      <a:r>
                        <a:rPr sz="1200" b="1" i="0">
                          <a:solidFill>
                            <a:srgbClr val="2B2B2B"/>
                          </a:solidFill>
                          <a:latin typeface="Arial"/>
                        </a:rPr>
                        <a:t>k = 31</a:t>
                      </a:r>
                    </a:p>
                  </a:txBody>
                  <a:tcPr marL="64008" marR="64008" marT="27432" marB="27432" anchor="ctr">
                    <a:solidFill>
                      <a:srgbClr val="FFFFFF"/>
                    </a:solidFill>
                  </a:tcPr>
                </a:tc>
                <a:tc>
                  <a:txBody>
                    <a:bodyPr wrap="square"/>
                    <a:lstStyle/>
                    <a:p>
                      <a:pPr algn="ctr"/>
                      <a:r>
                        <a:rPr sz="1200" b="0" i="0">
                          <a:solidFill>
                            <a:srgbClr val="2B2B2B"/>
                          </a:solidFill>
                          <a:latin typeface="Arial"/>
                        </a:rPr>
                        <a:t>156</a:t>
                      </a:r>
                    </a:p>
                  </a:txBody>
                  <a:tcPr marL="64008" marR="64008" marT="27432" marB="27432" anchor="ctr">
                    <a:solidFill>
                      <a:srgbClr val="FFFFFF"/>
                    </a:solidFill>
                  </a:tcPr>
                </a:tc>
                <a:tc>
                  <a:txBody>
                    <a:bodyPr wrap="square"/>
                    <a:lstStyle/>
                    <a:p>
                      <a:pPr algn="ctr"/>
                      <a:r>
                        <a:rPr sz="1200" b="0" i="0">
                          <a:solidFill>
                            <a:srgbClr val="2B2B2B"/>
                          </a:solidFill>
                          <a:latin typeface="Arial"/>
                        </a:rPr>
                        <a:t>130</a:t>
                      </a:r>
                    </a:p>
                  </a:txBody>
                  <a:tcPr marL="64008" marR="64008" marT="27432" marB="27432" anchor="ctr">
                    <a:solidFill>
                      <a:srgbClr val="FFFFFF"/>
                    </a:solidFill>
                  </a:tcPr>
                </a:tc>
                <a:tc>
                  <a:txBody>
                    <a:bodyPr wrap="square"/>
                    <a:lstStyle/>
                    <a:p>
                      <a:pPr algn="ctr"/>
                      <a:r>
                        <a:rPr sz="1200" b="0" i="0">
                          <a:solidFill>
                            <a:srgbClr val="2B2B2B"/>
                          </a:solidFill>
                          <a:latin typeface="Arial"/>
                        </a:rPr>
                        <a:t>114</a:t>
                      </a:r>
                    </a:p>
                  </a:txBody>
                  <a:tcPr marL="64008" marR="64008" marT="27432" marB="27432" anchor="ctr">
                    <a:solidFill>
                      <a:srgbClr val="FFFFFF"/>
                    </a:solidFill>
                  </a:tcPr>
                </a:tc>
                <a:tc>
                  <a:txBody>
                    <a:bodyPr wrap="square"/>
                    <a:lstStyle/>
                    <a:p>
                      <a:pPr algn="ctr"/>
                      <a:r>
                        <a:rPr sz="1200" b="0" i="0">
                          <a:solidFill>
                            <a:srgbClr val="2B2B2B"/>
                          </a:solidFill>
                          <a:latin typeface="Arial"/>
                        </a:rPr>
                        <a:t>26</a:t>
                      </a:r>
                    </a:p>
                  </a:txBody>
                  <a:tcPr marL="64008" marR="64008" marT="27432" marB="27432" anchor="ctr">
                    <a:solidFill>
                      <a:srgbClr val="FFFFFF"/>
                    </a:solidFill>
                  </a:tcPr>
                </a:tc>
                <a:tc>
                  <a:txBody>
                    <a:bodyPr wrap="square"/>
                    <a:lstStyle/>
                    <a:p>
                      <a:pPr algn="ctr"/>
                      <a:r>
                        <a:rPr sz="1200" b="0" i="0">
                          <a:solidFill>
                            <a:srgbClr val="2B2B2B"/>
                          </a:solidFill>
                          <a:latin typeface="Arial"/>
                        </a:rPr>
                        <a:t>0,833</a:t>
                      </a:r>
                    </a:p>
                  </a:txBody>
                  <a:tcPr marL="64008" marR="64008" marT="27432" marB="27432" anchor="ctr">
                    <a:solidFill>
                      <a:srgbClr val="FFFFFF"/>
                    </a:solidFill>
                  </a:tcPr>
                </a:tc>
                <a:tc>
                  <a:txBody>
                    <a:bodyPr wrap="square"/>
                    <a:lstStyle/>
                    <a:p>
                      <a:pPr algn="ctr"/>
                      <a:r>
                        <a:rPr sz="1200" b="0" i="0">
                          <a:solidFill>
                            <a:srgbClr val="2B2B2B"/>
                          </a:solidFill>
                          <a:latin typeface="Arial"/>
                        </a:rPr>
                        <a:t>0,533</a:t>
                      </a:r>
                    </a:p>
                  </a:txBody>
                  <a:tcPr marL="64008" marR="64008" marT="27432" marB="27432" anchor="ctr">
                    <a:solidFill>
                      <a:srgbClr val="FFFFFF"/>
                    </a:solidFill>
                  </a:tcPr>
                </a:tc>
                <a:tc>
                  <a:txBody>
                    <a:bodyPr wrap="square"/>
                    <a:lstStyle/>
                    <a:p>
                      <a:pPr algn="ctr"/>
                      <a:r>
                        <a:rPr sz="1200" b="0" i="0">
                          <a:solidFill>
                            <a:srgbClr val="2B2B2B"/>
                          </a:solidFill>
                          <a:latin typeface="Arial"/>
                        </a:rPr>
                        <a:t>0,650</a:t>
                      </a:r>
                    </a:p>
                  </a:txBody>
                  <a:tcPr marL="64008" marR="64008" marT="27432" marB="27432" anchor="ctr">
                    <a:solidFill>
                      <a:srgbClr val="FFFFFF"/>
                    </a:solidFill>
                  </a:tcPr>
                </a:tc>
              </a:tr>
              <a:tr h="457200">
                <a:tc>
                  <a:txBody>
                    <a:bodyPr wrap="square"/>
                    <a:lstStyle/>
                    <a:p>
                      <a:pPr algn="l"/>
                      <a:r>
                        <a:rPr sz="1200" b="1" i="0">
                          <a:solidFill>
                            <a:srgbClr val="2B2B2B"/>
                          </a:solidFill>
                          <a:latin typeface="Arial"/>
                        </a:rPr>
                        <a:t>k = 15, Manhattan</a:t>
                      </a:r>
                    </a:p>
                  </a:txBody>
                  <a:tcPr marL="64008" marR="64008" marT="27432" marB="27432" anchor="ctr">
                    <a:solidFill>
                      <a:srgbClr val="E3F3F1"/>
                    </a:solidFill>
                  </a:tcPr>
                </a:tc>
                <a:tc>
                  <a:txBody>
                    <a:bodyPr wrap="square"/>
                    <a:lstStyle/>
                    <a:p>
                      <a:pPr algn="ctr"/>
                      <a:r>
                        <a:rPr sz="1200" b="0" i="0">
                          <a:solidFill>
                            <a:srgbClr val="2B2B2B"/>
                          </a:solidFill>
                          <a:latin typeface="Arial"/>
                        </a:rPr>
                        <a:t>179</a:t>
                      </a:r>
                    </a:p>
                  </a:txBody>
                  <a:tcPr marL="64008" marR="64008" marT="27432" marB="27432" anchor="ctr">
                    <a:solidFill>
                      <a:srgbClr val="E3F3F1"/>
                    </a:solidFill>
                  </a:tcPr>
                </a:tc>
                <a:tc>
                  <a:txBody>
                    <a:bodyPr wrap="square"/>
                    <a:lstStyle/>
                    <a:p>
                      <a:pPr algn="ctr"/>
                      <a:r>
                        <a:rPr sz="1200" b="0" i="0">
                          <a:solidFill>
                            <a:srgbClr val="2B2B2B"/>
                          </a:solidFill>
                          <a:latin typeface="Arial"/>
                        </a:rPr>
                        <a:t>152</a:t>
                      </a:r>
                    </a:p>
                  </a:txBody>
                  <a:tcPr marL="64008" marR="64008" marT="27432" marB="27432" anchor="ctr">
                    <a:solidFill>
                      <a:srgbClr val="E3F3F1"/>
                    </a:solidFill>
                  </a:tcPr>
                </a:tc>
                <a:tc>
                  <a:txBody>
                    <a:bodyPr wrap="square"/>
                    <a:lstStyle/>
                    <a:p>
                      <a:pPr algn="ctr"/>
                      <a:r>
                        <a:rPr sz="1200" b="0" i="0">
                          <a:solidFill>
                            <a:srgbClr val="2B2B2B"/>
                          </a:solidFill>
                          <a:latin typeface="Arial"/>
                        </a:rPr>
                        <a:t>92</a:t>
                      </a:r>
                    </a:p>
                  </a:txBody>
                  <a:tcPr marL="64008" marR="64008" marT="27432" marB="27432" anchor="ctr">
                    <a:solidFill>
                      <a:srgbClr val="E3F3F1"/>
                    </a:solidFill>
                  </a:tcPr>
                </a:tc>
                <a:tc>
                  <a:txBody>
                    <a:bodyPr wrap="square"/>
                    <a:lstStyle/>
                    <a:p>
                      <a:pPr algn="ctr"/>
                      <a:r>
                        <a:rPr sz="1200" b="0" i="0">
                          <a:solidFill>
                            <a:srgbClr val="2B2B2B"/>
                          </a:solidFill>
                          <a:latin typeface="Arial"/>
                        </a:rPr>
                        <a:t>27</a:t>
                      </a:r>
                    </a:p>
                  </a:txBody>
                  <a:tcPr marL="64008" marR="64008" marT="27432" marB="27432" anchor="ctr">
                    <a:solidFill>
                      <a:srgbClr val="E3F3F1"/>
                    </a:solidFill>
                  </a:tcPr>
                </a:tc>
                <a:tc>
                  <a:txBody>
                    <a:bodyPr wrap="square"/>
                    <a:lstStyle/>
                    <a:p>
                      <a:pPr algn="ctr"/>
                      <a:r>
                        <a:rPr sz="1200" b="0" i="0">
                          <a:solidFill>
                            <a:srgbClr val="2B2B2B"/>
                          </a:solidFill>
                          <a:latin typeface="Arial"/>
                        </a:rPr>
                        <a:t>0,849</a:t>
                      </a:r>
                    </a:p>
                  </a:txBody>
                  <a:tcPr marL="64008" marR="64008" marT="27432" marB="27432" anchor="ctr">
                    <a:solidFill>
                      <a:srgbClr val="E3F3F1"/>
                    </a:solidFill>
                  </a:tcPr>
                </a:tc>
                <a:tc>
                  <a:txBody>
                    <a:bodyPr wrap="square"/>
                    <a:lstStyle/>
                    <a:p>
                      <a:pPr algn="ctr"/>
                      <a:r>
                        <a:rPr sz="1200" b="0" i="0">
                          <a:solidFill>
                            <a:srgbClr val="2B2B2B"/>
                          </a:solidFill>
                          <a:latin typeface="Arial"/>
                        </a:rPr>
                        <a:t>0,623</a:t>
                      </a:r>
                    </a:p>
                  </a:txBody>
                  <a:tcPr marL="64008" marR="64008" marT="27432" marB="27432" anchor="ctr">
                    <a:solidFill>
                      <a:srgbClr val="E3F3F1"/>
                    </a:solidFill>
                  </a:tcPr>
                </a:tc>
                <a:tc>
                  <a:txBody>
                    <a:bodyPr wrap="square"/>
                    <a:lstStyle/>
                    <a:p>
                      <a:pPr algn="ctr"/>
                      <a:r>
                        <a:rPr sz="1200" b="0" i="0">
                          <a:solidFill>
                            <a:srgbClr val="2B2B2B"/>
                          </a:solidFill>
                          <a:latin typeface="Arial"/>
                        </a:rPr>
                        <a:t>0,719</a:t>
                      </a:r>
                    </a:p>
                  </a:txBody>
                  <a:tcPr marL="64008" marR="64008" marT="27432" marB="27432" anchor="ctr">
                    <a:solidFill>
                      <a:srgbClr val="E3F3F1"/>
                    </a:solidFill>
                  </a:tcPr>
                </a:tc>
              </a:tr>
            </a:tbl>
          </a:graphicData>
        </a:graphic>
      </p:graphicFrame>
      <p:sp>
        <p:nvSpPr>
          <p:cNvPr id="4" name="Rounded Rectangle 3"/>
          <p:cNvSpPr/>
          <p:nvPr/>
        </p:nvSpPr>
        <p:spPr>
          <a:xfrm>
            <a:off x="731520" y="4434840"/>
            <a:ext cx="3794760" cy="123444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5445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k pequeño</a:t>
            </a:r>
          </a:p>
        </p:txBody>
      </p:sp>
      <p:sp>
        <p:nvSpPr>
          <p:cNvPr id="6" name="TextBox 5"/>
          <p:cNvSpPr txBox="1"/>
          <p:nvPr/>
        </p:nvSpPr>
        <p:spPr>
          <a:xfrm>
            <a:off x="868680" y="5093207"/>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Decide con pocos clientes: más sensible a casos raros.</a:t>
            </a:r>
          </a:p>
        </p:txBody>
      </p:sp>
      <p:sp>
        <p:nvSpPr>
          <p:cNvPr id="7" name="Rounded Rectangle 6"/>
          <p:cNvSpPr/>
          <p:nvPr/>
        </p:nvSpPr>
        <p:spPr>
          <a:xfrm>
            <a:off x="4709160" y="4434840"/>
            <a:ext cx="3794760" cy="123444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5445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k grande</a:t>
            </a:r>
          </a:p>
        </p:txBody>
      </p:sp>
      <p:sp>
        <p:nvSpPr>
          <p:cNvPr id="9" name="TextBox 8"/>
          <p:cNvSpPr txBox="1"/>
          <p:nvPr/>
        </p:nvSpPr>
        <p:spPr>
          <a:xfrm>
            <a:off x="4846320" y="5093207"/>
            <a:ext cx="3520440" cy="50292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Suaviza, pero la clase mayoritaria gana más votos.</a:t>
            </a:r>
          </a:p>
        </p:txBody>
      </p:sp>
      <p:sp>
        <p:nvSpPr>
          <p:cNvPr id="10" name="Rounded Rectangle 9"/>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De 244 abandonos </a:t>
            </a:r>
            <a:r>
              <a:rPr sz="1200" b="0" i="0">
                <a:solidFill>
                  <a:srgbClr val="2B2B2B"/>
                </a:solidFill>
                <a:latin typeface="Arial"/>
              </a:rPr>
              <a:t>en Validation, la mejor configuración encontró 152 y emitió solo 27 falsas alarmas.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¿Más columnas siempre ayudan a KNN?</a:t>
            </a:r>
          </a:p>
        </p:txBody>
      </p:sp>
      <p:graphicFrame>
        <p:nvGraphicFramePr>
          <p:cNvPr id="3" name="Chart 2"/>
          <p:cNvGraphicFramePr>
            <a:graphicFrameLocks noGrp="1"/>
          </p:cNvGraphicFramePr>
          <p:nvPr/>
        </p:nvGraphicFramePr>
        <p:xfrm>
          <a:off x="731520" y="1920240"/>
          <a:ext cx="4572000" cy="3108960"/>
        </p:xfrm>
        <a:graphic>
          <a:graphicData uri="http://schemas.openxmlformats.org/drawingml/2006/chart">
            <c:chart xmlns:c="http://schemas.openxmlformats.org/drawingml/2006/chart" r:id="rId3"/>
          </a:graphicData>
        </a:graphic>
      </p:graphicFrame>
      <p:sp>
        <p:nvSpPr>
          <p:cNvPr id="4" name="Rounded Rectangle 3"/>
          <p:cNvSpPr/>
          <p:nvPr/>
        </p:nvSpPr>
        <p:spPr>
          <a:xfrm>
            <a:off x="5486400" y="2011680"/>
            <a:ext cx="301752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623560" y="2121408"/>
            <a:ext cx="2788920" cy="502920"/>
          </a:xfrm>
          <a:prstGeom prst="rect">
            <a:avLst/>
          </a:prstGeom>
          <a:noFill/>
        </p:spPr>
        <p:txBody>
          <a:bodyPr wrap="square" anchor="ctr" lIns="36576" rIns="36576" tIns="36576" bIns="36576">
            <a:spAutoFit/>
          </a:bodyPr>
          <a:lstStyle/>
          <a:p>
            <a:pPr algn="l">
              <a:spcAft>
                <a:spcPts val="400"/>
              </a:spcAft>
            </a:pPr>
            <a:r>
              <a:rPr sz="1250" b="1" i="0">
                <a:solidFill>
                  <a:srgbClr val="D7263D"/>
                </a:solidFill>
                <a:latin typeface="Arial"/>
              </a:rPr>
              <a:t>Maldición de la dimensión</a:t>
            </a:r>
          </a:p>
        </p:txBody>
      </p:sp>
      <p:sp>
        <p:nvSpPr>
          <p:cNvPr id="6" name="TextBox 5"/>
          <p:cNvSpPr txBox="1"/>
          <p:nvPr/>
        </p:nvSpPr>
        <p:spPr>
          <a:xfrm>
            <a:off x="5623560" y="2670048"/>
            <a:ext cx="2743200" cy="6858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Con muchas columnas, el vecino más cercano deja de ser claramente parecido.</a:t>
            </a:r>
          </a:p>
        </p:txBody>
      </p:sp>
      <p:sp>
        <p:nvSpPr>
          <p:cNvPr id="7" name="Rounded Rectangle 6"/>
          <p:cNvSpPr/>
          <p:nvPr/>
        </p:nvSpPr>
        <p:spPr>
          <a:xfrm>
            <a:off x="5486400" y="3611880"/>
            <a:ext cx="3017520" cy="14173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623560" y="3721608"/>
            <a:ext cx="2788920" cy="502920"/>
          </a:xfrm>
          <a:prstGeom prst="rect">
            <a:avLst/>
          </a:prstGeom>
          <a:noFill/>
        </p:spPr>
        <p:txBody>
          <a:bodyPr wrap="square" anchor="ctr" lIns="36576" rIns="36576" tIns="36576" bIns="36576">
            <a:spAutoFit/>
          </a:bodyPr>
          <a:lstStyle/>
          <a:p>
            <a:pPr algn="l">
              <a:spcAft>
                <a:spcPts val="400"/>
              </a:spcAft>
            </a:pPr>
            <a:r>
              <a:rPr sz="1250" b="1" i="0">
                <a:solidFill>
                  <a:srgbClr val="2A9D8F"/>
                </a:solidFill>
                <a:latin typeface="Arial"/>
              </a:rPr>
              <a:t>Para KNN</a:t>
            </a:r>
          </a:p>
        </p:txBody>
      </p:sp>
      <p:sp>
        <p:nvSpPr>
          <p:cNvPr id="9" name="TextBox 8"/>
          <p:cNvSpPr txBox="1"/>
          <p:nvPr/>
        </p:nvSpPr>
        <p:spPr>
          <a:xfrm>
            <a:off x="5623560" y="4270248"/>
            <a:ext cx="2743200" cy="6858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Elegir bien las columnas importa tanto como elegir k.</a:t>
            </a:r>
          </a:p>
        </p:txBody>
      </p:sp>
      <p:sp>
        <p:nvSpPr>
          <p:cNvPr id="10" name="Rounded Rectangle 9"/>
          <p:cNvSpPr/>
          <p:nvPr/>
        </p:nvSpPr>
        <p:spPr>
          <a:xfrm>
            <a:off x="731520" y="52578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Recall: </a:t>
            </a:r>
            <a:r>
              <a:rPr sz="1200" b="0" i="0">
                <a:solidFill>
                  <a:srgbClr val="2B2B2B"/>
                </a:solidFill>
                <a:latin typeface="Arial"/>
              </a:rPr>
              <a:t>0,586 con 11 numéricas frente a 0,475 con todas las columnas.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¿KNN es el mejor algoritmo para estos clientes?</a:t>
            </a:r>
          </a:p>
        </p:txBody>
      </p:sp>
      <p:graphicFrame>
        <p:nvGraphicFramePr>
          <p:cNvPr id="3" name="Chart 2"/>
          <p:cNvGraphicFramePr>
            <a:graphicFrameLocks noGrp="1"/>
          </p:cNvGraphicFramePr>
          <p:nvPr/>
        </p:nvGraphicFramePr>
        <p:xfrm>
          <a:off x="731520" y="1920240"/>
          <a:ext cx="4754880" cy="3291840"/>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5669280" y="2011680"/>
          <a:ext cx="2834640" cy="1645920"/>
        </p:xfrm>
        <a:graphic>
          <a:graphicData uri="http://schemas.openxmlformats.org/drawingml/2006/table">
            <a:tbl>
              <a:tblPr firstRow="1" bandRow="1">
                <a:tableStyleId>{5C22544A-7EE6-4342-B048-85BDC9FD1C3A}</a:tableStyleId>
              </a:tblPr>
              <a:tblGrid>
                <a:gridCol w="1188720"/>
                <a:gridCol w="822960"/>
                <a:gridCol w="822960"/>
              </a:tblGrid>
              <a:tr h="411480">
                <a:tc>
                  <a:txBody>
                    <a:bodyPr wrap="square"/>
                    <a:lstStyle/>
                    <a:p>
                      <a:pPr algn="l"/>
                      <a:r>
                        <a:rPr sz="1200" b="1" i="0">
                          <a:solidFill>
                            <a:srgbClr val="FFFFFF"/>
                          </a:solidFill>
                          <a:latin typeface="Arial"/>
                        </a:rPr>
                        <a:t/>
                      </a:r>
                    </a:p>
                  </a:txBody>
                  <a:tcPr marL="64008" marR="64008" marT="27432" marB="27432" anchor="ctr">
                    <a:solidFill>
                      <a:srgbClr val="242852"/>
                    </a:solidFill>
                  </a:tcPr>
                </a:tc>
                <a:tc>
                  <a:txBody>
                    <a:bodyPr wrap="square"/>
                    <a:lstStyle/>
                    <a:p>
                      <a:pPr algn="ctr"/>
                      <a:r>
                        <a:rPr sz="1200" b="1" i="0">
                          <a:solidFill>
                            <a:srgbClr val="FFFFFF"/>
                          </a:solidFill>
                          <a:latin typeface="Arial"/>
                        </a:rPr>
                        <a:t>Precision</a:t>
                      </a:r>
                    </a:p>
                  </a:txBody>
                  <a:tcPr marL="64008" marR="64008" marT="27432" marB="27432" anchor="ctr">
                    <a:solidFill>
                      <a:srgbClr val="242852"/>
                    </a:solidFill>
                  </a:tcPr>
                </a:tc>
                <a:tc>
                  <a:txBody>
                    <a:bodyPr wrap="square"/>
                    <a:lstStyle/>
                    <a:p>
                      <a:pPr algn="ctr"/>
                      <a:r>
                        <a:rPr sz="1200" b="1" i="0">
                          <a:solidFill>
                            <a:srgbClr val="FFFFFF"/>
                          </a:solidFill>
                          <a:latin typeface="Arial"/>
                        </a:rPr>
                        <a:t>Recall</a:t>
                      </a:r>
                    </a:p>
                  </a:txBody>
                  <a:tcPr marL="64008" marR="64008" marT="27432" marB="27432" anchor="ctr">
                    <a:solidFill>
                      <a:srgbClr val="242852"/>
                    </a:solidFill>
                  </a:tcPr>
                </a:tc>
              </a:tr>
              <a:tr h="411480">
                <a:tc>
                  <a:txBody>
                    <a:bodyPr wrap="square"/>
                    <a:lstStyle/>
                    <a:p>
                      <a:pPr algn="l"/>
                      <a:r>
                        <a:rPr sz="1200" b="1" i="0">
                          <a:solidFill>
                            <a:srgbClr val="2B2B2B"/>
                          </a:solidFill>
                          <a:latin typeface="Arial"/>
                        </a:rPr>
                        <a:t>KNN k = 15</a:t>
                      </a:r>
                    </a:p>
                  </a:txBody>
                  <a:tcPr marL="64008" marR="64008" marT="27432" marB="27432" anchor="ctr">
                    <a:solidFill>
                      <a:srgbClr val="FFFFFF"/>
                    </a:solidFill>
                  </a:tcPr>
                </a:tc>
                <a:tc>
                  <a:txBody>
                    <a:bodyPr wrap="square"/>
                    <a:lstStyle/>
                    <a:p>
                      <a:pPr algn="ctr"/>
                      <a:r>
                        <a:rPr sz="1200" b="0" i="0">
                          <a:solidFill>
                            <a:srgbClr val="2B2B2B"/>
                          </a:solidFill>
                          <a:latin typeface="Arial"/>
                        </a:rPr>
                        <a:t>0,831</a:t>
                      </a:r>
                    </a:p>
                  </a:txBody>
                  <a:tcPr marL="64008" marR="64008" marT="27432" marB="27432" anchor="ctr">
                    <a:solidFill>
                      <a:srgbClr val="FFFFFF"/>
                    </a:solidFill>
                  </a:tcPr>
                </a:tc>
                <a:tc>
                  <a:txBody>
                    <a:bodyPr wrap="square"/>
                    <a:lstStyle/>
                    <a:p>
                      <a:pPr algn="ctr"/>
                      <a:r>
                        <a:rPr sz="1200" b="0" i="0">
                          <a:solidFill>
                            <a:srgbClr val="2B2B2B"/>
                          </a:solidFill>
                          <a:latin typeface="Arial"/>
                        </a:rPr>
                        <a:t>0,586</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Random Forest</a:t>
                      </a:r>
                    </a:p>
                  </a:txBody>
                  <a:tcPr marL="64008" marR="64008" marT="27432" marB="27432" anchor="ctr">
                    <a:solidFill>
                      <a:srgbClr val="F2F3F5"/>
                    </a:solidFill>
                  </a:tcPr>
                </a:tc>
                <a:tc>
                  <a:txBody>
                    <a:bodyPr wrap="square"/>
                    <a:lstStyle/>
                    <a:p>
                      <a:pPr algn="ctr"/>
                      <a:r>
                        <a:rPr sz="1200" b="0" i="0">
                          <a:solidFill>
                            <a:srgbClr val="2B2B2B"/>
                          </a:solidFill>
                          <a:latin typeface="Arial"/>
                        </a:rPr>
                        <a:t>0,891</a:t>
                      </a:r>
                    </a:p>
                  </a:txBody>
                  <a:tcPr marL="64008" marR="64008" marT="27432" marB="27432" anchor="ctr">
                    <a:solidFill>
                      <a:srgbClr val="F2F3F5"/>
                    </a:solidFill>
                  </a:tcPr>
                </a:tc>
                <a:tc>
                  <a:txBody>
                    <a:bodyPr wrap="square"/>
                    <a:lstStyle/>
                    <a:p>
                      <a:pPr algn="ctr"/>
                      <a:r>
                        <a:rPr sz="1200" b="0" i="0">
                          <a:solidFill>
                            <a:srgbClr val="2B2B2B"/>
                          </a:solidFill>
                          <a:latin typeface="Arial"/>
                        </a:rPr>
                        <a:t>0,639</a:t>
                      </a:r>
                    </a:p>
                  </a:txBody>
                  <a:tcPr marL="64008" marR="64008" marT="27432" marB="27432" anchor="ctr">
                    <a:solidFill>
                      <a:srgbClr val="F2F3F5"/>
                    </a:solidFill>
                  </a:tcPr>
                </a:tc>
              </a:tr>
              <a:tr h="411480">
                <a:tc>
                  <a:txBody>
                    <a:bodyPr wrap="square"/>
                    <a:lstStyle/>
                    <a:p>
                      <a:pPr algn="l"/>
                      <a:r>
                        <a:rPr sz="1200" b="1" i="0">
                          <a:solidFill>
                            <a:srgbClr val="2B2B2B"/>
                          </a:solidFill>
                          <a:latin typeface="Arial"/>
                        </a:rPr>
                        <a:t>Árbol</a:t>
                      </a:r>
                    </a:p>
                  </a:txBody>
                  <a:tcPr marL="64008" marR="64008" marT="27432" marB="27432" anchor="ctr">
                    <a:solidFill>
                      <a:srgbClr val="FFFFFF"/>
                    </a:solidFill>
                  </a:tcPr>
                </a:tc>
                <a:tc>
                  <a:txBody>
                    <a:bodyPr wrap="square"/>
                    <a:lstStyle/>
                    <a:p>
                      <a:pPr algn="ctr"/>
                      <a:r>
                        <a:rPr sz="1200" b="0" i="0">
                          <a:solidFill>
                            <a:srgbClr val="2B2B2B"/>
                          </a:solidFill>
                          <a:latin typeface="Arial"/>
                        </a:rPr>
                        <a:t>0,768</a:t>
                      </a:r>
                    </a:p>
                  </a:txBody>
                  <a:tcPr marL="64008" marR="64008" marT="27432" marB="27432" anchor="ctr">
                    <a:solidFill>
                      <a:srgbClr val="FFFFFF"/>
                    </a:solidFill>
                  </a:tcPr>
                </a:tc>
                <a:tc>
                  <a:txBody>
                    <a:bodyPr wrap="square"/>
                    <a:lstStyle/>
                    <a:p>
                      <a:pPr algn="ctr"/>
                      <a:r>
                        <a:rPr sz="1200" b="0" i="0">
                          <a:solidFill>
                            <a:srgbClr val="2B2B2B"/>
                          </a:solidFill>
                          <a:latin typeface="Arial"/>
                        </a:rPr>
                        <a:t>0,787</a:t>
                      </a:r>
                    </a:p>
                  </a:txBody>
                  <a:tcPr marL="64008" marR="64008" marT="27432" marB="27432" anchor="ctr">
                    <a:solidFill>
                      <a:srgbClr val="FFFFFF"/>
                    </a:solidFill>
                  </a:tcPr>
                </a:tc>
              </a:tr>
            </a:tbl>
          </a:graphicData>
        </a:graphic>
      </p:graphicFrame>
      <p:sp>
        <p:nvSpPr>
          <p:cNvPr id="5" name="Rounded Rectangle 4"/>
          <p:cNvSpPr/>
          <p:nvPr/>
        </p:nvSpPr>
        <p:spPr>
          <a:xfrm>
            <a:off x="731520" y="54406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Regla de siempre: </a:t>
            </a:r>
            <a:r>
              <a:rPr sz="1200" b="0" i="0">
                <a:solidFill>
                  <a:srgbClr val="2B2B2B"/>
                </a:solidFill>
                <a:latin typeface="Arial"/>
              </a:rPr>
              <a:t>comparar en las mismas filas antes de elegir un algoritmo.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Datos</a:t>
            </a:r>
          </a:p>
        </p:txBody>
      </p:sp>
      <p:sp>
        <p:nvSpPr>
          <p:cNvPr id="4" name="Rounded Rectangle 3"/>
          <p:cNvSpPr/>
          <p:nvPr/>
        </p:nvSpPr>
        <p:spPr>
          <a:xfrm>
            <a:off x="2459736"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Margen a mano</a:t>
            </a:r>
          </a:p>
        </p:txBody>
      </p:sp>
      <p:sp>
        <p:nvSpPr>
          <p:cNvPr id="5" name="Rounded Rectangle 4"/>
          <p:cNvSpPr/>
          <p:nvPr/>
        </p:nvSpPr>
        <p:spPr>
          <a:xfrm>
            <a:off x="4005072"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Multa C</a:t>
            </a:r>
          </a:p>
        </p:txBody>
      </p:sp>
      <p:sp>
        <p:nvSpPr>
          <p:cNvPr id="6" name="Rounded Rectangle 5"/>
          <p:cNvSpPr/>
          <p:nvPr/>
        </p:nvSpPr>
        <p:spPr>
          <a:xfrm>
            <a:off x="5550408" y="4937760"/>
            <a:ext cx="1408176"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Curvas</a:t>
            </a:r>
          </a:p>
        </p:txBody>
      </p:sp>
      <p:sp>
        <p:nvSpPr>
          <p:cNvPr id="7" name="Rounded Rectangle 6"/>
          <p:cNvSpPr/>
          <p:nvPr/>
        </p:nvSpPr>
        <p:spPr>
          <a:xfrm>
            <a:off x="7095744" y="4937760"/>
            <a:ext cx="1408176"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Usos</a:t>
            </a:r>
          </a:p>
        </p:txBody>
      </p:sp>
      <p:sp>
        <p:nvSpPr>
          <p:cNvPr id="8" name="Oval 7"/>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7</a:t>
            </a:r>
          </a:p>
        </p:txBody>
      </p:sp>
      <p:sp>
        <p:nvSpPr>
          <p:cNvPr id="9" name="TextBox 8"/>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SVM: una frontera entre préstamos</a:t>
            </a:r>
          </a:p>
        </p:txBody>
      </p:sp>
      <p:sp>
        <p:nvSpPr>
          <p:cNvPr id="10" name="TextBox 9"/>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Credit Risk: separar préstamos pagados de impagos con el mayor margen posible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Credit Risk: ¿el préstamo caerá en impago?</a:t>
            </a:r>
          </a:p>
        </p:txBody>
      </p:sp>
      <p:graphicFrame>
        <p:nvGraphicFramePr>
          <p:cNvPr id="3" name="Table 2"/>
          <p:cNvGraphicFramePr>
            <a:graphicFrameLocks noGrp="1"/>
          </p:cNvGraphicFramePr>
          <p:nvPr/>
        </p:nvGraphicFramePr>
        <p:xfrm>
          <a:off x="731520" y="1965960"/>
          <a:ext cx="5486400" cy="2999232"/>
        </p:xfrm>
        <a:graphic>
          <a:graphicData uri="http://schemas.openxmlformats.org/drawingml/2006/table">
            <a:tbl>
              <a:tblPr firstRow="1" bandRow="1">
                <a:tableStyleId>{5C22544A-7EE6-4342-B048-85BDC9FD1C3A}</a:tableStyleId>
              </a:tblPr>
              <a:tblGrid>
                <a:gridCol w="3017520"/>
                <a:gridCol w="2468880"/>
              </a:tblGrid>
              <a:tr h="374904">
                <a:tc>
                  <a:txBody>
                    <a:bodyPr wrap="square"/>
                    <a:lstStyle/>
                    <a:p>
                      <a:pPr algn="l"/>
                      <a:r>
                        <a:rPr sz="1100" b="1" i="0">
                          <a:solidFill>
                            <a:srgbClr val="FFFFFF"/>
                          </a:solidFill>
                          <a:latin typeface="Arial"/>
                        </a:rPr>
                        <a:t>Variable</a:t>
                      </a:r>
                    </a:p>
                  </a:txBody>
                  <a:tcPr marL="64008" marR="64008" marT="27432" marB="27432" anchor="ctr">
                    <a:solidFill>
                      <a:srgbClr val="242852"/>
                    </a:solidFill>
                  </a:tcPr>
                </a:tc>
                <a:tc>
                  <a:txBody>
                    <a:bodyPr wrap="square"/>
                    <a:lstStyle/>
                    <a:p>
                      <a:pPr algn="ctr"/>
                      <a:r>
                        <a:rPr sz="1100" b="1" i="0">
                          <a:solidFill>
                            <a:srgbClr val="FFFFFF"/>
                          </a:solidFill>
                          <a:latin typeface="Arial"/>
                        </a:rPr>
                        <a:t>Descripción</a:t>
                      </a:r>
                    </a:p>
                  </a:txBody>
                  <a:tcPr marL="64008" marR="64008" marT="27432" marB="27432" anchor="ctr">
                    <a:solidFill>
                      <a:srgbClr val="242852"/>
                    </a:solidFill>
                  </a:tcPr>
                </a:tc>
              </a:tr>
              <a:tr h="374904">
                <a:tc>
                  <a:txBody>
                    <a:bodyPr wrap="square"/>
                    <a:lstStyle/>
                    <a:p>
                      <a:pPr algn="l"/>
                      <a:r>
                        <a:rPr sz="1100" b="1" i="0">
                          <a:solidFill>
                            <a:srgbClr val="2B2B2B"/>
                          </a:solidFill>
                          <a:latin typeface="Arial"/>
                        </a:rPr>
                        <a:t>person_age · person_income</a:t>
                      </a:r>
                    </a:p>
                  </a:txBody>
                  <a:tcPr marL="64008" marR="64008" marT="27432" marB="27432" anchor="ctr">
                    <a:solidFill>
                      <a:srgbClr val="FFFFFF"/>
                    </a:solidFill>
                  </a:tcPr>
                </a:tc>
                <a:tc>
                  <a:txBody>
                    <a:bodyPr wrap="square"/>
                    <a:lstStyle/>
                    <a:p>
                      <a:pPr algn="ctr"/>
                      <a:r>
                        <a:rPr sz="1100" b="0" i="0">
                          <a:solidFill>
                            <a:srgbClr val="2B2B2B"/>
                          </a:solidFill>
                          <a:latin typeface="Arial"/>
                        </a:rPr>
                        <a:t>Edad e ingreso anual</a:t>
                      </a:r>
                    </a:p>
                  </a:txBody>
                  <a:tcPr marL="64008" marR="64008" marT="27432" marB="27432" anchor="ctr">
                    <a:solidFill>
                      <a:srgbClr val="FFFFFF"/>
                    </a:solidFill>
                  </a:tcPr>
                </a:tc>
              </a:tr>
              <a:tr h="374904">
                <a:tc>
                  <a:txBody>
                    <a:bodyPr wrap="square"/>
                    <a:lstStyle/>
                    <a:p>
                      <a:pPr algn="l"/>
                      <a:r>
                        <a:rPr sz="1100" b="1" i="0">
                          <a:solidFill>
                            <a:srgbClr val="2B2B2B"/>
                          </a:solidFill>
                          <a:latin typeface="Arial"/>
                        </a:rPr>
                        <a:t>person_home_ownership · person_emp_length</a:t>
                      </a:r>
                    </a:p>
                  </a:txBody>
                  <a:tcPr marL="64008" marR="64008" marT="27432" marB="27432" anchor="ctr">
                    <a:solidFill>
                      <a:srgbClr val="F2F3F5"/>
                    </a:solidFill>
                  </a:tcPr>
                </a:tc>
                <a:tc>
                  <a:txBody>
                    <a:bodyPr wrap="square"/>
                    <a:lstStyle/>
                    <a:p>
                      <a:pPr algn="ctr"/>
                      <a:r>
                        <a:rPr sz="1100" b="0" i="0">
                          <a:solidFill>
                            <a:srgbClr val="2B2B2B"/>
                          </a:solidFill>
                          <a:latin typeface="Arial"/>
                        </a:rPr>
                        <a:t>Vivienda y antigüedad laboral (años)</a:t>
                      </a:r>
                    </a:p>
                  </a:txBody>
                  <a:tcPr marL="64008" marR="64008" marT="27432" marB="27432" anchor="ctr">
                    <a:solidFill>
                      <a:srgbClr val="F2F3F5"/>
                    </a:solidFill>
                  </a:tcPr>
                </a:tc>
              </a:tr>
              <a:tr h="374904">
                <a:tc>
                  <a:txBody>
                    <a:bodyPr wrap="square"/>
                    <a:lstStyle/>
                    <a:p>
                      <a:pPr algn="l"/>
                      <a:r>
                        <a:rPr sz="1100" b="1" i="0">
                          <a:solidFill>
                            <a:srgbClr val="2B2B2B"/>
                          </a:solidFill>
                          <a:latin typeface="Arial"/>
                        </a:rPr>
                        <a:t>loan_intent · loan_grade</a:t>
                      </a:r>
                    </a:p>
                  </a:txBody>
                  <a:tcPr marL="64008" marR="64008" marT="27432" marB="27432" anchor="ctr">
                    <a:solidFill>
                      <a:srgbClr val="FFFFFF"/>
                    </a:solidFill>
                  </a:tcPr>
                </a:tc>
                <a:tc>
                  <a:txBody>
                    <a:bodyPr wrap="square"/>
                    <a:lstStyle/>
                    <a:p>
                      <a:pPr algn="ctr"/>
                      <a:r>
                        <a:rPr sz="1100" b="0" i="0">
                          <a:solidFill>
                            <a:srgbClr val="2B2B2B"/>
                          </a:solidFill>
                          <a:latin typeface="Arial"/>
                        </a:rPr>
                        <a:t>Propósito y grado del préstamo (A a G)</a:t>
                      </a:r>
                    </a:p>
                  </a:txBody>
                  <a:tcPr marL="64008" marR="64008" marT="27432" marB="27432" anchor="ctr">
                    <a:solidFill>
                      <a:srgbClr val="FFFFFF"/>
                    </a:solidFill>
                  </a:tcPr>
                </a:tc>
              </a:tr>
              <a:tr h="374904">
                <a:tc>
                  <a:txBody>
                    <a:bodyPr wrap="square"/>
                    <a:lstStyle/>
                    <a:p>
                      <a:pPr algn="l"/>
                      <a:r>
                        <a:rPr sz="1100" b="1" i="0">
                          <a:solidFill>
                            <a:srgbClr val="2B2B2B"/>
                          </a:solidFill>
                          <a:latin typeface="Arial"/>
                        </a:rPr>
                        <a:t>loan_amnt · loan_int_rate</a:t>
                      </a:r>
                    </a:p>
                  </a:txBody>
                  <a:tcPr marL="64008" marR="64008" marT="27432" marB="27432" anchor="ctr">
                    <a:solidFill>
                      <a:srgbClr val="F2F3F5"/>
                    </a:solidFill>
                  </a:tcPr>
                </a:tc>
                <a:tc>
                  <a:txBody>
                    <a:bodyPr wrap="square"/>
                    <a:lstStyle/>
                    <a:p>
                      <a:pPr algn="ctr"/>
                      <a:r>
                        <a:rPr sz="1100" b="0" i="0">
                          <a:solidFill>
                            <a:srgbClr val="2B2B2B"/>
                          </a:solidFill>
                          <a:latin typeface="Arial"/>
                        </a:rPr>
                        <a:t>Monto y tasa de interés</a:t>
                      </a:r>
                    </a:p>
                  </a:txBody>
                  <a:tcPr marL="64008" marR="64008" marT="27432" marB="27432" anchor="ctr">
                    <a:solidFill>
                      <a:srgbClr val="F2F3F5"/>
                    </a:solidFill>
                  </a:tcPr>
                </a:tc>
              </a:tr>
              <a:tr h="374904">
                <a:tc>
                  <a:txBody>
                    <a:bodyPr wrap="square"/>
                    <a:lstStyle/>
                    <a:p>
                      <a:pPr algn="l"/>
                      <a:r>
                        <a:rPr sz="1100" b="1" i="0">
                          <a:solidFill>
                            <a:srgbClr val="2B2B2B"/>
                          </a:solidFill>
                          <a:latin typeface="Arial"/>
                        </a:rPr>
                        <a:t>loan_percent_income</a:t>
                      </a:r>
                    </a:p>
                  </a:txBody>
                  <a:tcPr marL="64008" marR="64008" marT="27432" marB="27432" anchor="ctr">
                    <a:solidFill>
                      <a:srgbClr val="FFFFFF"/>
                    </a:solidFill>
                  </a:tcPr>
                </a:tc>
                <a:tc>
                  <a:txBody>
                    <a:bodyPr wrap="square"/>
                    <a:lstStyle/>
                    <a:p>
                      <a:pPr algn="ctr"/>
                      <a:r>
                        <a:rPr sz="1100" b="0" i="0">
                          <a:solidFill>
                            <a:srgbClr val="2B2B2B"/>
                          </a:solidFill>
                          <a:latin typeface="Arial"/>
                        </a:rPr>
                        <a:t>Monto del préstamo / ingreso</a:t>
                      </a:r>
                    </a:p>
                  </a:txBody>
                  <a:tcPr marL="64008" marR="64008" marT="27432" marB="27432" anchor="ctr">
                    <a:solidFill>
                      <a:srgbClr val="FFFFFF"/>
                    </a:solidFill>
                  </a:tcPr>
                </a:tc>
              </a:tr>
              <a:tr h="374904">
                <a:tc>
                  <a:txBody>
                    <a:bodyPr wrap="square"/>
                    <a:lstStyle/>
                    <a:p>
                      <a:pPr algn="l"/>
                      <a:r>
                        <a:rPr sz="1100" b="1" i="0">
                          <a:solidFill>
                            <a:srgbClr val="2B2B2B"/>
                          </a:solidFill>
                          <a:latin typeface="Arial"/>
                        </a:rPr>
                        <a:t>cb_person_default_on_file</a:t>
                      </a:r>
                    </a:p>
                  </a:txBody>
                  <a:tcPr marL="64008" marR="64008" marT="27432" marB="27432" anchor="ctr">
                    <a:solidFill>
                      <a:srgbClr val="F2F3F5"/>
                    </a:solidFill>
                  </a:tcPr>
                </a:tc>
                <a:tc>
                  <a:txBody>
                    <a:bodyPr wrap="square"/>
                    <a:lstStyle/>
                    <a:p>
                      <a:pPr algn="ctr"/>
                      <a:r>
                        <a:rPr sz="1100" b="0" i="0">
                          <a:solidFill>
                            <a:srgbClr val="2B2B2B"/>
                          </a:solidFill>
                          <a:latin typeface="Arial"/>
                        </a:rPr>
                        <a:t>Impago anterior registrado</a:t>
                      </a:r>
                    </a:p>
                  </a:txBody>
                  <a:tcPr marL="64008" marR="64008" marT="27432" marB="27432" anchor="ctr">
                    <a:solidFill>
                      <a:srgbClr val="F2F3F5"/>
                    </a:solidFill>
                  </a:tcPr>
                </a:tc>
              </a:tr>
              <a:tr h="374904">
                <a:tc>
                  <a:txBody>
                    <a:bodyPr wrap="square"/>
                    <a:lstStyle/>
                    <a:p>
                      <a:pPr algn="l"/>
                      <a:r>
                        <a:rPr sz="1100" b="1" i="0">
                          <a:solidFill>
                            <a:srgbClr val="2B2B2B"/>
                          </a:solidFill>
                          <a:latin typeface="Arial"/>
                        </a:rPr>
                        <a:t>cb_person_cred_hist_length</a:t>
                      </a:r>
                    </a:p>
                  </a:txBody>
                  <a:tcPr marL="64008" marR="64008" marT="27432" marB="27432" anchor="ctr">
                    <a:solidFill>
                      <a:srgbClr val="FFFFFF"/>
                    </a:solidFill>
                  </a:tcPr>
                </a:tc>
                <a:tc>
                  <a:txBody>
                    <a:bodyPr wrap="square"/>
                    <a:lstStyle/>
                    <a:p>
                      <a:pPr algn="ctr"/>
                      <a:r>
                        <a:rPr sz="1100" b="0" i="0">
                          <a:solidFill>
                            <a:srgbClr val="2B2B2B"/>
                          </a:solidFill>
                          <a:latin typeface="Arial"/>
                        </a:rPr>
                        <a:t>Años de historial crediticio</a:t>
                      </a:r>
                    </a:p>
                  </a:txBody>
                  <a:tcPr marL="64008" marR="64008" marT="27432" marB="27432" anchor="ctr">
                    <a:solidFill>
                      <a:srgbClr val="FFFFFF"/>
                    </a:solidFill>
                  </a:tcPr>
                </a:tc>
              </a:tr>
            </a:tbl>
          </a:graphicData>
        </a:graphic>
      </p:graphicFrame>
      <p:sp>
        <p:nvSpPr>
          <p:cNvPr id="4" name="Rounded Rectangle 3"/>
          <p:cNvSpPr/>
          <p:nvPr/>
        </p:nvSpPr>
        <p:spPr>
          <a:xfrm>
            <a:off x="6400800" y="2011680"/>
            <a:ext cx="2103120" cy="11887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C9D2E8"/>
                </a:solidFill>
                <a:latin typeface="Arial"/>
              </a:rPr>
              <a:t>Préstamos</a:t>
            </a:r>
          </a:p>
          <a:p>
            <a:pPr algn="ctr">
              <a:spcAft>
                <a:spcPts val="300"/>
              </a:spcAft>
            </a:pPr>
            <a:r>
              <a:rPr sz="2200" b="1" i="0">
                <a:solidFill>
                  <a:srgbClr val="FFFFFF"/>
                </a:solidFill>
                <a:latin typeface="Arial"/>
              </a:rPr>
              <a:t>32 581</a:t>
            </a:r>
          </a:p>
        </p:txBody>
      </p:sp>
      <p:sp>
        <p:nvSpPr>
          <p:cNvPr id="5" name="Rounded Rectangle 4"/>
          <p:cNvSpPr/>
          <p:nvPr/>
        </p:nvSpPr>
        <p:spPr>
          <a:xfrm>
            <a:off x="6400800" y="3337560"/>
            <a:ext cx="210312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0" i="0">
                <a:solidFill>
                  <a:srgbClr val="5F6368"/>
                </a:solidFill>
                <a:latin typeface="Arial"/>
              </a:rPr>
              <a:t>Impagos</a:t>
            </a:r>
          </a:p>
          <a:p>
            <a:pPr algn="ctr">
              <a:spcAft>
                <a:spcPts val="300"/>
              </a:spcAft>
            </a:pPr>
            <a:r>
              <a:rPr sz="2200" b="1" i="0">
                <a:solidFill>
                  <a:srgbClr val="D7263D"/>
                </a:solidFill>
                <a:latin typeface="Arial"/>
              </a:rPr>
              <a:t>21,8 %</a:t>
            </a:r>
          </a:p>
        </p:txBody>
      </p:sp>
      <p:sp>
        <p:nvSpPr>
          <p:cNvPr id="6" name="Rounded Rectangle 5"/>
          <p:cNvSpPr/>
          <p:nvPr/>
        </p:nvSpPr>
        <p:spPr>
          <a:xfrm>
            <a:off x="731520" y="51206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Target: </a:t>
            </a:r>
            <a:r>
              <a:rPr sz="1200" b="0" i="0">
                <a:solidFill>
                  <a:srgbClr val="2B2B2B"/>
                </a:solidFill>
                <a:latin typeface="Arial"/>
              </a:rPr>
              <a:t>loan_status (0 = sin impago, 1 = impago).</a:t>
            </a:r>
          </a:p>
        </p:txBody>
      </p:sp>
      <p:sp>
        <p:nvSpPr>
          <p:cNvPr id="7" name="TextBox 6"/>
          <p:cNvSpPr txBox="1"/>
          <p:nvPr/>
        </p:nvSpPr>
        <p:spPr>
          <a:xfrm>
            <a:off x="731520" y="5715000"/>
            <a:ext cx="7772400" cy="548640"/>
          </a:xfrm>
          <a:prstGeom prst="rect">
            <a:avLst/>
          </a:prstGeom>
          <a:noFill/>
        </p:spPr>
        <p:txBody>
          <a:bodyPr wrap="square" anchor="t" lIns="36576" rIns="36576" tIns="36576" bIns="36576">
            <a:spAutoFit/>
          </a:bodyPr>
          <a:lstStyle/>
          <a:p>
            <a:pPr algn="l">
              <a:spcAft>
                <a:spcPts val="400"/>
              </a:spcAft>
            </a:pPr>
            <a:r>
              <a:rPr sz="1150" b="0" i="1">
                <a:solidFill>
                  <a:srgbClr val="5F6368"/>
                </a:solidFill>
                <a:latin typeface="Arial"/>
              </a:rPr>
              <a:t>Revisa la licencia en la página de Kaggle antes de usarlo fuera de clase.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Limpieza mínima y el grado del préstamo</a:t>
            </a:r>
          </a:p>
        </p:txBody>
      </p:sp>
      <p:graphicFrame>
        <p:nvGraphicFramePr>
          <p:cNvPr id="3" name="Table 2"/>
          <p:cNvGraphicFramePr>
            <a:graphicFrameLocks noGrp="1"/>
          </p:cNvGraphicFramePr>
          <p:nvPr/>
        </p:nvGraphicFramePr>
        <p:xfrm>
          <a:off x="731520" y="1965960"/>
          <a:ext cx="3931920" cy="2468880"/>
        </p:xfrm>
        <a:graphic>
          <a:graphicData uri="http://schemas.openxmlformats.org/drawingml/2006/table">
            <a:tbl>
              <a:tblPr firstRow="1" bandRow="1">
                <a:tableStyleId>{5C22544A-7EE6-4342-B048-85BDC9FD1C3A}</a:tableStyleId>
              </a:tblPr>
              <a:tblGrid>
                <a:gridCol w="1737360"/>
                <a:gridCol w="822960"/>
                <a:gridCol w="1371600"/>
              </a:tblGrid>
              <a:tr h="411480">
                <a:tc>
                  <a:txBody>
                    <a:bodyPr wrap="square"/>
                    <a:lstStyle/>
                    <a:p>
                      <a:pPr algn="l"/>
                      <a:r>
                        <a:rPr sz="1150" b="1" i="0">
                          <a:solidFill>
                            <a:srgbClr val="FFFFFF"/>
                          </a:solidFill>
                          <a:latin typeface="Arial"/>
                        </a:rPr>
                        <a:t>Problema</a:t>
                      </a:r>
                    </a:p>
                  </a:txBody>
                  <a:tcPr marL="64008" marR="64008" marT="27432" marB="27432" anchor="ctr">
                    <a:solidFill>
                      <a:srgbClr val="242852"/>
                    </a:solidFill>
                  </a:tcPr>
                </a:tc>
                <a:tc>
                  <a:txBody>
                    <a:bodyPr wrap="square"/>
                    <a:lstStyle/>
                    <a:p>
                      <a:pPr algn="ctr"/>
                      <a:r>
                        <a:rPr sz="1150" b="1" i="0">
                          <a:solidFill>
                            <a:srgbClr val="FFFFFF"/>
                          </a:solidFill>
                          <a:latin typeface="Arial"/>
                        </a:rPr>
                        <a:t>Filas</a:t>
                      </a:r>
                    </a:p>
                  </a:txBody>
                  <a:tcPr marL="64008" marR="64008" marT="27432" marB="27432" anchor="ctr">
                    <a:solidFill>
                      <a:srgbClr val="242852"/>
                    </a:solidFill>
                  </a:tcPr>
                </a:tc>
                <a:tc>
                  <a:txBody>
                    <a:bodyPr wrap="square"/>
                    <a:lstStyle/>
                    <a:p>
                      <a:pPr algn="ctr"/>
                      <a:r>
                        <a:rPr sz="1150" b="1" i="0">
                          <a:solidFill>
                            <a:srgbClr val="FFFFFF"/>
                          </a:solidFill>
                          <a:latin typeface="Arial"/>
                        </a:rPr>
                        <a:t>Decisión</a:t>
                      </a:r>
                    </a:p>
                  </a:txBody>
                  <a:tcPr marL="64008" marR="64008" marT="27432" marB="27432" anchor="ctr">
                    <a:solidFill>
                      <a:srgbClr val="242852"/>
                    </a:solidFill>
                  </a:tcPr>
                </a:tc>
              </a:tr>
              <a:tr h="411480">
                <a:tc>
                  <a:txBody>
                    <a:bodyPr wrap="square"/>
                    <a:lstStyle/>
                    <a:p>
                      <a:pPr algn="l"/>
                      <a:r>
                        <a:rPr sz="1150" b="1" i="0">
                          <a:solidFill>
                            <a:srgbClr val="2B2B2B"/>
                          </a:solidFill>
                          <a:latin typeface="Arial"/>
                        </a:rPr>
                        <a:t>Edad &gt; 100</a:t>
                      </a:r>
                    </a:p>
                  </a:txBody>
                  <a:tcPr marL="64008" marR="64008" marT="27432" marB="27432" anchor="ctr">
                    <a:solidFill>
                      <a:srgbClr val="FFFFFF"/>
                    </a:solidFill>
                  </a:tcPr>
                </a:tc>
                <a:tc>
                  <a:txBody>
                    <a:bodyPr wrap="square"/>
                    <a:lstStyle/>
                    <a:p>
                      <a:pPr algn="ctr"/>
                      <a:r>
                        <a:rPr sz="1150" b="0" i="0">
                          <a:solidFill>
                            <a:srgbClr val="2B2B2B"/>
                          </a:solidFill>
                          <a:latin typeface="Arial"/>
                        </a:rPr>
                        <a:t>5</a:t>
                      </a:r>
                    </a:p>
                  </a:txBody>
                  <a:tcPr marL="64008" marR="64008" marT="27432" marB="27432" anchor="ctr">
                    <a:solidFill>
                      <a:srgbClr val="FFFFFF"/>
                    </a:solidFill>
                  </a:tcPr>
                </a:tc>
                <a:tc>
                  <a:txBody>
                    <a:bodyPr wrap="square"/>
                    <a:lstStyle/>
                    <a:p>
                      <a:pPr algn="ctr"/>
                      <a:r>
                        <a:rPr sz="1150" b="0" i="0">
                          <a:solidFill>
                            <a:srgbClr val="2B2B2B"/>
                          </a:solidFill>
                          <a:latin typeface="Arial"/>
                        </a:rPr>
                        <a:t>eliminar</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Antigüedad &gt; 60 años</a:t>
                      </a:r>
                    </a:p>
                  </a:txBody>
                  <a:tcPr marL="64008" marR="64008" marT="27432" marB="27432" anchor="ctr">
                    <a:solidFill>
                      <a:srgbClr val="F2F3F5"/>
                    </a:solidFill>
                  </a:tcPr>
                </a:tc>
                <a:tc>
                  <a:txBody>
                    <a:bodyPr wrap="square"/>
                    <a:lstStyle/>
                    <a:p>
                      <a:pPr algn="ctr"/>
                      <a:r>
                        <a:rPr sz="1150" b="0" i="0">
                          <a:solidFill>
                            <a:srgbClr val="2B2B2B"/>
                          </a:solidFill>
                          <a:latin typeface="Arial"/>
                        </a:rPr>
                        <a:t>2</a:t>
                      </a:r>
                    </a:p>
                  </a:txBody>
                  <a:tcPr marL="64008" marR="64008" marT="27432" marB="27432" anchor="ctr">
                    <a:solidFill>
                      <a:srgbClr val="F2F3F5"/>
                    </a:solidFill>
                  </a:tcPr>
                </a:tc>
                <a:tc>
                  <a:txBody>
                    <a:bodyPr wrap="square"/>
                    <a:lstStyle/>
                    <a:p>
                      <a:pPr algn="ctr"/>
                      <a:r>
                        <a:rPr sz="1150" b="0" i="0">
                          <a:solidFill>
                            <a:srgbClr val="2B2B2B"/>
                          </a:solidFill>
                          <a:latin typeface="Arial"/>
                        </a:rPr>
                        <a:t>eliminar</a:t>
                      </a:r>
                    </a:p>
                  </a:txBody>
                  <a:tcPr marL="64008" marR="64008" marT="27432" marB="27432" anchor="ctr">
                    <a:solidFill>
                      <a:srgbClr val="F2F3F5"/>
                    </a:solidFill>
                  </a:tcPr>
                </a:tc>
              </a:tr>
              <a:tr h="411480">
                <a:tc>
                  <a:txBody>
                    <a:bodyPr wrap="square"/>
                    <a:lstStyle/>
                    <a:p>
                      <a:pPr algn="l"/>
                      <a:r>
                        <a:rPr sz="1150" b="1" i="0">
                          <a:solidFill>
                            <a:srgbClr val="2B2B2B"/>
                          </a:solidFill>
                          <a:latin typeface="Arial"/>
                        </a:rPr>
                        <a:t>Duplicados</a:t>
                      </a:r>
                    </a:p>
                  </a:txBody>
                  <a:tcPr marL="64008" marR="64008" marT="27432" marB="27432" anchor="ctr">
                    <a:solidFill>
                      <a:srgbClr val="FFFFFF"/>
                    </a:solidFill>
                  </a:tcPr>
                </a:tc>
                <a:tc>
                  <a:txBody>
                    <a:bodyPr wrap="square"/>
                    <a:lstStyle/>
                    <a:p>
                      <a:pPr algn="ctr"/>
                      <a:r>
                        <a:rPr sz="1150" b="0" i="0">
                          <a:solidFill>
                            <a:srgbClr val="2B2B2B"/>
                          </a:solidFill>
                          <a:latin typeface="Arial"/>
                        </a:rPr>
                        <a:t>165</a:t>
                      </a:r>
                    </a:p>
                  </a:txBody>
                  <a:tcPr marL="64008" marR="64008" marT="27432" marB="27432" anchor="ctr">
                    <a:solidFill>
                      <a:srgbClr val="FFFFFF"/>
                    </a:solidFill>
                  </a:tcPr>
                </a:tc>
                <a:tc>
                  <a:txBody>
                    <a:bodyPr wrap="square"/>
                    <a:lstStyle/>
                    <a:p>
                      <a:pPr algn="ctr"/>
                      <a:r>
                        <a:rPr sz="1150" b="0" i="0">
                          <a:solidFill>
                            <a:srgbClr val="2B2B2B"/>
                          </a:solidFill>
                          <a:latin typeface="Arial"/>
                        </a:rPr>
                        <a:t>eliminar</a:t>
                      </a:r>
                    </a:p>
                  </a:txBody>
                  <a:tcPr marL="64008" marR="64008" marT="27432" marB="27432" anchor="ctr">
                    <a:solidFill>
                      <a:srgbClr val="FFFFFF"/>
                    </a:solidFill>
                  </a:tcPr>
                </a:tc>
              </a:tr>
              <a:tr h="411480">
                <a:tc>
                  <a:txBody>
                    <a:bodyPr wrap="square"/>
                    <a:lstStyle/>
                    <a:p>
                      <a:pPr algn="l"/>
                      <a:r>
                        <a:rPr sz="1150" b="1" i="0">
                          <a:solidFill>
                            <a:srgbClr val="2B2B2B"/>
                          </a:solidFill>
                          <a:latin typeface="Arial"/>
                        </a:rPr>
                        <a:t>Tasa faltante</a:t>
                      </a:r>
                    </a:p>
                  </a:txBody>
                  <a:tcPr marL="64008" marR="64008" marT="27432" marB="27432" anchor="ctr">
                    <a:solidFill>
                      <a:srgbClr val="F2F3F5"/>
                    </a:solidFill>
                  </a:tcPr>
                </a:tc>
                <a:tc>
                  <a:txBody>
                    <a:bodyPr wrap="square"/>
                    <a:lstStyle/>
                    <a:p>
                      <a:pPr algn="ctr"/>
                      <a:r>
                        <a:rPr sz="1150" b="0" i="0">
                          <a:solidFill>
                            <a:srgbClr val="2B2B2B"/>
                          </a:solidFill>
                          <a:latin typeface="Arial"/>
                        </a:rPr>
                        <a:t>3 116</a:t>
                      </a:r>
                    </a:p>
                  </a:txBody>
                  <a:tcPr marL="64008" marR="64008" marT="27432" marB="27432" anchor="ctr">
                    <a:solidFill>
                      <a:srgbClr val="F2F3F5"/>
                    </a:solidFill>
                  </a:tcPr>
                </a:tc>
                <a:tc>
                  <a:txBody>
                    <a:bodyPr wrap="square"/>
                    <a:lstStyle/>
                    <a:p>
                      <a:pPr algn="ctr"/>
                      <a:r>
                        <a:rPr sz="1150" b="0" i="0">
                          <a:solidFill>
                            <a:srgbClr val="2B2B2B"/>
                          </a:solidFill>
                          <a:latin typeface="Arial"/>
                        </a:rPr>
                        <a:t>mediana de Train</a:t>
                      </a:r>
                    </a:p>
                  </a:txBody>
                  <a:tcPr marL="64008" marR="64008" marT="27432" marB="27432" anchor="ctr">
                    <a:solidFill>
                      <a:srgbClr val="F2F3F5"/>
                    </a:solidFill>
                  </a:tcPr>
                </a:tc>
              </a:tr>
              <a:tr h="411480">
                <a:tc>
                  <a:txBody>
                    <a:bodyPr wrap="square"/>
                    <a:lstStyle/>
                    <a:p>
                      <a:pPr algn="l"/>
                      <a:r>
                        <a:rPr sz="1150" b="1" i="0">
                          <a:solidFill>
                            <a:srgbClr val="2B2B2B"/>
                          </a:solidFill>
                          <a:latin typeface="Arial"/>
                        </a:rPr>
                        <a:t>Antigüedad faltante</a:t>
                      </a:r>
                    </a:p>
                  </a:txBody>
                  <a:tcPr marL="64008" marR="64008" marT="27432" marB="27432" anchor="ctr">
                    <a:solidFill>
                      <a:srgbClr val="FFFFFF"/>
                    </a:solidFill>
                  </a:tcPr>
                </a:tc>
                <a:tc>
                  <a:txBody>
                    <a:bodyPr wrap="square"/>
                    <a:lstStyle/>
                    <a:p>
                      <a:pPr algn="ctr"/>
                      <a:r>
                        <a:rPr sz="1150" b="0" i="0">
                          <a:solidFill>
                            <a:srgbClr val="2B2B2B"/>
                          </a:solidFill>
                          <a:latin typeface="Arial"/>
                        </a:rPr>
                        <a:t>895</a:t>
                      </a:r>
                    </a:p>
                  </a:txBody>
                  <a:tcPr marL="64008" marR="64008" marT="27432" marB="27432" anchor="ctr">
                    <a:solidFill>
                      <a:srgbClr val="FFFFFF"/>
                    </a:solidFill>
                  </a:tcPr>
                </a:tc>
                <a:tc>
                  <a:txBody>
                    <a:bodyPr wrap="square"/>
                    <a:lstStyle/>
                    <a:p>
                      <a:pPr algn="ctr"/>
                      <a:r>
                        <a:rPr sz="1150" b="0" i="0">
                          <a:solidFill>
                            <a:srgbClr val="2B2B2B"/>
                          </a:solidFill>
                          <a:latin typeface="Arial"/>
                        </a:rPr>
                        <a:t>mediana de Train</a:t>
                      </a:r>
                    </a:p>
                  </a:txBody>
                  <a:tcPr marL="64008" marR="64008" marT="27432" marB="27432" anchor="ctr">
                    <a:solidFill>
                      <a:srgbClr val="FFFFFF"/>
                    </a:solidFill>
                  </a:tcPr>
                </a:tc>
              </a:tr>
            </a:tbl>
          </a:graphicData>
        </a:graphic>
      </p:graphicFrame>
      <p:graphicFrame>
        <p:nvGraphicFramePr>
          <p:cNvPr id="4" name="Chart 3"/>
          <p:cNvGraphicFramePr>
            <a:graphicFrameLocks noGrp="1"/>
          </p:cNvGraphicFramePr>
          <p:nvPr/>
        </p:nvGraphicFramePr>
        <p:xfrm>
          <a:off x="4846320" y="1874519"/>
          <a:ext cx="3657600" cy="3017520"/>
        </p:xfrm>
        <a:graphic>
          <a:graphicData uri="http://schemas.openxmlformats.org/drawingml/2006/chart">
            <c:chart xmlns:c="http://schemas.openxmlformats.org/drawingml/2006/chart" r:id="rId3"/>
          </a:graphicData>
        </a:graphic>
      </p:graphicFrame>
      <p:sp>
        <p:nvSpPr>
          <p:cNvPr id="5" name="Rounded Rectangle 4"/>
          <p:cNvSpPr/>
          <p:nvPr/>
        </p:nvSpPr>
        <p:spPr>
          <a:xfrm>
            <a:off x="731520" y="5074920"/>
            <a:ext cx="7772400" cy="9144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Grado y tasa </a:t>
            </a:r>
            <a:r>
              <a:rPr sz="1200" b="0" i="0">
                <a:solidFill>
                  <a:srgbClr val="2B2B2B"/>
                </a:solidFill>
                <a:latin typeface="Arial"/>
              </a:rPr>
              <a:t>son decisiones de la entidad que ya resumen su evaluación del riesgo: se conocen al aprobar (no son fuga), pero explican parte del buen desempeño de cualquier modelo.</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La idea de SVM: una frontera con margen</a:t>
            </a:r>
          </a:p>
        </p:txBody>
      </p:sp>
      <p:pic>
        <p:nvPicPr>
          <p:cNvPr id="3" name="Picture 2" descr="svm_margen.png"/>
          <p:cNvPicPr>
            <a:picLocks noChangeAspect="1"/>
          </p:cNvPicPr>
          <p:nvPr/>
        </p:nvPicPr>
        <p:blipFill>
          <a:blip r:embed="rId3"/>
          <a:stretch>
            <a:fillRect/>
          </a:stretch>
        </p:blipFill>
        <p:spPr>
          <a:xfrm>
            <a:off x="731520" y="1998671"/>
            <a:ext cx="4206240" cy="3226417"/>
          </a:xfrm>
          <a:prstGeom prst="rect">
            <a:avLst/>
          </a:prstGeom>
        </p:spPr>
      </p:pic>
      <p:sp>
        <p:nvSpPr>
          <p:cNvPr id="4" name="Rounded Rectangle 3"/>
          <p:cNvSpPr/>
          <p:nvPr/>
        </p:nvSpPr>
        <p:spPr>
          <a:xfrm>
            <a:off x="5120640" y="1965960"/>
            <a:ext cx="3383280" cy="10515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257800" y="2075688"/>
            <a:ext cx="315468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Frontera</a:t>
            </a:r>
          </a:p>
        </p:txBody>
      </p:sp>
      <p:sp>
        <p:nvSpPr>
          <p:cNvPr id="6" name="TextBox 5"/>
          <p:cNvSpPr txBox="1"/>
          <p:nvPr/>
        </p:nvSpPr>
        <p:spPr>
          <a:xfrm>
            <a:off x="5257800" y="2624328"/>
            <a:ext cx="3108960" cy="3200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la línea (o plano) que decide la clase</a:t>
            </a:r>
          </a:p>
        </p:txBody>
      </p:sp>
      <p:sp>
        <p:nvSpPr>
          <p:cNvPr id="7" name="Rounded Rectangle 6"/>
          <p:cNvSpPr/>
          <p:nvPr/>
        </p:nvSpPr>
        <p:spPr>
          <a:xfrm>
            <a:off x="5120640" y="3108960"/>
            <a:ext cx="3383280" cy="10515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257800" y="3218688"/>
            <a:ext cx="315468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Margen</a:t>
            </a:r>
          </a:p>
        </p:txBody>
      </p:sp>
      <p:sp>
        <p:nvSpPr>
          <p:cNvPr id="9" name="TextBox 8"/>
          <p:cNvSpPr txBox="1"/>
          <p:nvPr/>
        </p:nvSpPr>
        <p:spPr>
          <a:xfrm>
            <a:off x="5257800" y="3767328"/>
            <a:ext cx="3108960" cy="3200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la «calle» vacía a cada lado de la frontera</a:t>
            </a:r>
          </a:p>
        </p:txBody>
      </p:sp>
      <p:sp>
        <p:nvSpPr>
          <p:cNvPr id="10" name="Rounded Rectangle 9"/>
          <p:cNvSpPr/>
          <p:nvPr/>
        </p:nvSpPr>
        <p:spPr>
          <a:xfrm>
            <a:off x="5120640" y="4251960"/>
            <a:ext cx="3383280" cy="10515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5257800" y="4361688"/>
            <a:ext cx="315468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Vectores de soporte</a:t>
            </a:r>
          </a:p>
        </p:txBody>
      </p:sp>
      <p:sp>
        <p:nvSpPr>
          <p:cNvPr id="12" name="TextBox 11"/>
          <p:cNvSpPr txBox="1"/>
          <p:nvPr/>
        </p:nvSpPr>
        <p:spPr>
          <a:xfrm>
            <a:off x="5257800" y="4910328"/>
            <a:ext cx="3108960" cy="3200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los puntos que definen dónde va la calle</a:t>
            </a:r>
          </a:p>
        </p:txBody>
      </p:sp>
      <p:sp>
        <p:nvSpPr>
          <p:cNvPr id="13" name="Rounded Rectangle 12"/>
          <p:cNvSpPr/>
          <p:nvPr/>
        </p:nvSpPr>
        <p:spPr>
          <a:xfrm>
            <a:off x="731520" y="55778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Frente a KNN: </a:t>
            </a:r>
            <a:r>
              <a:rPr sz="1200" b="0" i="0">
                <a:solidFill>
                  <a:srgbClr val="2B2B2B"/>
                </a:solidFill>
                <a:latin typeface="Arial"/>
              </a:rPr>
              <a:t>KNN consulta a los vecinos cada vez; SVM aprende la frontera una vez y luego solo mira el lado.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SVM a mano: seis préstamos sobre una recta</a:t>
            </a:r>
          </a:p>
        </p:txBody>
      </p:sp>
      <p:pic>
        <p:nvPicPr>
          <p:cNvPr id="3" name="Picture 2" descr="svm_mano.png"/>
          <p:cNvPicPr>
            <a:picLocks noChangeAspect="1"/>
          </p:cNvPicPr>
          <p:nvPr/>
        </p:nvPicPr>
        <p:blipFill>
          <a:blip r:embed="rId3"/>
          <a:stretch>
            <a:fillRect/>
          </a:stretch>
        </p:blipFill>
        <p:spPr>
          <a:xfrm>
            <a:off x="731520" y="1899803"/>
            <a:ext cx="7772400" cy="2464033"/>
          </a:xfrm>
          <a:prstGeom prst="rect">
            <a:avLst/>
          </a:prstGeom>
        </p:spPr>
      </p:pic>
      <p:graphicFrame>
        <p:nvGraphicFramePr>
          <p:cNvPr id="4" name="Table 3"/>
          <p:cNvGraphicFramePr>
            <a:graphicFrameLocks noGrp="1"/>
          </p:cNvGraphicFramePr>
          <p:nvPr/>
        </p:nvGraphicFramePr>
        <p:xfrm>
          <a:off x="731520" y="4480560"/>
          <a:ext cx="7772400" cy="1389888"/>
        </p:xfrm>
        <a:graphic>
          <a:graphicData uri="http://schemas.openxmlformats.org/drawingml/2006/table">
            <a:tbl>
              <a:tblPr firstRow="1" bandRow="1">
                <a:tableStyleId>{5C22544A-7EE6-4342-B048-85BDC9FD1C3A}</a:tableStyleId>
              </a:tblPr>
              <a:tblGrid>
                <a:gridCol w="1737360"/>
                <a:gridCol w="2331720"/>
                <a:gridCol w="2331720"/>
                <a:gridCol w="1371600"/>
              </a:tblGrid>
              <a:tr h="347472">
                <a:tc>
                  <a:txBody>
                    <a:bodyPr wrap="square"/>
                    <a:lstStyle/>
                    <a:p>
                      <a:pPr algn="l"/>
                      <a:r>
                        <a:rPr sz="1100" b="1" i="0">
                          <a:solidFill>
                            <a:srgbClr val="FFFFFF"/>
                          </a:solidFill>
                          <a:latin typeface="Arial"/>
                        </a:rPr>
                        <a:t>Frontera candidata</a:t>
                      </a:r>
                    </a:p>
                  </a:txBody>
                  <a:tcPr marL="64008" marR="64008" marT="27432" marB="27432" anchor="ctr">
                    <a:solidFill>
                      <a:srgbClr val="242852"/>
                    </a:solidFill>
                  </a:tcPr>
                </a:tc>
                <a:tc>
                  <a:txBody>
                    <a:bodyPr wrap="square"/>
                    <a:lstStyle/>
                    <a:p>
                      <a:pPr algn="ctr"/>
                      <a:r>
                        <a:rPr sz="1100" b="1" i="0">
                          <a:solidFill>
                            <a:srgbClr val="FFFFFF"/>
                          </a:solidFill>
                          <a:latin typeface="Arial"/>
                        </a:rPr>
                        <a:t>Distancia al pagado más cercano (0,20)</a:t>
                      </a:r>
                    </a:p>
                  </a:txBody>
                  <a:tcPr marL="64008" marR="64008" marT="27432" marB="27432" anchor="ctr">
                    <a:solidFill>
                      <a:srgbClr val="242852"/>
                    </a:solidFill>
                  </a:tcPr>
                </a:tc>
                <a:tc>
                  <a:txBody>
                    <a:bodyPr wrap="square"/>
                    <a:lstStyle/>
                    <a:p>
                      <a:pPr algn="ctr"/>
                      <a:r>
                        <a:rPr sz="1100" b="1" i="0">
                          <a:solidFill>
                            <a:srgbClr val="FFFFFF"/>
                          </a:solidFill>
                          <a:latin typeface="Arial"/>
                        </a:rPr>
                        <a:t>Distancia al impago más cercano (0,40)</a:t>
                      </a:r>
                    </a:p>
                  </a:txBody>
                  <a:tcPr marL="64008" marR="64008" marT="27432" marB="27432" anchor="ctr">
                    <a:solidFill>
                      <a:srgbClr val="242852"/>
                    </a:solidFill>
                  </a:tcPr>
                </a:tc>
                <a:tc>
                  <a:txBody>
                    <a:bodyPr wrap="square"/>
                    <a:lstStyle/>
                    <a:p>
                      <a:pPr algn="ctr"/>
                      <a:r>
                        <a:rPr sz="1100" b="1" i="0">
                          <a:solidFill>
                            <a:srgbClr val="FFFFFF"/>
                          </a:solidFill>
                          <a:latin typeface="Arial"/>
                        </a:rPr>
                        <a:t>Margen</a:t>
                      </a:r>
                    </a:p>
                  </a:txBody>
                  <a:tcPr marL="64008" marR="64008" marT="27432" marB="27432" anchor="ctr">
                    <a:solidFill>
                      <a:srgbClr val="242852"/>
                    </a:solidFill>
                  </a:tcPr>
                </a:tc>
              </a:tr>
              <a:tr h="347472">
                <a:tc>
                  <a:txBody>
                    <a:bodyPr wrap="square"/>
                    <a:lstStyle/>
                    <a:p>
                      <a:pPr algn="l"/>
                      <a:r>
                        <a:rPr sz="1100" b="1" i="0">
                          <a:solidFill>
                            <a:srgbClr val="2B2B2B"/>
                          </a:solidFill>
                          <a:latin typeface="Arial"/>
                        </a:rPr>
                        <a:t>0,22</a:t>
                      </a:r>
                    </a:p>
                  </a:txBody>
                  <a:tcPr marL="64008" marR="64008" marT="27432" marB="27432" anchor="ctr">
                    <a:solidFill>
                      <a:srgbClr val="FFFFFF"/>
                    </a:solidFill>
                  </a:tcPr>
                </a:tc>
                <a:tc>
                  <a:txBody>
                    <a:bodyPr wrap="square"/>
                    <a:lstStyle/>
                    <a:p>
                      <a:pPr algn="ctr"/>
                      <a:r>
                        <a:rPr sz="1100" b="0" i="0">
                          <a:solidFill>
                            <a:srgbClr val="2B2B2B"/>
                          </a:solidFill>
                          <a:latin typeface="Arial"/>
                        </a:rPr>
                        <a:t>0,02</a:t>
                      </a:r>
                    </a:p>
                  </a:txBody>
                  <a:tcPr marL="64008" marR="64008" marT="27432" marB="27432" anchor="ctr">
                    <a:solidFill>
                      <a:srgbClr val="FFFFFF"/>
                    </a:solidFill>
                  </a:tcPr>
                </a:tc>
                <a:tc>
                  <a:txBody>
                    <a:bodyPr wrap="square"/>
                    <a:lstStyle/>
                    <a:p>
                      <a:pPr algn="ctr"/>
                      <a:r>
                        <a:rPr sz="1100" b="0" i="0">
                          <a:solidFill>
                            <a:srgbClr val="2B2B2B"/>
                          </a:solidFill>
                          <a:latin typeface="Arial"/>
                        </a:rPr>
                        <a:t>0,18</a:t>
                      </a:r>
                    </a:p>
                  </a:txBody>
                  <a:tcPr marL="64008" marR="64008" marT="27432" marB="27432" anchor="ctr">
                    <a:solidFill>
                      <a:srgbClr val="FFFFFF"/>
                    </a:solidFill>
                  </a:tcPr>
                </a:tc>
                <a:tc>
                  <a:txBody>
                    <a:bodyPr wrap="square"/>
                    <a:lstStyle/>
                    <a:p>
                      <a:pPr algn="ctr"/>
                      <a:r>
                        <a:rPr sz="1100" b="0" i="0">
                          <a:solidFill>
                            <a:srgbClr val="2B2B2B"/>
                          </a:solidFill>
                          <a:latin typeface="Arial"/>
                        </a:rPr>
                        <a:t>0,02</a:t>
                      </a:r>
                    </a:p>
                  </a:txBody>
                  <a:tcPr marL="64008" marR="64008" marT="27432" marB="27432" anchor="ctr">
                    <a:solidFill>
                      <a:srgbClr val="FFFFFF"/>
                    </a:solidFill>
                  </a:tcPr>
                </a:tc>
              </a:tr>
              <a:tr h="347472">
                <a:tc>
                  <a:txBody>
                    <a:bodyPr wrap="square"/>
                    <a:lstStyle/>
                    <a:p>
                      <a:pPr algn="l"/>
                      <a:r>
                        <a:rPr sz="1100" b="1" i="0">
                          <a:solidFill>
                            <a:srgbClr val="2A9D8F"/>
                          </a:solidFill>
                          <a:latin typeface="Arial"/>
                        </a:rPr>
                        <a:t>0,30 (SVM)</a:t>
                      </a:r>
                    </a:p>
                  </a:txBody>
                  <a:tcPr marL="64008" marR="64008" marT="27432" marB="27432" anchor="ctr">
                    <a:solidFill>
                      <a:srgbClr val="E3F3F1"/>
                    </a:solidFill>
                  </a:tcPr>
                </a:tc>
                <a:tc>
                  <a:txBody>
                    <a:bodyPr wrap="square"/>
                    <a:lstStyle/>
                    <a:p>
                      <a:pPr algn="ctr"/>
                      <a:r>
                        <a:rPr sz="1100" b="0" i="0">
                          <a:solidFill>
                            <a:srgbClr val="2B2B2B"/>
                          </a:solidFill>
                          <a:latin typeface="Arial"/>
                        </a:rPr>
                        <a:t>0,10</a:t>
                      </a:r>
                    </a:p>
                  </a:txBody>
                  <a:tcPr marL="64008" marR="64008" marT="27432" marB="27432" anchor="ctr">
                    <a:solidFill>
                      <a:srgbClr val="E3F3F1"/>
                    </a:solidFill>
                  </a:tcPr>
                </a:tc>
                <a:tc>
                  <a:txBody>
                    <a:bodyPr wrap="square"/>
                    <a:lstStyle/>
                    <a:p>
                      <a:pPr algn="ctr"/>
                      <a:r>
                        <a:rPr sz="1100" b="0" i="0">
                          <a:solidFill>
                            <a:srgbClr val="2B2B2B"/>
                          </a:solidFill>
                          <a:latin typeface="Arial"/>
                        </a:rPr>
                        <a:t>0,10</a:t>
                      </a:r>
                    </a:p>
                  </a:txBody>
                  <a:tcPr marL="64008" marR="64008" marT="27432" marB="27432" anchor="ctr">
                    <a:solidFill>
                      <a:srgbClr val="E3F3F1"/>
                    </a:solidFill>
                  </a:tcPr>
                </a:tc>
                <a:tc>
                  <a:txBody>
                    <a:bodyPr wrap="square"/>
                    <a:lstStyle/>
                    <a:p>
                      <a:pPr algn="ctr"/>
                      <a:r>
                        <a:rPr sz="1100" b="1" i="0">
                          <a:solidFill>
                            <a:srgbClr val="2A9D8F"/>
                          </a:solidFill>
                          <a:latin typeface="Arial"/>
                        </a:rPr>
                        <a:t>0,10</a:t>
                      </a:r>
                    </a:p>
                  </a:txBody>
                  <a:tcPr marL="64008" marR="64008" marT="27432" marB="27432" anchor="ctr">
                    <a:solidFill>
                      <a:srgbClr val="E3F3F1"/>
                    </a:solidFill>
                  </a:tcPr>
                </a:tc>
              </a:tr>
              <a:tr h="347472">
                <a:tc>
                  <a:txBody>
                    <a:bodyPr wrap="square"/>
                    <a:lstStyle/>
                    <a:p>
                      <a:pPr algn="l"/>
                      <a:r>
                        <a:rPr sz="1100" b="1" i="0">
                          <a:solidFill>
                            <a:srgbClr val="2B2B2B"/>
                          </a:solidFill>
                          <a:latin typeface="Arial"/>
                        </a:rPr>
                        <a:t>0,38</a:t>
                      </a:r>
                    </a:p>
                  </a:txBody>
                  <a:tcPr marL="64008" marR="64008" marT="27432" marB="27432" anchor="ctr">
                    <a:solidFill>
                      <a:srgbClr val="FFFFFF"/>
                    </a:solidFill>
                  </a:tcPr>
                </a:tc>
                <a:tc>
                  <a:txBody>
                    <a:bodyPr wrap="square"/>
                    <a:lstStyle/>
                    <a:p>
                      <a:pPr algn="ctr"/>
                      <a:r>
                        <a:rPr sz="1100" b="0" i="0">
                          <a:solidFill>
                            <a:srgbClr val="2B2B2B"/>
                          </a:solidFill>
                          <a:latin typeface="Arial"/>
                        </a:rPr>
                        <a:t>0,18</a:t>
                      </a:r>
                    </a:p>
                  </a:txBody>
                  <a:tcPr marL="64008" marR="64008" marT="27432" marB="27432" anchor="ctr">
                    <a:solidFill>
                      <a:srgbClr val="FFFFFF"/>
                    </a:solidFill>
                  </a:tcPr>
                </a:tc>
                <a:tc>
                  <a:txBody>
                    <a:bodyPr wrap="square"/>
                    <a:lstStyle/>
                    <a:p>
                      <a:pPr algn="ctr"/>
                      <a:r>
                        <a:rPr sz="1100" b="0" i="0">
                          <a:solidFill>
                            <a:srgbClr val="2B2B2B"/>
                          </a:solidFill>
                          <a:latin typeface="Arial"/>
                        </a:rPr>
                        <a:t>0,02</a:t>
                      </a:r>
                    </a:p>
                  </a:txBody>
                  <a:tcPr marL="64008" marR="64008" marT="27432" marB="27432" anchor="ctr">
                    <a:solidFill>
                      <a:srgbClr val="FFFFFF"/>
                    </a:solidFill>
                  </a:tcPr>
                </a:tc>
                <a:tc>
                  <a:txBody>
                    <a:bodyPr wrap="square"/>
                    <a:lstStyle/>
                    <a:p>
                      <a:pPr algn="ctr"/>
                      <a:r>
                        <a:rPr sz="1100" b="0" i="0">
                          <a:solidFill>
                            <a:srgbClr val="2B2B2B"/>
                          </a:solidFill>
                          <a:latin typeface="Arial"/>
                        </a:rPr>
                        <a:t>0,02</a:t>
                      </a:r>
                    </a:p>
                  </a:txBody>
                  <a:tcPr marL="64008" marR="64008" marT="27432" marB="27432" anchor="ctr">
                    <a:solidFill>
                      <a:srgbClr val="FFFFFF"/>
                    </a:solidFill>
                  </a:tcPr>
                </a:tc>
              </a:tr>
            </a:tbl>
          </a:graphicData>
        </a:graphic>
      </p:graphicFrame>
      <p:sp>
        <p:nvSpPr>
          <p:cNvPr id="5" name="Rounded Rectangle 4"/>
          <p:cNvSpPr/>
          <p:nvPr/>
        </p:nvSpPr>
        <p:spPr>
          <a:xfrm>
            <a:off x="731520" y="5943600"/>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Regla aprendida: </a:t>
            </a:r>
            <a:r>
              <a:rPr sz="1200" b="0" i="0">
                <a:solidFill>
                  <a:srgbClr val="2B2B2B"/>
                </a:solidFill>
                <a:latin typeface="Arial"/>
              </a:rPr>
              <a:t>cuota / ingreso &gt; 0,30 → impago. Margen = distancia al punto más cercano; SVM busca el mayor.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¿Qué es la multa C? Un cálculo a mano</a:t>
            </a:r>
          </a:p>
        </p:txBody>
      </p:sp>
      <p:pic>
        <p:nvPicPr>
          <p:cNvPr id="3" name="Picture 2" descr="svm_multa.png"/>
          <p:cNvPicPr>
            <a:picLocks noChangeAspect="1"/>
          </p:cNvPicPr>
          <p:nvPr/>
        </p:nvPicPr>
        <p:blipFill>
          <a:blip r:embed="rId3"/>
          <a:stretch>
            <a:fillRect/>
          </a:stretch>
        </p:blipFill>
        <p:spPr>
          <a:xfrm>
            <a:off x="1221441" y="1828800"/>
            <a:ext cx="3500717" cy="2514600"/>
          </a:xfrm>
          <a:prstGeom prst="rect">
            <a:avLst/>
          </a:prstGeom>
        </p:spPr>
      </p:pic>
      <p:graphicFrame>
        <p:nvGraphicFramePr>
          <p:cNvPr id="4" name="Table 3"/>
          <p:cNvGraphicFramePr>
            <a:graphicFrameLocks noGrp="1"/>
          </p:cNvGraphicFramePr>
          <p:nvPr/>
        </p:nvGraphicFramePr>
        <p:xfrm>
          <a:off x="5349240" y="1874519"/>
          <a:ext cx="3154680" cy="2432304"/>
        </p:xfrm>
        <a:graphic>
          <a:graphicData uri="http://schemas.openxmlformats.org/drawingml/2006/table">
            <a:tbl>
              <a:tblPr firstRow="1" bandRow="1">
                <a:tableStyleId>{5C22544A-7EE6-4342-B048-85BDC9FD1C3A}</a:tableStyleId>
              </a:tblPr>
              <a:tblGrid>
                <a:gridCol w="1508760"/>
                <a:gridCol w="822960"/>
                <a:gridCol w="822960"/>
              </a:tblGrid>
              <a:tr h="347472">
                <a:tc>
                  <a:txBody>
                    <a:bodyPr wrap="square"/>
                    <a:lstStyle/>
                    <a:p>
                      <a:pPr algn="l"/>
                      <a:r>
                        <a:rPr sz="1050" b="1" i="0">
                          <a:solidFill>
                            <a:srgbClr val="FFFFFF"/>
                          </a:solidFill>
                          <a:latin typeface="Arial"/>
                        </a:rPr>
                        <a:t/>
                      </a:r>
                    </a:p>
                  </a:txBody>
                  <a:tcPr marL="64008" marR="64008" marT="27432" marB="27432" anchor="ctr">
                    <a:solidFill>
                      <a:srgbClr val="242852"/>
                    </a:solidFill>
                  </a:tcPr>
                </a:tc>
                <a:tc>
                  <a:txBody>
                    <a:bodyPr wrap="square"/>
                    <a:lstStyle/>
                    <a:p>
                      <a:pPr algn="ctr"/>
                      <a:r>
                        <a:rPr sz="1050" b="1" i="0">
                          <a:solidFill>
                            <a:srgbClr val="FFFFFF"/>
                          </a:solidFill>
                          <a:latin typeface="Arial"/>
                        </a:rPr>
                        <a:t>A · ancha</a:t>
                      </a:r>
                    </a:p>
                  </a:txBody>
                  <a:tcPr marL="64008" marR="64008" marT="27432" marB="27432" anchor="ctr">
                    <a:solidFill>
                      <a:srgbClr val="242852"/>
                    </a:solidFill>
                  </a:tcPr>
                </a:tc>
                <a:tc>
                  <a:txBody>
                    <a:bodyPr wrap="square"/>
                    <a:lstStyle/>
                    <a:p>
                      <a:pPr algn="ctr"/>
                      <a:r>
                        <a:rPr sz="1050" b="1" i="0">
                          <a:solidFill>
                            <a:srgbClr val="FFFFFF"/>
                          </a:solidFill>
                          <a:latin typeface="Arial"/>
                        </a:rPr>
                        <a:t>B · estrecha</a:t>
                      </a:r>
                    </a:p>
                  </a:txBody>
                  <a:tcPr marL="64008" marR="64008" marT="27432" marB="27432" anchor="ctr">
                    <a:solidFill>
                      <a:srgbClr val="242852"/>
                    </a:solidFill>
                  </a:tcPr>
                </a:tc>
              </a:tr>
              <a:tr h="347472">
                <a:tc>
                  <a:txBody>
                    <a:bodyPr wrap="square"/>
                    <a:lstStyle/>
                    <a:p>
                      <a:pPr algn="l"/>
                      <a:r>
                        <a:rPr sz="1050" b="1" i="0">
                          <a:solidFill>
                            <a:srgbClr val="2B2B2B"/>
                          </a:solidFill>
                          <a:latin typeface="Arial"/>
                        </a:rPr>
                        <a:t>Ancho de la calle</a:t>
                      </a:r>
                    </a:p>
                  </a:txBody>
                  <a:tcPr marL="64008" marR="64008" marT="27432" marB="27432" anchor="ctr">
                    <a:solidFill>
                      <a:srgbClr val="FFFFFF"/>
                    </a:solidFill>
                  </a:tcPr>
                </a:tc>
                <a:tc>
                  <a:txBody>
                    <a:bodyPr wrap="square"/>
                    <a:lstStyle/>
                    <a:p>
                      <a:pPr algn="ctr"/>
                      <a:r>
                        <a:rPr sz="1050" b="0" i="0">
                          <a:solidFill>
                            <a:srgbClr val="2B2B2B"/>
                          </a:solidFill>
                          <a:latin typeface="Arial"/>
                        </a:rPr>
                        <a:t>0,20</a:t>
                      </a:r>
                    </a:p>
                  </a:txBody>
                  <a:tcPr marL="64008" marR="64008" marT="27432" marB="27432" anchor="ctr">
                    <a:solidFill>
                      <a:srgbClr val="FFFFFF"/>
                    </a:solidFill>
                  </a:tcPr>
                </a:tc>
                <a:tc>
                  <a:txBody>
                    <a:bodyPr wrap="square"/>
                    <a:lstStyle/>
                    <a:p>
                      <a:pPr algn="ctr"/>
                      <a:r>
                        <a:rPr sz="1050" b="0" i="0">
                          <a:solidFill>
                            <a:srgbClr val="2B2B2B"/>
                          </a:solidFill>
                          <a:latin typeface="Arial"/>
                        </a:rPr>
                        <a:t>0,04</a:t>
                      </a:r>
                    </a:p>
                  </a:txBody>
                  <a:tcPr marL="64008" marR="64008" marT="27432" marB="27432" anchor="ctr">
                    <a:solidFill>
                      <a:srgbClr val="FFFFFF"/>
                    </a:solidFill>
                  </a:tcPr>
                </a:tc>
              </a:tr>
              <a:tr h="347472">
                <a:tc>
                  <a:txBody>
                    <a:bodyPr wrap="square"/>
                    <a:lstStyle/>
                    <a:p>
                      <a:pPr algn="l"/>
                      <a:r>
                        <a:rPr sz="1050" b="1" i="0">
                          <a:solidFill>
                            <a:srgbClr val="2B2B2B"/>
                          </a:solidFill>
                          <a:latin typeface="Arial"/>
                        </a:rPr>
                        <a:t>Costo de la calle: 2 / ancho²</a:t>
                      </a:r>
                    </a:p>
                  </a:txBody>
                  <a:tcPr marL="64008" marR="64008" marT="27432" marB="27432" anchor="ctr">
                    <a:solidFill>
                      <a:srgbClr val="F2F3F5"/>
                    </a:solidFill>
                  </a:tcPr>
                </a:tc>
                <a:tc>
                  <a:txBody>
                    <a:bodyPr wrap="square"/>
                    <a:lstStyle/>
                    <a:p>
                      <a:pPr algn="ctr"/>
                      <a:r>
                        <a:rPr sz="1050" b="0" i="0">
                          <a:solidFill>
                            <a:srgbClr val="2B2B2B"/>
                          </a:solidFill>
                          <a:latin typeface="Arial"/>
                        </a:rPr>
                        <a:t>50</a:t>
                      </a:r>
                    </a:p>
                  </a:txBody>
                  <a:tcPr marL="64008" marR="64008" marT="27432" marB="27432" anchor="ctr">
                    <a:solidFill>
                      <a:srgbClr val="F2F3F5"/>
                    </a:solidFill>
                  </a:tcPr>
                </a:tc>
                <a:tc>
                  <a:txBody>
                    <a:bodyPr wrap="square"/>
                    <a:lstStyle/>
                    <a:p>
                      <a:pPr algn="ctr"/>
                      <a:r>
                        <a:rPr sz="1050" b="0" i="0">
                          <a:solidFill>
                            <a:srgbClr val="2B2B2B"/>
                          </a:solidFill>
                          <a:latin typeface="Arial"/>
                        </a:rPr>
                        <a:t>1 250</a:t>
                      </a:r>
                    </a:p>
                  </a:txBody>
                  <a:tcPr marL="64008" marR="64008" marT="27432" marB="27432" anchor="ctr">
                    <a:solidFill>
                      <a:srgbClr val="F2F3F5"/>
                    </a:solidFill>
                  </a:tcPr>
                </a:tc>
              </a:tr>
              <a:tr h="347472">
                <a:tc>
                  <a:txBody>
                    <a:bodyPr wrap="square"/>
                    <a:lstStyle/>
                    <a:p>
                      <a:pPr algn="l"/>
                      <a:r>
                        <a:rPr sz="1050" b="1" i="0">
                          <a:solidFill>
                            <a:srgbClr val="2B2B2B"/>
                          </a:solidFill>
                          <a:latin typeface="Arial"/>
                        </a:rPr>
                        <a:t>Multas (holgura)</a:t>
                      </a:r>
                    </a:p>
                  </a:txBody>
                  <a:tcPr marL="64008" marR="64008" marT="27432" marB="27432" anchor="ctr">
                    <a:solidFill>
                      <a:srgbClr val="FFFFFF"/>
                    </a:solidFill>
                  </a:tcPr>
                </a:tc>
                <a:tc>
                  <a:txBody>
                    <a:bodyPr wrap="square"/>
                    <a:lstStyle/>
                    <a:p>
                      <a:pPr algn="ctr"/>
                      <a:r>
                        <a:rPr sz="1050" b="0" i="0">
                          <a:solidFill>
                            <a:srgbClr val="2B2B2B"/>
                          </a:solidFill>
                          <a:latin typeface="Arial"/>
                        </a:rPr>
                        <a:t>1,6</a:t>
                      </a:r>
                    </a:p>
                  </a:txBody>
                  <a:tcPr marL="64008" marR="64008" marT="27432" marB="27432" anchor="ctr">
                    <a:solidFill>
                      <a:srgbClr val="FFFFFF"/>
                    </a:solidFill>
                  </a:tcPr>
                </a:tc>
                <a:tc>
                  <a:txBody>
                    <a:bodyPr wrap="square"/>
                    <a:lstStyle/>
                    <a:p>
                      <a:pPr algn="ctr"/>
                      <a:r>
                        <a:rPr sz="1050" b="0" i="0">
                          <a:solidFill>
                            <a:srgbClr val="2B2B2B"/>
                          </a:solidFill>
                          <a:latin typeface="Arial"/>
                        </a:rPr>
                        <a:t>0</a:t>
                      </a:r>
                    </a:p>
                  </a:txBody>
                  <a:tcPr marL="64008" marR="64008" marT="27432" marB="27432" anchor="ctr">
                    <a:solidFill>
                      <a:srgbClr val="FFFFFF"/>
                    </a:solidFill>
                  </a:tcPr>
                </a:tc>
              </a:tr>
              <a:tr h="347472">
                <a:tc>
                  <a:txBody>
                    <a:bodyPr wrap="square"/>
                    <a:lstStyle/>
                    <a:p>
                      <a:pPr algn="l"/>
                      <a:r>
                        <a:rPr sz="1050" b="1" i="0">
                          <a:solidFill>
                            <a:srgbClr val="2B2B2B"/>
                          </a:solidFill>
                          <a:latin typeface="Arial"/>
                        </a:rPr>
                        <a:t>C = 1</a:t>
                      </a:r>
                    </a:p>
                  </a:txBody>
                  <a:tcPr marL="64008" marR="64008" marT="27432" marB="27432" anchor="ctr">
                    <a:solidFill>
                      <a:srgbClr val="F2F3F5"/>
                    </a:solidFill>
                  </a:tcPr>
                </a:tc>
                <a:tc>
                  <a:txBody>
                    <a:bodyPr wrap="square"/>
                    <a:lstStyle/>
                    <a:p>
                      <a:pPr algn="ctr"/>
                      <a:r>
                        <a:rPr sz="1050" b="1" i="0">
                          <a:solidFill>
                            <a:srgbClr val="2A9D8F"/>
                          </a:solidFill>
                          <a:latin typeface="Arial"/>
                        </a:rPr>
                        <a:t>51,6 ✓</a:t>
                      </a:r>
                    </a:p>
                  </a:txBody>
                  <a:tcPr marL="64008" marR="64008" marT="27432" marB="27432" anchor="ctr">
                    <a:solidFill>
                      <a:srgbClr val="F2F3F5"/>
                    </a:solidFill>
                  </a:tcPr>
                </a:tc>
                <a:tc>
                  <a:txBody>
                    <a:bodyPr wrap="square"/>
                    <a:lstStyle/>
                    <a:p>
                      <a:pPr algn="ctr"/>
                      <a:r>
                        <a:rPr sz="1050" b="0" i="0">
                          <a:solidFill>
                            <a:srgbClr val="2B2B2B"/>
                          </a:solidFill>
                          <a:latin typeface="Arial"/>
                        </a:rPr>
                        <a:t>1 250</a:t>
                      </a:r>
                    </a:p>
                  </a:txBody>
                  <a:tcPr marL="64008" marR="64008" marT="27432" marB="27432" anchor="ctr">
                    <a:solidFill>
                      <a:srgbClr val="F2F3F5"/>
                    </a:solidFill>
                  </a:tcPr>
                </a:tc>
              </a:tr>
              <a:tr h="347472">
                <a:tc>
                  <a:txBody>
                    <a:bodyPr wrap="square"/>
                    <a:lstStyle/>
                    <a:p>
                      <a:pPr algn="l"/>
                      <a:r>
                        <a:rPr sz="1050" b="1" i="0">
                          <a:solidFill>
                            <a:srgbClr val="2B2B2B"/>
                          </a:solidFill>
                          <a:latin typeface="Arial"/>
                        </a:rPr>
                        <a:t>C = 100</a:t>
                      </a:r>
                    </a:p>
                  </a:txBody>
                  <a:tcPr marL="64008" marR="64008" marT="27432" marB="27432" anchor="ctr">
                    <a:solidFill>
                      <a:srgbClr val="FFFFFF"/>
                    </a:solidFill>
                  </a:tcPr>
                </a:tc>
                <a:tc>
                  <a:txBody>
                    <a:bodyPr wrap="square"/>
                    <a:lstStyle/>
                    <a:p>
                      <a:pPr algn="ctr"/>
                      <a:r>
                        <a:rPr sz="1050" b="1" i="0">
                          <a:solidFill>
                            <a:srgbClr val="2A9D8F"/>
                          </a:solidFill>
                          <a:latin typeface="Arial"/>
                        </a:rPr>
                        <a:t>210 ✓</a:t>
                      </a:r>
                    </a:p>
                  </a:txBody>
                  <a:tcPr marL="64008" marR="64008" marT="27432" marB="27432" anchor="ctr">
                    <a:solidFill>
                      <a:srgbClr val="FFFFFF"/>
                    </a:solidFill>
                  </a:tcPr>
                </a:tc>
                <a:tc>
                  <a:txBody>
                    <a:bodyPr wrap="square"/>
                    <a:lstStyle/>
                    <a:p>
                      <a:pPr algn="ctr"/>
                      <a:r>
                        <a:rPr sz="1050" b="0" i="0">
                          <a:solidFill>
                            <a:srgbClr val="2B2B2B"/>
                          </a:solidFill>
                          <a:latin typeface="Arial"/>
                        </a:rPr>
                        <a:t>1 250</a:t>
                      </a:r>
                    </a:p>
                  </a:txBody>
                  <a:tcPr marL="64008" marR="64008" marT="27432" marB="27432" anchor="ctr">
                    <a:solidFill>
                      <a:srgbClr val="FFFFFF"/>
                    </a:solidFill>
                  </a:tcPr>
                </a:tc>
              </a:tr>
              <a:tr h="347472">
                <a:tc>
                  <a:txBody>
                    <a:bodyPr wrap="square"/>
                    <a:lstStyle/>
                    <a:p>
                      <a:pPr algn="l"/>
                      <a:r>
                        <a:rPr sz="1050" b="1" i="0">
                          <a:solidFill>
                            <a:srgbClr val="2B2B2B"/>
                          </a:solidFill>
                          <a:latin typeface="Arial"/>
                        </a:rPr>
                        <a:t>C = 1 000</a:t>
                      </a:r>
                    </a:p>
                  </a:txBody>
                  <a:tcPr marL="64008" marR="64008" marT="27432" marB="27432" anchor="ctr">
                    <a:solidFill>
                      <a:srgbClr val="F2F3F5"/>
                    </a:solidFill>
                  </a:tcPr>
                </a:tc>
                <a:tc>
                  <a:txBody>
                    <a:bodyPr wrap="square"/>
                    <a:lstStyle/>
                    <a:p>
                      <a:pPr algn="ctr"/>
                      <a:r>
                        <a:rPr sz="1050" b="0" i="0">
                          <a:solidFill>
                            <a:srgbClr val="2B2B2B"/>
                          </a:solidFill>
                          <a:latin typeface="Arial"/>
                        </a:rPr>
                        <a:t>1 650</a:t>
                      </a:r>
                    </a:p>
                  </a:txBody>
                  <a:tcPr marL="64008" marR="64008" marT="27432" marB="27432" anchor="ctr">
                    <a:solidFill>
                      <a:srgbClr val="F2F3F5"/>
                    </a:solidFill>
                  </a:tcPr>
                </a:tc>
                <a:tc>
                  <a:txBody>
                    <a:bodyPr wrap="square"/>
                    <a:lstStyle/>
                    <a:p>
                      <a:pPr algn="ctr"/>
                      <a:r>
                        <a:rPr sz="1050" b="1" i="0">
                          <a:solidFill>
                            <a:srgbClr val="2A9D8F"/>
                          </a:solidFill>
                          <a:latin typeface="Arial"/>
                        </a:rPr>
                        <a:t>1 250 ✓</a:t>
                      </a:r>
                    </a:p>
                  </a:txBody>
                  <a:tcPr marL="64008" marR="64008" marT="27432" marB="27432" anchor="ctr">
                    <a:solidFill>
                      <a:srgbClr val="F2F3F5"/>
                    </a:solidFill>
                  </a:tcPr>
                </a:tc>
              </a:tr>
            </a:tbl>
          </a:graphicData>
        </a:graphic>
      </p:graphicFrame>
      <p:sp>
        <p:nvSpPr>
          <p:cNvPr id="5" name="Rounded Rectangle 4"/>
          <p:cNvSpPr/>
          <p:nvPr/>
        </p:nvSpPr>
        <p:spPr>
          <a:xfrm>
            <a:off x="731520" y="4434840"/>
            <a:ext cx="7772400" cy="7772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Costo total = 2 / ancho² + C × suma de multas</a:t>
            </a:r>
          </a:p>
          <a:p>
            <a:pPr algn="ctr">
              <a:spcAft>
                <a:spcPts val="300"/>
              </a:spcAft>
            </a:pPr>
            <a:r>
              <a:rPr sz="1150" b="0" i="0">
                <a:solidFill>
                  <a:srgbClr val="C9D2E8"/>
                </a:solidFill>
                <a:latin typeface="Arial"/>
              </a:rPr>
              <a:t>multa de un punto = cuánto invade la calle: 0 si queda fuera, más de 1 si quedó del lado equivocado</a:t>
            </a:r>
          </a:p>
        </p:txBody>
      </p:sp>
      <p:sp>
        <p:nvSpPr>
          <p:cNvPr id="6" name="Rounded Rectangle 5"/>
          <p:cNvSpPr/>
          <p:nvPr/>
        </p:nvSpPr>
        <p:spPr>
          <a:xfrm>
            <a:off x="731520" y="5376672"/>
            <a:ext cx="7772400" cy="658368"/>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A9D8F"/>
                </a:solidFill>
                <a:latin typeface="Arial"/>
              </a:rPr>
              <a:t>C pequeño: </a:t>
            </a:r>
            <a:r>
              <a:rPr sz="1200" b="0" i="0">
                <a:solidFill>
                  <a:srgbClr val="2B2B2B"/>
                </a:solidFill>
                <a:latin typeface="Arial"/>
              </a:rPr>
              <a:t>las multas son baratas → calle ancha, tolera errores. </a:t>
            </a:r>
            <a:r>
              <a:rPr sz="1200" b="1" i="0">
                <a:solidFill>
                  <a:srgbClr val="D7263D"/>
                </a:solidFill>
                <a:latin typeface="Arial"/>
              </a:rPr>
              <a:t>C grande: </a:t>
            </a:r>
            <a:r>
              <a:rPr sz="1200" b="0" i="0">
                <a:solidFill>
                  <a:srgbClr val="2B2B2B"/>
                </a:solidFill>
                <a:latin typeface="Arial"/>
              </a:rPr>
              <a:t>las multas son caras → calle estrecha, persigue cada punto y puede memorizar.</a:t>
            </a:r>
          </a:p>
        </p:txBody>
      </p:sp>
      <p:sp>
        <p:nvSpPr>
          <p:cNvPr id="7" name="TextBox 6"/>
          <p:cNvSpPr txBox="1"/>
          <p:nvPr/>
        </p:nvSpPr>
        <p:spPr>
          <a:xfrm>
            <a:off x="731520" y="6080760"/>
            <a:ext cx="7772400" cy="320040"/>
          </a:xfrm>
          <a:prstGeom prst="rect">
            <a:avLst/>
          </a:prstGeom>
          <a:noFill/>
        </p:spPr>
        <p:txBody>
          <a:bodyPr wrap="square" anchor="t" lIns="36576" rIns="36576" tIns="36576" bIns="36576">
            <a:spAutoFit/>
          </a:bodyPr>
          <a:lstStyle/>
          <a:p>
            <a:pPr algn="l">
              <a:spcAft>
                <a:spcPts val="400"/>
              </a:spcAft>
            </a:pPr>
            <a:r>
              <a:rPr sz="1050" b="0" i="1">
                <a:solidFill>
                  <a:srgbClr val="5F6368"/>
                </a:solidFill>
                <a:latin typeface="Arial"/>
              </a:rPr>
              <a:t>Ejemplo inventado con una variable; con muchas variables el cálculo es el mismo, pero lo hace la computadora.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 margen ancho o pocos errores</a:t>
            </a:r>
          </a:p>
        </p:txBody>
      </p:sp>
      <p:pic>
        <p:nvPicPr>
          <p:cNvPr id="3" name="Picture 2" descr="svm_C.png"/>
          <p:cNvPicPr>
            <a:picLocks noChangeAspect="1"/>
          </p:cNvPicPr>
          <p:nvPr/>
        </p:nvPicPr>
        <p:blipFill>
          <a:blip r:embed="rId3"/>
          <a:stretch>
            <a:fillRect/>
          </a:stretch>
        </p:blipFill>
        <p:spPr>
          <a:xfrm>
            <a:off x="731520" y="1912182"/>
            <a:ext cx="7772400" cy="3170794"/>
          </a:xfrm>
          <a:prstGeom prst="rect">
            <a:avLst/>
          </a:prstGeom>
        </p:spPr>
      </p:pic>
      <p:sp>
        <p:nvSpPr>
          <p:cNvPr id="4" name="Rounded Rectangle 3"/>
          <p:cNvSpPr/>
          <p:nvPr/>
        </p:nvSpPr>
        <p:spPr>
          <a:xfrm>
            <a:off x="731520" y="530352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Ejemplo ilustrativo </a:t>
            </a:r>
            <a:r>
              <a:rPr sz="1200" b="0" i="0">
                <a:solidFill>
                  <a:srgbClr val="2B2B2B"/>
                </a:solidFill>
                <a:latin typeface="Arial"/>
              </a:rPr>
              <a:t>con puntos inventados: misma nube, dos valores de C. C es un hiperparámetro, como max_depth o 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Jugar con C: el hiperparámetro más importante de SVM</a:t>
            </a:r>
          </a:p>
        </p:txBody>
      </p:sp>
      <p:pic>
        <p:nvPicPr>
          <p:cNvPr id="3" name="Picture 2" descr="c_sweep.png"/>
          <p:cNvPicPr>
            <a:picLocks noChangeAspect="1"/>
          </p:cNvPicPr>
          <p:nvPr/>
        </p:nvPicPr>
        <p:blipFill>
          <a:blip r:embed="rId3"/>
          <a:stretch>
            <a:fillRect/>
          </a:stretch>
        </p:blipFill>
        <p:spPr>
          <a:xfrm>
            <a:off x="731520" y="1923417"/>
            <a:ext cx="4480560" cy="2416804"/>
          </a:xfrm>
          <a:prstGeom prst="rect">
            <a:avLst/>
          </a:prstGeom>
        </p:spPr>
      </p:pic>
      <p:graphicFrame>
        <p:nvGraphicFramePr>
          <p:cNvPr id="4" name="Table 3"/>
          <p:cNvGraphicFramePr>
            <a:graphicFrameLocks noGrp="1"/>
          </p:cNvGraphicFramePr>
          <p:nvPr/>
        </p:nvGraphicFramePr>
        <p:xfrm>
          <a:off x="5394960" y="1965960"/>
          <a:ext cx="3108960" cy="2304288"/>
        </p:xfrm>
        <a:graphic>
          <a:graphicData uri="http://schemas.openxmlformats.org/drawingml/2006/table">
            <a:tbl>
              <a:tblPr firstRow="1" bandRow="1">
                <a:tableStyleId>{5C22544A-7EE6-4342-B048-85BDC9FD1C3A}</a:tableStyleId>
              </a:tblPr>
              <a:tblGrid>
                <a:gridCol w="640080"/>
                <a:gridCol w="777240"/>
                <a:gridCol w="777240"/>
                <a:gridCol w="914400"/>
              </a:tblGrid>
              <a:tr h="384048">
                <a:tc>
                  <a:txBody>
                    <a:bodyPr wrap="square"/>
                    <a:lstStyle/>
                    <a:p>
                      <a:pPr algn="l"/>
                      <a:r>
                        <a:rPr sz="1150" b="1" i="0">
                          <a:solidFill>
                            <a:srgbClr val="FFFFFF"/>
                          </a:solidFill>
                          <a:latin typeface="Arial"/>
                        </a:rPr>
                        <a:t>C</a:t>
                      </a:r>
                    </a:p>
                  </a:txBody>
                  <a:tcPr marL="64008" marR="64008" marT="27432" marB="27432" anchor="ctr">
                    <a:solidFill>
                      <a:srgbClr val="242852"/>
                    </a:solidFill>
                  </a:tcPr>
                </a:tc>
                <a:tc>
                  <a:txBody>
                    <a:bodyPr wrap="square"/>
                    <a:lstStyle/>
                    <a:p>
                      <a:pPr algn="ctr"/>
                      <a:r>
                        <a:rPr sz="1150" b="1" i="0">
                          <a:solidFill>
                            <a:srgbClr val="FFFFFF"/>
                          </a:solidFill>
                          <a:latin typeface="Arial"/>
                        </a:rPr>
                        <a:t>F1 Train</a:t>
                      </a:r>
                    </a:p>
                  </a:txBody>
                  <a:tcPr marL="64008" marR="64008" marT="27432" marB="27432" anchor="ctr">
                    <a:solidFill>
                      <a:srgbClr val="242852"/>
                    </a:solidFill>
                  </a:tcPr>
                </a:tc>
                <a:tc>
                  <a:txBody>
                    <a:bodyPr wrap="square"/>
                    <a:lstStyle/>
                    <a:p>
                      <a:pPr algn="ctr"/>
                      <a:r>
                        <a:rPr sz="1150" b="1" i="0">
                          <a:solidFill>
                            <a:srgbClr val="FFFFFF"/>
                          </a:solidFill>
                          <a:latin typeface="Arial"/>
                        </a:rPr>
                        <a:t>F1 Val.</a:t>
                      </a:r>
                    </a:p>
                  </a:txBody>
                  <a:tcPr marL="64008" marR="64008" marT="27432" marB="27432" anchor="ctr">
                    <a:solidFill>
                      <a:srgbClr val="242852"/>
                    </a:solidFill>
                  </a:tcPr>
                </a:tc>
                <a:tc>
                  <a:txBody>
                    <a:bodyPr wrap="square"/>
                    <a:lstStyle/>
                    <a:p>
                      <a:pPr algn="ctr"/>
                      <a:r>
                        <a:rPr sz="1150" b="1" i="0">
                          <a:solidFill>
                            <a:srgbClr val="FFFFFF"/>
                          </a:solidFill>
                          <a:latin typeface="Arial"/>
                        </a:rPr>
                        <a:t>Vect. soporte</a:t>
                      </a:r>
                    </a:p>
                  </a:txBody>
                  <a:tcPr marL="64008" marR="64008" marT="27432" marB="27432" anchor="ctr">
                    <a:solidFill>
                      <a:srgbClr val="242852"/>
                    </a:solidFill>
                  </a:tcPr>
                </a:tc>
              </a:tr>
              <a:tr h="384048">
                <a:tc>
                  <a:txBody>
                    <a:bodyPr wrap="square"/>
                    <a:lstStyle/>
                    <a:p>
                      <a:pPr algn="l"/>
                      <a:r>
                        <a:rPr sz="1150" b="1" i="0">
                          <a:solidFill>
                            <a:srgbClr val="2B2B2B"/>
                          </a:solidFill>
                          <a:latin typeface="Arial"/>
                        </a:rPr>
                        <a:t>0,01</a:t>
                      </a:r>
                    </a:p>
                  </a:txBody>
                  <a:tcPr marL="64008" marR="64008" marT="27432" marB="27432" anchor="ctr">
                    <a:solidFill>
                      <a:srgbClr val="FFFFFF"/>
                    </a:solidFill>
                  </a:tcPr>
                </a:tc>
                <a:tc>
                  <a:txBody>
                    <a:bodyPr wrap="square"/>
                    <a:lstStyle/>
                    <a:p>
                      <a:pPr algn="ctr"/>
                      <a:r>
                        <a:rPr sz="1150" b="0" i="0">
                          <a:solidFill>
                            <a:srgbClr val="2B2B2B"/>
                          </a:solidFill>
                          <a:latin typeface="Arial"/>
                        </a:rPr>
                        <a:t>0,616</a:t>
                      </a:r>
                    </a:p>
                  </a:txBody>
                  <a:tcPr marL="64008" marR="64008" marT="27432" marB="27432" anchor="ctr">
                    <a:solidFill>
                      <a:srgbClr val="FFFFFF"/>
                    </a:solidFill>
                  </a:tcPr>
                </a:tc>
                <a:tc>
                  <a:txBody>
                    <a:bodyPr wrap="square"/>
                    <a:lstStyle/>
                    <a:p>
                      <a:pPr algn="ctr"/>
                      <a:r>
                        <a:rPr sz="1150" b="0" i="0">
                          <a:solidFill>
                            <a:srgbClr val="2B2B2B"/>
                          </a:solidFill>
                          <a:latin typeface="Arial"/>
                        </a:rPr>
                        <a:t>0,602</a:t>
                      </a:r>
                    </a:p>
                  </a:txBody>
                  <a:tcPr marL="64008" marR="64008" marT="27432" marB="27432" anchor="ctr">
                    <a:solidFill>
                      <a:srgbClr val="FFFFFF"/>
                    </a:solidFill>
                  </a:tcPr>
                </a:tc>
                <a:tc>
                  <a:txBody>
                    <a:bodyPr wrap="square"/>
                    <a:lstStyle/>
                    <a:p>
                      <a:pPr algn="ctr"/>
                      <a:r>
                        <a:rPr sz="1150" b="0" i="0">
                          <a:solidFill>
                            <a:srgbClr val="2B2B2B"/>
                          </a:solidFill>
                          <a:latin typeface="Arial"/>
                        </a:rPr>
                        <a:t>6 192</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0,1</a:t>
                      </a:r>
                    </a:p>
                  </a:txBody>
                  <a:tcPr marL="64008" marR="64008" marT="27432" marB="27432" anchor="ctr">
                    <a:solidFill>
                      <a:srgbClr val="F2F3F5"/>
                    </a:solidFill>
                  </a:tcPr>
                </a:tc>
                <a:tc>
                  <a:txBody>
                    <a:bodyPr wrap="square"/>
                    <a:lstStyle/>
                    <a:p>
                      <a:pPr algn="ctr"/>
                      <a:r>
                        <a:rPr sz="1150" b="0" i="0">
                          <a:solidFill>
                            <a:srgbClr val="2B2B2B"/>
                          </a:solidFill>
                          <a:latin typeface="Arial"/>
                        </a:rPr>
                        <a:t>0,685</a:t>
                      </a:r>
                    </a:p>
                  </a:txBody>
                  <a:tcPr marL="64008" marR="64008" marT="27432" marB="27432" anchor="ctr">
                    <a:solidFill>
                      <a:srgbClr val="F2F3F5"/>
                    </a:solidFill>
                  </a:tcPr>
                </a:tc>
                <a:tc>
                  <a:txBody>
                    <a:bodyPr wrap="square"/>
                    <a:lstStyle/>
                    <a:p>
                      <a:pPr algn="ctr"/>
                      <a:r>
                        <a:rPr sz="1150" b="0" i="0">
                          <a:solidFill>
                            <a:srgbClr val="2B2B2B"/>
                          </a:solidFill>
                          <a:latin typeface="Arial"/>
                        </a:rPr>
                        <a:t>0,669</a:t>
                      </a:r>
                    </a:p>
                  </a:txBody>
                  <a:tcPr marL="64008" marR="64008" marT="27432" marB="27432" anchor="ctr">
                    <a:solidFill>
                      <a:srgbClr val="F2F3F5"/>
                    </a:solidFill>
                  </a:tcPr>
                </a:tc>
                <a:tc>
                  <a:txBody>
                    <a:bodyPr wrap="square"/>
                    <a:lstStyle/>
                    <a:p>
                      <a:pPr algn="ctr"/>
                      <a:r>
                        <a:rPr sz="1150" b="0" i="0">
                          <a:solidFill>
                            <a:srgbClr val="2B2B2B"/>
                          </a:solidFill>
                          <a:latin typeface="Arial"/>
                        </a:rPr>
                        <a:t>4 503</a:t>
                      </a:r>
                    </a:p>
                  </a:txBody>
                  <a:tcPr marL="64008" marR="64008" marT="27432" marB="27432" anchor="ctr">
                    <a:solidFill>
                      <a:srgbClr val="F2F3F5"/>
                    </a:solidFill>
                  </a:tcPr>
                </a:tc>
              </a:tr>
              <a:tr h="384048">
                <a:tc>
                  <a:txBody>
                    <a:bodyPr wrap="square"/>
                    <a:lstStyle/>
                    <a:p>
                      <a:pPr algn="l"/>
                      <a:r>
                        <a:rPr sz="1150" b="1" i="0">
                          <a:solidFill>
                            <a:srgbClr val="2B2B2B"/>
                          </a:solidFill>
                          <a:latin typeface="Arial"/>
                        </a:rPr>
                        <a:t>1</a:t>
                      </a:r>
                    </a:p>
                  </a:txBody>
                  <a:tcPr marL="64008" marR="64008" marT="27432" marB="27432" anchor="ctr">
                    <a:solidFill>
                      <a:srgbClr val="FFFFFF"/>
                    </a:solidFill>
                  </a:tcPr>
                </a:tc>
                <a:tc>
                  <a:txBody>
                    <a:bodyPr wrap="square"/>
                    <a:lstStyle/>
                    <a:p>
                      <a:pPr algn="ctr"/>
                      <a:r>
                        <a:rPr sz="1150" b="0" i="0">
                          <a:solidFill>
                            <a:srgbClr val="2B2B2B"/>
                          </a:solidFill>
                          <a:latin typeface="Arial"/>
                        </a:rPr>
                        <a:t>0,759</a:t>
                      </a:r>
                    </a:p>
                  </a:txBody>
                  <a:tcPr marL="64008" marR="64008" marT="27432" marB="27432" anchor="ctr">
                    <a:solidFill>
                      <a:srgbClr val="FFFFFF"/>
                    </a:solidFill>
                  </a:tcPr>
                </a:tc>
                <a:tc>
                  <a:txBody>
                    <a:bodyPr wrap="square"/>
                    <a:lstStyle/>
                    <a:p>
                      <a:pPr algn="ctr"/>
                      <a:r>
                        <a:rPr sz="1150" b="0" i="0">
                          <a:solidFill>
                            <a:srgbClr val="2B2B2B"/>
                          </a:solidFill>
                          <a:latin typeface="Arial"/>
                        </a:rPr>
                        <a:t>0,714</a:t>
                      </a:r>
                    </a:p>
                  </a:txBody>
                  <a:tcPr marL="64008" marR="64008" marT="27432" marB="27432" anchor="ctr">
                    <a:solidFill>
                      <a:srgbClr val="FFFFFF"/>
                    </a:solidFill>
                  </a:tcPr>
                </a:tc>
                <a:tc>
                  <a:txBody>
                    <a:bodyPr wrap="square"/>
                    <a:lstStyle/>
                    <a:p>
                      <a:pPr algn="ctr"/>
                      <a:r>
                        <a:rPr sz="1150" b="0" i="0">
                          <a:solidFill>
                            <a:srgbClr val="2B2B2B"/>
                          </a:solidFill>
                          <a:latin typeface="Arial"/>
                        </a:rPr>
                        <a:t>3 698</a:t>
                      </a:r>
                    </a:p>
                  </a:txBody>
                  <a:tcPr marL="64008" marR="64008" marT="27432" marB="27432" anchor="ctr">
                    <a:solidFill>
                      <a:srgbClr val="FFFFFF"/>
                    </a:solidFill>
                  </a:tcPr>
                </a:tc>
              </a:tr>
              <a:tr h="384048">
                <a:tc>
                  <a:txBody>
                    <a:bodyPr wrap="square"/>
                    <a:lstStyle/>
                    <a:p>
                      <a:pPr algn="l"/>
                      <a:r>
                        <a:rPr sz="1150" b="1" i="0">
                          <a:solidFill>
                            <a:srgbClr val="2B2B2B"/>
                          </a:solidFill>
                          <a:latin typeface="Arial"/>
                        </a:rPr>
                        <a:t>10</a:t>
                      </a:r>
                    </a:p>
                  </a:txBody>
                  <a:tcPr marL="64008" marR="64008" marT="27432" marB="27432" anchor="ctr">
                    <a:solidFill>
                      <a:srgbClr val="E3F3F1"/>
                    </a:solidFill>
                  </a:tcPr>
                </a:tc>
                <a:tc>
                  <a:txBody>
                    <a:bodyPr wrap="square"/>
                    <a:lstStyle/>
                    <a:p>
                      <a:pPr algn="ctr"/>
                      <a:r>
                        <a:rPr sz="1150" b="0" i="0">
                          <a:solidFill>
                            <a:srgbClr val="2B2B2B"/>
                          </a:solidFill>
                          <a:latin typeface="Arial"/>
                        </a:rPr>
                        <a:t>0,835</a:t>
                      </a:r>
                    </a:p>
                  </a:txBody>
                  <a:tcPr marL="64008" marR="64008" marT="27432" marB="27432" anchor="ctr">
                    <a:solidFill>
                      <a:srgbClr val="E3F3F1"/>
                    </a:solidFill>
                  </a:tcPr>
                </a:tc>
                <a:tc>
                  <a:txBody>
                    <a:bodyPr wrap="square"/>
                    <a:lstStyle/>
                    <a:p>
                      <a:pPr algn="ctr"/>
                      <a:r>
                        <a:rPr sz="1150" b="1" i="0">
                          <a:solidFill>
                            <a:srgbClr val="2A9D8F"/>
                          </a:solidFill>
                          <a:latin typeface="Arial"/>
                        </a:rPr>
                        <a:t>0,728</a:t>
                      </a:r>
                    </a:p>
                  </a:txBody>
                  <a:tcPr marL="64008" marR="64008" marT="27432" marB="27432" anchor="ctr">
                    <a:solidFill>
                      <a:srgbClr val="E3F3F1"/>
                    </a:solidFill>
                  </a:tcPr>
                </a:tc>
                <a:tc>
                  <a:txBody>
                    <a:bodyPr wrap="square"/>
                    <a:lstStyle/>
                    <a:p>
                      <a:pPr algn="ctr"/>
                      <a:r>
                        <a:rPr sz="1150" b="0" i="0">
                          <a:solidFill>
                            <a:srgbClr val="2B2B2B"/>
                          </a:solidFill>
                          <a:latin typeface="Arial"/>
                        </a:rPr>
                        <a:t>3 247</a:t>
                      </a:r>
                    </a:p>
                  </a:txBody>
                  <a:tcPr marL="64008" marR="64008" marT="27432" marB="27432" anchor="ctr">
                    <a:solidFill>
                      <a:srgbClr val="E3F3F1"/>
                    </a:solidFill>
                  </a:tcPr>
                </a:tc>
              </a:tr>
              <a:tr h="384048">
                <a:tc>
                  <a:txBody>
                    <a:bodyPr wrap="square"/>
                    <a:lstStyle/>
                    <a:p>
                      <a:pPr algn="l"/>
                      <a:r>
                        <a:rPr sz="1150" b="1" i="0">
                          <a:solidFill>
                            <a:srgbClr val="2B2B2B"/>
                          </a:solidFill>
                          <a:latin typeface="Arial"/>
                        </a:rPr>
                        <a:t>100</a:t>
                      </a:r>
                    </a:p>
                  </a:txBody>
                  <a:tcPr marL="64008" marR="64008" marT="27432" marB="27432" anchor="ctr">
                    <a:solidFill>
                      <a:srgbClr val="FFFFFF"/>
                    </a:solidFill>
                  </a:tcPr>
                </a:tc>
                <a:tc>
                  <a:txBody>
                    <a:bodyPr wrap="square"/>
                    <a:lstStyle/>
                    <a:p>
                      <a:pPr algn="ctr"/>
                      <a:r>
                        <a:rPr sz="1150" b="1" i="0">
                          <a:solidFill>
                            <a:srgbClr val="D7263D"/>
                          </a:solidFill>
                          <a:latin typeface="Arial"/>
                        </a:rPr>
                        <a:t>0,906</a:t>
                      </a:r>
                    </a:p>
                  </a:txBody>
                  <a:tcPr marL="64008" marR="64008" marT="27432" marB="27432" anchor="ctr">
                    <a:solidFill>
                      <a:srgbClr val="FFFFFF"/>
                    </a:solidFill>
                  </a:tcPr>
                </a:tc>
                <a:tc>
                  <a:txBody>
                    <a:bodyPr wrap="square"/>
                    <a:lstStyle/>
                    <a:p>
                      <a:pPr algn="ctr"/>
                      <a:r>
                        <a:rPr sz="1150" b="1" i="0">
                          <a:solidFill>
                            <a:srgbClr val="D7263D"/>
                          </a:solidFill>
                          <a:latin typeface="Arial"/>
                        </a:rPr>
                        <a:t>0,696</a:t>
                      </a:r>
                    </a:p>
                  </a:txBody>
                  <a:tcPr marL="64008" marR="64008" marT="27432" marB="27432" anchor="ctr">
                    <a:solidFill>
                      <a:srgbClr val="FFFFFF"/>
                    </a:solidFill>
                  </a:tcPr>
                </a:tc>
                <a:tc>
                  <a:txBody>
                    <a:bodyPr wrap="square"/>
                    <a:lstStyle/>
                    <a:p>
                      <a:pPr algn="ctr"/>
                      <a:r>
                        <a:rPr sz="1150" b="0" i="0">
                          <a:solidFill>
                            <a:srgbClr val="2B2B2B"/>
                          </a:solidFill>
                          <a:latin typeface="Arial"/>
                        </a:rPr>
                        <a:t>2 799</a:t>
                      </a:r>
                    </a:p>
                  </a:txBody>
                  <a:tcPr marL="64008" marR="64008" marT="27432" marB="27432" anchor="ctr">
                    <a:solidFill>
                      <a:srgbClr val="FFFFFF"/>
                    </a:solidFill>
                  </a:tcPr>
                </a:tc>
              </a:tr>
            </a:tbl>
          </a:graphicData>
        </a:graphic>
      </p:graphicFrame>
      <p:sp>
        <p:nvSpPr>
          <p:cNvPr id="5" name="Rounded Rectangle 4"/>
          <p:cNvSpPr/>
          <p:nvPr/>
        </p:nvSpPr>
        <p:spPr>
          <a:xfrm>
            <a:off x="731520" y="4572000"/>
            <a:ext cx="2487168"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 name="TextBox 5"/>
          <p:cNvSpPr txBox="1"/>
          <p:nvPr/>
        </p:nvSpPr>
        <p:spPr>
          <a:xfrm>
            <a:off x="868680" y="468172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C pequeño</a:t>
            </a:r>
          </a:p>
        </p:txBody>
      </p:sp>
      <p:sp>
        <p:nvSpPr>
          <p:cNvPr id="7" name="TextBox 6"/>
          <p:cNvSpPr txBox="1"/>
          <p:nvPr/>
        </p:nvSpPr>
        <p:spPr>
          <a:xfrm>
            <a:off x="868680" y="5230368"/>
            <a:ext cx="2212848"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multa baja: margen ancho, tolera errores</a:t>
            </a:r>
          </a:p>
        </p:txBody>
      </p:sp>
      <p:sp>
        <p:nvSpPr>
          <p:cNvPr id="8" name="Rounded Rectangle 7"/>
          <p:cNvSpPr/>
          <p:nvPr/>
        </p:nvSpPr>
        <p:spPr>
          <a:xfrm>
            <a:off x="3355848" y="4572000"/>
            <a:ext cx="2487168"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3493008" y="4681728"/>
            <a:ext cx="2258568"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C intermedio</a:t>
            </a:r>
          </a:p>
        </p:txBody>
      </p:sp>
      <p:sp>
        <p:nvSpPr>
          <p:cNvPr id="10" name="TextBox 9"/>
          <p:cNvSpPr txBox="1"/>
          <p:nvPr/>
        </p:nvSpPr>
        <p:spPr>
          <a:xfrm>
            <a:off x="3493008" y="5230368"/>
            <a:ext cx="2212848"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equilibra margen y errores</a:t>
            </a:r>
          </a:p>
        </p:txBody>
      </p:sp>
      <p:sp>
        <p:nvSpPr>
          <p:cNvPr id="11" name="Rounded Rectangle 10"/>
          <p:cNvSpPr/>
          <p:nvPr/>
        </p:nvSpPr>
        <p:spPr>
          <a:xfrm>
            <a:off x="5989320" y="4572000"/>
            <a:ext cx="2514600" cy="11887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6126480" y="4681728"/>
            <a:ext cx="228600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 grande</a:t>
            </a:r>
          </a:p>
        </p:txBody>
      </p:sp>
      <p:sp>
        <p:nvSpPr>
          <p:cNvPr id="13" name="TextBox 12"/>
          <p:cNvSpPr txBox="1"/>
          <p:nvPr/>
        </p:nvSpPr>
        <p:spPr>
          <a:xfrm>
            <a:off x="6126480" y="5230368"/>
            <a:ext cx="2240280"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multa alta: margen estrecho, memoriza</a:t>
            </a:r>
          </a:p>
        </p:txBody>
      </p:sp>
      <p:sp>
        <p:nvSpPr>
          <p:cNvPr id="14" name="Rounded Rectangle 13"/>
          <p:cNvSpPr/>
          <p:nvPr/>
        </p:nvSpPr>
        <p:spPr>
          <a:xfrm>
            <a:off x="731520" y="5870448"/>
            <a:ext cx="7772400" cy="4572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Como max_depth o k: </a:t>
            </a:r>
            <a:r>
              <a:rPr sz="1200" b="0" i="0">
                <a:solidFill>
                  <a:srgbClr val="2B2B2B"/>
                </a:solidFill>
                <a:latin typeface="Arial"/>
              </a:rPr>
              <a:t>C controla la complejidad y se elige en Validation. Con RBF, gamma actúa junto con C.</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se curva la frontera? Un truco a mano</a:t>
            </a:r>
          </a:p>
        </p:txBody>
      </p:sp>
      <p:pic>
        <p:nvPicPr>
          <p:cNvPr id="3" name="Picture 2" descr="svm_kernel.png"/>
          <p:cNvPicPr>
            <a:picLocks noChangeAspect="1"/>
          </p:cNvPicPr>
          <p:nvPr/>
        </p:nvPicPr>
        <p:blipFill>
          <a:blip r:embed="rId3"/>
          <a:stretch>
            <a:fillRect/>
          </a:stretch>
        </p:blipFill>
        <p:spPr>
          <a:xfrm>
            <a:off x="731520" y="1873103"/>
            <a:ext cx="7772400" cy="2883193"/>
          </a:xfrm>
          <a:prstGeom prst="rect">
            <a:avLst/>
          </a:prstGeom>
        </p:spPr>
      </p:pic>
      <p:sp>
        <p:nvSpPr>
          <p:cNvPr id="4" name="Rounded Rectangle 3"/>
          <p:cNvSpPr/>
          <p:nvPr/>
        </p:nvSpPr>
        <p:spPr>
          <a:xfrm>
            <a:off x="731520" y="4937760"/>
            <a:ext cx="3794760" cy="11887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50474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42852"/>
                </a:solidFill>
                <a:latin typeface="Arial"/>
              </a:rPr>
              <a:t>La idea</a:t>
            </a:r>
          </a:p>
        </p:txBody>
      </p:sp>
      <p:sp>
        <p:nvSpPr>
          <p:cNvPr id="6" name="TextBox 5"/>
          <p:cNvSpPr txBox="1"/>
          <p:nvPr/>
        </p:nvSpPr>
        <p:spPr>
          <a:xfrm>
            <a:off x="868680" y="5596128"/>
            <a:ext cx="3520440"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Agregar x² vuelve recta una frontera curva: en x es |x| &gt; 1,9.</a:t>
            </a:r>
          </a:p>
        </p:txBody>
      </p:sp>
      <p:sp>
        <p:nvSpPr>
          <p:cNvPr id="7" name="Rounded Rectangle 6"/>
          <p:cNvSpPr/>
          <p:nvPr/>
        </p:nvSpPr>
        <p:spPr>
          <a:xfrm>
            <a:off x="4709160" y="4937760"/>
            <a:ext cx="3794760" cy="11887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504748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El kernel RBF</a:t>
            </a:r>
          </a:p>
        </p:txBody>
      </p:sp>
      <p:sp>
        <p:nvSpPr>
          <p:cNvPr id="9" name="TextBox 8"/>
          <p:cNvSpPr txBox="1"/>
          <p:nvPr/>
        </p:nvSpPr>
        <p:spPr>
          <a:xfrm>
            <a:off x="4846320" y="5596128"/>
            <a:ext cx="3520440" cy="45720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Lo hace solo, midiendo parecido entre puntos. gamma = qué tan local es cada punto.</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Frontera recta o curva: kernel lineal y RBF</a:t>
            </a:r>
          </a:p>
        </p:txBody>
      </p:sp>
      <p:pic>
        <p:nvPicPr>
          <p:cNvPr id="3" name="Picture 2" descr="svm2d.png"/>
          <p:cNvPicPr>
            <a:picLocks noChangeAspect="1"/>
          </p:cNvPicPr>
          <p:nvPr/>
        </p:nvPicPr>
        <p:blipFill>
          <a:blip r:embed="rId3"/>
          <a:stretch>
            <a:fillRect/>
          </a:stretch>
        </p:blipFill>
        <p:spPr>
          <a:xfrm>
            <a:off x="731520" y="1931370"/>
            <a:ext cx="7772400" cy="3040978"/>
          </a:xfrm>
          <a:prstGeom prst="rect">
            <a:avLst/>
          </a:prstGeom>
        </p:spPr>
      </p:pic>
      <p:sp>
        <p:nvSpPr>
          <p:cNvPr id="4" name="Rounded Rectangle 3"/>
          <p:cNvSpPr/>
          <p:nvPr/>
        </p:nvSpPr>
        <p:spPr>
          <a:xfrm>
            <a:off x="731520" y="52120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Kernel: </a:t>
            </a:r>
            <a:r>
              <a:rPr sz="1200" b="0" i="0">
                <a:solidFill>
                  <a:srgbClr val="2B2B2B"/>
                </a:solidFill>
                <a:latin typeface="Arial"/>
              </a:rPr>
              <a:t>una forma matemática de comparar puntos que permite fronteras curvas sin crear columnas nuevas a mano. gamma controla qué tan local es cada punto.</a:t>
            </a:r>
          </a:p>
        </p:txBody>
      </p:sp>
      <p:sp>
        <p:nvSpPr>
          <p:cNvPr id="5" name="TextBox 4"/>
          <p:cNvSpPr txBox="1"/>
          <p:nvPr/>
        </p:nvSpPr>
        <p:spPr>
          <a:xfrm>
            <a:off x="731520" y="6035040"/>
            <a:ext cx="7772400" cy="274320"/>
          </a:xfrm>
          <a:prstGeom prst="rect">
            <a:avLst/>
          </a:prstGeom>
          <a:noFill/>
        </p:spPr>
        <p:txBody>
          <a:bodyPr wrap="square" anchor="t" lIns="36576" rIns="36576" tIns="36576" bIns="36576">
            <a:spAutoFit/>
          </a:bodyPr>
          <a:lstStyle/>
          <a:p>
            <a:pPr algn="l">
              <a:spcAft>
                <a:spcPts val="400"/>
              </a:spcAft>
            </a:pPr>
            <a:r>
              <a:rPr sz="1050" b="0" i="1">
                <a:solidFill>
                  <a:srgbClr val="5F6368"/>
                </a:solidFill>
                <a:latin typeface="Arial"/>
              </a:rPr>
              <a:t>Azul: predice pago · Rojo: predice impago · Puntos: 1 500 préstamos de Train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SVM con todas las variables</a:t>
            </a:r>
          </a:p>
        </p:txBody>
      </p:sp>
      <p:graphicFrame>
        <p:nvGraphicFramePr>
          <p:cNvPr id="3" name="Table 2"/>
          <p:cNvGraphicFramePr>
            <a:graphicFrameLocks noGrp="1"/>
          </p:cNvGraphicFramePr>
          <p:nvPr/>
        </p:nvGraphicFramePr>
        <p:xfrm>
          <a:off x="731520" y="2011680"/>
          <a:ext cx="7772400" cy="2633472"/>
        </p:xfrm>
        <a:graphic>
          <a:graphicData uri="http://schemas.openxmlformats.org/drawingml/2006/table">
            <a:tbl>
              <a:tblPr firstRow="1" bandRow="1">
                <a:tableStyleId>{5C22544A-7EE6-4342-B048-85BDC9FD1C3A}</a:tableStyleId>
              </a:tblPr>
              <a:tblGrid>
                <a:gridCol w="2011680"/>
                <a:gridCol w="868680"/>
                <a:gridCol w="960120"/>
                <a:gridCol w="868680"/>
                <a:gridCol w="914400"/>
                <a:gridCol w="960120"/>
                <a:gridCol w="1188720"/>
              </a:tblGrid>
              <a:tr h="438912">
                <a:tc>
                  <a:txBody>
                    <a:bodyPr wrap="square"/>
                    <a:lstStyle/>
                    <a:p>
                      <a:pPr algn="l"/>
                      <a:r>
                        <a:rPr sz="1150" b="1" i="0">
                          <a:solidFill>
                            <a:srgbClr val="FFFFFF"/>
                          </a:solidFill>
                          <a:latin typeface="Arial"/>
                        </a:rPr>
                        <a:t>SVM</a:t>
                      </a:r>
                    </a:p>
                  </a:txBody>
                  <a:tcPr marL="64008" marR="64008" marT="27432" marB="27432" anchor="ctr">
                    <a:solidFill>
                      <a:srgbClr val="242852"/>
                    </a:solidFill>
                  </a:tcPr>
                </a:tc>
                <a:tc>
                  <a:txBody>
                    <a:bodyPr wrap="square"/>
                    <a:lstStyle/>
                    <a:p>
                      <a:pPr algn="ctr"/>
                      <a:r>
                        <a:rPr sz="1150" b="1" i="0">
                          <a:solidFill>
                            <a:srgbClr val="FFFFFF"/>
                          </a:solidFill>
                          <a:latin typeface="Arial"/>
                        </a:rPr>
                        <a:t>Alertas</a:t>
                      </a:r>
                    </a:p>
                  </a:txBody>
                  <a:tcPr marL="64008" marR="64008" marT="27432" marB="27432" anchor="ctr">
                    <a:solidFill>
                      <a:srgbClr val="242852"/>
                    </a:solidFill>
                  </a:tcPr>
                </a:tc>
                <a:tc>
                  <a:txBody>
                    <a:bodyPr wrap="square"/>
                    <a:lstStyle/>
                    <a:p>
                      <a:pPr algn="ctr"/>
                      <a:r>
                        <a:rPr sz="1150" b="1" i="0">
                          <a:solidFill>
                            <a:srgbClr val="FFFFFF"/>
                          </a:solidFill>
                          <a:latin typeface="Arial"/>
                        </a:rPr>
                        <a:t>Precision</a:t>
                      </a:r>
                    </a:p>
                  </a:txBody>
                  <a:tcPr marL="64008" marR="64008" marT="27432" marB="27432" anchor="ctr">
                    <a:solidFill>
                      <a:srgbClr val="242852"/>
                    </a:solidFill>
                  </a:tcPr>
                </a:tc>
                <a:tc>
                  <a:txBody>
                    <a:bodyPr wrap="square"/>
                    <a:lstStyle/>
                    <a:p>
                      <a:pPr algn="ctr"/>
                      <a:r>
                        <a:rPr sz="1150" b="1" i="0">
                          <a:solidFill>
                            <a:srgbClr val="FFFFFF"/>
                          </a:solidFill>
                          <a:latin typeface="Arial"/>
                        </a:rPr>
                        <a:t>Recall</a:t>
                      </a:r>
                    </a:p>
                  </a:txBody>
                  <a:tcPr marL="64008" marR="64008" marT="27432" marB="27432" anchor="ctr">
                    <a:solidFill>
                      <a:srgbClr val="242852"/>
                    </a:solidFill>
                  </a:tcPr>
                </a:tc>
                <a:tc>
                  <a:txBody>
                    <a:bodyPr wrap="square"/>
                    <a:lstStyle/>
                    <a:p>
                      <a:pPr algn="ctr"/>
                      <a:r>
                        <a:rPr sz="1150" b="1" i="0">
                          <a:solidFill>
                            <a:srgbClr val="FFFFFF"/>
                          </a:solidFill>
                          <a:latin typeface="Arial"/>
                        </a:rPr>
                        <a:t>F1 Val.</a:t>
                      </a:r>
                    </a:p>
                  </a:txBody>
                  <a:tcPr marL="64008" marR="64008" marT="27432" marB="27432" anchor="ctr">
                    <a:solidFill>
                      <a:srgbClr val="242852"/>
                    </a:solidFill>
                  </a:tcPr>
                </a:tc>
                <a:tc>
                  <a:txBody>
                    <a:bodyPr wrap="square"/>
                    <a:lstStyle/>
                    <a:p>
                      <a:pPr algn="ctr"/>
                      <a:r>
                        <a:rPr sz="1150" b="1" i="0">
                          <a:solidFill>
                            <a:srgbClr val="FFFFFF"/>
                          </a:solidFill>
                          <a:latin typeface="Arial"/>
                        </a:rPr>
                        <a:t>F1 Train</a:t>
                      </a:r>
                    </a:p>
                  </a:txBody>
                  <a:tcPr marL="64008" marR="64008" marT="27432" marB="27432" anchor="ctr">
                    <a:solidFill>
                      <a:srgbClr val="242852"/>
                    </a:solidFill>
                  </a:tcPr>
                </a:tc>
                <a:tc>
                  <a:txBody>
                    <a:bodyPr wrap="square"/>
                    <a:lstStyle/>
                    <a:p>
                      <a:pPr algn="ctr"/>
                      <a:r>
                        <a:rPr sz="1150" b="1" i="0">
                          <a:solidFill>
                            <a:srgbClr val="FFFFFF"/>
                          </a:solidFill>
                          <a:latin typeface="Arial"/>
                        </a:rPr>
                        <a:t>Vect. soporte</a:t>
                      </a:r>
                    </a:p>
                  </a:txBody>
                  <a:tcPr marL="64008" marR="64008" marT="27432" marB="27432" anchor="ctr">
                    <a:solidFill>
                      <a:srgbClr val="242852"/>
                    </a:solidFill>
                  </a:tcPr>
                </a:tc>
              </a:tr>
              <a:tr h="438912">
                <a:tc>
                  <a:txBody>
                    <a:bodyPr wrap="square"/>
                    <a:lstStyle/>
                    <a:p>
                      <a:pPr algn="l"/>
                      <a:r>
                        <a:rPr sz="1150" b="1" i="0">
                          <a:solidFill>
                            <a:srgbClr val="2B2B2B"/>
                          </a:solidFill>
                          <a:latin typeface="Arial"/>
                        </a:rPr>
                        <a:t>Lineal, C = 1</a:t>
                      </a:r>
                    </a:p>
                  </a:txBody>
                  <a:tcPr marL="64008" marR="64008" marT="27432" marB="27432" anchor="ctr">
                    <a:solidFill>
                      <a:srgbClr val="FFFFFF"/>
                    </a:solidFill>
                  </a:tcPr>
                </a:tc>
                <a:tc>
                  <a:txBody>
                    <a:bodyPr wrap="square"/>
                    <a:lstStyle/>
                    <a:p>
                      <a:pPr algn="ctr"/>
                      <a:r>
                        <a:rPr sz="1150" b="0" i="0">
                          <a:solidFill>
                            <a:srgbClr val="2B2B2B"/>
                          </a:solidFill>
                          <a:latin typeface="Arial"/>
                        </a:rPr>
                        <a:t>510</a:t>
                      </a:r>
                    </a:p>
                  </a:txBody>
                  <a:tcPr marL="64008" marR="64008" marT="27432" marB="27432" anchor="ctr">
                    <a:solidFill>
                      <a:srgbClr val="FFFFFF"/>
                    </a:solidFill>
                  </a:tcPr>
                </a:tc>
                <a:tc>
                  <a:txBody>
                    <a:bodyPr wrap="square"/>
                    <a:lstStyle/>
                    <a:p>
                      <a:pPr algn="ctr"/>
                      <a:r>
                        <a:rPr sz="1150" b="0" i="0">
                          <a:solidFill>
                            <a:srgbClr val="2B2B2B"/>
                          </a:solidFill>
                          <a:latin typeface="Arial"/>
                        </a:rPr>
                        <a:t>0,559</a:t>
                      </a:r>
                    </a:p>
                  </a:txBody>
                  <a:tcPr marL="64008" marR="64008" marT="27432" marB="27432" anchor="ctr">
                    <a:solidFill>
                      <a:srgbClr val="FFFFFF"/>
                    </a:solidFill>
                  </a:tcPr>
                </a:tc>
                <a:tc>
                  <a:txBody>
                    <a:bodyPr wrap="square"/>
                    <a:lstStyle/>
                    <a:p>
                      <a:pPr algn="ctr"/>
                      <a:r>
                        <a:rPr sz="1150" b="0" i="0">
                          <a:solidFill>
                            <a:srgbClr val="2B2B2B"/>
                          </a:solidFill>
                          <a:latin typeface="Arial"/>
                        </a:rPr>
                        <a:t>0,723</a:t>
                      </a:r>
                    </a:p>
                  </a:txBody>
                  <a:tcPr marL="64008" marR="64008" marT="27432" marB="27432" anchor="ctr">
                    <a:solidFill>
                      <a:srgbClr val="FFFFFF"/>
                    </a:solidFill>
                  </a:tcPr>
                </a:tc>
                <a:tc>
                  <a:txBody>
                    <a:bodyPr wrap="square"/>
                    <a:lstStyle/>
                    <a:p>
                      <a:pPr algn="ctr"/>
                      <a:r>
                        <a:rPr sz="1150" b="0" i="0">
                          <a:solidFill>
                            <a:srgbClr val="2B2B2B"/>
                          </a:solidFill>
                          <a:latin typeface="Arial"/>
                        </a:rPr>
                        <a:t>0,631</a:t>
                      </a:r>
                    </a:p>
                  </a:txBody>
                  <a:tcPr marL="64008" marR="64008" marT="27432" marB="27432" anchor="ctr">
                    <a:solidFill>
                      <a:srgbClr val="FFFFFF"/>
                    </a:solidFill>
                  </a:tcPr>
                </a:tc>
                <a:tc>
                  <a:txBody>
                    <a:bodyPr wrap="square"/>
                    <a:lstStyle/>
                    <a:p>
                      <a:pPr algn="ctr"/>
                      <a:r>
                        <a:rPr sz="1150" b="0" i="0">
                          <a:solidFill>
                            <a:srgbClr val="2B2B2B"/>
                          </a:solidFill>
                          <a:latin typeface="Arial"/>
                        </a:rPr>
                        <a:t>0,648</a:t>
                      </a:r>
                    </a:p>
                  </a:txBody>
                  <a:tcPr marL="64008" marR="64008" marT="27432" marB="27432" anchor="ctr">
                    <a:solidFill>
                      <a:srgbClr val="FFFFFF"/>
                    </a:solidFill>
                  </a:tcPr>
                </a:tc>
                <a:tc>
                  <a:txBody>
                    <a:bodyPr wrap="square"/>
                    <a:lstStyle/>
                    <a:p>
                      <a:pPr algn="ctr"/>
                      <a:r>
                        <a:rPr sz="1150" b="0" i="0">
                          <a:solidFill>
                            <a:srgbClr val="2B2B2B"/>
                          </a:solidFill>
                          <a:latin typeface="Arial"/>
                        </a:rPr>
                        <a:t>4 038</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RBF, C = 0,5</a:t>
                      </a:r>
                    </a:p>
                  </a:txBody>
                  <a:tcPr marL="64008" marR="64008" marT="27432" marB="27432" anchor="ctr">
                    <a:solidFill>
                      <a:srgbClr val="F2F3F5"/>
                    </a:solidFill>
                  </a:tcPr>
                </a:tc>
                <a:tc>
                  <a:txBody>
                    <a:bodyPr wrap="square"/>
                    <a:lstStyle/>
                    <a:p>
                      <a:pPr algn="ctr"/>
                      <a:r>
                        <a:rPr sz="1150" b="0" i="0">
                          <a:solidFill>
                            <a:srgbClr val="2B2B2B"/>
                          </a:solidFill>
                          <a:latin typeface="Arial"/>
                        </a:rPr>
                        <a:t>456</a:t>
                      </a:r>
                    </a:p>
                  </a:txBody>
                  <a:tcPr marL="64008" marR="64008" marT="27432" marB="27432" anchor="ctr">
                    <a:solidFill>
                      <a:srgbClr val="F2F3F5"/>
                    </a:solidFill>
                  </a:tcPr>
                </a:tc>
                <a:tc>
                  <a:txBody>
                    <a:bodyPr wrap="square"/>
                    <a:lstStyle/>
                    <a:p>
                      <a:pPr algn="ctr"/>
                      <a:r>
                        <a:rPr sz="1150" b="0" i="0">
                          <a:solidFill>
                            <a:srgbClr val="2B2B2B"/>
                          </a:solidFill>
                          <a:latin typeface="Arial"/>
                        </a:rPr>
                        <a:t>0,656</a:t>
                      </a:r>
                    </a:p>
                  </a:txBody>
                  <a:tcPr marL="64008" marR="64008" marT="27432" marB="27432" anchor="ctr">
                    <a:solidFill>
                      <a:srgbClr val="F2F3F5"/>
                    </a:solidFill>
                  </a:tcPr>
                </a:tc>
                <a:tc>
                  <a:txBody>
                    <a:bodyPr wrap="square"/>
                    <a:lstStyle/>
                    <a:p>
                      <a:pPr algn="ctr"/>
                      <a:r>
                        <a:rPr sz="1150" b="0" i="0">
                          <a:solidFill>
                            <a:srgbClr val="2B2B2B"/>
                          </a:solidFill>
                          <a:latin typeface="Arial"/>
                        </a:rPr>
                        <a:t>0,759</a:t>
                      </a:r>
                    </a:p>
                  </a:txBody>
                  <a:tcPr marL="64008" marR="64008" marT="27432" marB="27432" anchor="ctr">
                    <a:solidFill>
                      <a:srgbClr val="F2F3F5"/>
                    </a:solidFill>
                  </a:tcPr>
                </a:tc>
                <a:tc>
                  <a:txBody>
                    <a:bodyPr wrap="square"/>
                    <a:lstStyle/>
                    <a:p>
                      <a:pPr algn="ctr"/>
                      <a:r>
                        <a:rPr sz="1150" b="0" i="0">
                          <a:solidFill>
                            <a:srgbClr val="2B2B2B"/>
                          </a:solidFill>
                          <a:latin typeface="Arial"/>
                        </a:rPr>
                        <a:t>0,704</a:t>
                      </a:r>
                    </a:p>
                  </a:txBody>
                  <a:tcPr marL="64008" marR="64008" marT="27432" marB="27432" anchor="ctr">
                    <a:solidFill>
                      <a:srgbClr val="F2F3F5"/>
                    </a:solidFill>
                  </a:tcPr>
                </a:tc>
                <a:tc>
                  <a:txBody>
                    <a:bodyPr wrap="square"/>
                    <a:lstStyle/>
                    <a:p>
                      <a:pPr algn="ctr"/>
                      <a:r>
                        <a:rPr sz="1150" b="0" i="0">
                          <a:solidFill>
                            <a:srgbClr val="2B2B2B"/>
                          </a:solidFill>
                          <a:latin typeface="Arial"/>
                        </a:rPr>
                        <a:t>0,736</a:t>
                      </a:r>
                    </a:p>
                  </a:txBody>
                  <a:tcPr marL="64008" marR="64008" marT="27432" marB="27432" anchor="ctr">
                    <a:solidFill>
                      <a:srgbClr val="F2F3F5"/>
                    </a:solidFill>
                  </a:tcPr>
                </a:tc>
                <a:tc>
                  <a:txBody>
                    <a:bodyPr wrap="square"/>
                    <a:lstStyle/>
                    <a:p>
                      <a:pPr algn="ctr"/>
                      <a:r>
                        <a:rPr sz="1150" b="0" i="0">
                          <a:solidFill>
                            <a:srgbClr val="2B2B2B"/>
                          </a:solidFill>
                          <a:latin typeface="Arial"/>
                        </a:rPr>
                        <a:t>3 888</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RBF, C = 1</a:t>
                      </a:r>
                    </a:p>
                  </a:txBody>
                  <a:tcPr marL="64008" marR="64008" marT="27432" marB="27432" anchor="ctr">
                    <a:solidFill>
                      <a:srgbClr val="FFFFFF"/>
                    </a:solidFill>
                  </a:tcPr>
                </a:tc>
                <a:tc>
                  <a:txBody>
                    <a:bodyPr wrap="square"/>
                    <a:lstStyle/>
                    <a:p>
                      <a:pPr algn="ctr"/>
                      <a:r>
                        <a:rPr sz="1150" b="0" i="0">
                          <a:solidFill>
                            <a:srgbClr val="2B2B2B"/>
                          </a:solidFill>
                          <a:latin typeface="Arial"/>
                        </a:rPr>
                        <a:t>438</a:t>
                      </a:r>
                    </a:p>
                  </a:txBody>
                  <a:tcPr marL="64008" marR="64008" marT="27432" marB="27432" anchor="ctr">
                    <a:solidFill>
                      <a:srgbClr val="FFFFFF"/>
                    </a:solidFill>
                  </a:tcPr>
                </a:tc>
                <a:tc>
                  <a:txBody>
                    <a:bodyPr wrap="square"/>
                    <a:lstStyle/>
                    <a:p>
                      <a:pPr algn="ctr"/>
                      <a:r>
                        <a:rPr sz="1150" b="0" i="0">
                          <a:solidFill>
                            <a:srgbClr val="2B2B2B"/>
                          </a:solidFill>
                          <a:latin typeface="Arial"/>
                        </a:rPr>
                        <a:t>0,678</a:t>
                      </a:r>
                    </a:p>
                  </a:txBody>
                  <a:tcPr marL="64008" marR="64008" marT="27432" marB="27432" anchor="ctr">
                    <a:solidFill>
                      <a:srgbClr val="FFFFFF"/>
                    </a:solidFill>
                  </a:tcPr>
                </a:tc>
                <a:tc>
                  <a:txBody>
                    <a:bodyPr wrap="square"/>
                    <a:lstStyle/>
                    <a:p>
                      <a:pPr algn="ctr"/>
                      <a:r>
                        <a:rPr sz="1150" b="0" i="0">
                          <a:solidFill>
                            <a:srgbClr val="2B2B2B"/>
                          </a:solidFill>
                          <a:latin typeface="Arial"/>
                        </a:rPr>
                        <a:t>0,754</a:t>
                      </a:r>
                    </a:p>
                  </a:txBody>
                  <a:tcPr marL="64008" marR="64008" marT="27432" marB="27432" anchor="ctr">
                    <a:solidFill>
                      <a:srgbClr val="FFFFFF"/>
                    </a:solidFill>
                  </a:tcPr>
                </a:tc>
                <a:tc>
                  <a:txBody>
                    <a:bodyPr wrap="square"/>
                    <a:lstStyle/>
                    <a:p>
                      <a:pPr algn="ctr"/>
                      <a:r>
                        <a:rPr sz="1150" b="0" i="0">
                          <a:solidFill>
                            <a:srgbClr val="2B2B2B"/>
                          </a:solidFill>
                          <a:latin typeface="Arial"/>
                        </a:rPr>
                        <a:t>0,714</a:t>
                      </a:r>
                    </a:p>
                  </a:txBody>
                  <a:tcPr marL="64008" marR="64008" marT="27432" marB="27432" anchor="ctr">
                    <a:solidFill>
                      <a:srgbClr val="FFFFFF"/>
                    </a:solidFill>
                  </a:tcPr>
                </a:tc>
                <a:tc>
                  <a:txBody>
                    <a:bodyPr wrap="square"/>
                    <a:lstStyle/>
                    <a:p>
                      <a:pPr algn="ctr"/>
                      <a:r>
                        <a:rPr sz="1150" b="0" i="0">
                          <a:solidFill>
                            <a:srgbClr val="2B2B2B"/>
                          </a:solidFill>
                          <a:latin typeface="Arial"/>
                        </a:rPr>
                        <a:t>0,759</a:t>
                      </a:r>
                    </a:p>
                  </a:txBody>
                  <a:tcPr marL="64008" marR="64008" marT="27432" marB="27432" anchor="ctr">
                    <a:solidFill>
                      <a:srgbClr val="FFFFFF"/>
                    </a:solidFill>
                  </a:tcPr>
                </a:tc>
                <a:tc>
                  <a:txBody>
                    <a:bodyPr wrap="square"/>
                    <a:lstStyle/>
                    <a:p>
                      <a:pPr algn="ctr"/>
                      <a:r>
                        <a:rPr sz="1150" b="0" i="0">
                          <a:solidFill>
                            <a:srgbClr val="2B2B2B"/>
                          </a:solidFill>
                          <a:latin typeface="Arial"/>
                        </a:rPr>
                        <a:t>3 698</a:t>
                      </a:r>
                    </a:p>
                  </a:txBody>
                  <a:tcPr marL="64008" marR="64008" marT="27432" marB="27432" anchor="ctr">
                    <a:solidFill>
                      <a:srgbClr val="FFFFFF"/>
                    </a:solidFill>
                  </a:tcPr>
                </a:tc>
              </a:tr>
              <a:tr h="438912">
                <a:tc>
                  <a:txBody>
                    <a:bodyPr wrap="square"/>
                    <a:lstStyle/>
                    <a:p>
                      <a:pPr algn="l"/>
                      <a:r>
                        <a:rPr sz="1150" b="1" i="0">
                          <a:solidFill>
                            <a:srgbClr val="2B2B2B"/>
                          </a:solidFill>
                          <a:latin typeface="Arial"/>
                        </a:rPr>
                        <a:t>RBF, C = 2</a:t>
                      </a:r>
                    </a:p>
                  </a:txBody>
                  <a:tcPr marL="64008" marR="64008" marT="27432" marB="27432" anchor="ctr">
                    <a:solidFill>
                      <a:srgbClr val="F2F3F5"/>
                    </a:solidFill>
                  </a:tcPr>
                </a:tc>
                <a:tc>
                  <a:txBody>
                    <a:bodyPr wrap="square"/>
                    <a:lstStyle/>
                    <a:p>
                      <a:pPr algn="ctr"/>
                      <a:r>
                        <a:rPr sz="1150" b="0" i="0">
                          <a:solidFill>
                            <a:srgbClr val="2B2B2B"/>
                          </a:solidFill>
                          <a:latin typeface="Arial"/>
                        </a:rPr>
                        <a:t>413</a:t>
                      </a:r>
                    </a:p>
                  </a:txBody>
                  <a:tcPr marL="64008" marR="64008" marT="27432" marB="27432" anchor="ctr">
                    <a:solidFill>
                      <a:srgbClr val="F2F3F5"/>
                    </a:solidFill>
                  </a:tcPr>
                </a:tc>
                <a:tc>
                  <a:txBody>
                    <a:bodyPr wrap="square"/>
                    <a:lstStyle/>
                    <a:p>
                      <a:pPr algn="ctr"/>
                      <a:r>
                        <a:rPr sz="1150" b="0" i="0">
                          <a:solidFill>
                            <a:srgbClr val="2B2B2B"/>
                          </a:solidFill>
                          <a:latin typeface="Arial"/>
                        </a:rPr>
                        <a:t>0,697</a:t>
                      </a:r>
                    </a:p>
                  </a:txBody>
                  <a:tcPr marL="64008" marR="64008" marT="27432" marB="27432" anchor="ctr">
                    <a:solidFill>
                      <a:srgbClr val="F2F3F5"/>
                    </a:solidFill>
                  </a:tcPr>
                </a:tc>
                <a:tc>
                  <a:txBody>
                    <a:bodyPr wrap="square"/>
                    <a:lstStyle/>
                    <a:p>
                      <a:pPr algn="ctr"/>
                      <a:r>
                        <a:rPr sz="1150" b="0" i="0">
                          <a:solidFill>
                            <a:srgbClr val="2B2B2B"/>
                          </a:solidFill>
                          <a:latin typeface="Arial"/>
                        </a:rPr>
                        <a:t>0,731</a:t>
                      </a:r>
                    </a:p>
                  </a:txBody>
                  <a:tcPr marL="64008" marR="64008" marT="27432" marB="27432" anchor="ctr">
                    <a:solidFill>
                      <a:srgbClr val="F2F3F5"/>
                    </a:solidFill>
                  </a:tcPr>
                </a:tc>
                <a:tc>
                  <a:txBody>
                    <a:bodyPr wrap="square"/>
                    <a:lstStyle/>
                    <a:p>
                      <a:pPr algn="ctr"/>
                      <a:r>
                        <a:rPr sz="1150" b="0" i="0">
                          <a:solidFill>
                            <a:srgbClr val="2B2B2B"/>
                          </a:solidFill>
                          <a:latin typeface="Arial"/>
                        </a:rPr>
                        <a:t>0,714</a:t>
                      </a:r>
                    </a:p>
                  </a:txBody>
                  <a:tcPr marL="64008" marR="64008" marT="27432" marB="27432" anchor="ctr">
                    <a:solidFill>
                      <a:srgbClr val="F2F3F5"/>
                    </a:solidFill>
                  </a:tcPr>
                </a:tc>
                <a:tc>
                  <a:txBody>
                    <a:bodyPr wrap="square"/>
                    <a:lstStyle/>
                    <a:p>
                      <a:pPr algn="ctr"/>
                      <a:r>
                        <a:rPr sz="1150" b="0" i="0">
                          <a:solidFill>
                            <a:srgbClr val="2B2B2B"/>
                          </a:solidFill>
                          <a:latin typeface="Arial"/>
                        </a:rPr>
                        <a:t>0,781</a:t>
                      </a:r>
                    </a:p>
                  </a:txBody>
                  <a:tcPr marL="64008" marR="64008" marT="27432" marB="27432" anchor="ctr">
                    <a:solidFill>
                      <a:srgbClr val="F2F3F5"/>
                    </a:solidFill>
                  </a:tcPr>
                </a:tc>
                <a:tc>
                  <a:txBody>
                    <a:bodyPr wrap="square"/>
                    <a:lstStyle/>
                    <a:p>
                      <a:pPr algn="ctr"/>
                      <a:r>
                        <a:rPr sz="1150" b="0" i="0">
                          <a:solidFill>
                            <a:srgbClr val="2B2B2B"/>
                          </a:solidFill>
                          <a:latin typeface="Arial"/>
                        </a:rPr>
                        <a:t>3 539</a:t>
                      </a:r>
                    </a:p>
                  </a:txBody>
                  <a:tcPr marL="64008" marR="64008" marT="27432" marB="27432" anchor="ctr">
                    <a:solidFill>
                      <a:srgbClr val="F2F3F5"/>
                    </a:solidFill>
                  </a:tcPr>
                </a:tc>
              </a:tr>
              <a:tr h="438912">
                <a:tc>
                  <a:txBody>
                    <a:bodyPr wrap="square"/>
                    <a:lstStyle/>
                    <a:p>
                      <a:pPr algn="l"/>
                      <a:r>
                        <a:rPr sz="1150" b="1" i="0">
                          <a:solidFill>
                            <a:srgbClr val="2B2B2B"/>
                          </a:solidFill>
                          <a:latin typeface="Arial"/>
                        </a:rPr>
                        <a:t>RBF, C = 1, sin pesos</a:t>
                      </a:r>
                    </a:p>
                  </a:txBody>
                  <a:tcPr marL="64008" marR="64008" marT="27432" marB="27432" anchor="ctr">
                    <a:solidFill>
                      <a:srgbClr val="E3F3F1"/>
                    </a:solidFill>
                  </a:tcPr>
                </a:tc>
                <a:tc>
                  <a:txBody>
                    <a:bodyPr wrap="square"/>
                    <a:lstStyle/>
                    <a:p>
                      <a:pPr algn="ctr"/>
                      <a:r>
                        <a:rPr sz="1150" b="0" i="0">
                          <a:solidFill>
                            <a:srgbClr val="2B2B2B"/>
                          </a:solidFill>
                          <a:latin typeface="Arial"/>
                        </a:rPr>
                        <a:t>271</a:t>
                      </a:r>
                    </a:p>
                  </a:txBody>
                  <a:tcPr marL="64008" marR="64008" marT="27432" marB="27432" anchor="ctr">
                    <a:solidFill>
                      <a:srgbClr val="E3F3F1"/>
                    </a:solidFill>
                  </a:tcPr>
                </a:tc>
                <a:tc>
                  <a:txBody>
                    <a:bodyPr wrap="square"/>
                    <a:lstStyle/>
                    <a:p>
                      <a:pPr algn="ctr"/>
                      <a:r>
                        <a:rPr sz="1150" b="0" i="0">
                          <a:solidFill>
                            <a:srgbClr val="2B2B2B"/>
                          </a:solidFill>
                          <a:latin typeface="Arial"/>
                        </a:rPr>
                        <a:t>0,911</a:t>
                      </a:r>
                    </a:p>
                  </a:txBody>
                  <a:tcPr marL="64008" marR="64008" marT="27432" marB="27432" anchor="ctr">
                    <a:solidFill>
                      <a:srgbClr val="E3F3F1"/>
                    </a:solidFill>
                  </a:tcPr>
                </a:tc>
                <a:tc>
                  <a:txBody>
                    <a:bodyPr wrap="square"/>
                    <a:lstStyle/>
                    <a:p>
                      <a:pPr algn="ctr"/>
                      <a:r>
                        <a:rPr sz="1150" b="0" i="0">
                          <a:solidFill>
                            <a:srgbClr val="2B2B2B"/>
                          </a:solidFill>
                          <a:latin typeface="Arial"/>
                        </a:rPr>
                        <a:t>0,627</a:t>
                      </a:r>
                    </a:p>
                  </a:txBody>
                  <a:tcPr marL="64008" marR="64008" marT="27432" marB="27432" anchor="ctr">
                    <a:solidFill>
                      <a:srgbClr val="E3F3F1"/>
                    </a:solidFill>
                  </a:tcPr>
                </a:tc>
                <a:tc>
                  <a:txBody>
                    <a:bodyPr wrap="square"/>
                    <a:lstStyle/>
                    <a:p>
                      <a:pPr algn="ctr"/>
                      <a:r>
                        <a:rPr sz="1150" b="0" i="0">
                          <a:solidFill>
                            <a:srgbClr val="2B2B2B"/>
                          </a:solidFill>
                          <a:latin typeface="Arial"/>
                        </a:rPr>
                        <a:t>0,743</a:t>
                      </a:r>
                    </a:p>
                  </a:txBody>
                  <a:tcPr marL="64008" marR="64008" marT="27432" marB="27432" anchor="ctr">
                    <a:solidFill>
                      <a:srgbClr val="E3F3F1"/>
                    </a:solidFill>
                  </a:tcPr>
                </a:tc>
                <a:tc>
                  <a:txBody>
                    <a:bodyPr wrap="square"/>
                    <a:lstStyle/>
                    <a:p>
                      <a:pPr algn="ctr"/>
                      <a:r>
                        <a:rPr sz="1150" b="0" i="0">
                          <a:solidFill>
                            <a:srgbClr val="2B2B2B"/>
                          </a:solidFill>
                          <a:latin typeface="Arial"/>
                        </a:rPr>
                        <a:t>0,785</a:t>
                      </a:r>
                    </a:p>
                  </a:txBody>
                  <a:tcPr marL="64008" marR="64008" marT="27432" marB="27432" anchor="ctr">
                    <a:solidFill>
                      <a:srgbClr val="E3F3F1"/>
                    </a:solidFill>
                  </a:tcPr>
                </a:tc>
                <a:tc>
                  <a:txBody>
                    <a:bodyPr wrap="square"/>
                    <a:lstStyle/>
                    <a:p>
                      <a:pPr algn="ctr"/>
                      <a:r>
                        <a:rPr sz="1150" b="0" i="0">
                          <a:solidFill>
                            <a:srgbClr val="2B2B2B"/>
                          </a:solidFill>
                          <a:latin typeface="Arial"/>
                        </a:rPr>
                        <a:t>2 629</a:t>
                      </a:r>
                    </a:p>
                  </a:txBody>
                  <a:tcPr marL="64008" marR="64008" marT="27432" marB="27432" anchor="ctr">
                    <a:solidFill>
                      <a:srgbClr val="E3F3F1"/>
                    </a:solidFill>
                  </a:tcPr>
                </a:tc>
              </a:tr>
            </a:tbl>
          </a:graphicData>
        </a:graphic>
      </p:graphicFrame>
      <p:sp>
        <p:nvSpPr>
          <p:cNvPr id="4" name="Rounded Rectangle 3"/>
          <p:cNvSpPr/>
          <p:nvPr/>
        </p:nvSpPr>
        <p:spPr>
          <a:xfrm>
            <a:off x="731520" y="480060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Vectores de soporte: </a:t>
            </a:r>
            <a:r>
              <a:rPr sz="1200" b="0" i="0">
                <a:solidFill>
                  <a:srgbClr val="2B2B2B"/>
                </a:solidFill>
                <a:latin typeface="Arial"/>
              </a:rPr>
              <a:t>miles de los 8 400 préstamos de Train sostienen la frontera: muchos casos quedan cerca del límite.</a:t>
            </a:r>
          </a:p>
        </p:txBody>
      </p:sp>
      <p:sp>
        <p:nvSpPr>
          <p:cNvPr id="5" name="Rounded Rectangle 4"/>
          <p:cNvSpPr/>
          <p:nvPr/>
        </p:nvSpPr>
        <p:spPr>
          <a:xfrm>
            <a:off x="731520" y="5577840"/>
            <a:ext cx="7772400" cy="68580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class_weight: </a:t>
            </a:r>
            <a:r>
              <a:rPr sz="1200" b="0" i="0">
                <a:solidFill>
                  <a:srgbClr val="2B2B2B"/>
                </a:solidFill>
                <a:latin typeface="Arial"/>
              </a:rPr>
              <a:t>el mismo intercambio que en el árbol: más impagos detectados a cambio de más falsas alarmas.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200" b="1">
                <a:solidFill>
                  <a:srgbClr val="242852"/>
                </a:solidFill>
              </a:rPr>
              <a:t>SVM funciona mucho mejor cuando las clases están bien separadas</a:t>
            </a:r>
          </a:p>
        </p:txBody>
      </p:sp>
      <p:graphicFrame>
        <p:nvGraphicFramePr>
          <p:cNvPr id="3" name="Chart 2"/>
          <p:cNvGraphicFramePr>
            <a:graphicFrameLocks noGrp="1"/>
          </p:cNvGraphicFramePr>
          <p:nvPr/>
        </p:nvGraphicFramePr>
        <p:xfrm>
          <a:off x="731520" y="1920240"/>
          <a:ext cx="4754880" cy="3291840"/>
        </p:xfrm>
        <a:graphic>
          <a:graphicData uri="http://schemas.openxmlformats.org/drawingml/2006/chart">
            <c:chart xmlns:c="http://schemas.openxmlformats.org/drawingml/2006/chart" r:id="rId3"/>
          </a:graphicData>
        </a:graphic>
      </p:graphicFrame>
      <p:sp>
        <p:nvSpPr>
          <p:cNvPr id="4" name="Rounded Rectangle 3"/>
          <p:cNvSpPr/>
          <p:nvPr/>
        </p:nvSpPr>
        <p:spPr>
          <a:xfrm>
            <a:off x="5669280" y="1965960"/>
            <a:ext cx="2834640" cy="160020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5806440" y="2075688"/>
            <a:ext cx="260604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Clases mezcladas</a:t>
            </a:r>
          </a:p>
        </p:txBody>
      </p:sp>
      <p:sp>
        <p:nvSpPr>
          <p:cNvPr id="6" name="TextBox 5"/>
          <p:cNvSpPr txBox="1"/>
          <p:nvPr/>
        </p:nvSpPr>
        <p:spPr>
          <a:xfrm>
            <a:off x="5806440" y="2624328"/>
            <a:ext cx="2560320" cy="868680"/>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con 2 variables: la frontera deja muchos préstamos del lado equivocado</a:t>
            </a:r>
          </a:p>
        </p:txBody>
      </p:sp>
      <p:sp>
        <p:nvSpPr>
          <p:cNvPr id="7" name="Rounded Rectangle 6"/>
          <p:cNvSpPr/>
          <p:nvPr/>
        </p:nvSpPr>
        <p:spPr>
          <a:xfrm>
            <a:off x="5669280" y="3703320"/>
            <a:ext cx="2834640" cy="150876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5806440" y="3813048"/>
            <a:ext cx="260604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Clases separadas</a:t>
            </a:r>
          </a:p>
        </p:txBody>
      </p:sp>
      <p:sp>
        <p:nvSpPr>
          <p:cNvPr id="9" name="TextBox 8"/>
          <p:cNvSpPr txBox="1"/>
          <p:nvPr/>
        </p:nvSpPr>
        <p:spPr>
          <a:xfrm>
            <a:off x="5806440" y="4361688"/>
            <a:ext cx="2560320" cy="777239"/>
          </a:xfrm>
          <a:prstGeom prst="rect">
            <a:avLst/>
          </a:prstGeom>
          <a:noFill/>
        </p:spPr>
        <p:txBody>
          <a:bodyPr wrap="square" anchor="t" lIns="36576" rIns="36576" tIns="36576" bIns="36576">
            <a:spAutoFit/>
          </a:bodyPr>
          <a:lstStyle/>
          <a:p>
            <a:pPr algn="l">
              <a:spcAft>
                <a:spcPts val="400"/>
              </a:spcAft>
            </a:pPr>
            <a:r>
              <a:rPr sz="1150" b="0" i="0">
                <a:solidFill>
                  <a:srgbClr val="2B2B2B"/>
                </a:solidFill>
                <a:latin typeface="Arial"/>
              </a:rPr>
              <a:t>con todas: la frontera es clara y SVM rinde muy bien</a:t>
            </a:r>
          </a:p>
        </p:txBody>
      </p:sp>
      <p:sp>
        <p:nvSpPr>
          <p:cNvPr id="10" name="Rounded Rectangle 9"/>
          <p:cNvSpPr/>
          <p:nvPr/>
        </p:nvSpPr>
        <p:spPr>
          <a:xfrm>
            <a:off x="731520" y="54406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Al leer un notebook público: </a:t>
            </a:r>
            <a:r>
              <a:rPr sz="1200" b="0" i="0">
                <a:solidFill>
                  <a:srgbClr val="2B2B2B"/>
                </a:solidFill>
                <a:latin typeface="Arial"/>
              </a:rPr>
              <a:t>¿contra qué baseline se comparó? ¿Con qué otros modelos? ¿Sobre qué filas?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¿En qué otros casos se usa SVM?</a:t>
            </a:r>
          </a:p>
        </p:txBody>
      </p:sp>
      <p:sp>
        <p:nvSpPr>
          <p:cNvPr id="3" name="Rounded Rectangle 2"/>
          <p:cNvSpPr/>
          <p:nvPr/>
        </p:nvSpPr>
        <p:spPr>
          <a:xfrm>
            <a:off x="731520" y="1965960"/>
            <a:ext cx="2487168"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TextBox 3"/>
          <p:cNvSpPr txBox="1"/>
          <p:nvPr/>
        </p:nvSpPr>
        <p:spPr>
          <a:xfrm>
            <a:off x="868680" y="207568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Textos</a:t>
            </a:r>
          </a:p>
        </p:txBody>
      </p:sp>
      <p:sp>
        <p:nvSpPr>
          <p:cNvPr id="5" name="TextBox 4"/>
          <p:cNvSpPr txBox="1"/>
          <p:nvPr/>
        </p:nvSpPr>
        <p:spPr>
          <a:xfrm>
            <a:off x="868680" y="2514600"/>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spam, noticias por tema, opiniones positivas o negativas: miles de columnas (palabras)</a:t>
            </a:r>
          </a:p>
        </p:txBody>
      </p:sp>
      <p:sp>
        <p:nvSpPr>
          <p:cNvPr id="6" name="Rounded Rectangle 5"/>
          <p:cNvSpPr/>
          <p:nvPr/>
        </p:nvSpPr>
        <p:spPr>
          <a:xfrm>
            <a:off x="3355848" y="1965960"/>
            <a:ext cx="2487168"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3493008" y="207568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Imágenes</a:t>
            </a:r>
          </a:p>
        </p:txBody>
      </p:sp>
      <p:sp>
        <p:nvSpPr>
          <p:cNvPr id="8" name="TextBox 7"/>
          <p:cNvSpPr txBox="1"/>
          <p:nvPr/>
        </p:nvSpPr>
        <p:spPr>
          <a:xfrm>
            <a:off x="3493008" y="2514600"/>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dígitos en cheques y formularios escaneados</a:t>
            </a:r>
          </a:p>
        </p:txBody>
      </p:sp>
      <p:sp>
        <p:nvSpPr>
          <p:cNvPr id="9" name="Rounded Rectangle 8"/>
          <p:cNvSpPr/>
          <p:nvPr/>
        </p:nvSpPr>
        <p:spPr>
          <a:xfrm>
            <a:off x="5980176" y="1965960"/>
            <a:ext cx="2487168" cy="16459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6117336" y="207568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242852"/>
                </a:solidFill>
                <a:latin typeface="Arial"/>
              </a:rPr>
              <a:t>Bioinformática</a:t>
            </a:r>
          </a:p>
        </p:txBody>
      </p:sp>
      <p:sp>
        <p:nvSpPr>
          <p:cNvPr id="11" name="TextBox 10"/>
          <p:cNvSpPr txBox="1"/>
          <p:nvPr/>
        </p:nvSpPr>
        <p:spPr>
          <a:xfrm>
            <a:off x="6117336" y="2514600"/>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muchas mediciones (genes) y pocos pacientes</a:t>
            </a:r>
          </a:p>
        </p:txBody>
      </p:sp>
      <p:sp>
        <p:nvSpPr>
          <p:cNvPr id="12" name="Rounded Rectangle 11"/>
          <p:cNvSpPr/>
          <p:nvPr/>
        </p:nvSpPr>
        <p:spPr>
          <a:xfrm>
            <a:off x="731520" y="3749039"/>
            <a:ext cx="2487168" cy="16459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868680" y="385876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Riesgo y fraude</a:t>
            </a:r>
          </a:p>
        </p:txBody>
      </p:sp>
      <p:sp>
        <p:nvSpPr>
          <p:cNvPr id="14" name="TextBox 13"/>
          <p:cNvSpPr txBox="1"/>
          <p:nvPr/>
        </p:nvSpPr>
        <p:spPr>
          <a:xfrm>
            <a:off x="868680" y="4297679"/>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scoring de crédito y operaciones anómalas con datasets medianos</a:t>
            </a:r>
          </a:p>
        </p:txBody>
      </p:sp>
      <p:sp>
        <p:nvSpPr>
          <p:cNvPr id="15" name="Rounded Rectangle 14"/>
          <p:cNvSpPr/>
          <p:nvPr/>
        </p:nvSpPr>
        <p:spPr>
          <a:xfrm>
            <a:off x="3355848" y="3749039"/>
            <a:ext cx="2487168" cy="16459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3493008" y="385876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2A9D8F"/>
                </a:solidFill>
                <a:latin typeface="Arial"/>
              </a:rPr>
              <a:t>Documentos</a:t>
            </a:r>
          </a:p>
        </p:txBody>
      </p:sp>
      <p:sp>
        <p:nvSpPr>
          <p:cNvPr id="17" name="TextBox 16"/>
          <p:cNvSpPr txBox="1"/>
          <p:nvPr/>
        </p:nvSpPr>
        <p:spPr>
          <a:xfrm>
            <a:off x="3493008" y="4297679"/>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clasificar reclamos o informes regulatorios por su texto</a:t>
            </a:r>
          </a:p>
        </p:txBody>
      </p:sp>
      <p:sp>
        <p:nvSpPr>
          <p:cNvPr id="18" name="Rounded Rectangle 17"/>
          <p:cNvSpPr/>
          <p:nvPr/>
        </p:nvSpPr>
        <p:spPr>
          <a:xfrm>
            <a:off x="5980176" y="3749039"/>
            <a:ext cx="2487168" cy="16459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6117336" y="3858768"/>
            <a:ext cx="2240280" cy="411480"/>
          </a:xfrm>
          <a:prstGeom prst="rect">
            <a:avLst/>
          </a:prstGeom>
          <a:noFill/>
        </p:spPr>
        <p:txBody>
          <a:bodyPr wrap="square" anchor="t" lIns="36576" rIns="36576" tIns="36576" bIns="36576">
            <a:spAutoFit/>
          </a:bodyPr>
          <a:lstStyle/>
          <a:p>
            <a:pPr algn="l">
              <a:spcAft>
                <a:spcPts val="400"/>
              </a:spcAft>
            </a:pPr>
            <a:r>
              <a:rPr sz="1400" b="1" i="0">
                <a:solidFill>
                  <a:srgbClr val="D7263D"/>
                </a:solidFill>
                <a:latin typeface="Arial"/>
              </a:rPr>
              <a:t>No conviene</a:t>
            </a:r>
          </a:p>
        </p:txBody>
      </p:sp>
      <p:sp>
        <p:nvSpPr>
          <p:cNvPr id="20" name="TextBox 19"/>
          <p:cNvSpPr txBox="1"/>
          <p:nvPr/>
        </p:nvSpPr>
        <p:spPr>
          <a:xfrm>
            <a:off x="6117336" y="4297679"/>
            <a:ext cx="2240280" cy="105156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millones de filas, explicar con reglas, necesitar probabilidades</a:t>
            </a:r>
          </a:p>
        </p:txBody>
      </p:sp>
      <p:sp>
        <p:nvSpPr>
          <p:cNvPr id="21" name="Rounded Rectangle 20"/>
          <p:cNvSpPr/>
          <p:nvPr/>
        </p:nvSpPr>
        <p:spPr>
          <a:xfrm>
            <a:off x="731520" y="566928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Aquí </a:t>
            </a:r>
            <a:r>
              <a:rPr sz="1200" b="0" i="0">
                <a:solidFill>
                  <a:srgbClr val="2B2B2B"/>
                </a:solidFill>
                <a:latin typeface="Arial"/>
              </a:rPr>
              <a:t>usamos una muestra de 12 000 préstamos porque SVM se vuelve lenta con muchas filas.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26280"/>
            <a:ext cx="7589520" cy="365760"/>
          </a:xfrm>
          <a:prstGeom prst="rect">
            <a:avLst/>
          </a:prstGeom>
          <a:noFill/>
        </p:spPr>
        <p:txBody>
          <a:bodyPr wrap="square" anchor="t" lIns="36576" rIns="36576" tIns="36576" bIns="36576">
            <a:spAutoFit/>
          </a:bodyPr>
          <a:lstStyle/>
          <a:p>
            <a:pPr algn="l">
              <a:spcAft>
                <a:spcPts val="400"/>
              </a:spcAft>
            </a:pPr>
            <a:r>
              <a:rPr sz="1300" b="1" i="0">
                <a:solidFill>
                  <a:srgbClr val="5F6368"/>
                </a:solidFill>
                <a:latin typeface="Arial"/>
              </a:rPr>
              <a:t>En esta sección</a:t>
            </a:r>
          </a:p>
        </p:txBody>
      </p:sp>
      <p:sp>
        <p:nvSpPr>
          <p:cNvPr id="3" name="Rounded Rectangle 2"/>
          <p:cNvSpPr/>
          <p:nvPr/>
        </p:nvSpPr>
        <p:spPr>
          <a:xfrm>
            <a:off x="91440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Tasas base</a:t>
            </a:r>
          </a:p>
        </p:txBody>
      </p:sp>
      <p:sp>
        <p:nvSpPr>
          <p:cNvPr id="4" name="Rounded Rectangle 3"/>
          <p:cNvSpPr/>
          <p:nvPr/>
        </p:nvSpPr>
        <p:spPr>
          <a:xfrm>
            <a:off x="284607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Umbral</a:t>
            </a:r>
          </a:p>
        </p:txBody>
      </p:sp>
      <p:sp>
        <p:nvSpPr>
          <p:cNvPr id="5" name="Rounded Rectangle 4"/>
          <p:cNvSpPr/>
          <p:nvPr/>
        </p:nvSpPr>
        <p:spPr>
          <a:xfrm>
            <a:off x="4777740" y="4937760"/>
            <a:ext cx="1794510" cy="8229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242852"/>
                </a:solidFill>
                <a:latin typeface="Arial"/>
              </a:rPr>
              <a:t>Test</a:t>
            </a:r>
          </a:p>
        </p:txBody>
      </p:sp>
      <p:sp>
        <p:nvSpPr>
          <p:cNvPr id="6" name="Rounded Rectangle 5"/>
          <p:cNvSpPr/>
          <p:nvPr/>
        </p:nvSpPr>
        <p:spPr>
          <a:xfrm>
            <a:off x="6709410" y="4937760"/>
            <a:ext cx="1794510" cy="8229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200" b="1" i="0">
                <a:solidFill>
                  <a:srgbClr val="D7263D"/>
                </a:solidFill>
                <a:latin typeface="Arial"/>
              </a:rPr>
              <a:t>Qué modelo usar</a:t>
            </a:r>
          </a:p>
        </p:txBody>
      </p:sp>
      <p:sp>
        <p:nvSpPr>
          <p:cNvPr id="7" name="Oval 6"/>
          <p:cNvSpPr/>
          <p:nvPr/>
        </p:nvSpPr>
        <p:spPr>
          <a:xfrm>
            <a:off x="914400" y="2148840"/>
            <a:ext cx="1463040" cy="146304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5400" b="1" i="0">
                <a:solidFill>
                  <a:srgbClr val="FFFFFF"/>
                </a:solidFill>
                <a:latin typeface="Arial"/>
              </a:rPr>
              <a:t>8</a:t>
            </a:r>
          </a:p>
        </p:txBody>
      </p:sp>
      <p:sp>
        <p:nvSpPr>
          <p:cNvPr id="8" name="TextBox 7"/>
          <p:cNvSpPr txBox="1"/>
          <p:nvPr/>
        </p:nvSpPr>
        <p:spPr>
          <a:xfrm>
            <a:off x="2651760" y="1828800"/>
            <a:ext cx="5852160" cy="1371600"/>
          </a:xfrm>
          <a:prstGeom prst="rect">
            <a:avLst/>
          </a:prstGeom>
          <a:noFill/>
        </p:spPr>
        <p:txBody>
          <a:bodyPr wrap="square" anchor="b" lIns="36576" rIns="36576" tIns="36576" bIns="36576">
            <a:spAutoFit/>
          </a:bodyPr>
          <a:lstStyle/>
          <a:p>
            <a:pPr algn="l">
              <a:spcAft>
                <a:spcPts val="400"/>
              </a:spcAft>
            </a:pPr>
            <a:r>
              <a:rPr sz="3200" b="1" i="0">
                <a:solidFill>
                  <a:srgbClr val="242852"/>
                </a:solidFill>
                <a:latin typeface="Arial"/>
              </a:rPr>
              <a:t>Cierre</a:t>
            </a:r>
          </a:p>
        </p:txBody>
      </p:sp>
      <p:sp>
        <p:nvSpPr>
          <p:cNvPr id="9" name="TextBox 8"/>
          <p:cNvSpPr txBox="1"/>
          <p:nvPr/>
        </p:nvSpPr>
        <p:spPr>
          <a:xfrm>
            <a:off x="2651760" y="3291840"/>
            <a:ext cx="5852160" cy="1097280"/>
          </a:xfrm>
          <a:prstGeom prst="rect">
            <a:avLst/>
          </a:prstGeom>
          <a:noFill/>
        </p:spPr>
        <p:txBody>
          <a:bodyPr wrap="square" anchor="t" lIns="36576" rIns="36576" tIns="36576" bIns="36576">
            <a:spAutoFit/>
          </a:bodyPr>
          <a:lstStyle/>
          <a:p>
            <a:pPr algn="l">
              <a:spcAft>
                <a:spcPts val="400"/>
              </a:spcAft>
            </a:pPr>
            <a:r>
              <a:rPr sz="1600" b="0" i="0">
                <a:solidFill>
                  <a:srgbClr val="5F6368"/>
                </a:solidFill>
                <a:latin typeface="Arial"/>
              </a:rPr>
              <a:t>Tres datasets, una misma forma de evaluar, y Test una sola vez</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Por qué no comparar F1 entre datasets</a:t>
            </a:r>
          </a:p>
        </p:txBody>
      </p:sp>
      <p:graphicFrame>
        <p:nvGraphicFramePr>
          <p:cNvPr id="3" name="Table 2"/>
          <p:cNvGraphicFramePr>
            <a:graphicFrameLocks noGrp="1"/>
          </p:cNvGraphicFramePr>
          <p:nvPr/>
        </p:nvGraphicFramePr>
        <p:xfrm>
          <a:off x="731520" y="2011680"/>
          <a:ext cx="7772400" cy="1901952"/>
        </p:xfrm>
        <a:graphic>
          <a:graphicData uri="http://schemas.openxmlformats.org/drawingml/2006/table">
            <a:tbl>
              <a:tblPr firstRow="1" bandRow="1">
                <a:tableStyleId>{5C22544A-7EE6-4342-B048-85BDC9FD1C3A}</a:tableStyleId>
              </a:tblPr>
              <a:tblGrid>
                <a:gridCol w="2194560"/>
                <a:gridCol w="1828800"/>
                <a:gridCol w="1645920"/>
                <a:gridCol w="2103120"/>
              </a:tblGrid>
              <a:tr h="475488">
                <a:tc>
                  <a:txBody>
                    <a:bodyPr wrap="square"/>
                    <a:lstStyle/>
                    <a:p>
                      <a:pPr algn="l"/>
                      <a:r>
                        <a:rPr sz="1300" b="1" i="0">
                          <a:solidFill>
                            <a:srgbClr val="FFFFFF"/>
                          </a:solidFill>
                          <a:latin typeface="Arial"/>
                        </a:rPr>
                        <a:t>Dataset</a:t>
                      </a:r>
                    </a:p>
                  </a:txBody>
                  <a:tcPr marL="64008" marR="64008" marT="27432" marB="27432" anchor="ctr">
                    <a:solidFill>
                      <a:srgbClr val="242852"/>
                    </a:solidFill>
                  </a:tcPr>
                </a:tc>
                <a:tc>
                  <a:txBody>
                    <a:bodyPr wrap="square"/>
                    <a:lstStyle/>
                    <a:p>
                      <a:pPr algn="ctr"/>
                      <a:r>
                        <a:rPr sz="1300" b="1" i="0">
                          <a:solidFill>
                            <a:srgbClr val="FFFFFF"/>
                          </a:solidFill>
                          <a:latin typeface="Arial"/>
                        </a:rPr>
                        <a:t>Filas Validation</a:t>
                      </a:r>
                    </a:p>
                  </a:txBody>
                  <a:tcPr marL="64008" marR="64008" marT="27432" marB="27432" anchor="ctr">
                    <a:solidFill>
                      <a:srgbClr val="242852"/>
                    </a:solidFill>
                  </a:tcPr>
                </a:tc>
                <a:tc>
                  <a:txBody>
                    <a:bodyPr wrap="square"/>
                    <a:lstStyle/>
                    <a:p>
                      <a:pPr algn="ctr"/>
                      <a:r>
                        <a:rPr sz="1300" b="1" i="0">
                          <a:solidFill>
                            <a:srgbClr val="FFFFFF"/>
                          </a:solidFill>
                          <a:latin typeface="Arial"/>
                        </a:rPr>
                        <a:t>% positivos</a:t>
                      </a:r>
                    </a:p>
                  </a:txBody>
                  <a:tcPr marL="64008" marR="64008" marT="27432" marB="27432" anchor="ctr">
                    <a:solidFill>
                      <a:srgbClr val="242852"/>
                    </a:solidFill>
                  </a:tcPr>
                </a:tc>
                <a:tc>
                  <a:txBody>
                    <a:bodyPr wrap="square"/>
                    <a:lstStyle/>
                    <a:p>
                      <a:pPr algn="ctr"/>
                      <a:r>
                        <a:rPr sz="1300" b="1" i="0">
                          <a:solidFill>
                            <a:srgbClr val="FFFFFF"/>
                          </a:solidFill>
                          <a:latin typeface="Arial"/>
                        </a:rPr>
                        <a:t>Accuracy del baseline</a:t>
                      </a:r>
                    </a:p>
                  </a:txBody>
                  <a:tcPr marL="64008" marR="64008" marT="27432" marB="27432" anchor="ctr">
                    <a:solidFill>
                      <a:srgbClr val="242852"/>
                    </a:solidFill>
                  </a:tcPr>
                </a:tc>
              </a:tr>
              <a:tr h="475488">
                <a:tc>
                  <a:txBody>
                    <a:bodyPr wrap="square"/>
                    <a:lstStyle/>
                    <a:p>
                      <a:pPr algn="l"/>
                      <a:r>
                        <a:rPr sz="1300" b="1" i="0">
                          <a:solidFill>
                            <a:srgbClr val="2B2B2B"/>
                          </a:solidFill>
                          <a:latin typeface="Arial"/>
                        </a:rPr>
                        <a:t>PaySim (muestra)</a:t>
                      </a:r>
                    </a:p>
                  </a:txBody>
                  <a:tcPr marL="64008" marR="64008" marT="27432" marB="27432" anchor="ctr">
                    <a:solidFill>
                      <a:srgbClr val="FFFFFF"/>
                    </a:solidFill>
                  </a:tcPr>
                </a:tc>
                <a:tc>
                  <a:txBody>
                    <a:bodyPr wrap="square"/>
                    <a:lstStyle/>
                    <a:p>
                      <a:pPr algn="ctr"/>
                      <a:r>
                        <a:rPr sz="1300" b="0" i="0">
                          <a:solidFill>
                            <a:srgbClr val="2B2B2B"/>
                          </a:solidFill>
                          <a:latin typeface="Arial"/>
                        </a:rPr>
                        <a:t>15 063</a:t>
                      </a:r>
                    </a:p>
                  </a:txBody>
                  <a:tcPr marL="64008" marR="64008" marT="27432" marB="27432" anchor="ctr">
                    <a:solidFill>
                      <a:srgbClr val="FFFFFF"/>
                    </a:solidFill>
                  </a:tcPr>
                </a:tc>
                <a:tc>
                  <a:txBody>
                    <a:bodyPr wrap="square"/>
                    <a:lstStyle/>
                    <a:p>
                      <a:pPr algn="ctr"/>
                      <a:r>
                        <a:rPr sz="1300" b="0" i="0">
                          <a:solidFill>
                            <a:srgbClr val="2B2B2B"/>
                          </a:solidFill>
                          <a:latin typeface="Arial"/>
                        </a:rPr>
                        <a:t>8,5 %</a:t>
                      </a:r>
                    </a:p>
                  </a:txBody>
                  <a:tcPr marL="64008" marR="64008" marT="27432" marB="27432" anchor="ctr">
                    <a:solidFill>
                      <a:srgbClr val="FFFFFF"/>
                    </a:solidFill>
                  </a:tcPr>
                </a:tc>
                <a:tc>
                  <a:txBody>
                    <a:bodyPr wrap="square"/>
                    <a:lstStyle/>
                    <a:p>
                      <a:pPr algn="ctr"/>
                      <a:r>
                        <a:rPr sz="1300" b="0" i="0">
                          <a:solidFill>
                            <a:srgbClr val="2B2B2B"/>
                          </a:solidFill>
                          <a:latin typeface="Arial"/>
                        </a:rPr>
                        <a:t>0,915</a:t>
                      </a:r>
                    </a:p>
                  </a:txBody>
                  <a:tcPr marL="64008" marR="64008" marT="27432" marB="27432" anchor="ctr">
                    <a:solidFill>
                      <a:srgbClr val="FFFFFF"/>
                    </a:solidFill>
                  </a:tcPr>
                </a:tc>
              </a:tr>
              <a:tr h="475488">
                <a:tc>
                  <a:txBody>
                    <a:bodyPr wrap="square"/>
                    <a:lstStyle/>
                    <a:p>
                      <a:pPr algn="l"/>
                      <a:r>
                        <a:rPr sz="1300" b="1" i="0">
                          <a:solidFill>
                            <a:srgbClr val="2B2B2B"/>
                          </a:solidFill>
                          <a:latin typeface="Arial"/>
                        </a:rPr>
                        <a:t>BankChurners</a:t>
                      </a:r>
                    </a:p>
                  </a:txBody>
                  <a:tcPr marL="64008" marR="64008" marT="27432" marB="27432" anchor="ctr">
                    <a:solidFill>
                      <a:srgbClr val="F2F3F5"/>
                    </a:solidFill>
                  </a:tcPr>
                </a:tc>
                <a:tc>
                  <a:txBody>
                    <a:bodyPr wrap="square"/>
                    <a:lstStyle/>
                    <a:p>
                      <a:pPr algn="ctr"/>
                      <a:r>
                        <a:rPr sz="1300" b="0" i="0">
                          <a:solidFill>
                            <a:srgbClr val="2B2B2B"/>
                          </a:solidFill>
                          <a:latin typeface="Arial"/>
                        </a:rPr>
                        <a:t>1 519</a:t>
                      </a:r>
                    </a:p>
                  </a:txBody>
                  <a:tcPr marL="64008" marR="64008" marT="27432" marB="27432" anchor="ctr">
                    <a:solidFill>
                      <a:srgbClr val="F2F3F5"/>
                    </a:solidFill>
                  </a:tcPr>
                </a:tc>
                <a:tc>
                  <a:txBody>
                    <a:bodyPr wrap="square"/>
                    <a:lstStyle/>
                    <a:p>
                      <a:pPr algn="ctr"/>
                      <a:r>
                        <a:rPr sz="1300" b="0" i="0">
                          <a:solidFill>
                            <a:srgbClr val="2B2B2B"/>
                          </a:solidFill>
                          <a:latin typeface="Arial"/>
                        </a:rPr>
                        <a:t>16,1 %</a:t>
                      </a:r>
                    </a:p>
                  </a:txBody>
                  <a:tcPr marL="64008" marR="64008" marT="27432" marB="27432" anchor="ctr">
                    <a:solidFill>
                      <a:srgbClr val="F2F3F5"/>
                    </a:solidFill>
                  </a:tcPr>
                </a:tc>
                <a:tc>
                  <a:txBody>
                    <a:bodyPr wrap="square"/>
                    <a:lstStyle/>
                    <a:p>
                      <a:pPr algn="ctr"/>
                      <a:r>
                        <a:rPr sz="1300" b="0" i="0">
                          <a:solidFill>
                            <a:srgbClr val="2B2B2B"/>
                          </a:solidFill>
                          <a:latin typeface="Arial"/>
                        </a:rPr>
                        <a:t>0,839</a:t>
                      </a:r>
                    </a:p>
                  </a:txBody>
                  <a:tcPr marL="64008" marR="64008" marT="27432" marB="27432" anchor="ctr">
                    <a:solidFill>
                      <a:srgbClr val="F2F3F5"/>
                    </a:solidFill>
                  </a:tcPr>
                </a:tc>
              </a:tr>
              <a:tr h="475488">
                <a:tc>
                  <a:txBody>
                    <a:bodyPr wrap="square"/>
                    <a:lstStyle/>
                    <a:p>
                      <a:pPr algn="l"/>
                      <a:r>
                        <a:rPr sz="1300" b="1" i="0">
                          <a:solidFill>
                            <a:srgbClr val="2B2B2B"/>
                          </a:solidFill>
                          <a:latin typeface="Arial"/>
                        </a:rPr>
                        <a:t>Credit Risk</a:t>
                      </a:r>
                    </a:p>
                  </a:txBody>
                  <a:tcPr marL="64008" marR="64008" marT="27432" marB="27432" anchor="ctr">
                    <a:solidFill>
                      <a:srgbClr val="FFFFFF"/>
                    </a:solidFill>
                  </a:tcPr>
                </a:tc>
                <a:tc>
                  <a:txBody>
                    <a:bodyPr wrap="square"/>
                    <a:lstStyle/>
                    <a:p>
                      <a:pPr algn="ctr"/>
                      <a:r>
                        <a:rPr sz="1300" b="0" i="0">
                          <a:solidFill>
                            <a:srgbClr val="2B2B2B"/>
                          </a:solidFill>
                          <a:latin typeface="Arial"/>
                        </a:rPr>
                        <a:t>1 800</a:t>
                      </a:r>
                    </a:p>
                  </a:txBody>
                  <a:tcPr marL="64008" marR="64008" marT="27432" marB="27432" anchor="ctr">
                    <a:solidFill>
                      <a:srgbClr val="FFFFFF"/>
                    </a:solidFill>
                  </a:tcPr>
                </a:tc>
                <a:tc>
                  <a:txBody>
                    <a:bodyPr wrap="square"/>
                    <a:lstStyle/>
                    <a:p>
                      <a:pPr algn="ctr"/>
                      <a:r>
                        <a:rPr sz="1300" b="0" i="0">
                          <a:solidFill>
                            <a:srgbClr val="2B2B2B"/>
                          </a:solidFill>
                          <a:latin typeface="Arial"/>
                        </a:rPr>
                        <a:t>21,9 %</a:t>
                      </a:r>
                    </a:p>
                  </a:txBody>
                  <a:tcPr marL="64008" marR="64008" marT="27432" marB="27432" anchor="ctr">
                    <a:solidFill>
                      <a:srgbClr val="FFFFFF"/>
                    </a:solidFill>
                  </a:tcPr>
                </a:tc>
                <a:tc>
                  <a:txBody>
                    <a:bodyPr wrap="square"/>
                    <a:lstStyle/>
                    <a:p>
                      <a:pPr algn="ctr"/>
                      <a:r>
                        <a:rPr sz="1300" b="0" i="0">
                          <a:solidFill>
                            <a:srgbClr val="2B2B2B"/>
                          </a:solidFill>
                          <a:latin typeface="Arial"/>
                        </a:rPr>
                        <a:t>0,781</a:t>
                      </a:r>
                    </a:p>
                  </a:txBody>
                  <a:tcPr marL="64008" marR="64008" marT="27432" marB="27432" anchor="ctr">
                    <a:solidFill>
                      <a:srgbClr val="FFFFFF"/>
                    </a:solidFill>
                  </a:tcPr>
                </a:tc>
              </a:tr>
            </a:tbl>
          </a:graphicData>
        </a:graphic>
      </p:graphicFrame>
      <p:sp>
        <p:nvSpPr>
          <p:cNvPr id="4" name="Rounded Rectangle 3"/>
          <p:cNvSpPr/>
          <p:nvPr/>
        </p:nvSpPr>
        <p:spPr>
          <a:xfrm>
            <a:off x="731520" y="4114800"/>
            <a:ext cx="7772400" cy="109728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500" b="1" i="0">
                <a:solidFill>
                  <a:srgbClr val="FFFFFF"/>
                </a:solidFill>
                <a:latin typeface="Arial"/>
              </a:rPr>
              <a:t>En clasificación desbalanceada, </a:t>
            </a:r>
            <a:r>
              <a:rPr sz="1400" b="0" i="0">
                <a:solidFill>
                  <a:srgbClr val="FFFFFF"/>
                </a:solidFill>
                <a:latin typeface="Arial"/>
              </a:rPr>
              <a:t>Accuracy sola nunca alcanza: mira Precision, Recall y F1 de la clase que te importa.</a:t>
            </a:r>
          </a:p>
        </p:txBody>
      </p:sp>
      <p:sp>
        <p:nvSpPr>
          <p:cNvPr id="5" name="Rounded Rectangle 4"/>
          <p:cNvSpPr/>
          <p:nvPr/>
        </p:nvSpPr>
        <p:spPr>
          <a:xfrm>
            <a:off x="731520" y="5440680"/>
            <a:ext cx="7772400" cy="7772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Tasa base: </a:t>
            </a:r>
            <a:r>
              <a:rPr sz="1200" b="0" i="0">
                <a:solidFill>
                  <a:srgbClr val="2B2B2B"/>
                </a:solidFill>
                <a:latin typeface="Arial"/>
              </a:rPr>
              <a:t>con la tasa real de PaySim (0,13 %), aunque el modelo encontrara los mismos fraudes, la gran mayoría de sus alertas serían falsas y la Precision caería.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Mover el umbral: ejemplo a mano</a:t>
            </a:r>
          </a:p>
        </p:txBody>
      </p:sp>
      <p:graphicFrame>
        <p:nvGraphicFramePr>
          <p:cNvPr id="3" name="Table 2"/>
          <p:cNvGraphicFramePr>
            <a:graphicFrameLocks noGrp="1"/>
          </p:cNvGraphicFramePr>
          <p:nvPr/>
        </p:nvGraphicFramePr>
        <p:xfrm>
          <a:off x="731520" y="2011680"/>
          <a:ext cx="7772400" cy="1234440"/>
        </p:xfrm>
        <a:graphic>
          <a:graphicData uri="http://schemas.openxmlformats.org/drawingml/2006/table">
            <a:tbl>
              <a:tblPr firstRow="1" bandRow="1">
                <a:tableStyleId>{5C22544A-7EE6-4342-B048-85BDC9FD1C3A}</a:tableStyleId>
              </a:tblPr>
              <a:tblGrid>
                <a:gridCol w="1188720"/>
                <a:gridCol w="822960"/>
                <a:gridCol w="822960"/>
                <a:gridCol w="822960"/>
                <a:gridCol w="822960"/>
                <a:gridCol w="822960"/>
                <a:gridCol w="822960"/>
                <a:gridCol w="822960"/>
                <a:gridCol w="822960"/>
              </a:tblGrid>
              <a:tr h="411480">
                <a:tc>
                  <a:txBody>
                    <a:bodyPr wrap="square"/>
                    <a:lstStyle/>
                    <a:p>
                      <a:pPr algn="l"/>
                      <a:r>
                        <a:rPr sz="1200" b="1" i="0">
                          <a:solidFill>
                            <a:srgbClr val="FFFFFF"/>
                          </a:solidFill>
                          <a:latin typeface="Arial"/>
                        </a:rPr>
                        <a:t>Caso</a:t>
                      </a:r>
                    </a:p>
                  </a:txBody>
                  <a:tcPr marL="64008" marR="64008" marT="27432" marB="27432" anchor="ctr">
                    <a:solidFill>
                      <a:srgbClr val="242852"/>
                    </a:solidFill>
                  </a:tcPr>
                </a:tc>
                <a:tc>
                  <a:txBody>
                    <a:bodyPr wrap="square"/>
                    <a:lstStyle/>
                    <a:p>
                      <a:pPr algn="ctr"/>
                      <a:r>
                        <a:rPr sz="1200" b="1" i="0">
                          <a:solidFill>
                            <a:srgbClr val="FFFFFF"/>
                          </a:solidFill>
                          <a:latin typeface="Arial"/>
                        </a:rPr>
                        <a:t>1</a:t>
                      </a:r>
                    </a:p>
                  </a:txBody>
                  <a:tcPr marL="64008" marR="64008" marT="27432" marB="27432" anchor="ctr">
                    <a:solidFill>
                      <a:srgbClr val="242852"/>
                    </a:solidFill>
                  </a:tcPr>
                </a:tc>
                <a:tc>
                  <a:txBody>
                    <a:bodyPr wrap="square"/>
                    <a:lstStyle/>
                    <a:p>
                      <a:pPr algn="ctr"/>
                      <a:r>
                        <a:rPr sz="1200" b="1" i="0">
                          <a:solidFill>
                            <a:srgbClr val="FFFFFF"/>
                          </a:solidFill>
                          <a:latin typeface="Arial"/>
                        </a:rPr>
                        <a:t>2</a:t>
                      </a:r>
                    </a:p>
                  </a:txBody>
                  <a:tcPr marL="64008" marR="64008" marT="27432" marB="27432" anchor="ctr">
                    <a:solidFill>
                      <a:srgbClr val="242852"/>
                    </a:solidFill>
                  </a:tcPr>
                </a:tc>
                <a:tc>
                  <a:txBody>
                    <a:bodyPr wrap="square"/>
                    <a:lstStyle/>
                    <a:p>
                      <a:pPr algn="ctr"/>
                      <a:r>
                        <a:rPr sz="1200" b="1" i="0">
                          <a:solidFill>
                            <a:srgbClr val="FFFFFF"/>
                          </a:solidFill>
                          <a:latin typeface="Arial"/>
                        </a:rPr>
                        <a:t>3</a:t>
                      </a:r>
                    </a:p>
                  </a:txBody>
                  <a:tcPr marL="64008" marR="64008" marT="27432" marB="27432" anchor="ctr">
                    <a:solidFill>
                      <a:srgbClr val="242852"/>
                    </a:solidFill>
                  </a:tcPr>
                </a:tc>
                <a:tc>
                  <a:txBody>
                    <a:bodyPr wrap="square"/>
                    <a:lstStyle/>
                    <a:p>
                      <a:pPr algn="ctr"/>
                      <a:r>
                        <a:rPr sz="1200" b="1" i="0">
                          <a:solidFill>
                            <a:srgbClr val="FFFFFF"/>
                          </a:solidFill>
                          <a:latin typeface="Arial"/>
                        </a:rPr>
                        <a:t>4</a:t>
                      </a:r>
                    </a:p>
                  </a:txBody>
                  <a:tcPr marL="64008" marR="64008" marT="27432" marB="27432" anchor="ctr">
                    <a:solidFill>
                      <a:srgbClr val="242852"/>
                    </a:solidFill>
                  </a:tcPr>
                </a:tc>
                <a:tc>
                  <a:txBody>
                    <a:bodyPr wrap="square"/>
                    <a:lstStyle/>
                    <a:p>
                      <a:pPr algn="ctr"/>
                      <a:r>
                        <a:rPr sz="1200" b="1" i="0">
                          <a:solidFill>
                            <a:srgbClr val="FFFFFF"/>
                          </a:solidFill>
                          <a:latin typeface="Arial"/>
                        </a:rPr>
                        <a:t>5</a:t>
                      </a:r>
                    </a:p>
                  </a:txBody>
                  <a:tcPr marL="64008" marR="64008" marT="27432" marB="27432" anchor="ctr">
                    <a:solidFill>
                      <a:srgbClr val="242852"/>
                    </a:solidFill>
                  </a:tcPr>
                </a:tc>
                <a:tc>
                  <a:txBody>
                    <a:bodyPr wrap="square"/>
                    <a:lstStyle/>
                    <a:p>
                      <a:pPr algn="ctr"/>
                      <a:r>
                        <a:rPr sz="1200" b="1" i="0">
                          <a:solidFill>
                            <a:srgbClr val="FFFFFF"/>
                          </a:solidFill>
                          <a:latin typeface="Arial"/>
                        </a:rPr>
                        <a:t>6</a:t>
                      </a:r>
                    </a:p>
                  </a:txBody>
                  <a:tcPr marL="64008" marR="64008" marT="27432" marB="27432" anchor="ctr">
                    <a:solidFill>
                      <a:srgbClr val="242852"/>
                    </a:solidFill>
                  </a:tcPr>
                </a:tc>
                <a:tc>
                  <a:txBody>
                    <a:bodyPr wrap="square"/>
                    <a:lstStyle/>
                    <a:p>
                      <a:pPr algn="ctr"/>
                      <a:r>
                        <a:rPr sz="1200" b="1" i="0">
                          <a:solidFill>
                            <a:srgbClr val="FFFFFF"/>
                          </a:solidFill>
                          <a:latin typeface="Arial"/>
                        </a:rPr>
                        <a:t>7</a:t>
                      </a:r>
                    </a:p>
                  </a:txBody>
                  <a:tcPr marL="64008" marR="64008" marT="27432" marB="27432" anchor="ctr">
                    <a:solidFill>
                      <a:srgbClr val="242852"/>
                    </a:solidFill>
                  </a:tcPr>
                </a:tc>
                <a:tc>
                  <a:txBody>
                    <a:bodyPr wrap="square"/>
                    <a:lstStyle/>
                    <a:p>
                      <a:pPr algn="ctr"/>
                      <a:r>
                        <a:rPr sz="1200" b="1" i="0">
                          <a:solidFill>
                            <a:srgbClr val="FFFFFF"/>
                          </a:solidFill>
                          <a:latin typeface="Arial"/>
                        </a:rPr>
                        <a:t>8</a:t>
                      </a:r>
                    </a:p>
                  </a:txBody>
                  <a:tcPr marL="64008" marR="64008" marT="27432" marB="27432" anchor="ctr">
                    <a:solidFill>
                      <a:srgbClr val="242852"/>
                    </a:solidFill>
                  </a:tcPr>
                </a:tc>
              </a:tr>
              <a:tr h="411480">
                <a:tc>
                  <a:txBody>
                    <a:bodyPr wrap="square"/>
                    <a:lstStyle/>
                    <a:p>
                      <a:pPr algn="l"/>
                      <a:r>
                        <a:rPr sz="1200" b="1" i="0">
                          <a:solidFill>
                            <a:srgbClr val="2B2B2B"/>
                          </a:solidFill>
                          <a:latin typeface="Arial"/>
                        </a:rPr>
                        <a:t>Real</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c>
                  <a:txBody>
                    <a:bodyPr wrap="square"/>
                    <a:lstStyle/>
                    <a:p>
                      <a:pPr algn="ctr"/>
                      <a:r>
                        <a:rPr sz="1200" b="0" i="0">
                          <a:solidFill>
                            <a:srgbClr val="2B2B2B"/>
                          </a:solidFill>
                          <a:latin typeface="Arial"/>
                        </a:rPr>
                        <a:t>1</a:t>
                      </a:r>
                    </a:p>
                  </a:txBody>
                  <a:tcPr marL="64008" marR="64008" marT="27432" marB="27432" anchor="ctr">
                    <a:solidFill>
                      <a:srgbClr val="FFFFFF"/>
                    </a:solidFill>
                  </a:tcPr>
                </a:tc>
                <a:tc>
                  <a:txBody>
                    <a:bodyPr wrap="square"/>
                    <a:lstStyle/>
                    <a:p>
                      <a:pPr algn="ctr"/>
                      <a:r>
                        <a:rPr sz="1200" b="0" i="0">
                          <a:solidFill>
                            <a:srgbClr val="2B2B2B"/>
                          </a:solidFill>
                          <a:latin typeface="Arial"/>
                        </a:rPr>
                        <a:t>0</a:t>
                      </a:r>
                    </a:p>
                  </a:txBody>
                  <a:tcPr marL="64008" marR="64008" marT="27432" marB="27432" anchor="ctr">
                    <a:solidFill>
                      <a:srgbClr val="FFFFFF"/>
                    </a:solidFill>
                  </a:tcPr>
                </a:tc>
              </a:tr>
              <a:tr h="411480">
                <a:tc>
                  <a:txBody>
                    <a:bodyPr wrap="square"/>
                    <a:lstStyle/>
                    <a:p>
                      <a:pPr algn="l"/>
                      <a:r>
                        <a:rPr sz="1200" b="1" i="0">
                          <a:solidFill>
                            <a:srgbClr val="2B2B2B"/>
                          </a:solidFill>
                          <a:latin typeface="Arial"/>
                        </a:rPr>
                        <a:t>Score</a:t>
                      </a:r>
                    </a:p>
                  </a:txBody>
                  <a:tcPr marL="64008" marR="64008" marT="27432" marB="27432" anchor="ctr">
                    <a:solidFill>
                      <a:srgbClr val="F2F3F5"/>
                    </a:solidFill>
                  </a:tcPr>
                </a:tc>
                <a:tc>
                  <a:txBody>
                    <a:bodyPr wrap="square"/>
                    <a:lstStyle/>
                    <a:p>
                      <a:pPr algn="ctr"/>
                      <a:r>
                        <a:rPr sz="1200" b="0" i="0">
                          <a:solidFill>
                            <a:srgbClr val="2B2B2B"/>
                          </a:solidFill>
                          <a:latin typeface="Arial"/>
                        </a:rPr>
                        <a:t>0,10</a:t>
                      </a:r>
                    </a:p>
                  </a:txBody>
                  <a:tcPr marL="64008" marR="64008" marT="27432" marB="27432" anchor="ctr">
                    <a:solidFill>
                      <a:srgbClr val="F2F3F5"/>
                    </a:solidFill>
                  </a:tcPr>
                </a:tc>
                <a:tc>
                  <a:txBody>
                    <a:bodyPr wrap="square"/>
                    <a:lstStyle/>
                    <a:p>
                      <a:pPr algn="ctr"/>
                      <a:r>
                        <a:rPr sz="1200" b="0" i="0">
                          <a:solidFill>
                            <a:srgbClr val="2B2B2B"/>
                          </a:solidFill>
                          <a:latin typeface="Arial"/>
                        </a:rPr>
                        <a:t>0,35</a:t>
                      </a:r>
                    </a:p>
                  </a:txBody>
                  <a:tcPr marL="64008" marR="64008" marT="27432" marB="27432" anchor="ctr">
                    <a:solidFill>
                      <a:srgbClr val="F2F3F5"/>
                    </a:solidFill>
                  </a:tcPr>
                </a:tc>
                <a:tc>
                  <a:txBody>
                    <a:bodyPr wrap="square"/>
                    <a:lstStyle/>
                    <a:p>
                      <a:pPr algn="ctr"/>
                      <a:r>
                        <a:rPr sz="1200" b="0" i="0">
                          <a:solidFill>
                            <a:srgbClr val="2B2B2B"/>
                          </a:solidFill>
                          <a:latin typeface="Arial"/>
                        </a:rPr>
                        <a:t>0,40</a:t>
                      </a:r>
                    </a:p>
                  </a:txBody>
                  <a:tcPr marL="64008" marR="64008" marT="27432" marB="27432" anchor="ctr">
                    <a:solidFill>
                      <a:srgbClr val="F2F3F5"/>
                    </a:solidFill>
                  </a:tcPr>
                </a:tc>
                <a:tc>
                  <a:txBody>
                    <a:bodyPr wrap="square"/>
                    <a:lstStyle/>
                    <a:p>
                      <a:pPr algn="ctr"/>
                      <a:r>
                        <a:rPr sz="1200" b="0" i="0">
                          <a:solidFill>
                            <a:srgbClr val="2B2B2B"/>
                          </a:solidFill>
                          <a:latin typeface="Arial"/>
                        </a:rPr>
                        <a:t>0,55</a:t>
                      </a:r>
                    </a:p>
                  </a:txBody>
                  <a:tcPr marL="64008" marR="64008" marT="27432" marB="27432" anchor="ctr">
                    <a:solidFill>
                      <a:srgbClr val="F2F3F5"/>
                    </a:solidFill>
                  </a:tcPr>
                </a:tc>
                <a:tc>
                  <a:txBody>
                    <a:bodyPr wrap="square"/>
                    <a:lstStyle/>
                    <a:p>
                      <a:pPr algn="ctr"/>
                      <a:r>
                        <a:rPr sz="1200" b="0" i="0">
                          <a:solidFill>
                            <a:srgbClr val="2B2B2B"/>
                          </a:solidFill>
                          <a:latin typeface="Arial"/>
                        </a:rPr>
                        <a:t>0,70</a:t>
                      </a:r>
                    </a:p>
                  </a:txBody>
                  <a:tcPr marL="64008" marR="64008" marT="27432" marB="27432" anchor="ctr">
                    <a:solidFill>
                      <a:srgbClr val="F2F3F5"/>
                    </a:solidFill>
                  </a:tcPr>
                </a:tc>
                <a:tc>
                  <a:txBody>
                    <a:bodyPr wrap="square"/>
                    <a:lstStyle/>
                    <a:p>
                      <a:pPr algn="ctr"/>
                      <a:r>
                        <a:rPr sz="1200" b="0" i="0">
                          <a:solidFill>
                            <a:srgbClr val="2B2B2B"/>
                          </a:solidFill>
                          <a:latin typeface="Arial"/>
                        </a:rPr>
                        <a:t>0,72</a:t>
                      </a:r>
                    </a:p>
                  </a:txBody>
                  <a:tcPr marL="64008" marR="64008" marT="27432" marB="27432" anchor="ctr">
                    <a:solidFill>
                      <a:srgbClr val="F2F3F5"/>
                    </a:solidFill>
                  </a:tcPr>
                </a:tc>
                <a:tc>
                  <a:txBody>
                    <a:bodyPr wrap="square"/>
                    <a:lstStyle/>
                    <a:p>
                      <a:pPr algn="ctr"/>
                      <a:r>
                        <a:rPr sz="1200" b="0" i="0">
                          <a:solidFill>
                            <a:srgbClr val="2B2B2B"/>
                          </a:solidFill>
                          <a:latin typeface="Arial"/>
                        </a:rPr>
                        <a:t>0,88</a:t>
                      </a:r>
                    </a:p>
                  </a:txBody>
                  <a:tcPr marL="64008" marR="64008" marT="27432" marB="27432" anchor="ctr">
                    <a:solidFill>
                      <a:srgbClr val="F2F3F5"/>
                    </a:solidFill>
                  </a:tcPr>
                </a:tc>
                <a:tc>
                  <a:txBody>
                    <a:bodyPr wrap="square"/>
                    <a:lstStyle/>
                    <a:p>
                      <a:pPr algn="ctr"/>
                      <a:r>
                        <a:rPr sz="1200" b="0" i="0">
                          <a:solidFill>
                            <a:srgbClr val="2B2B2B"/>
                          </a:solidFill>
                          <a:latin typeface="Arial"/>
                        </a:rPr>
                        <a:t>0,90</a:t>
                      </a:r>
                    </a:p>
                  </a:txBody>
                  <a:tcPr marL="64008" marR="64008" marT="27432" marB="27432" anchor="ctr">
                    <a:solidFill>
                      <a:srgbClr val="F2F3F5"/>
                    </a:solidFill>
                  </a:tcPr>
                </a:tc>
              </a:tr>
            </a:tbl>
          </a:graphicData>
        </a:graphic>
      </p:graphicFrame>
      <p:graphicFrame>
        <p:nvGraphicFramePr>
          <p:cNvPr id="4" name="Table 3"/>
          <p:cNvGraphicFramePr>
            <a:graphicFrameLocks noGrp="1"/>
          </p:cNvGraphicFramePr>
          <p:nvPr/>
        </p:nvGraphicFramePr>
        <p:xfrm>
          <a:off x="731520" y="3429000"/>
          <a:ext cx="7772400" cy="1645920"/>
        </p:xfrm>
        <a:graphic>
          <a:graphicData uri="http://schemas.openxmlformats.org/drawingml/2006/table">
            <a:tbl>
              <a:tblPr firstRow="1" bandRow="1">
                <a:tableStyleId>{5C22544A-7EE6-4342-B048-85BDC9FD1C3A}</a:tableStyleId>
              </a:tblPr>
              <a:tblGrid>
                <a:gridCol w="1463040"/>
                <a:gridCol w="1188720"/>
                <a:gridCol w="1188720"/>
                <a:gridCol w="1280160"/>
                <a:gridCol w="1280160"/>
                <a:gridCol w="1371600"/>
              </a:tblGrid>
              <a:tr h="411480">
                <a:tc>
                  <a:txBody>
                    <a:bodyPr wrap="square"/>
                    <a:lstStyle/>
                    <a:p>
                      <a:pPr algn="l"/>
                      <a:r>
                        <a:rPr sz="1250" b="1" i="0">
                          <a:solidFill>
                            <a:srgbClr val="FFFFFF"/>
                          </a:solidFill>
                          <a:latin typeface="Arial"/>
                        </a:rPr>
                        <a:t>Umbral</a:t>
                      </a:r>
                    </a:p>
                  </a:txBody>
                  <a:tcPr marL="64008" marR="64008" marT="27432" marB="27432" anchor="ctr">
                    <a:solidFill>
                      <a:srgbClr val="242852"/>
                    </a:solidFill>
                  </a:tcPr>
                </a:tc>
                <a:tc>
                  <a:txBody>
                    <a:bodyPr wrap="square"/>
                    <a:lstStyle/>
                    <a:p>
                      <a:pPr algn="ctr"/>
                      <a:r>
                        <a:rPr sz="1250" b="1" i="0">
                          <a:solidFill>
                            <a:srgbClr val="FFFFFF"/>
                          </a:solidFill>
                          <a:latin typeface="Arial"/>
                        </a:rPr>
                        <a:t>Alertas</a:t>
                      </a:r>
                    </a:p>
                  </a:txBody>
                  <a:tcPr marL="64008" marR="64008" marT="27432" marB="27432" anchor="ctr">
                    <a:solidFill>
                      <a:srgbClr val="242852"/>
                    </a:solidFill>
                  </a:tcPr>
                </a:tc>
                <a:tc>
                  <a:txBody>
                    <a:bodyPr wrap="square"/>
                    <a:lstStyle/>
                    <a:p>
                      <a:pPr algn="ctr"/>
                      <a:r>
                        <a:rPr sz="1250" b="1" i="0">
                          <a:solidFill>
                            <a:srgbClr val="FFFFFF"/>
                          </a:solidFill>
                          <a:latin typeface="Arial"/>
                        </a:rPr>
                        <a:t>Aciertos</a:t>
                      </a:r>
                    </a:p>
                  </a:txBody>
                  <a:tcPr marL="64008" marR="64008" marT="27432" marB="27432" anchor="ctr">
                    <a:solidFill>
                      <a:srgbClr val="242852"/>
                    </a:solidFill>
                  </a:tcPr>
                </a:tc>
                <a:tc>
                  <a:txBody>
                    <a:bodyPr wrap="square"/>
                    <a:lstStyle/>
                    <a:p>
                      <a:pPr algn="ctr"/>
                      <a:r>
                        <a:rPr sz="1250" b="1" i="0">
                          <a:solidFill>
                            <a:srgbClr val="FFFFFF"/>
                          </a:solidFill>
                          <a:latin typeface="Arial"/>
                        </a:rPr>
                        <a:t>Precision</a:t>
                      </a:r>
                    </a:p>
                  </a:txBody>
                  <a:tcPr marL="64008" marR="64008" marT="27432" marB="27432" anchor="ctr">
                    <a:solidFill>
                      <a:srgbClr val="242852"/>
                    </a:solidFill>
                  </a:tcPr>
                </a:tc>
                <a:tc>
                  <a:txBody>
                    <a:bodyPr wrap="square"/>
                    <a:lstStyle/>
                    <a:p>
                      <a:pPr algn="ctr"/>
                      <a:r>
                        <a:rPr sz="1250" b="1" i="0">
                          <a:solidFill>
                            <a:srgbClr val="FFFFFF"/>
                          </a:solidFill>
                          <a:latin typeface="Arial"/>
                        </a:rPr>
                        <a:t>Recall</a:t>
                      </a:r>
                    </a:p>
                  </a:txBody>
                  <a:tcPr marL="64008" marR="64008" marT="27432" marB="27432" anchor="ctr">
                    <a:solidFill>
                      <a:srgbClr val="242852"/>
                    </a:solidFill>
                  </a:tcPr>
                </a:tc>
                <a:tc>
                  <a:txBody>
                    <a:bodyPr wrap="square"/>
                    <a:lstStyle/>
                    <a:p>
                      <a:pPr algn="ctr"/>
                      <a:r>
                        <a:rPr sz="1250" b="1" i="0">
                          <a:solidFill>
                            <a:srgbClr val="FFFFFF"/>
                          </a:solidFill>
                          <a:latin typeface="Arial"/>
                        </a:rPr>
                        <a:t>F1</a:t>
                      </a:r>
                    </a:p>
                  </a:txBody>
                  <a:tcPr marL="64008" marR="64008" marT="27432" marB="27432" anchor="ctr">
                    <a:solidFill>
                      <a:srgbClr val="242852"/>
                    </a:solidFill>
                  </a:tcPr>
                </a:tc>
              </a:tr>
              <a:tr h="411480">
                <a:tc>
                  <a:txBody>
                    <a:bodyPr wrap="square"/>
                    <a:lstStyle/>
                    <a:p>
                      <a:pPr algn="l"/>
                      <a:r>
                        <a:rPr sz="1250" b="1" i="0">
                          <a:solidFill>
                            <a:srgbClr val="2B2B2B"/>
                          </a:solidFill>
                          <a:latin typeface="Arial"/>
                        </a:rPr>
                        <a:t>0,35</a:t>
                      </a:r>
                    </a:p>
                  </a:txBody>
                  <a:tcPr marL="64008" marR="64008" marT="27432" marB="27432" anchor="ctr">
                    <a:solidFill>
                      <a:srgbClr val="FFFFFF"/>
                    </a:solidFill>
                  </a:tcPr>
                </a:tc>
                <a:tc>
                  <a:txBody>
                    <a:bodyPr wrap="square"/>
                    <a:lstStyle/>
                    <a:p>
                      <a:pPr algn="ctr"/>
                      <a:r>
                        <a:rPr sz="1250" b="0" i="0">
                          <a:solidFill>
                            <a:srgbClr val="2B2B2B"/>
                          </a:solidFill>
                          <a:latin typeface="Arial"/>
                        </a:rPr>
                        <a:t>7</a:t>
                      </a:r>
                    </a:p>
                  </a:txBody>
                  <a:tcPr marL="64008" marR="64008" marT="27432" marB="27432" anchor="ctr">
                    <a:solidFill>
                      <a:srgbClr val="FFFFFF"/>
                    </a:solidFill>
                  </a:tcPr>
                </a:tc>
                <a:tc>
                  <a:txBody>
                    <a:bodyPr wrap="square"/>
                    <a:lstStyle/>
                    <a:p>
                      <a:pPr algn="ctr"/>
                      <a:r>
                        <a:rPr sz="1250" b="0" i="0">
                          <a:solidFill>
                            <a:srgbClr val="2B2B2B"/>
                          </a:solidFill>
                          <a:latin typeface="Arial"/>
                        </a:rPr>
                        <a:t>4</a:t>
                      </a:r>
                    </a:p>
                  </a:txBody>
                  <a:tcPr marL="64008" marR="64008" marT="27432" marB="27432" anchor="ctr">
                    <a:solidFill>
                      <a:srgbClr val="FFFFFF"/>
                    </a:solidFill>
                  </a:tcPr>
                </a:tc>
                <a:tc>
                  <a:txBody>
                    <a:bodyPr wrap="square"/>
                    <a:lstStyle/>
                    <a:p>
                      <a:pPr algn="ctr"/>
                      <a:r>
                        <a:rPr sz="1250" b="0" i="0">
                          <a:solidFill>
                            <a:srgbClr val="2B2B2B"/>
                          </a:solidFill>
                          <a:latin typeface="Arial"/>
                        </a:rPr>
                        <a:t>0,57</a:t>
                      </a:r>
                    </a:p>
                  </a:txBody>
                  <a:tcPr marL="64008" marR="64008" marT="27432" marB="27432" anchor="ctr">
                    <a:solidFill>
                      <a:srgbClr val="FFFFFF"/>
                    </a:solidFill>
                  </a:tcPr>
                </a:tc>
                <a:tc>
                  <a:txBody>
                    <a:bodyPr wrap="square"/>
                    <a:lstStyle/>
                    <a:p>
                      <a:pPr algn="ctr"/>
                      <a:r>
                        <a:rPr sz="1250" b="0" i="0">
                          <a:solidFill>
                            <a:srgbClr val="2B2B2B"/>
                          </a:solidFill>
                          <a:latin typeface="Arial"/>
                        </a:rPr>
                        <a:t>1,00</a:t>
                      </a:r>
                    </a:p>
                  </a:txBody>
                  <a:tcPr marL="64008" marR="64008" marT="27432" marB="27432" anchor="ctr">
                    <a:solidFill>
                      <a:srgbClr val="FFFFFF"/>
                    </a:solidFill>
                  </a:tcPr>
                </a:tc>
                <a:tc>
                  <a:txBody>
                    <a:bodyPr wrap="square"/>
                    <a:lstStyle/>
                    <a:p>
                      <a:pPr algn="ctr"/>
                      <a:r>
                        <a:rPr sz="1250" b="0" i="0">
                          <a:solidFill>
                            <a:srgbClr val="2B2B2B"/>
                          </a:solidFill>
                          <a:latin typeface="Arial"/>
                        </a:rPr>
                        <a:t>0,73</a:t>
                      </a:r>
                    </a:p>
                  </a:txBody>
                  <a:tcPr marL="64008" marR="64008" marT="27432" marB="27432" anchor="ctr">
                    <a:solidFill>
                      <a:srgbClr val="FFFFFF"/>
                    </a:solidFill>
                  </a:tcPr>
                </a:tc>
              </a:tr>
              <a:tr h="411480">
                <a:tc>
                  <a:txBody>
                    <a:bodyPr wrap="square"/>
                    <a:lstStyle/>
                    <a:p>
                      <a:pPr algn="l"/>
                      <a:r>
                        <a:rPr sz="1250" b="1" i="0">
                          <a:solidFill>
                            <a:srgbClr val="2B2B2B"/>
                          </a:solidFill>
                          <a:latin typeface="Arial"/>
                        </a:rPr>
                        <a:t>0,50</a:t>
                      </a:r>
                    </a:p>
                  </a:txBody>
                  <a:tcPr marL="64008" marR="64008" marT="27432" marB="27432" anchor="ctr">
                    <a:solidFill>
                      <a:srgbClr val="F2F3F5"/>
                    </a:solidFill>
                  </a:tcPr>
                </a:tc>
                <a:tc>
                  <a:txBody>
                    <a:bodyPr wrap="square"/>
                    <a:lstStyle/>
                    <a:p>
                      <a:pPr algn="ctr"/>
                      <a:r>
                        <a:rPr sz="1250" b="0" i="0">
                          <a:solidFill>
                            <a:srgbClr val="2B2B2B"/>
                          </a:solidFill>
                          <a:latin typeface="Arial"/>
                        </a:rPr>
                        <a:t>5</a:t>
                      </a:r>
                    </a:p>
                  </a:txBody>
                  <a:tcPr marL="64008" marR="64008" marT="27432" marB="27432" anchor="ctr">
                    <a:solidFill>
                      <a:srgbClr val="F2F3F5"/>
                    </a:solidFill>
                  </a:tcPr>
                </a:tc>
                <a:tc>
                  <a:txBody>
                    <a:bodyPr wrap="square"/>
                    <a:lstStyle/>
                    <a:p>
                      <a:pPr algn="ctr"/>
                      <a:r>
                        <a:rPr sz="1250" b="0" i="0">
                          <a:solidFill>
                            <a:srgbClr val="2B2B2B"/>
                          </a:solidFill>
                          <a:latin typeface="Arial"/>
                        </a:rPr>
                        <a:t>3</a:t>
                      </a:r>
                    </a:p>
                  </a:txBody>
                  <a:tcPr marL="64008" marR="64008" marT="27432" marB="27432" anchor="ctr">
                    <a:solidFill>
                      <a:srgbClr val="F2F3F5"/>
                    </a:solidFill>
                  </a:tcPr>
                </a:tc>
                <a:tc>
                  <a:txBody>
                    <a:bodyPr wrap="square"/>
                    <a:lstStyle/>
                    <a:p>
                      <a:pPr algn="ctr"/>
                      <a:r>
                        <a:rPr sz="1250" b="0" i="0">
                          <a:solidFill>
                            <a:srgbClr val="2B2B2B"/>
                          </a:solidFill>
                          <a:latin typeface="Arial"/>
                        </a:rPr>
                        <a:t>0,60</a:t>
                      </a:r>
                    </a:p>
                  </a:txBody>
                  <a:tcPr marL="64008" marR="64008" marT="27432" marB="27432" anchor="ctr">
                    <a:solidFill>
                      <a:srgbClr val="F2F3F5"/>
                    </a:solidFill>
                  </a:tcPr>
                </a:tc>
                <a:tc>
                  <a:txBody>
                    <a:bodyPr wrap="square"/>
                    <a:lstStyle/>
                    <a:p>
                      <a:pPr algn="ctr"/>
                      <a:r>
                        <a:rPr sz="1250" b="0" i="0">
                          <a:solidFill>
                            <a:srgbClr val="2B2B2B"/>
                          </a:solidFill>
                          <a:latin typeface="Arial"/>
                        </a:rPr>
                        <a:t>0,75</a:t>
                      </a:r>
                    </a:p>
                  </a:txBody>
                  <a:tcPr marL="64008" marR="64008" marT="27432" marB="27432" anchor="ctr">
                    <a:solidFill>
                      <a:srgbClr val="F2F3F5"/>
                    </a:solidFill>
                  </a:tcPr>
                </a:tc>
                <a:tc>
                  <a:txBody>
                    <a:bodyPr wrap="square"/>
                    <a:lstStyle/>
                    <a:p>
                      <a:pPr algn="ctr"/>
                      <a:r>
                        <a:rPr sz="1250" b="0" i="0">
                          <a:solidFill>
                            <a:srgbClr val="2B2B2B"/>
                          </a:solidFill>
                          <a:latin typeface="Arial"/>
                        </a:rPr>
                        <a:t>0,67</a:t>
                      </a:r>
                    </a:p>
                  </a:txBody>
                  <a:tcPr marL="64008" marR="64008" marT="27432" marB="27432" anchor="ctr">
                    <a:solidFill>
                      <a:srgbClr val="F2F3F5"/>
                    </a:solidFill>
                  </a:tcPr>
                </a:tc>
              </a:tr>
              <a:tr h="411480">
                <a:tc>
                  <a:txBody>
                    <a:bodyPr wrap="square"/>
                    <a:lstStyle/>
                    <a:p>
                      <a:pPr algn="l"/>
                      <a:r>
                        <a:rPr sz="1250" b="1" i="0">
                          <a:solidFill>
                            <a:srgbClr val="2B2B2B"/>
                          </a:solidFill>
                          <a:latin typeface="Arial"/>
                        </a:rPr>
                        <a:t>0,75</a:t>
                      </a:r>
                    </a:p>
                  </a:txBody>
                  <a:tcPr marL="64008" marR="64008" marT="27432" marB="27432" anchor="ctr">
                    <a:solidFill>
                      <a:srgbClr val="FFFFFF"/>
                    </a:solidFill>
                  </a:tcPr>
                </a:tc>
                <a:tc>
                  <a:txBody>
                    <a:bodyPr wrap="square"/>
                    <a:lstStyle/>
                    <a:p>
                      <a:pPr algn="ctr"/>
                      <a:r>
                        <a:rPr sz="1250" b="0" i="0">
                          <a:solidFill>
                            <a:srgbClr val="2B2B2B"/>
                          </a:solidFill>
                          <a:latin typeface="Arial"/>
                        </a:rPr>
                        <a:t>2</a:t>
                      </a:r>
                    </a:p>
                  </a:txBody>
                  <a:tcPr marL="64008" marR="64008" marT="27432" marB="27432" anchor="ctr">
                    <a:solidFill>
                      <a:srgbClr val="FFFFFF"/>
                    </a:solidFill>
                  </a:tcPr>
                </a:tc>
                <a:tc>
                  <a:txBody>
                    <a:bodyPr wrap="square"/>
                    <a:lstStyle/>
                    <a:p>
                      <a:pPr algn="ctr"/>
                      <a:r>
                        <a:rPr sz="1250" b="0" i="0">
                          <a:solidFill>
                            <a:srgbClr val="2B2B2B"/>
                          </a:solidFill>
                          <a:latin typeface="Arial"/>
                        </a:rPr>
                        <a:t>1</a:t>
                      </a:r>
                    </a:p>
                  </a:txBody>
                  <a:tcPr marL="64008" marR="64008" marT="27432" marB="27432" anchor="ctr">
                    <a:solidFill>
                      <a:srgbClr val="FFFFFF"/>
                    </a:solidFill>
                  </a:tcPr>
                </a:tc>
                <a:tc>
                  <a:txBody>
                    <a:bodyPr wrap="square"/>
                    <a:lstStyle/>
                    <a:p>
                      <a:pPr algn="ctr"/>
                      <a:r>
                        <a:rPr sz="1250" b="0" i="0">
                          <a:solidFill>
                            <a:srgbClr val="2B2B2B"/>
                          </a:solidFill>
                          <a:latin typeface="Arial"/>
                        </a:rPr>
                        <a:t>0,50</a:t>
                      </a:r>
                    </a:p>
                  </a:txBody>
                  <a:tcPr marL="64008" marR="64008" marT="27432" marB="27432" anchor="ctr">
                    <a:solidFill>
                      <a:srgbClr val="FFFFFF"/>
                    </a:solidFill>
                  </a:tcPr>
                </a:tc>
                <a:tc>
                  <a:txBody>
                    <a:bodyPr wrap="square"/>
                    <a:lstStyle/>
                    <a:p>
                      <a:pPr algn="ctr"/>
                      <a:r>
                        <a:rPr sz="1250" b="0" i="0">
                          <a:solidFill>
                            <a:srgbClr val="2B2B2B"/>
                          </a:solidFill>
                          <a:latin typeface="Arial"/>
                        </a:rPr>
                        <a:t>0,25</a:t>
                      </a:r>
                    </a:p>
                  </a:txBody>
                  <a:tcPr marL="64008" marR="64008" marT="27432" marB="27432" anchor="ctr">
                    <a:solidFill>
                      <a:srgbClr val="FFFFFF"/>
                    </a:solidFill>
                  </a:tcPr>
                </a:tc>
                <a:tc>
                  <a:txBody>
                    <a:bodyPr wrap="square"/>
                    <a:lstStyle/>
                    <a:p>
                      <a:pPr algn="ctr"/>
                      <a:r>
                        <a:rPr sz="1250" b="0" i="0">
                          <a:solidFill>
                            <a:srgbClr val="2B2B2B"/>
                          </a:solidFill>
                          <a:latin typeface="Arial"/>
                        </a:rPr>
                        <a:t>0,33</a:t>
                      </a:r>
                    </a:p>
                  </a:txBody>
                  <a:tcPr marL="64008" marR="64008" marT="27432" marB="27432" anchor="ctr">
                    <a:solidFill>
                      <a:srgbClr val="FFFFFF"/>
                    </a:solidFill>
                  </a:tcPr>
                </a:tc>
              </a:tr>
            </a:tbl>
          </a:graphicData>
        </a:graphic>
      </p:graphicFrame>
      <p:sp>
        <p:nvSpPr>
          <p:cNvPr id="5" name="Rounded Rectangle 4"/>
          <p:cNvSpPr/>
          <p:nvPr/>
        </p:nvSpPr>
        <p:spPr>
          <a:xfrm>
            <a:off x="731520" y="5349240"/>
            <a:ext cx="7772400" cy="68580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Regla: </a:t>
            </a:r>
            <a:r>
              <a:rPr sz="1200" b="0" i="0">
                <a:solidFill>
                  <a:srgbClr val="2B2B2B"/>
                </a:solidFill>
                <a:latin typeface="Arial"/>
              </a:rPr>
              <a:t>el umbral se decide en Validation y según el costo de cada error; nunca se cambia porque Test salió mal.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Test se abre una sola vez</a:t>
            </a:r>
          </a:p>
        </p:txBody>
      </p:sp>
      <p:graphicFrame>
        <p:nvGraphicFramePr>
          <p:cNvPr id="3" name="Table 2"/>
          <p:cNvGraphicFramePr>
            <a:graphicFrameLocks noGrp="1"/>
          </p:cNvGraphicFramePr>
          <p:nvPr/>
        </p:nvGraphicFramePr>
        <p:xfrm>
          <a:off x="731520" y="2011680"/>
          <a:ext cx="7772400" cy="2011680"/>
        </p:xfrm>
        <a:graphic>
          <a:graphicData uri="http://schemas.openxmlformats.org/drawingml/2006/table">
            <a:tbl>
              <a:tblPr firstRow="1" bandRow="1">
                <a:tableStyleId>{5C22544A-7EE6-4342-B048-85BDC9FD1C3A}</a:tableStyleId>
              </a:tblPr>
              <a:tblGrid>
                <a:gridCol w="1737360"/>
                <a:gridCol w="2560320"/>
                <a:gridCol w="1188720"/>
                <a:gridCol w="1097280"/>
                <a:gridCol w="1188720"/>
              </a:tblGrid>
              <a:tr h="502920">
                <a:tc>
                  <a:txBody>
                    <a:bodyPr wrap="square"/>
                    <a:lstStyle/>
                    <a:p>
                      <a:pPr algn="l"/>
                      <a:r>
                        <a:rPr sz="1250" b="1" i="0">
                          <a:solidFill>
                            <a:srgbClr val="FFFFFF"/>
                          </a:solidFill>
                          <a:latin typeface="Arial"/>
                        </a:rPr>
                        <a:t>Dataset</a:t>
                      </a:r>
                    </a:p>
                  </a:txBody>
                  <a:tcPr marL="64008" marR="64008" marT="27432" marB="27432" anchor="ctr">
                    <a:solidFill>
                      <a:srgbClr val="242852"/>
                    </a:solidFill>
                  </a:tcPr>
                </a:tc>
                <a:tc>
                  <a:txBody>
                    <a:bodyPr wrap="square"/>
                    <a:lstStyle/>
                    <a:p>
                      <a:pPr algn="ctr"/>
                      <a:r>
                        <a:rPr sz="1250" b="1" i="0">
                          <a:solidFill>
                            <a:srgbClr val="FFFFFF"/>
                          </a:solidFill>
                          <a:latin typeface="Arial"/>
                        </a:rPr>
                        <a:t>Modelo elegido</a:t>
                      </a:r>
                    </a:p>
                  </a:txBody>
                  <a:tcPr marL="64008" marR="64008" marT="27432" marB="27432" anchor="ctr">
                    <a:solidFill>
                      <a:srgbClr val="242852"/>
                    </a:solidFill>
                  </a:tcPr>
                </a:tc>
                <a:tc>
                  <a:txBody>
                    <a:bodyPr wrap="square"/>
                    <a:lstStyle/>
                    <a:p>
                      <a:pPr algn="ctr"/>
                      <a:r>
                        <a:rPr sz="1250" b="1" i="0">
                          <a:solidFill>
                            <a:srgbClr val="FFFFFF"/>
                          </a:solidFill>
                          <a:latin typeface="Arial"/>
                        </a:rPr>
                        <a:t>F1 Validation</a:t>
                      </a:r>
                    </a:p>
                  </a:txBody>
                  <a:tcPr marL="64008" marR="64008" marT="27432" marB="27432" anchor="ctr">
                    <a:solidFill>
                      <a:srgbClr val="242852"/>
                    </a:solidFill>
                  </a:tcPr>
                </a:tc>
                <a:tc>
                  <a:txBody>
                    <a:bodyPr wrap="square"/>
                    <a:lstStyle/>
                    <a:p>
                      <a:pPr algn="ctr"/>
                      <a:r>
                        <a:rPr sz="1250" b="1" i="0">
                          <a:solidFill>
                            <a:srgbClr val="FFFFFF"/>
                          </a:solidFill>
                          <a:latin typeface="Arial"/>
                        </a:rPr>
                        <a:t>F1 Test</a:t>
                      </a:r>
                    </a:p>
                  </a:txBody>
                  <a:tcPr marL="64008" marR="64008" marT="27432" marB="27432" anchor="ctr">
                    <a:solidFill>
                      <a:srgbClr val="242852"/>
                    </a:solidFill>
                  </a:tcPr>
                </a:tc>
                <a:tc>
                  <a:txBody>
                    <a:bodyPr wrap="square"/>
                    <a:lstStyle/>
                    <a:p>
                      <a:pPr algn="ctr"/>
                      <a:r>
                        <a:rPr sz="1250" b="1" i="0">
                          <a:solidFill>
                            <a:srgbClr val="FFFFFF"/>
                          </a:solidFill>
                          <a:latin typeface="Arial"/>
                        </a:rPr>
                        <a:t>Recall Test</a:t>
                      </a:r>
                    </a:p>
                  </a:txBody>
                  <a:tcPr marL="64008" marR="64008" marT="27432" marB="27432" anchor="ctr">
                    <a:solidFill>
                      <a:srgbClr val="242852"/>
                    </a:solidFill>
                  </a:tcPr>
                </a:tc>
              </a:tr>
              <a:tr h="502920">
                <a:tc>
                  <a:txBody>
                    <a:bodyPr wrap="square"/>
                    <a:lstStyle/>
                    <a:p>
                      <a:pPr algn="l"/>
                      <a:r>
                        <a:rPr sz="1250" b="1" i="0">
                          <a:solidFill>
                            <a:srgbClr val="2B2B2B"/>
                          </a:solidFill>
                          <a:latin typeface="Arial"/>
                        </a:rPr>
                        <a:t>PaySim (muestra)</a:t>
                      </a:r>
                    </a:p>
                  </a:txBody>
                  <a:tcPr marL="64008" marR="64008" marT="27432" marB="27432" anchor="ctr">
                    <a:solidFill>
                      <a:srgbClr val="FFFFFF"/>
                    </a:solidFill>
                  </a:tcPr>
                </a:tc>
                <a:tc>
                  <a:txBody>
                    <a:bodyPr wrap="square"/>
                    <a:lstStyle/>
                    <a:p>
                      <a:pPr algn="ctr"/>
                      <a:r>
                        <a:rPr sz="1250" b="0" i="0">
                          <a:solidFill>
                            <a:srgbClr val="2B2B2B"/>
                          </a:solidFill>
                          <a:latin typeface="Arial"/>
                        </a:rPr>
                        <a:t>Árbol (prof. 5, hoja ≥ 30)</a:t>
                      </a:r>
                    </a:p>
                  </a:txBody>
                  <a:tcPr marL="64008" marR="64008" marT="27432" marB="27432" anchor="ctr">
                    <a:solidFill>
                      <a:srgbClr val="FFFFFF"/>
                    </a:solidFill>
                  </a:tcPr>
                </a:tc>
                <a:tc>
                  <a:txBody>
                    <a:bodyPr wrap="square"/>
                    <a:lstStyle/>
                    <a:p>
                      <a:pPr algn="ctr"/>
                      <a:r>
                        <a:rPr sz="1250" b="0" i="0">
                          <a:solidFill>
                            <a:srgbClr val="2B2B2B"/>
                          </a:solidFill>
                          <a:latin typeface="Arial"/>
                        </a:rPr>
                        <a:t>0,633</a:t>
                      </a:r>
                    </a:p>
                  </a:txBody>
                  <a:tcPr marL="64008" marR="64008" marT="27432" marB="27432" anchor="ctr">
                    <a:solidFill>
                      <a:srgbClr val="FFFFFF"/>
                    </a:solidFill>
                  </a:tcPr>
                </a:tc>
                <a:tc>
                  <a:txBody>
                    <a:bodyPr wrap="square"/>
                    <a:lstStyle/>
                    <a:p>
                      <a:pPr algn="ctr"/>
                      <a:r>
                        <a:rPr sz="1250" b="0" i="0">
                          <a:solidFill>
                            <a:srgbClr val="2B2B2B"/>
                          </a:solidFill>
                          <a:latin typeface="Arial"/>
                        </a:rPr>
                        <a:t>0,647</a:t>
                      </a:r>
                    </a:p>
                  </a:txBody>
                  <a:tcPr marL="64008" marR="64008" marT="27432" marB="27432" anchor="ctr">
                    <a:solidFill>
                      <a:srgbClr val="FFFFFF"/>
                    </a:solidFill>
                  </a:tcPr>
                </a:tc>
                <a:tc>
                  <a:txBody>
                    <a:bodyPr wrap="square"/>
                    <a:lstStyle/>
                    <a:p>
                      <a:pPr algn="ctr"/>
                      <a:r>
                        <a:rPr sz="1250" b="0" i="0">
                          <a:solidFill>
                            <a:srgbClr val="2B2B2B"/>
                          </a:solidFill>
                          <a:latin typeface="Arial"/>
                        </a:rPr>
                        <a:t>0,534</a:t>
                      </a:r>
                    </a:p>
                  </a:txBody>
                  <a:tcPr marL="64008" marR="64008" marT="27432" marB="27432" anchor="ctr">
                    <a:solidFill>
                      <a:srgbClr val="FFFFFF"/>
                    </a:solidFill>
                  </a:tcPr>
                </a:tc>
              </a:tr>
              <a:tr h="502920">
                <a:tc>
                  <a:txBody>
                    <a:bodyPr wrap="square"/>
                    <a:lstStyle/>
                    <a:p>
                      <a:pPr algn="l"/>
                      <a:r>
                        <a:rPr sz="1250" b="1" i="0">
                          <a:solidFill>
                            <a:srgbClr val="2B2B2B"/>
                          </a:solidFill>
                          <a:latin typeface="Arial"/>
                        </a:rPr>
                        <a:t>BankChurners</a:t>
                      </a:r>
                    </a:p>
                  </a:txBody>
                  <a:tcPr marL="64008" marR="64008" marT="27432" marB="27432" anchor="ctr">
                    <a:solidFill>
                      <a:srgbClr val="F2F3F5"/>
                    </a:solidFill>
                  </a:tcPr>
                </a:tc>
                <a:tc>
                  <a:txBody>
                    <a:bodyPr wrap="square"/>
                    <a:lstStyle/>
                    <a:p>
                      <a:pPr algn="ctr"/>
                      <a:r>
                        <a:rPr sz="1250" b="0" i="0">
                          <a:solidFill>
                            <a:srgbClr val="2B2B2B"/>
                          </a:solidFill>
                          <a:latin typeface="Arial"/>
                        </a:rPr>
                        <a:t>KNN k = 15, Manhattan</a:t>
                      </a:r>
                    </a:p>
                  </a:txBody>
                  <a:tcPr marL="64008" marR="64008" marT="27432" marB="27432" anchor="ctr">
                    <a:solidFill>
                      <a:srgbClr val="F2F3F5"/>
                    </a:solidFill>
                  </a:tcPr>
                </a:tc>
                <a:tc>
                  <a:txBody>
                    <a:bodyPr wrap="square"/>
                    <a:lstStyle/>
                    <a:p>
                      <a:pPr algn="ctr"/>
                      <a:r>
                        <a:rPr sz="1250" b="0" i="0">
                          <a:solidFill>
                            <a:srgbClr val="2B2B2B"/>
                          </a:solidFill>
                          <a:latin typeface="Arial"/>
                        </a:rPr>
                        <a:t>0,719</a:t>
                      </a:r>
                    </a:p>
                  </a:txBody>
                  <a:tcPr marL="64008" marR="64008" marT="27432" marB="27432" anchor="ctr">
                    <a:solidFill>
                      <a:srgbClr val="F2F3F5"/>
                    </a:solidFill>
                  </a:tcPr>
                </a:tc>
                <a:tc>
                  <a:txBody>
                    <a:bodyPr wrap="square"/>
                    <a:lstStyle/>
                    <a:p>
                      <a:pPr algn="ctr"/>
                      <a:r>
                        <a:rPr sz="1250" b="0" i="0">
                          <a:solidFill>
                            <a:srgbClr val="2B2B2B"/>
                          </a:solidFill>
                          <a:latin typeface="Arial"/>
                        </a:rPr>
                        <a:t>0,739</a:t>
                      </a:r>
                    </a:p>
                  </a:txBody>
                  <a:tcPr marL="64008" marR="64008" marT="27432" marB="27432" anchor="ctr">
                    <a:solidFill>
                      <a:srgbClr val="F2F3F5"/>
                    </a:solidFill>
                  </a:tcPr>
                </a:tc>
                <a:tc>
                  <a:txBody>
                    <a:bodyPr wrap="square"/>
                    <a:lstStyle/>
                    <a:p>
                      <a:pPr algn="ctr"/>
                      <a:r>
                        <a:rPr sz="1250" b="0" i="0">
                          <a:solidFill>
                            <a:srgbClr val="2B2B2B"/>
                          </a:solidFill>
                          <a:latin typeface="Arial"/>
                        </a:rPr>
                        <a:t>0,639</a:t>
                      </a:r>
                    </a:p>
                  </a:txBody>
                  <a:tcPr marL="64008" marR="64008" marT="27432" marB="27432" anchor="ctr">
                    <a:solidFill>
                      <a:srgbClr val="F2F3F5"/>
                    </a:solidFill>
                  </a:tcPr>
                </a:tc>
              </a:tr>
              <a:tr h="502920">
                <a:tc>
                  <a:txBody>
                    <a:bodyPr wrap="square"/>
                    <a:lstStyle/>
                    <a:p>
                      <a:pPr algn="l"/>
                      <a:r>
                        <a:rPr sz="1250" b="1" i="0">
                          <a:solidFill>
                            <a:srgbClr val="2B2B2B"/>
                          </a:solidFill>
                          <a:latin typeface="Arial"/>
                        </a:rPr>
                        <a:t>Credit Risk</a:t>
                      </a:r>
                    </a:p>
                  </a:txBody>
                  <a:tcPr marL="64008" marR="64008" marT="27432" marB="27432" anchor="ctr">
                    <a:solidFill>
                      <a:srgbClr val="FFFFFF"/>
                    </a:solidFill>
                  </a:tcPr>
                </a:tc>
                <a:tc>
                  <a:txBody>
                    <a:bodyPr wrap="square"/>
                    <a:lstStyle/>
                    <a:p>
                      <a:pPr algn="ctr"/>
                      <a:r>
                        <a:rPr sz="1250" b="0" i="0">
                          <a:solidFill>
                            <a:srgbClr val="2B2B2B"/>
                          </a:solidFill>
                          <a:latin typeface="Arial"/>
                        </a:rPr>
                        <a:t>SVM RBF, C = 1, sin pesos</a:t>
                      </a:r>
                    </a:p>
                  </a:txBody>
                  <a:tcPr marL="64008" marR="64008" marT="27432" marB="27432" anchor="ctr">
                    <a:solidFill>
                      <a:srgbClr val="FFFFFF"/>
                    </a:solidFill>
                  </a:tcPr>
                </a:tc>
                <a:tc>
                  <a:txBody>
                    <a:bodyPr wrap="square"/>
                    <a:lstStyle/>
                    <a:p>
                      <a:pPr algn="ctr"/>
                      <a:r>
                        <a:rPr sz="1250" b="0" i="0">
                          <a:solidFill>
                            <a:srgbClr val="2B2B2B"/>
                          </a:solidFill>
                          <a:latin typeface="Arial"/>
                        </a:rPr>
                        <a:t>0,743</a:t>
                      </a:r>
                    </a:p>
                  </a:txBody>
                  <a:tcPr marL="64008" marR="64008" marT="27432" marB="27432" anchor="ctr">
                    <a:solidFill>
                      <a:srgbClr val="FFFFFF"/>
                    </a:solidFill>
                  </a:tcPr>
                </a:tc>
                <a:tc>
                  <a:txBody>
                    <a:bodyPr wrap="square"/>
                    <a:lstStyle/>
                    <a:p>
                      <a:pPr algn="ctr"/>
                      <a:r>
                        <a:rPr sz="1250" b="0" i="0">
                          <a:solidFill>
                            <a:srgbClr val="2B2B2B"/>
                          </a:solidFill>
                          <a:latin typeface="Arial"/>
                        </a:rPr>
                        <a:t>0,739</a:t>
                      </a:r>
                    </a:p>
                  </a:txBody>
                  <a:tcPr marL="64008" marR="64008" marT="27432" marB="27432" anchor="ctr">
                    <a:solidFill>
                      <a:srgbClr val="FFFFFF"/>
                    </a:solidFill>
                  </a:tcPr>
                </a:tc>
                <a:tc>
                  <a:txBody>
                    <a:bodyPr wrap="square"/>
                    <a:lstStyle/>
                    <a:p>
                      <a:pPr algn="ctr"/>
                      <a:r>
                        <a:rPr sz="1250" b="0" i="0">
                          <a:solidFill>
                            <a:srgbClr val="2B2B2B"/>
                          </a:solidFill>
                          <a:latin typeface="Arial"/>
                        </a:rPr>
                        <a:t>0,623</a:t>
                      </a:r>
                    </a:p>
                  </a:txBody>
                  <a:tcPr marL="64008" marR="64008" marT="27432" marB="27432" anchor="ctr">
                    <a:solidFill>
                      <a:srgbClr val="FFFFFF"/>
                    </a:solidFill>
                  </a:tcPr>
                </a:tc>
              </a:tr>
            </a:tbl>
          </a:graphicData>
        </a:graphic>
      </p:graphicFrame>
      <p:sp>
        <p:nvSpPr>
          <p:cNvPr id="4" name="Rounded Rectangle 3"/>
          <p:cNvSpPr/>
          <p:nvPr/>
        </p:nvSpPr>
        <p:spPr>
          <a:xfrm>
            <a:off x="731520" y="4206240"/>
            <a:ext cx="3794760" cy="14173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TextBox 4"/>
          <p:cNvSpPr txBox="1"/>
          <p:nvPr/>
        </p:nvSpPr>
        <p:spPr>
          <a:xfrm>
            <a:off x="868680" y="43159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D7263D"/>
                </a:solidFill>
                <a:latin typeface="Arial"/>
              </a:rPr>
              <a:t>Si Test empeora</a:t>
            </a:r>
          </a:p>
        </p:txBody>
      </p:sp>
      <p:sp>
        <p:nvSpPr>
          <p:cNvPr id="6" name="TextBox 5"/>
          <p:cNvSpPr txBox="1"/>
          <p:nvPr/>
        </p:nvSpPr>
        <p:spPr>
          <a:xfrm>
            <a:off x="868680" y="4864607"/>
            <a:ext cx="3520440" cy="68580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No se vuelve a elegir: Test se convertiría en otra Validation.</a:t>
            </a:r>
          </a:p>
        </p:txBody>
      </p:sp>
      <p:sp>
        <p:nvSpPr>
          <p:cNvPr id="7" name="Rounded Rectangle 6"/>
          <p:cNvSpPr/>
          <p:nvPr/>
        </p:nvSpPr>
        <p:spPr>
          <a:xfrm>
            <a:off x="4709160" y="4206240"/>
            <a:ext cx="3794760" cy="14173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4846320" y="4315968"/>
            <a:ext cx="3566160" cy="502920"/>
          </a:xfrm>
          <a:prstGeom prst="rect">
            <a:avLst/>
          </a:prstGeom>
          <a:noFill/>
        </p:spPr>
        <p:txBody>
          <a:bodyPr wrap="square" anchor="ctr" lIns="36576" rIns="36576" tIns="36576" bIns="36576">
            <a:spAutoFit/>
          </a:bodyPr>
          <a:lstStyle/>
          <a:p>
            <a:pPr algn="l">
              <a:spcAft>
                <a:spcPts val="400"/>
              </a:spcAft>
            </a:pPr>
            <a:r>
              <a:rPr sz="1300" b="1" i="0">
                <a:solidFill>
                  <a:srgbClr val="2A9D8F"/>
                </a:solidFill>
                <a:latin typeface="Arial"/>
              </a:rPr>
              <a:t>Si Test se parece</a:t>
            </a:r>
          </a:p>
        </p:txBody>
      </p:sp>
      <p:sp>
        <p:nvSpPr>
          <p:cNvPr id="9" name="TextBox 8"/>
          <p:cNvSpPr txBox="1"/>
          <p:nvPr/>
        </p:nvSpPr>
        <p:spPr>
          <a:xfrm>
            <a:off x="4846320" y="4864607"/>
            <a:ext cx="3520440" cy="685800"/>
          </a:xfrm>
          <a:prstGeom prst="rect">
            <a:avLst/>
          </a:prstGeom>
          <a:noFill/>
        </p:spPr>
        <p:txBody>
          <a:bodyPr wrap="square" anchor="t" lIns="36576" rIns="36576" tIns="36576" bIns="36576">
            <a:spAutoFit/>
          </a:bodyPr>
          <a:lstStyle/>
          <a:p>
            <a:pPr algn="l">
              <a:spcAft>
                <a:spcPts val="400"/>
              </a:spcAft>
            </a:pPr>
            <a:r>
              <a:rPr sz="1200" b="0" i="0">
                <a:solidFill>
                  <a:srgbClr val="2B2B2B"/>
                </a:solidFill>
                <a:latin typeface="Arial"/>
              </a:rPr>
              <a:t>La estimación es razonable para estos datos, no para otra población.</a:t>
            </a:r>
          </a:p>
        </p:txBody>
      </p:sp>
      <p:sp>
        <p:nvSpPr>
          <p:cNvPr id="10" name="Rounded Rectangle 9"/>
          <p:cNvSpPr/>
          <p:nvPr/>
        </p:nvSpPr>
        <p:spPr>
          <a:xfrm>
            <a:off x="731520" y="5806440"/>
            <a:ext cx="7772400" cy="50292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Recordatorio: </a:t>
            </a:r>
            <a:r>
              <a:rPr sz="1200" b="0" i="0">
                <a:solidFill>
                  <a:srgbClr val="2B2B2B"/>
                </a:solidFill>
                <a:latin typeface="Arial"/>
              </a:rPr>
              <a:t>la división es aleatoria; no simula un periodo futuro ni clientes del Ecuador.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¿Para qué es mejor cada modelo?</a:t>
            </a:r>
          </a:p>
        </p:txBody>
      </p:sp>
      <p:graphicFrame>
        <p:nvGraphicFramePr>
          <p:cNvPr id="3" name="Table 2"/>
          <p:cNvGraphicFramePr>
            <a:graphicFrameLocks noGrp="1"/>
          </p:cNvGraphicFramePr>
          <p:nvPr/>
        </p:nvGraphicFramePr>
        <p:xfrm>
          <a:off x="731520" y="1965960"/>
          <a:ext cx="7772400" cy="3566160"/>
        </p:xfrm>
        <a:graphic>
          <a:graphicData uri="http://schemas.openxmlformats.org/drawingml/2006/table">
            <a:tbl>
              <a:tblPr firstRow="1" bandRow="1">
                <a:tableStyleId>{5C22544A-7EE6-4342-B048-85BDC9FD1C3A}</a:tableStyleId>
              </a:tblPr>
              <a:tblGrid>
                <a:gridCol w="1234440"/>
                <a:gridCol w="2331720"/>
                <a:gridCol w="2011680"/>
                <a:gridCol w="2194560"/>
              </a:tblGrid>
              <a:tr h="713232">
                <a:tc>
                  <a:txBody>
                    <a:bodyPr wrap="square"/>
                    <a:lstStyle/>
                    <a:p>
                      <a:pPr algn="l"/>
                      <a:r>
                        <a:rPr sz="1050" b="1" i="0">
                          <a:solidFill>
                            <a:srgbClr val="FFFFFF"/>
                          </a:solidFill>
                          <a:latin typeface="Arial"/>
                        </a:rPr>
                        <a:t>Modelo</a:t>
                      </a:r>
                    </a:p>
                  </a:txBody>
                  <a:tcPr marL="64008" marR="64008" marT="27432" marB="27432" anchor="ctr">
                    <a:solidFill>
                      <a:srgbClr val="242852"/>
                    </a:solidFill>
                  </a:tcPr>
                </a:tc>
                <a:tc>
                  <a:txBody>
                    <a:bodyPr wrap="square"/>
                    <a:lstStyle/>
                    <a:p>
                      <a:pPr algn="l"/>
                      <a:r>
                        <a:rPr sz="1050" b="1" i="0">
                          <a:solidFill>
                            <a:srgbClr val="FFFFFF"/>
                          </a:solidFill>
                          <a:latin typeface="Arial"/>
                        </a:rPr>
                        <a:t>Fortalezas</a:t>
                      </a:r>
                    </a:p>
                  </a:txBody>
                  <a:tcPr marL="64008" marR="64008" marT="27432" marB="27432" anchor="ctr">
                    <a:solidFill>
                      <a:srgbClr val="242852"/>
                    </a:solidFill>
                  </a:tcPr>
                </a:tc>
                <a:tc>
                  <a:txBody>
                    <a:bodyPr wrap="square"/>
                    <a:lstStyle/>
                    <a:p>
                      <a:pPr algn="l"/>
                      <a:r>
                        <a:rPr sz="1050" b="1" i="0">
                          <a:solidFill>
                            <a:srgbClr val="FFFFFF"/>
                          </a:solidFill>
                          <a:latin typeface="Arial"/>
                        </a:rPr>
                        <a:t>Debilidades</a:t>
                      </a:r>
                    </a:p>
                  </a:txBody>
                  <a:tcPr marL="64008" marR="64008" marT="27432" marB="27432" anchor="ctr">
                    <a:solidFill>
                      <a:srgbClr val="242852"/>
                    </a:solidFill>
                  </a:tcPr>
                </a:tc>
                <a:tc>
                  <a:txBody>
                    <a:bodyPr wrap="square"/>
                    <a:lstStyle/>
                    <a:p>
                      <a:pPr algn="l"/>
                      <a:r>
                        <a:rPr sz="1050" b="1" i="0">
                          <a:solidFill>
                            <a:srgbClr val="FFFFFF"/>
                          </a:solidFill>
                          <a:latin typeface="Arial"/>
                        </a:rPr>
                        <a:t>Ejemplos en banca y economía</a:t>
                      </a:r>
                    </a:p>
                  </a:txBody>
                  <a:tcPr marL="64008" marR="64008" marT="27432" marB="27432" anchor="ctr">
                    <a:solidFill>
                      <a:srgbClr val="242852"/>
                    </a:solidFill>
                  </a:tcPr>
                </a:tc>
              </a:tr>
              <a:tr h="713232">
                <a:tc>
                  <a:txBody>
                    <a:bodyPr wrap="square"/>
                    <a:lstStyle/>
                    <a:p>
                      <a:pPr algn="l"/>
                      <a:r>
                        <a:rPr sz="1050" b="1" i="0">
                          <a:solidFill>
                            <a:srgbClr val="242852"/>
                          </a:solidFill>
                          <a:latin typeface="Arial"/>
                        </a:rPr>
                        <a:t>Árbol</a:t>
                      </a:r>
                    </a:p>
                  </a:txBody>
                  <a:tcPr marL="64008" marR="64008" marT="27432" marB="27432" anchor="ctr">
                    <a:solidFill>
                      <a:srgbClr val="FFFFFF"/>
                    </a:solidFill>
                  </a:tcPr>
                </a:tc>
                <a:tc>
                  <a:txBody>
                    <a:bodyPr wrap="square"/>
                    <a:lstStyle/>
                    <a:p>
                      <a:pPr algn="l"/>
                      <a:r>
                        <a:rPr sz="1050" b="0" i="0">
                          <a:solidFill>
                            <a:srgbClr val="2B2B2B"/>
                          </a:solidFill>
                          <a:latin typeface="Arial"/>
                        </a:rPr>
                        <a:t>Se explica con reglas; no escala; mezcla números y categorías</a:t>
                      </a:r>
                    </a:p>
                  </a:txBody>
                  <a:tcPr marL="64008" marR="64008" marT="27432" marB="27432" anchor="ctr">
                    <a:solidFill>
                      <a:srgbClr val="FFFFFF"/>
                    </a:solidFill>
                  </a:tcPr>
                </a:tc>
                <a:tc>
                  <a:txBody>
                    <a:bodyPr wrap="square"/>
                    <a:lstStyle/>
                    <a:p>
                      <a:pPr algn="l"/>
                      <a:r>
                        <a:rPr sz="1050" b="0" i="0">
                          <a:solidFill>
                            <a:srgbClr val="2B2B2B"/>
                          </a:solidFill>
                          <a:latin typeface="Arial"/>
                        </a:rPr>
                        <a:t>Inestable; memoriza si no se limita</a:t>
                      </a:r>
                    </a:p>
                  </a:txBody>
                  <a:tcPr marL="64008" marR="64008" marT="27432" marB="27432" anchor="ctr">
                    <a:solidFill>
                      <a:srgbClr val="FFFFFF"/>
                    </a:solidFill>
                  </a:tcPr>
                </a:tc>
                <a:tc>
                  <a:txBody>
                    <a:bodyPr wrap="square"/>
                    <a:lstStyle/>
                    <a:p>
                      <a:pPr algn="l"/>
                      <a:r>
                        <a:rPr sz="1050" b="0" i="0">
                          <a:solidFill>
                            <a:srgbClr val="2B2B2B"/>
                          </a:solidFill>
                          <a:latin typeface="Arial"/>
                        </a:rPr>
                        <a:t>Reglas de aprobación de crédito, primeras alertas de fraude</a:t>
                      </a:r>
                    </a:p>
                  </a:txBody>
                  <a:tcPr marL="64008" marR="64008" marT="27432" marB="27432" anchor="ctr">
                    <a:solidFill>
                      <a:srgbClr val="FFFFFF"/>
                    </a:solidFill>
                  </a:tcPr>
                </a:tc>
              </a:tr>
              <a:tr h="713232">
                <a:tc>
                  <a:txBody>
                    <a:bodyPr wrap="square"/>
                    <a:lstStyle/>
                    <a:p>
                      <a:pPr algn="l"/>
                      <a:r>
                        <a:rPr sz="1050" b="1" i="0">
                          <a:solidFill>
                            <a:srgbClr val="3D5A99"/>
                          </a:solidFill>
                          <a:latin typeface="Arial"/>
                        </a:rPr>
                        <a:t>Random Forest</a:t>
                      </a:r>
                    </a:p>
                  </a:txBody>
                  <a:tcPr marL="64008" marR="64008" marT="27432" marB="27432" anchor="ctr">
                    <a:solidFill>
                      <a:srgbClr val="F2F3F5"/>
                    </a:solidFill>
                  </a:tcPr>
                </a:tc>
                <a:tc>
                  <a:txBody>
                    <a:bodyPr wrap="square"/>
                    <a:lstStyle/>
                    <a:p>
                      <a:pPr algn="l"/>
                      <a:r>
                        <a:rPr sz="1050" b="0" i="0">
                          <a:solidFill>
                            <a:srgbClr val="2B2B2B"/>
                          </a:solidFill>
                          <a:latin typeface="Arial"/>
                        </a:rPr>
                        <a:t>Estable y preciso; mide importancia de variables</a:t>
                      </a:r>
                    </a:p>
                  </a:txBody>
                  <a:tcPr marL="64008" marR="64008" marT="27432" marB="27432" anchor="ctr">
                    <a:solidFill>
                      <a:srgbClr val="F2F3F5"/>
                    </a:solidFill>
                  </a:tcPr>
                </a:tc>
                <a:tc>
                  <a:txBody>
                    <a:bodyPr wrap="square"/>
                    <a:lstStyle/>
                    <a:p>
                      <a:pPr algn="l"/>
                      <a:r>
                        <a:rPr sz="1050" b="0" i="0">
                          <a:solidFill>
                            <a:srgbClr val="2B2B2B"/>
                          </a:solidFill>
                          <a:latin typeface="Arial"/>
                        </a:rPr>
                        <a:t>Menos explicable; más lento</a:t>
                      </a:r>
                    </a:p>
                  </a:txBody>
                  <a:tcPr marL="64008" marR="64008" marT="27432" marB="27432" anchor="ctr">
                    <a:solidFill>
                      <a:srgbClr val="F2F3F5"/>
                    </a:solidFill>
                  </a:tcPr>
                </a:tc>
                <a:tc>
                  <a:txBody>
                    <a:bodyPr wrap="square"/>
                    <a:lstStyle/>
                    <a:p>
                      <a:pPr algn="l"/>
                      <a:r>
                        <a:rPr sz="1050" b="0" i="0">
                          <a:solidFill>
                            <a:srgbClr val="2B2B2B"/>
                          </a:solidFill>
                          <a:latin typeface="Arial"/>
                        </a:rPr>
                        <a:t>Scoring de riesgo, abandono, fraude con muchas variables</a:t>
                      </a:r>
                    </a:p>
                  </a:txBody>
                  <a:tcPr marL="64008" marR="64008" marT="27432" marB="27432" anchor="ctr">
                    <a:solidFill>
                      <a:srgbClr val="F2F3F5"/>
                    </a:solidFill>
                  </a:tcPr>
                </a:tc>
              </a:tr>
              <a:tr h="713232">
                <a:tc>
                  <a:txBody>
                    <a:bodyPr wrap="square"/>
                    <a:lstStyle/>
                    <a:p>
                      <a:pPr algn="l"/>
                      <a:r>
                        <a:rPr sz="1050" b="1" i="0">
                          <a:solidFill>
                            <a:srgbClr val="D7263D"/>
                          </a:solidFill>
                          <a:latin typeface="Arial"/>
                        </a:rPr>
                        <a:t>KNN</a:t>
                      </a:r>
                    </a:p>
                  </a:txBody>
                  <a:tcPr marL="64008" marR="64008" marT="27432" marB="27432" anchor="ctr">
                    <a:solidFill>
                      <a:srgbClr val="FFFFFF"/>
                    </a:solidFill>
                  </a:tcPr>
                </a:tc>
                <a:tc>
                  <a:txBody>
                    <a:bodyPr wrap="square"/>
                    <a:lstStyle/>
                    <a:p>
                      <a:pPr algn="l"/>
                      <a:r>
                        <a:rPr sz="1050" b="0" i="0">
                          <a:solidFill>
                            <a:srgbClr val="2B2B2B"/>
                          </a:solidFill>
                          <a:latin typeface="Arial"/>
                        </a:rPr>
                        <a:t>Intuitivo: casos parecidos; no supone forma de la relación</a:t>
                      </a:r>
                    </a:p>
                  </a:txBody>
                  <a:tcPr marL="64008" marR="64008" marT="27432" marB="27432" anchor="ctr">
                    <a:solidFill>
                      <a:srgbClr val="FFFFFF"/>
                    </a:solidFill>
                  </a:tcPr>
                </a:tc>
                <a:tc>
                  <a:txBody>
                    <a:bodyPr wrap="square"/>
                    <a:lstStyle/>
                    <a:p>
                      <a:pPr algn="l"/>
                      <a:r>
                        <a:rPr sz="1050" b="0" i="0">
                          <a:solidFill>
                            <a:srgbClr val="2B2B2B"/>
                          </a:solidFill>
                          <a:latin typeface="Arial"/>
                        </a:rPr>
                        <a:t>Obliga a escalar; lento al predecir; sufre con muchas columnas</a:t>
                      </a:r>
                    </a:p>
                  </a:txBody>
                  <a:tcPr marL="64008" marR="64008" marT="27432" marB="27432" anchor="ctr">
                    <a:solidFill>
                      <a:srgbClr val="FFFFFF"/>
                    </a:solidFill>
                  </a:tcPr>
                </a:tc>
                <a:tc>
                  <a:txBody>
                    <a:bodyPr wrap="square"/>
                    <a:lstStyle/>
                    <a:p>
                      <a:pPr algn="l"/>
                      <a:r>
                        <a:rPr sz="1050" b="0" i="0">
                          <a:solidFill>
                            <a:srgbClr val="2B2B2B"/>
                          </a:solidFill>
                          <a:latin typeface="Arial"/>
                        </a:rPr>
                        <a:t>Clientes similares para ofertas, comparar países o empresas parecidas</a:t>
                      </a:r>
                    </a:p>
                  </a:txBody>
                  <a:tcPr marL="64008" marR="64008" marT="27432" marB="27432" anchor="ctr">
                    <a:solidFill>
                      <a:srgbClr val="FFFFFF"/>
                    </a:solidFill>
                  </a:tcPr>
                </a:tc>
              </a:tr>
              <a:tr h="713232">
                <a:tc>
                  <a:txBody>
                    <a:bodyPr wrap="square"/>
                    <a:lstStyle/>
                    <a:p>
                      <a:pPr algn="l"/>
                      <a:r>
                        <a:rPr sz="1050" b="1" i="0">
                          <a:solidFill>
                            <a:srgbClr val="2A9D8F"/>
                          </a:solidFill>
                          <a:latin typeface="Arial"/>
                        </a:rPr>
                        <a:t>SVM</a:t>
                      </a:r>
                    </a:p>
                  </a:txBody>
                  <a:tcPr marL="64008" marR="64008" marT="27432" marB="27432" anchor="ctr">
                    <a:solidFill>
                      <a:srgbClr val="F2F3F5"/>
                    </a:solidFill>
                  </a:tcPr>
                </a:tc>
                <a:tc>
                  <a:txBody>
                    <a:bodyPr wrap="square"/>
                    <a:lstStyle/>
                    <a:p>
                      <a:pPr algn="l"/>
                      <a:r>
                        <a:rPr sz="1050" b="0" i="0">
                          <a:solidFill>
                            <a:srgbClr val="2B2B2B"/>
                          </a:solidFill>
                          <a:latin typeface="Arial"/>
                        </a:rPr>
                        <a:t>Muchas columnas; clases separadas; frontera curva</a:t>
                      </a:r>
                    </a:p>
                  </a:txBody>
                  <a:tcPr marL="64008" marR="64008" marT="27432" marB="27432" anchor="ctr">
                    <a:solidFill>
                      <a:srgbClr val="F2F3F5"/>
                    </a:solidFill>
                  </a:tcPr>
                </a:tc>
                <a:tc>
                  <a:txBody>
                    <a:bodyPr wrap="square"/>
                    <a:lstStyle/>
                    <a:p>
                      <a:pPr algn="l"/>
                      <a:r>
                        <a:rPr sz="1050" b="0" i="0">
                          <a:solidFill>
                            <a:srgbClr val="2B2B2B"/>
                          </a:solidFill>
                          <a:latin typeface="Arial"/>
                        </a:rPr>
                        <a:t>Obliga a escalar; lento con muchas filas; difícil de explicar</a:t>
                      </a:r>
                    </a:p>
                  </a:txBody>
                  <a:tcPr marL="64008" marR="64008" marT="27432" marB="27432" anchor="ctr">
                    <a:solidFill>
                      <a:srgbClr val="F2F3F5"/>
                    </a:solidFill>
                  </a:tcPr>
                </a:tc>
                <a:tc>
                  <a:txBody>
                    <a:bodyPr wrap="square"/>
                    <a:lstStyle/>
                    <a:p>
                      <a:pPr algn="l"/>
                      <a:r>
                        <a:rPr sz="1050" b="0" i="0">
                          <a:solidFill>
                            <a:srgbClr val="2B2B2B"/>
                          </a:solidFill>
                          <a:latin typeface="Arial"/>
                        </a:rPr>
                        <a:t>Clasificar reclamos o documentos por texto, scoring con datasets medianos</a:t>
                      </a:r>
                    </a:p>
                  </a:txBody>
                  <a:tcPr marL="64008" marR="64008" marT="27432" marB="27432" anchor="ctr">
                    <a:solidFill>
                      <a:srgbClr val="F2F3F5"/>
                    </a:solidFill>
                  </a:tcPr>
                </a:tc>
              </a:tr>
            </a:tbl>
          </a:graphicData>
        </a:graphic>
      </p:graphicFrame>
      <p:sp>
        <p:nvSpPr>
          <p:cNvPr id="4" name="Rounded Rectangle 3"/>
          <p:cNvSpPr/>
          <p:nvPr/>
        </p:nvSpPr>
        <p:spPr>
          <a:xfrm>
            <a:off x="731520" y="5715000"/>
            <a:ext cx="7772400" cy="548640"/>
          </a:xfrm>
          <a:prstGeom prst="roundRect">
            <a:avLst>
              <a:gd name="adj" fmla="val 8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200" b="1" i="0">
                <a:solidFill>
                  <a:srgbClr val="242852"/>
                </a:solidFill>
                <a:latin typeface="Arial"/>
              </a:rPr>
              <a:t>Ningún modelo gana siempre: </a:t>
            </a:r>
            <a:r>
              <a:rPr sz="1200" b="0" i="0">
                <a:solidFill>
                  <a:srgbClr val="2B2B2B"/>
                </a:solidFill>
                <a:latin typeface="Arial"/>
              </a:rPr>
              <a:t>depende de cuántos datos hay, de cómo se separan las clases y de si hay que explicar la decisión.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Cómo elegir un modelo: una guía rápida</a:t>
            </a:r>
          </a:p>
        </p:txBody>
      </p:sp>
      <p:sp>
        <p:nvSpPr>
          <p:cNvPr id="3" name="Rounded Rectangle 2"/>
          <p:cNvSpPr/>
          <p:nvPr/>
        </p:nvSpPr>
        <p:spPr>
          <a:xfrm>
            <a:off x="731520" y="1965960"/>
            <a:ext cx="4937760" cy="7315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42852"/>
                </a:solidFill>
                <a:latin typeface="Arial"/>
              </a:rPr>
              <a:t>¿Hay que explicar la decisión?</a:t>
            </a:r>
          </a:p>
        </p:txBody>
      </p:sp>
      <p:sp>
        <p:nvSpPr>
          <p:cNvPr id="4" name="Right Arrow 3"/>
          <p:cNvSpPr/>
          <p:nvPr/>
        </p:nvSpPr>
        <p:spPr>
          <a:xfrm>
            <a:off x="5760720" y="2212848"/>
            <a:ext cx="320040" cy="237744"/>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 name="Rounded Rectangle 4"/>
          <p:cNvSpPr/>
          <p:nvPr/>
        </p:nvSpPr>
        <p:spPr>
          <a:xfrm>
            <a:off x="6172200" y="1965960"/>
            <a:ext cx="2331720" cy="7315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Árbol limitado</a:t>
            </a:r>
          </a:p>
        </p:txBody>
      </p:sp>
      <p:sp>
        <p:nvSpPr>
          <p:cNvPr id="6" name="Rounded Rectangle 5"/>
          <p:cNvSpPr/>
          <p:nvPr/>
        </p:nvSpPr>
        <p:spPr>
          <a:xfrm>
            <a:off x="731520" y="2834639"/>
            <a:ext cx="4937760" cy="73152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3D5A99"/>
                </a:solidFill>
                <a:latin typeface="Arial"/>
              </a:rPr>
              <a:t>¿Importa más acertar, con muchas variables?</a:t>
            </a:r>
          </a:p>
        </p:txBody>
      </p:sp>
      <p:sp>
        <p:nvSpPr>
          <p:cNvPr id="7" name="Right Arrow 6"/>
          <p:cNvSpPr/>
          <p:nvPr/>
        </p:nvSpPr>
        <p:spPr>
          <a:xfrm>
            <a:off x="5760720" y="3081527"/>
            <a:ext cx="320040" cy="237744"/>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ounded Rectangle 7"/>
          <p:cNvSpPr/>
          <p:nvPr/>
        </p:nvSpPr>
        <p:spPr>
          <a:xfrm>
            <a:off x="6172200" y="2834639"/>
            <a:ext cx="2331720" cy="731520"/>
          </a:xfrm>
          <a:prstGeom prst="roundRect">
            <a:avLst>
              <a:gd name="adj" fmla="val 8000"/>
            </a:avLst>
          </a:prstGeom>
          <a:solidFill>
            <a:srgbClr val="3D5A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Random Forest</a:t>
            </a:r>
          </a:p>
        </p:txBody>
      </p:sp>
      <p:sp>
        <p:nvSpPr>
          <p:cNvPr id="9" name="Rounded Rectangle 8"/>
          <p:cNvSpPr/>
          <p:nvPr/>
        </p:nvSpPr>
        <p:spPr>
          <a:xfrm>
            <a:off x="731520" y="3703320"/>
            <a:ext cx="4937760" cy="73152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D7263D"/>
                </a:solidFill>
                <a:latin typeface="Arial"/>
              </a:rPr>
              <a:t>¿Tiene sentido «casos parecidos» y hay pocas variables?</a:t>
            </a:r>
          </a:p>
        </p:txBody>
      </p:sp>
      <p:sp>
        <p:nvSpPr>
          <p:cNvPr id="10" name="Right Arrow 9"/>
          <p:cNvSpPr/>
          <p:nvPr/>
        </p:nvSpPr>
        <p:spPr>
          <a:xfrm>
            <a:off x="5760720" y="3950208"/>
            <a:ext cx="320040" cy="237744"/>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ounded Rectangle 10"/>
          <p:cNvSpPr/>
          <p:nvPr/>
        </p:nvSpPr>
        <p:spPr>
          <a:xfrm>
            <a:off x="6172200" y="3703320"/>
            <a:ext cx="2331720" cy="731520"/>
          </a:xfrm>
          <a:prstGeom prst="roundRect">
            <a:avLst>
              <a:gd name="adj" fmla="val 8000"/>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KNN (normalizado)</a:t>
            </a:r>
          </a:p>
        </p:txBody>
      </p:sp>
      <p:sp>
        <p:nvSpPr>
          <p:cNvPr id="12" name="Rounded Rectangle 11"/>
          <p:cNvSpPr/>
          <p:nvPr/>
        </p:nvSpPr>
        <p:spPr>
          <a:xfrm>
            <a:off x="731520" y="4572000"/>
            <a:ext cx="4937760" cy="731520"/>
          </a:xfrm>
          <a:prstGeom prst="roundRect">
            <a:avLst>
              <a:gd name="adj" fmla="val 8000"/>
            </a:avLst>
          </a:prstGeom>
          <a:solidFill>
            <a:srgbClr val="E3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300" b="1" i="0">
                <a:solidFill>
                  <a:srgbClr val="2A9D8F"/>
                </a:solidFill>
                <a:latin typeface="Arial"/>
              </a:rPr>
              <a:t>¿Muchas columnas o clases bien separadas?</a:t>
            </a:r>
          </a:p>
        </p:txBody>
      </p:sp>
      <p:sp>
        <p:nvSpPr>
          <p:cNvPr id="13" name="Right Arrow 12"/>
          <p:cNvSpPr/>
          <p:nvPr/>
        </p:nvSpPr>
        <p:spPr>
          <a:xfrm>
            <a:off x="5760720" y="4818888"/>
            <a:ext cx="320040" cy="237744"/>
          </a:xfrm>
          <a:prstGeom prst="rightArrow">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ounded Rectangle 13"/>
          <p:cNvSpPr/>
          <p:nvPr/>
        </p:nvSpPr>
        <p:spPr>
          <a:xfrm>
            <a:off x="6172200" y="4572000"/>
            <a:ext cx="2331720" cy="73152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SVM (normalizado, elegir C)</a:t>
            </a:r>
          </a:p>
        </p:txBody>
      </p:sp>
      <p:sp>
        <p:nvSpPr>
          <p:cNvPr id="15" name="Rounded Rectangle 14"/>
          <p:cNvSpPr/>
          <p:nvPr/>
        </p:nvSpPr>
        <p:spPr>
          <a:xfrm>
            <a:off x="731520" y="5532120"/>
            <a:ext cx="7772400" cy="73152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300" b="1" i="0">
                <a:solidFill>
                  <a:srgbClr val="FFFFFF"/>
                </a:solidFill>
                <a:latin typeface="Arial"/>
              </a:rPr>
              <a:t>Siempre: </a:t>
            </a:r>
            <a:r>
              <a:rPr sz="1300" b="0" i="0">
                <a:solidFill>
                  <a:srgbClr val="FFFFFF"/>
                </a:solidFill>
                <a:latin typeface="Arial"/>
              </a:rPr>
              <a:t>baseline → Validation → métricas de la clase que importa → Test una sola vez.</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Ideas clave del día</a:t>
            </a:r>
          </a:p>
        </p:txBody>
      </p:sp>
      <p:sp>
        <p:nvSpPr>
          <p:cNvPr id="3" name="Rounded Rectangle 2"/>
          <p:cNvSpPr/>
          <p:nvPr/>
        </p:nvSpPr>
        <p:spPr>
          <a:xfrm>
            <a:off x="731520" y="201168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 name="Oval 3"/>
          <p:cNvSpPr/>
          <p:nvPr/>
        </p:nvSpPr>
        <p:spPr>
          <a:xfrm>
            <a:off x="868680" y="228600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1</a:t>
            </a:r>
          </a:p>
        </p:txBody>
      </p:sp>
      <p:sp>
        <p:nvSpPr>
          <p:cNvPr id="5" name="TextBox 4"/>
          <p:cNvSpPr txBox="1"/>
          <p:nvPr/>
        </p:nvSpPr>
        <p:spPr>
          <a:xfrm>
            <a:off x="1691640" y="212140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Accuracy engaña</a:t>
            </a:r>
          </a:p>
          <a:p>
            <a:pPr algn="l">
              <a:spcAft>
                <a:spcPts val="400"/>
              </a:spcAft>
            </a:pPr>
            <a:r>
              <a:rPr sz="1200" b="0" i="0">
                <a:solidFill>
                  <a:srgbClr val="2B2B2B"/>
                </a:solidFill>
                <a:latin typeface="Arial"/>
              </a:rPr>
              <a:t>El baseline acierta 92 % y no encuentra ningún fraude.</a:t>
            </a:r>
          </a:p>
        </p:txBody>
      </p:sp>
      <p:sp>
        <p:nvSpPr>
          <p:cNvPr id="6" name="Rounded Rectangle 5"/>
          <p:cNvSpPr/>
          <p:nvPr/>
        </p:nvSpPr>
        <p:spPr>
          <a:xfrm>
            <a:off x="4663440" y="201168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4800600" y="228600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2</a:t>
            </a:r>
          </a:p>
        </p:txBody>
      </p:sp>
      <p:sp>
        <p:nvSpPr>
          <p:cNvPr id="8" name="TextBox 7"/>
          <p:cNvSpPr txBox="1"/>
          <p:nvPr/>
        </p:nvSpPr>
        <p:spPr>
          <a:xfrm>
            <a:off x="5623559" y="212140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Métricas nuevas</a:t>
            </a:r>
          </a:p>
          <a:p>
            <a:pPr algn="l">
              <a:spcAft>
                <a:spcPts val="400"/>
              </a:spcAft>
            </a:pPr>
            <a:r>
              <a:rPr sz="1200" b="0" i="0">
                <a:solidFill>
                  <a:srgbClr val="2B2B2B"/>
                </a:solidFill>
                <a:latin typeface="Arial"/>
              </a:rPr>
              <a:t>VP = dijo fraude y acertó. Precision: alertas. Recall: cobertura.</a:t>
            </a:r>
          </a:p>
        </p:txBody>
      </p:sp>
      <p:sp>
        <p:nvSpPr>
          <p:cNvPr id="9" name="Rounded Rectangle 8"/>
          <p:cNvSpPr/>
          <p:nvPr/>
        </p:nvSpPr>
        <p:spPr>
          <a:xfrm>
            <a:off x="731520" y="342900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Oval 9"/>
          <p:cNvSpPr/>
          <p:nvPr/>
        </p:nvSpPr>
        <p:spPr>
          <a:xfrm>
            <a:off x="868680" y="370332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3</a:t>
            </a:r>
          </a:p>
        </p:txBody>
      </p:sp>
      <p:sp>
        <p:nvSpPr>
          <p:cNvPr id="11" name="TextBox 10"/>
          <p:cNvSpPr txBox="1"/>
          <p:nvPr/>
        </p:nvSpPr>
        <p:spPr>
          <a:xfrm>
            <a:off x="1691640" y="353872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Cuidar las fugas</a:t>
            </a:r>
          </a:p>
          <a:p>
            <a:pPr algn="l">
              <a:spcAft>
                <a:spcPts val="400"/>
              </a:spcAft>
            </a:pPr>
            <a:r>
              <a:rPr sz="1200" b="0" i="0">
                <a:solidFill>
                  <a:srgbClr val="2B2B2B"/>
                </a:solidFill>
                <a:latin typeface="Arial"/>
              </a:rPr>
              <a:t>Los saldos de PaySim y las columnas Naive Bayes contienen la respuesta.</a:t>
            </a:r>
          </a:p>
        </p:txBody>
      </p:sp>
      <p:sp>
        <p:nvSpPr>
          <p:cNvPr id="12" name="Rounded Rectangle 11"/>
          <p:cNvSpPr/>
          <p:nvPr/>
        </p:nvSpPr>
        <p:spPr>
          <a:xfrm>
            <a:off x="4663440" y="342900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Oval 12"/>
          <p:cNvSpPr/>
          <p:nvPr/>
        </p:nvSpPr>
        <p:spPr>
          <a:xfrm>
            <a:off x="4800600" y="370332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4</a:t>
            </a:r>
          </a:p>
        </p:txBody>
      </p:sp>
      <p:sp>
        <p:nvSpPr>
          <p:cNvPr id="14" name="TextBox 13"/>
          <p:cNvSpPr txBox="1"/>
          <p:nvPr/>
        </p:nvSpPr>
        <p:spPr>
          <a:xfrm>
            <a:off x="5623559" y="353872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Desbalance</a:t>
            </a:r>
          </a:p>
          <a:p>
            <a:pPr algn="l">
              <a:spcAft>
                <a:spcPts val="400"/>
              </a:spcAft>
            </a:pPr>
            <a:r>
              <a:rPr sz="1200" b="0" i="0">
                <a:solidFill>
                  <a:srgbClr val="2B2B2B"/>
                </a:solidFill>
                <a:latin typeface="Arial"/>
              </a:rPr>
              <a:t>Balancear solo Train; class_weight y muestreo suben el Recall.</a:t>
            </a:r>
          </a:p>
        </p:txBody>
      </p:sp>
      <p:sp>
        <p:nvSpPr>
          <p:cNvPr id="15" name="Rounded Rectangle 14"/>
          <p:cNvSpPr/>
          <p:nvPr/>
        </p:nvSpPr>
        <p:spPr>
          <a:xfrm>
            <a:off x="731520" y="4846320"/>
            <a:ext cx="3794760" cy="1280160"/>
          </a:xfrm>
          <a:prstGeom prst="roundRect">
            <a:avLst>
              <a:gd name="adj" fmla="val 8000"/>
            </a:avLst>
          </a:prstGeom>
          <a:solidFill>
            <a:srgbClr val="E8E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Oval 15"/>
          <p:cNvSpPr/>
          <p:nvPr/>
        </p:nvSpPr>
        <p:spPr>
          <a:xfrm>
            <a:off x="868680" y="5120640"/>
            <a:ext cx="685800" cy="685800"/>
          </a:xfrm>
          <a:prstGeom prst="ellipse">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5</a:t>
            </a:r>
          </a:p>
        </p:txBody>
      </p:sp>
      <p:sp>
        <p:nvSpPr>
          <p:cNvPr id="17" name="TextBox 16"/>
          <p:cNvSpPr txBox="1"/>
          <p:nvPr/>
        </p:nvSpPr>
        <p:spPr>
          <a:xfrm>
            <a:off x="1691640" y="495604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242852"/>
                </a:solidFill>
                <a:latin typeface="Arial"/>
              </a:rPr>
              <a:t>Normalizar</a:t>
            </a:r>
          </a:p>
          <a:p>
            <a:pPr algn="l">
              <a:spcAft>
                <a:spcPts val="400"/>
              </a:spcAft>
            </a:pPr>
            <a:r>
              <a:rPr sz="1200" b="0" i="0">
                <a:solidFill>
                  <a:srgbClr val="2B2B2B"/>
                </a:solidFill>
                <a:latin typeface="Arial"/>
              </a:rPr>
              <a:t>KNN y SVM miden distancias: z = (x − media) / desviación.</a:t>
            </a:r>
          </a:p>
        </p:txBody>
      </p:sp>
      <p:sp>
        <p:nvSpPr>
          <p:cNvPr id="18" name="Rounded Rectangle 17"/>
          <p:cNvSpPr/>
          <p:nvPr/>
        </p:nvSpPr>
        <p:spPr>
          <a:xfrm>
            <a:off x="4663440" y="4846320"/>
            <a:ext cx="3794760" cy="1280160"/>
          </a:xfrm>
          <a:prstGeom prst="roundRect">
            <a:avLst>
              <a:gd name="adj" fmla="val 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Oval 18"/>
          <p:cNvSpPr/>
          <p:nvPr/>
        </p:nvSpPr>
        <p:spPr>
          <a:xfrm>
            <a:off x="4800600" y="5120640"/>
            <a:ext cx="685800" cy="685800"/>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800" b="1" i="0">
                <a:solidFill>
                  <a:srgbClr val="FFFFFF"/>
                </a:solidFill>
                <a:latin typeface="Arial"/>
              </a:rPr>
              <a:t>6</a:t>
            </a:r>
          </a:p>
        </p:txBody>
      </p:sp>
      <p:sp>
        <p:nvSpPr>
          <p:cNvPr id="20" name="TextBox 19"/>
          <p:cNvSpPr txBox="1"/>
          <p:nvPr/>
        </p:nvSpPr>
        <p:spPr>
          <a:xfrm>
            <a:off x="5623559" y="4956048"/>
            <a:ext cx="2743200" cy="1097280"/>
          </a:xfrm>
          <a:prstGeom prst="rect">
            <a:avLst/>
          </a:prstGeom>
          <a:noFill/>
        </p:spPr>
        <p:txBody>
          <a:bodyPr wrap="square" anchor="ctr" lIns="36576" rIns="36576" tIns="36576" bIns="36576">
            <a:spAutoFit/>
          </a:bodyPr>
          <a:lstStyle/>
          <a:p>
            <a:pPr algn="l">
              <a:spcAft>
                <a:spcPts val="400"/>
              </a:spcAft>
            </a:pPr>
            <a:r>
              <a:rPr sz="1400" b="1" i="0">
                <a:solidFill>
                  <a:srgbClr val="D7263D"/>
                </a:solidFill>
                <a:latin typeface="Arial"/>
              </a:rPr>
              <a:t>SVM y C</a:t>
            </a:r>
          </a:p>
          <a:p>
            <a:pPr algn="l">
              <a:spcAft>
                <a:spcPts val="400"/>
              </a:spcAft>
            </a:pPr>
            <a:r>
              <a:rPr sz="1200" b="0" i="0">
                <a:solidFill>
                  <a:srgbClr val="2B2B2B"/>
                </a:solidFill>
                <a:latin typeface="Arial"/>
              </a:rPr>
              <a:t>C pequeño subajusta, C grande memoriza; se elige en Validation.</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1078992"/>
            <a:ext cx="7589520" cy="731520"/>
          </a:xfrm>
        </p:spPr>
        <p:txBody>
          <a:bodyPr wrap="square" anchor="ctr"/>
          <a:lstStyle/>
          <a:p>
            <a:pPr algn="ctr"/>
            <a:r>
              <a:rPr sz="2600" b="1">
                <a:solidFill>
                  <a:srgbClr val="242852"/>
                </a:solidFill>
              </a:rPr>
              <a:t>Del papel al notebook</a:t>
            </a:r>
          </a:p>
        </p:txBody>
      </p:sp>
      <p:graphicFrame>
        <p:nvGraphicFramePr>
          <p:cNvPr id="3" name="Table 2"/>
          <p:cNvGraphicFramePr>
            <a:graphicFrameLocks noGrp="1"/>
          </p:cNvGraphicFramePr>
          <p:nvPr/>
        </p:nvGraphicFramePr>
        <p:xfrm>
          <a:off x="731520" y="1965960"/>
          <a:ext cx="7772400" cy="3145536"/>
        </p:xfrm>
        <a:graphic>
          <a:graphicData uri="http://schemas.openxmlformats.org/drawingml/2006/table">
            <a:tbl>
              <a:tblPr firstRow="1" bandRow="1">
                <a:tableStyleId>{5C22544A-7EE6-4342-B048-85BDC9FD1C3A}</a:tableStyleId>
              </a:tblPr>
              <a:tblGrid>
                <a:gridCol w="2377440"/>
                <a:gridCol w="3200400"/>
                <a:gridCol w="2194560"/>
              </a:tblGrid>
              <a:tr h="393192">
                <a:tc>
                  <a:txBody>
                    <a:bodyPr wrap="square"/>
                    <a:lstStyle/>
                    <a:p>
                      <a:pPr algn="l"/>
                      <a:r>
                        <a:rPr sz="1150" b="1" i="0">
                          <a:solidFill>
                            <a:srgbClr val="FFFFFF"/>
                          </a:solidFill>
                          <a:latin typeface="Arial"/>
                        </a:rPr>
                        <a:t>Lo que hicimos a mano</a:t>
                      </a:r>
                    </a:p>
                  </a:txBody>
                  <a:tcPr marL="64008" marR="64008" marT="27432" marB="27432" anchor="ctr">
                    <a:solidFill>
                      <a:srgbClr val="242852"/>
                    </a:solidFill>
                  </a:tcPr>
                </a:tc>
                <a:tc>
                  <a:txBody>
                    <a:bodyPr wrap="square"/>
                    <a:lstStyle/>
                    <a:p>
                      <a:pPr algn="l"/>
                      <a:r>
                        <a:rPr sz="1150" b="1" i="0">
                          <a:solidFill>
                            <a:srgbClr val="FFFFFF"/>
                          </a:solidFill>
                          <a:latin typeface="Arial"/>
                        </a:rPr>
                        <a:t>Lo que verán en el notebook</a:t>
                      </a:r>
                    </a:p>
                  </a:txBody>
                  <a:tcPr marL="64008" marR="64008" marT="27432" marB="27432" anchor="ctr">
                    <a:solidFill>
                      <a:srgbClr val="242852"/>
                    </a:solidFill>
                  </a:tcPr>
                </a:tc>
                <a:tc>
                  <a:txBody>
                    <a:bodyPr wrap="square"/>
                    <a:lstStyle/>
                    <a:p>
                      <a:pPr algn="l"/>
                      <a:r>
                        <a:rPr sz="1150" b="1" i="0">
                          <a:solidFill>
                            <a:srgbClr val="FFFFFF"/>
                          </a:solidFill>
                          <a:latin typeface="Arial"/>
                        </a:rPr>
                        <a:t>Debe dar…</a:t>
                      </a:r>
                    </a:p>
                  </a:txBody>
                  <a:tcPr marL="64008" marR="64008" marT="27432" marB="27432" anchor="ctr">
                    <a:solidFill>
                      <a:srgbClr val="242852"/>
                    </a:solidFill>
                  </a:tcPr>
                </a:tc>
              </a:tr>
              <a:tr h="393192">
                <a:tc>
                  <a:txBody>
                    <a:bodyPr wrap="square"/>
                    <a:lstStyle/>
                    <a:p>
                      <a:pPr algn="l"/>
                      <a:r>
                        <a:rPr sz="1150" b="0" i="0">
                          <a:solidFill>
                            <a:srgbClr val="2B2B2B"/>
                          </a:solidFill>
                          <a:latin typeface="Arial"/>
                        </a:rPr>
                        <a:t>Baseline y regla del negocio</a:t>
                      </a:r>
                    </a:p>
                  </a:txBody>
                  <a:tcPr marL="64008" marR="64008" marT="27432" marB="27432" anchor="ctr">
                    <a:solidFill>
                      <a:srgbClr val="FFFFFF"/>
                    </a:solidFill>
                  </a:tcPr>
                </a:tc>
                <a:tc>
                  <a:txBody>
                    <a:bodyPr wrap="square"/>
                    <a:lstStyle/>
                    <a:p>
                      <a:pPr algn="l"/>
                      <a:r>
                        <a:rPr sz="1150" b="0" i="0">
                          <a:solidFill>
                            <a:srgbClr val="2B2B2B"/>
                          </a:solidFill>
                          <a:latin typeface="Arial"/>
                        </a:rPr>
                        <a:t>DummyClassifier e isFlaggedFraud</a:t>
                      </a:r>
                    </a:p>
                  </a:txBody>
                  <a:tcPr marL="64008" marR="64008" marT="27432" marB="27432" anchor="ctr">
                    <a:solidFill>
                      <a:srgbClr val="FFFFFF"/>
                    </a:solidFill>
                  </a:tcPr>
                </a:tc>
                <a:tc>
                  <a:txBody>
                    <a:bodyPr wrap="square"/>
                    <a:lstStyle/>
                    <a:p>
                      <a:pPr algn="l"/>
                      <a:r>
                        <a:rPr sz="1150" b="0" i="0">
                          <a:solidFill>
                            <a:srgbClr val="2B2B2B"/>
                          </a:solidFill>
                          <a:latin typeface="Arial"/>
                        </a:rPr>
                        <a:t>Recall 0 y 0,004</a:t>
                      </a:r>
                    </a:p>
                  </a:txBody>
                  <a:tcPr marL="64008" marR="64008" marT="27432" marB="27432" anchor="ctr">
                    <a:solidFill>
                      <a:srgbClr val="FFFFFF"/>
                    </a:solidFill>
                  </a:tcPr>
                </a:tc>
              </a:tr>
              <a:tr h="393192">
                <a:tc>
                  <a:txBody>
                    <a:bodyPr wrap="square"/>
                    <a:lstStyle/>
                    <a:p>
                      <a:pPr algn="l"/>
                      <a:r>
                        <a:rPr sz="1150" b="0" i="0">
                          <a:solidFill>
                            <a:srgbClr val="2B2B2B"/>
                          </a:solidFill>
                          <a:latin typeface="Arial"/>
                        </a:rPr>
                        <a:t>Gini de las preguntas candidatas</a:t>
                      </a:r>
                    </a:p>
                  </a:txBody>
                  <a:tcPr marL="64008" marR="64008" marT="27432" marB="27432" anchor="ctr">
                    <a:solidFill>
                      <a:srgbClr val="F2F3F5"/>
                    </a:solidFill>
                  </a:tcPr>
                </a:tc>
                <a:tc>
                  <a:txBody>
                    <a:bodyPr wrap="square"/>
                    <a:lstStyle/>
                    <a:p>
                      <a:pPr algn="l"/>
                      <a:r>
                        <a:rPr sz="1150" b="0" i="0">
                          <a:solidFill>
                            <a:srgbClr val="2B2B2B"/>
                          </a:solidFill>
                          <a:latin typeface="Arial"/>
                        </a:rPr>
                        <a:t>Tabla de cortes y árbol de prof. 2</a:t>
                      </a:r>
                    </a:p>
                  </a:txBody>
                  <a:tcPr marL="64008" marR="64008" marT="27432" marB="27432" anchor="ctr">
                    <a:solidFill>
                      <a:srgbClr val="F2F3F5"/>
                    </a:solidFill>
                  </a:tcPr>
                </a:tc>
                <a:tc>
                  <a:txBody>
                    <a:bodyPr wrap="square"/>
                    <a:lstStyle/>
                    <a:p>
                      <a:pPr algn="l"/>
                      <a:r>
                        <a:rPr sz="1150" b="0" i="0">
                          <a:solidFill>
                            <a:srgbClr val="2B2B2B"/>
                          </a:solidFill>
                          <a:latin typeface="Arial"/>
                        </a:rPr>
                        <a:t>0,150 → 0,124</a:t>
                      </a:r>
                    </a:p>
                  </a:txBody>
                  <a:tcPr marL="64008" marR="64008" marT="27432" marB="27432" anchor="ctr">
                    <a:solidFill>
                      <a:srgbClr val="F2F3F5"/>
                    </a:solidFill>
                  </a:tcPr>
                </a:tc>
              </a:tr>
              <a:tr h="393192">
                <a:tc>
                  <a:txBody>
                    <a:bodyPr wrap="square"/>
                    <a:lstStyle/>
                    <a:p>
                      <a:pPr algn="l"/>
                      <a:r>
                        <a:rPr sz="1150" b="0" i="0">
                          <a:solidFill>
                            <a:srgbClr val="2B2B2B"/>
                          </a:solidFill>
                          <a:latin typeface="Arial"/>
                        </a:rPr>
                        <a:t>Matriz del árbol completo</a:t>
                      </a:r>
                    </a:p>
                  </a:txBody>
                  <a:tcPr marL="64008" marR="64008" marT="27432" marB="27432" anchor="ctr">
                    <a:solidFill>
                      <a:srgbClr val="FFFFFF"/>
                    </a:solidFill>
                  </a:tcPr>
                </a:tc>
                <a:tc>
                  <a:txBody>
                    <a:bodyPr wrap="square"/>
                    <a:lstStyle/>
                    <a:p>
                      <a:pPr algn="l"/>
                      <a:r>
                        <a:rPr sz="1150" b="0" i="0">
                          <a:solidFill>
                            <a:srgbClr val="2B2B2B"/>
                          </a:solidFill>
                          <a:latin typeface="Arial"/>
                        </a:rPr>
                        <a:t>confusion_matrix y métricas a mano</a:t>
                      </a:r>
                    </a:p>
                  </a:txBody>
                  <a:tcPr marL="64008" marR="64008" marT="27432" marB="27432" anchor="ctr">
                    <a:solidFill>
                      <a:srgbClr val="FFFFFF"/>
                    </a:solidFill>
                  </a:tcPr>
                </a:tc>
                <a:tc>
                  <a:txBody>
                    <a:bodyPr wrap="square"/>
                    <a:lstStyle/>
                    <a:p>
                      <a:pPr algn="l"/>
                      <a:r>
                        <a:rPr sz="1150" b="0" i="0">
                          <a:solidFill>
                            <a:srgbClr val="2B2B2B"/>
                          </a:solidFill>
                          <a:latin typeface="Arial"/>
                        </a:rPr>
                        <a:t>13 619 · 161 · 615 · 668</a:t>
                      </a:r>
                    </a:p>
                  </a:txBody>
                  <a:tcPr marL="64008" marR="64008" marT="27432" marB="27432" anchor="ctr">
                    <a:solidFill>
                      <a:srgbClr val="FFFFFF"/>
                    </a:solidFill>
                  </a:tcPr>
                </a:tc>
              </a:tr>
              <a:tr h="393192">
                <a:tc>
                  <a:txBody>
                    <a:bodyPr wrap="square"/>
                    <a:lstStyle/>
                    <a:p>
                      <a:pPr algn="l"/>
                      <a:r>
                        <a:rPr sz="1150" b="0" i="0">
                          <a:solidFill>
                            <a:srgbClr val="2B2B2B"/>
                          </a:solidFill>
                          <a:latin typeface="Arial"/>
                        </a:rPr>
                        <a:t>Desbalance</a:t>
                      </a:r>
                    </a:p>
                  </a:txBody>
                  <a:tcPr marL="64008" marR="64008" marT="27432" marB="27432" anchor="ctr">
                    <a:solidFill>
                      <a:srgbClr val="F2F3F5"/>
                    </a:solidFill>
                  </a:tcPr>
                </a:tc>
                <a:tc>
                  <a:txBody>
                    <a:bodyPr wrap="square"/>
                    <a:lstStyle/>
                    <a:p>
                      <a:pPr algn="l"/>
                      <a:r>
                        <a:rPr sz="1150" b="0" i="0">
                          <a:solidFill>
                            <a:srgbClr val="2B2B2B"/>
                          </a:solidFill>
                          <a:latin typeface="Arial"/>
                        </a:rPr>
                        <a:t>4 estrategias con el mismo árbol</a:t>
                      </a:r>
                    </a:p>
                  </a:txBody>
                  <a:tcPr marL="64008" marR="64008" marT="27432" marB="27432" anchor="ctr">
                    <a:solidFill>
                      <a:srgbClr val="F2F3F5"/>
                    </a:solidFill>
                  </a:tcPr>
                </a:tc>
                <a:tc>
                  <a:txBody>
                    <a:bodyPr wrap="square"/>
                    <a:lstStyle/>
                    <a:p>
                      <a:pPr algn="l"/>
                      <a:r>
                        <a:rPr sz="1150" b="0" i="0">
                          <a:solidFill>
                            <a:srgbClr val="2B2B2B"/>
                          </a:solidFill>
                          <a:latin typeface="Arial"/>
                        </a:rPr>
                        <a:t>Recall 0,52 → 0,81</a:t>
                      </a:r>
                    </a:p>
                  </a:txBody>
                  <a:tcPr marL="64008" marR="64008" marT="27432" marB="27432" anchor="ctr">
                    <a:solidFill>
                      <a:srgbClr val="F2F3F5"/>
                    </a:solidFill>
                  </a:tcPr>
                </a:tc>
              </a:tr>
              <a:tr h="393192">
                <a:tc>
                  <a:txBody>
                    <a:bodyPr wrap="square"/>
                    <a:lstStyle/>
                    <a:p>
                      <a:pPr algn="l"/>
                      <a:r>
                        <a:rPr sz="1150" b="0" i="0">
                          <a:solidFill>
                            <a:srgbClr val="2B2B2B"/>
                          </a:solidFill>
                          <a:latin typeface="Arial"/>
                        </a:rPr>
                        <a:t>Fuga en BankChurners</a:t>
                      </a:r>
                    </a:p>
                  </a:txBody>
                  <a:tcPr marL="64008" marR="64008" marT="27432" marB="27432" anchor="ctr">
                    <a:solidFill>
                      <a:srgbClr val="FFFFFF"/>
                    </a:solidFill>
                  </a:tcPr>
                </a:tc>
                <a:tc>
                  <a:txBody>
                    <a:bodyPr wrap="square"/>
                    <a:lstStyle/>
                    <a:p>
                      <a:pPr algn="l"/>
                      <a:r>
                        <a:rPr sz="1150" b="0" i="0">
                          <a:solidFill>
                            <a:srgbClr val="2B2B2B"/>
                          </a:solidFill>
                          <a:latin typeface="Arial"/>
                        </a:rPr>
                        <a:t>Regla con la columna Naive Bayes</a:t>
                      </a:r>
                    </a:p>
                  </a:txBody>
                  <a:tcPr marL="64008" marR="64008" marT="27432" marB="27432" anchor="ctr">
                    <a:solidFill>
                      <a:srgbClr val="FFFFFF"/>
                    </a:solidFill>
                  </a:tcPr>
                </a:tc>
                <a:tc>
                  <a:txBody>
                    <a:bodyPr wrap="square"/>
                    <a:lstStyle/>
                    <a:p>
                      <a:pPr algn="l"/>
                      <a:r>
                        <a:rPr sz="1150" b="0" i="0">
                          <a:solidFill>
                            <a:srgbClr val="2B2B2B"/>
                          </a:solidFill>
                          <a:latin typeface="Arial"/>
                        </a:rPr>
                        <a:t>Accuracy 1,0</a:t>
                      </a:r>
                    </a:p>
                  </a:txBody>
                  <a:tcPr marL="64008" marR="64008" marT="27432" marB="27432" anchor="ctr">
                    <a:solidFill>
                      <a:srgbClr val="FFFFFF"/>
                    </a:solidFill>
                  </a:tcPr>
                </a:tc>
              </a:tr>
              <a:tr h="393192">
                <a:tc>
                  <a:txBody>
                    <a:bodyPr wrap="square"/>
                    <a:lstStyle/>
                    <a:p>
                      <a:pPr algn="l"/>
                      <a:r>
                        <a:rPr sz="1150" b="0" i="0">
                          <a:solidFill>
                            <a:srgbClr val="2B2B2B"/>
                          </a:solidFill>
                          <a:latin typeface="Arial"/>
                        </a:rPr>
                        <a:t>Normalizar</a:t>
                      </a:r>
                    </a:p>
                  </a:txBody>
                  <a:tcPr marL="64008" marR="64008" marT="27432" marB="27432" anchor="ctr">
                    <a:solidFill>
                      <a:srgbClr val="F2F3F5"/>
                    </a:solidFill>
                  </a:tcPr>
                </a:tc>
                <a:tc>
                  <a:txBody>
                    <a:bodyPr wrap="square"/>
                    <a:lstStyle/>
                    <a:p>
                      <a:pPr algn="l"/>
                      <a:r>
                        <a:rPr sz="1150" b="0" i="0">
                          <a:solidFill>
                            <a:srgbClr val="2B2B2B"/>
                          </a:solidFill>
                          <a:latin typeface="Arial"/>
                        </a:rPr>
                        <a:t>Vecinos sin escalar y estandarizados</a:t>
                      </a:r>
                    </a:p>
                  </a:txBody>
                  <a:tcPr marL="64008" marR="64008" marT="27432" marB="27432" anchor="ctr">
                    <a:solidFill>
                      <a:srgbClr val="F2F3F5"/>
                    </a:solidFill>
                  </a:tcPr>
                </a:tc>
                <a:tc>
                  <a:txBody>
                    <a:bodyPr wrap="square"/>
                    <a:lstStyle/>
                    <a:p>
                      <a:pPr algn="l"/>
                      <a:r>
                        <a:rPr sz="1150" b="0" i="0">
                          <a:solidFill>
                            <a:srgbClr val="2B2B2B"/>
                          </a:solidFill>
                          <a:latin typeface="Arial"/>
                        </a:rPr>
                        <a:t>2 de 15 en común</a:t>
                      </a:r>
                    </a:p>
                  </a:txBody>
                  <a:tcPr marL="64008" marR="64008" marT="27432" marB="27432" anchor="ctr">
                    <a:solidFill>
                      <a:srgbClr val="F2F3F5"/>
                    </a:solidFill>
                  </a:tcPr>
                </a:tc>
              </a:tr>
              <a:tr h="393192">
                <a:tc>
                  <a:txBody>
                    <a:bodyPr wrap="square"/>
                    <a:lstStyle/>
                    <a:p>
                      <a:pPr algn="l"/>
                      <a:r>
                        <a:rPr sz="1150" b="0" i="0">
                          <a:solidFill>
                            <a:srgbClr val="2B2B2B"/>
                          </a:solidFill>
                          <a:latin typeface="Arial"/>
                        </a:rPr>
                        <a:t>El hiperparámetro C</a:t>
                      </a:r>
                    </a:p>
                  </a:txBody>
                  <a:tcPr marL="64008" marR="64008" marT="27432" marB="27432" anchor="ctr">
                    <a:solidFill>
                      <a:srgbClr val="FFFFFF"/>
                    </a:solidFill>
                  </a:tcPr>
                </a:tc>
                <a:tc>
                  <a:txBody>
                    <a:bodyPr wrap="square"/>
                    <a:lstStyle/>
                    <a:p>
                      <a:pPr algn="l"/>
                      <a:r>
                        <a:rPr sz="1150" b="0" i="0">
                          <a:solidFill>
                            <a:srgbClr val="2B2B2B"/>
                          </a:solidFill>
                          <a:latin typeface="Arial"/>
                        </a:rPr>
                        <a:t>SVM RBF con C = 0,01 a 100</a:t>
                      </a:r>
                    </a:p>
                  </a:txBody>
                  <a:tcPr marL="64008" marR="64008" marT="27432" marB="27432" anchor="ctr">
                    <a:solidFill>
                      <a:srgbClr val="FFFFFF"/>
                    </a:solidFill>
                  </a:tcPr>
                </a:tc>
                <a:tc>
                  <a:txBody>
                    <a:bodyPr wrap="square"/>
                    <a:lstStyle/>
                    <a:p>
                      <a:pPr algn="l"/>
                      <a:r>
                        <a:rPr sz="1150" b="0" i="0">
                          <a:solidFill>
                            <a:srgbClr val="2B2B2B"/>
                          </a:solidFill>
                          <a:latin typeface="Arial"/>
                        </a:rPr>
                        <a:t>mejor C = 10: F1 0,728</a:t>
                      </a:r>
                    </a:p>
                  </a:txBody>
                  <a:tcPr marL="64008" marR="64008" marT="27432" marB="27432" anchor="ctr">
                    <a:solidFill>
                      <a:srgbClr val="FFFFFF"/>
                    </a:solidFill>
                  </a:tcPr>
                </a:tc>
              </a:tr>
            </a:tbl>
          </a:graphicData>
        </a:graphic>
      </p:graphicFrame>
      <p:sp>
        <p:nvSpPr>
          <p:cNvPr id="4" name="Rounded Rectangle 3"/>
          <p:cNvSpPr/>
          <p:nvPr/>
        </p:nvSpPr>
        <p:spPr>
          <a:xfrm>
            <a:off x="731520" y="5257800"/>
            <a:ext cx="7772400" cy="1005840"/>
          </a:xfrm>
          <a:prstGeom prst="roundRect">
            <a:avLst>
              <a:gd name="adj" fmla="val 8000"/>
            </a:avLst>
          </a:prstGeom>
          <a:solidFill>
            <a:srgbClr val="2428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300"/>
              </a:spcAft>
            </a:pPr>
            <a:r>
              <a:rPr sz="1400" b="1" i="0">
                <a:solidFill>
                  <a:srgbClr val="FFFFFF"/>
                </a:solidFill>
                <a:latin typeface="Arial"/>
              </a:rPr>
              <a:t>Su rol con el agente de IA</a:t>
            </a:r>
          </a:p>
          <a:p>
            <a:pPr algn="ctr">
              <a:spcAft>
                <a:spcPts val="300"/>
              </a:spcAft>
            </a:pPr>
            <a:r>
              <a:rPr sz="1250" b="0" i="0">
                <a:solidFill>
                  <a:srgbClr val="FFFFFF"/>
                </a:solidFill>
                <a:latin typeface="Arial"/>
              </a:rPr>
              <a:t>Pidan que explique cada línea y verifiquen los números. Si un resultado no coincide con lo calculado a mano, pregunten por qué.</a:t>
            </a:r>
          </a:p>
        </p:txBody>
      </p:sp>
    </p:spTree>
  </p:cSld>
  <p:clrMapOvr>
    <a:masterClrMapping/>
  </p:clrMapOvr>
</p:sld>
</file>

<file path=ppt/theme/theme1.xml><?xml version="1.0" encoding="utf-8"?>
<a:theme xmlns:a="http://schemas.openxmlformats.org/drawingml/2006/main" name="Tema de Office">
  <a:themeElements>
    <a:clrScheme name="Elemental">
      <a:dk1>
        <a:srgbClr val="000000"/>
      </a:dk1>
      <a:lt1>
        <a:srgbClr val="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45</Words>
  <Application>Microsoft Office PowerPoint</Application>
  <PresentationFormat>Presentación en pantalla (4:3)</PresentationFormat>
  <Paragraphs>4</Paragraphs>
  <Slides>3</Slides>
  <Notes>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3</vt:i4>
      </vt:variant>
    </vt:vector>
  </HeadingPairs>
  <TitlesOfParts>
    <vt:vector size="6" baseType="lpstr">
      <vt:lpstr>Arial</vt:lpstr>
      <vt:lpstr>Verdana</vt:lpstr>
      <vt:lpstr>Tema de Office</vt:lpstr>
      <vt:lpstr>Nombre del curso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DEL CURSO</dc:title>
  <dc:creator>Cristhian Castillo</dc:creator>
  <cp:lastModifiedBy>CRISTHIAN PATRICIO CASTILLO MARTINEZ</cp:lastModifiedBy>
  <cp:revision>20</cp:revision>
  <dcterms:created xsi:type="dcterms:W3CDTF">2016-01-08T19:37:53Z</dcterms:created>
  <dcterms:modified xsi:type="dcterms:W3CDTF">2025-06-20T21:34:20Z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9D330DD4-BC3D-40FB-B4DD-0656CB3809F6</vt:lpwstr>
  </property>
  <property fmtid="{D5CDD505-2E9C-101B-9397-08002B2CF9AE}" pid="3" name="ArticulatePath">
    <vt:lpwstr>Presentación1</vt:lpwstr>
  </property>
</Properties>
</file>