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handoutMasters/handoutMaster1.xml" ContentType="application/vnd.openxmlformats-officedocument.presentationml.handoutMaster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8"/>
    <p:sldId id="258" r:id="rId7"/>
    <p:sldId id="259" r:id="rId4"/>
    <p:sldId id="260" r:id="rId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j3cbRC9Ql1GxZ1vbtqfmyQYJzC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22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74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customschemas.google.com/relationships/presentationmetadata" Target="meta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42852"/>
                </a:solidFill>
              </a:rPr>
              <a:t>Región vs Amazonía (pp)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3D5A99"/>
            </a:solidFill>
          </c:spPr>
          <c:dPt>
            <c:idx val="0"/>
            <c:spPr>
              <a:solidFill>
                <a:srgbClr val="3D5A99"/>
              </a:solidFill>
            </c:spPr>
          </c:dPt>
          <c:dPt>
            <c:idx val="1"/>
            <c:spPr>
              <a:solidFill>
                <a:srgbClr val="3D5A99"/>
              </a:solidFill>
            </c:spPr>
          </c:dPt>
          <c:dPt>
            <c:idx val="2"/>
            <c:spPr>
              <a:solidFill>
                <a:srgbClr val="242852"/>
              </a:solidFill>
            </c:spPr>
          </c:dPt>
          <c:cat>
            <c:strRef>
              <c:f>Sheet1!$A$2:$A$4</c:f>
              <c:strCache>
                <c:ptCount val="3"/>
                <c:pt idx="0">
                  <c:v>Sierra</c:v>
                </c:pt>
                <c:pt idx="1">
                  <c:v>Costa</c:v>
                </c:pt>
                <c:pt idx="2">
                  <c:v>Insular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0.158</c:v>
                </c:pt>
                <c:pt idx="1">
                  <c:v>0.563</c:v>
                </c:pt>
                <c:pt idx="2">
                  <c:v>0.738</c:v>
                </c:pt>
              </c:numCache>
            </c:numRef>
          </c:val>
        </c:ser>
        <c:dLbls>
          <c:numFmt formatCode="+0.00" sourceLinked="0"/>
          <c:txPr>
            <a:bodyPr/>
            <a:lstStyle/>
            <a:p>
              <a:pPr>
                <a:defRPr sz="1100">
                  <a:solidFill>
                    <a:srgbClr val="2B2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BFC3C9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>
          <c:spPr>
            <a:ln>
              <a:solidFill>
                <a:srgbClr val="E3E5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F636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42852"/>
                </a:solidFill>
              </a:rPr>
              <a:t>Sector vs Agro (pp)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3D5A99"/>
            </a:solidFill>
          </c:spPr>
          <c:dPt>
            <c:idx val="0"/>
            <c:spPr>
              <a:solidFill>
                <a:srgbClr val="2A9D8F"/>
              </a:solidFill>
            </c:spPr>
          </c:dPt>
          <c:dPt>
            <c:idx val="1"/>
            <c:spPr>
              <a:solidFill>
                <a:srgbClr val="2A9D8F"/>
              </a:solidFill>
            </c:spPr>
          </c:dPt>
          <c:dPt>
            <c:idx val="2"/>
            <c:spPr>
              <a:solidFill>
                <a:srgbClr val="1F7268"/>
              </a:solidFill>
            </c:spPr>
          </c:dPt>
          <c:cat>
            <c:strRef>
              <c:f>Sheet1!$A$2:$A$4</c:f>
              <c:strCache>
                <c:ptCount val="3"/>
                <c:pt idx="0">
                  <c:v>Servicios</c:v>
                </c:pt>
                <c:pt idx="1">
                  <c:v>Comercio</c:v>
                </c:pt>
                <c:pt idx="2">
                  <c:v>Industria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0.164</c:v>
                </c:pt>
                <c:pt idx="1">
                  <c:v>0.305</c:v>
                </c:pt>
                <c:pt idx="2">
                  <c:v>0.428</c:v>
                </c:pt>
              </c:numCache>
            </c:numRef>
          </c:val>
        </c:ser>
        <c:dLbls>
          <c:numFmt formatCode="+0.00" sourceLinked="0"/>
          <c:txPr>
            <a:bodyPr/>
            <a:lstStyle/>
            <a:p>
              <a:pPr>
                <a:defRPr sz="1100">
                  <a:solidFill>
                    <a:srgbClr val="2B2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BFC3C9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>
          <c:spPr>
            <a:ln>
              <a:solidFill>
                <a:srgbClr val="E3E5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F636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42852"/>
                </a:solidFill>
              </a:rPr>
              <a:t>RMSE en Validation (menor es mejor)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3D5A99"/>
            </a:solidFill>
          </c:spPr>
          <c:dPt>
            <c:idx val="0"/>
            <c:spPr>
              <a:solidFill>
                <a:srgbClr val="6D6E71"/>
              </a:solidFill>
            </c:spPr>
          </c:dPt>
          <c:dPt>
            <c:idx val="1"/>
            <c:spPr>
              <a:solidFill>
                <a:srgbClr val="3D5A99"/>
              </a:solidFill>
            </c:spPr>
          </c:dPt>
          <c:dPt>
            <c:idx val="2"/>
            <c:spPr>
              <a:solidFill>
                <a:srgbClr val="3D5A99"/>
              </a:solidFill>
            </c:spPr>
          </c:dPt>
          <c:dPt>
            <c:idx val="3"/>
            <c:spPr>
              <a:solidFill>
                <a:srgbClr val="242852"/>
              </a:solidFill>
            </c:spPr>
          </c:dPt>
          <c:cat>
            <c:strRef>
              <c:f>Sheet1!$A$2:$A$5</c:f>
              <c:strCache>
                <c:ptCount val="4"/>
                <c:pt idx="0">
                  <c:v>Baseline (media)</c:v>
                </c:pt>
                <c:pt idx="1">
                  <c:v>Simple: inversión</c:v>
                </c:pt>
                <c:pt idx="2">
                  <c:v>Múltiple numérica</c:v>
                </c:pt>
                <c:pt idx="3">
                  <c:v>Múltiple + categorías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1.343</c:v>
                </c:pt>
                <c:pt idx="1">
                  <c:v>1.305</c:v>
                </c:pt>
                <c:pt idx="2">
                  <c:v>1.198</c:v>
                </c:pt>
                <c:pt idx="3">
                  <c:v>1.15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>
                  <a:solidFill>
                    <a:srgbClr val="2B2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BFC3C9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6"/>
          <c:min val="0.0"/>
        </c:scaling>
        <c:delete val="0"/>
        <c:axPos val="b"/>
        <c:majorGridlines>
          <c:spPr>
            <a:ln>
              <a:solidFill>
                <a:srgbClr val="E3E5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F636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42852"/>
                </a:solidFill>
              </a:rPr>
              <a:t>R² en Validation (mayor es mejor)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3D5A99"/>
            </a:solidFill>
          </c:spPr>
          <c:dPt>
            <c:idx val="0"/>
            <c:spPr>
              <a:solidFill>
                <a:srgbClr val="6D6E71"/>
              </a:solidFill>
            </c:spPr>
          </c:dPt>
          <c:dPt>
            <c:idx val="1"/>
            <c:spPr>
              <a:solidFill>
                <a:srgbClr val="2A9D8F"/>
              </a:solidFill>
            </c:spPr>
          </c:dPt>
          <c:dPt>
            <c:idx val="2"/>
            <c:spPr>
              <a:solidFill>
                <a:srgbClr val="2A9D8F"/>
              </a:solidFill>
            </c:spPr>
          </c:dPt>
          <c:dPt>
            <c:idx val="3"/>
            <c:spPr>
              <a:solidFill>
                <a:srgbClr val="1F7268"/>
              </a:solidFill>
            </c:spPr>
          </c:dPt>
          <c:cat>
            <c:strRef>
              <c:f>Sheet1!$A$2:$A$5</c:f>
              <c:strCache>
                <c:ptCount val="4"/>
                <c:pt idx="0">
                  <c:v>Baseline (media)</c:v>
                </c:pt>
                <c:pt idx="1">
                  <c:v>Simple: inversión</c:v>
                </c:pt>
                <c:pt idx="2">
                  <c:v>Múltiple numérica</c:v>
                </c:pt>
                <c:pt idx="3">
                  <c:v>Múltiple + categorías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-0.045</c:v>
                </c:pt>
                <c:pt idx="1">
                  <c:v>0.012</c:v>
                </c:pt>
                <c:pt idx="2">
                  <c:v>0.168</c:v>
                </c:pt>
                <c:pt idx="3">
                  <c:v>0.233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>
                  <a:solidFill>
                    <a:srgbClr val="2B2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BFC3C9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"/>
          <c:min val="-0.2"/>
        </c:scaling>
        <c:delete val="0"/>
        <c:axPos val="b"/>
        <c:majorGridlines>
          <c:spPr>
            <a:ln>
              <a:solidFill>
                <a:srgbClr val="E3E5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F636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324507C-30A5-4F04-9BA9-BE73D73F19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170012-4F66-4FAC-9ADB-574DFAC324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90910-41EB-476D-8DC1-6DEA0FD5ECF8}" type="datetimeFigureOut">
              <a:rPr lang="es-419" smtClean="0"/>
              <a:t>20/6/2025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102F0BF-DE86-4431-9CB3-63269E04BD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B70F7B2-1CA3-4D60-817B-D850DB8F898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EBE30-BF0C-4669-8247-869FC8EEE18D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939461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Hoy no escribimos código en la presentación: todo se calcula a mano, paso a paso. El código lo veremos después en el notebook, y ya sabremos qué está haciendo cada línea.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regresión lineal que ya conocen es un modelo de aprendizaje supervisado. Cambia el vocabulario y el énfasis: Machine Learning se preocupa por predecir bien datos nuevos.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Partimos de un ejemplo pequeño, de solo 5 observaciones, para poder hacer todas las cuentas a mano. Pregunta: si la inversión es de 150 millones, ¿qué crecimiento esperamos? No hay ninguna observación con X = 150, así que necesitamos un modelo.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diagrama de dispersión pone cada observación como un punto (X, y). Antes de ajustar una recta debemos mirar la nube: dirección, forma, grupos y puntos aislados. Si la nube es curva, una recta no es buena idea.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Una recta queda definida por dos números. b0, el intercepto: dónde corta al eje vertical (valor de ŷ cuando X = 0). b1, la pendiente: cuánto sube ŷ cuando X aumenta una unidad. ŷ (y sombrero) es la predicción; y sin sombrero es el valor real.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Cada par (b0, b1) dibuja una recta distinta. A ojo, la gris y la naranja se ven mal; la verde y la azul están más cerca. Necesitamos un criterio objetivo para decidir cuál es la mejor: medir cuánto se equivoca cada una.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cada observación calculamos e = y − ŷ. Positivo: el modelo se quedó corto (subestimó). Negativo: el modelo se pasó (sobreestimó). Ejemplo con la recta azul: para X = 100, ŷ = −0.99 + 0.0225·100 = 1.26, y el real es 1.2, entonces e = −0.06.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podemos sumar los residuos tal cual: los positivos y negativos se cancelan. Elevar al cuadrado vuelve todo positivo y castiga más los errores grandes. SSE (Sum of Squared Errors) es la medida de qué tan lejos está la recta de los puntos.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Mínimos cuadrados ordinarios (MCO / OLS) encuentra los valores de b0 y b1 que hacen el SSE lo más pequeño posible. Con cálculo diferencial (derivar el SSE e igualar a cero) se llega a estas fórmulas cerradas. Para un estadístico: b1 = Cov(X,y)/Var(X) = r · sy/sx.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primer paso es calcular la media de X y la media de y. Ese punto (140, 2.16) es el centro de la nube y la recta de mínimos cuadrados siempre pasa por él.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cada fila restamos la media: cuánto se aleja cada punto del centro. Luego multiplicamos las dos desviaciones (numerador de b1) y elevamos al cuadrado la desviación de X (denominador). Finalmente sumamos las dos últimas columnas.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b1 = 90/4000 = 0.0225. b0 = 2.16 − 0.0225·140 = 2.16 − 3.15 = −0.99. Esta es exactamente la recta azul, la del menor SSE. Cuando lo hagamos en el notebook, la computadora debe darnos los mismos números.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predecir reemplazamos X en la ecuación. X = 150: ŷ = −0.99 + 0.0225·150 = −0.99 + 3.375 = 2.385 %. Ya podemos responder la pregunta inicial.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b1: por cada millón adicional de inversión, la predicción sube 0.0225 puntos porcentuales. Es asociación, no prueba de causa. b0: es la predicción con X = 0, pero nunca observamos inversión 0, así que aquí solo sirve para ubicar la recta. Extrapolar fuera del rango observado es arriesgado.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inferencia (intervalos, p-valores) estos supuestos son importantes. Para predicción, lo decisivo es el desempeño en datos no vistos, pero los supuestos ayudan a diagnosticar qué falla. Se revisan con gráficos de residuos.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MSE queda en unidades al cuadrado, por eso es menos intuitivo. RMSE castiga los errores grandes. Bias cercano a 0 no significa modelo bueno: errores positivos y negativos se cancelan. R² compara contra predecir siempre la media.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 los 5 residuos: suma de |e| = 0.36 → MAE = 0.072. Suma de e² = 0.027 → MSE = 0.0054 → RMSE = 0.073. Bias = promedio de (ŷ − y) = 0. Importante: estas métricas se calcularon con los mismos datos con los que se obtuvo la recta.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SST = suma de (y − ȳ)²: el error de un modelo ingenuo que siempre predice la media. SST = 0.9216 + 0.1296 + 0.0036 + 0.2916 + 0.7056 = 2.052. R² = 1 − 0.027/2.052 = 0.987: la recta explica el 98.7 % de la variación.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 de Pearson mide fuerza y dirección de la relación lineal, entre −1 y 1. r = Σ(x−x̄)(y−ȳ) / √[Σ(x−x̄)² · Σ(y−ȳ)²] = 90 / √(4000 · 2.052) = 90/90.6 = 0.993. En regresión simple, R² = r²: 0.993² = 0.987. ¡Las mismas sumas que ya calculamos!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Mismo MAE pero distinto RMSE: el RMSE castiga los errores grandes. Si RMSE es bastante mayor que MAE, hay pocos errores grandes pesando mucho. El Bias puede ser 0 aunque los errores sean enormes, porque se cancelan.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Hasta ahora medimos el error con los mismos datos con los que calculamos la recta: es como corregir un examen con las respuestas a la vista. Train: el modelo aprende b0 y b1. Validation: nosotros decidimos (qué variables, qué modelo), se puede consultar varias veces. Test: examen final, se mira una sola vez.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Subajuste: el modelo es demasiado simple y falla incluso con los datos de entrenamiento. Sobreajuste: memoriza el ruido de Train y falla con datos nuevos. Se detecta comparando el error en Train con el error en Validation.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 aplicar la misma idea al dataset del curso (287 registros), la inversión sola explica 16.5 % en Train y apenas 1.2 % en Validation. Con 5 puntos casi perfectos R² era 0.987; con datos reales la relación es mucho más ruidosa. Por eso necesitamos más variables (bloque 5) y datos limpios (bloque 4).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Agregamos a nuestros 5 puntos un dato erróneo (X = 150, y = 15 %). Recalculando a mano: x̄ = 141.7, ȳ = 4.30, b1 = 197/4083 = 0.0482. La pendiente se duplica por UN solo dato. Un modelo no corrige un dato incorrecto: lo aprende.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Calidad de datos no es una sola cosa. Cada dimensión es una pregunta que debemos hacerle a la tabla antes de modelar.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Tabla didáctica de 8 filas. Escondimos 5 problemas típicos. Antes de pasar a la siguiente diapositiva, pida al grupo que los encuentre: celda vacía (fila 3), fila repetida (5 y 6), desempleo imposible de 150 % (fila 7), crecimiento de 15 % (fila 8) y una columna que siempre dice lo mismo (Fuente).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Cada problema corresponde a una dimensión de calidad. Fila 3: completitud. Filas 5 y 6: unicidad. Fila 7: validez (el desempleo no puede superar 100 %). Fila 8: exactitud, hay que investigar. Columna Fuente: pertinencia, siempre vale lo mismo.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Una fila duplicada cuenta dos veces la misma observación: le da doble peso en la recta y puede caer a la vez en Train y en Test. Se elimina una de las copias. Una columna constante tiene varianza cero: no puede explicar diferencias en y, así que se elimina.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Columna crecimiento de la tabla (sin el duplicado): 1.2, 1.8, 2.1, 2.7, 3.0, 2.0, 15.0. Media = 27.8/7 = 3.97. Mediana (valor central ordenado) = 2.1. Sin el 15: media = 2.13. Un solo valor extremo casi duplica la media, pero la mediana casi no se mueve: la mediana es robusta.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Ordenamos: 1.2, 1.8, 2.0, 2.1, 2.7, 3.0, 15.0. Mediana = 2.1 (4.º valor). Q1 = mediana de la mitad inferior (1.2, 1.8, 2.0) = 1.8. Q3 = mediana de la mitad superior (2.7, 3.0, 15.0) = 3.0. IQR = 1.2. Límites: 1.8 − 1.8 = 0 y 3.0 + 1.8 = 4.8. El 15 queda fuera. Nota: los programas usan interpolación y pueden dar cuartiles ligeramente distintos.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boxplot dibuja exactamente la regla del IQR: la caja va de Q1 a Q3, la línea es la mediana, los bigotes llegan hasta el último dato dentro de 1.5 IQR y los puntos fuera son posibles atípicos. Aquí, con los 289 datos reales del curso.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histograma agrupa los valores en intervalos y cuenta cuántos caen en cada uno. Muestra el centro, la forma (simétrica o sesgada) y los valores aislados. Con los datos reales, la barrita solitaria en 15 % salta a la vista.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estrategia depende del motivo. MCAR: falta completamente al azar. MAR: falta según otra variable que sí observamos. MNAR: falta por el propio valor (el más peligroso, porque sesga los resultados).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Desempleo disponible tras quitar el duplicado y la fila 8: 5.1, 4.8, 5.0, 4.6. Ordenado: 4.6, 4.8, 5.0, 5.1. Con 4 valores la mediana es el promedio de los dos centrales: (4.8 + 5.0)/2 = 4.9. Rellenamos con 4.9 la fila 3 (vacía) y la fila 7 (el 150 % imposible). Buena práctica: la mediana se calcula solo con los datos de Train.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Orden aplicado: 1) eliminar el duplicado, 2) marcar el valor imposible como faltante, 3) investigar el 15 % y eliminarlo por ser un error de captura, 4) imputar los faltantes con la mediana, 5) eliminar la columna sin aporte. Pasamos de 8 filas × 7 columnas a 6 filas × 6 columnas, sin vacíos ni valores imposibles.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actividad_economica_demo.csv es sintético y didáctico (no son cifras oficiales). Cada fila es un mes + una región + un sector. Contiene exactamente los mismos tipos de problema que acabamos de limpiar a mano. En el notebook veremos cómo la computadora los detecta y los corrige.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 dos variables de entrada ya no buscamos una recta sino un plano en 3D. Con p variables, un hiperplano que no podemos dibujar, pero la lógica es igual: un coeficiente por variable y el criterio sigue siendo minimizar el SSE.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Ejemplo con el plano: inversión 150 y petróleo 60 → ŷ = −2.24 + 0.0189·150 + 0.0300·60 = −2.24 + 2.835 + 1.80 = 2.395. Si la inversión sube a 160 y el petróleo se queda en 60, ŷ sube 10 × 0.0189 = 0.189. Eso es ceteris paribus. Cuidado: los coeficientes no se comparan directamente si las variables tienen escalas distintas.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Codificar Costa=1, Sierra=2, Amazonía=3, Insular=4 inventaría un orden y distancias que no existen. La solución es One-Hot Encoding: una columna 0/1 por categoría (variables dummy). Una categoría se deja fuera como referencia, porque con todas las columnas siempre suman 1 y repiten la información del intercepto (trampa de las dummies). Con k categorías se usan k − 1 columnas.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coeficiente de una dummy es la diferencia en la predicción respecto a la categoría de referencia (Amazonía para región, Agro para sector), manteniendo constantes las demás variables. Ejemplo: Insular +0.74 significa que, con iguales condiciones económicas, la predicción para Insular es 0.74 pp mayor que para Amazonía.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Comparamos el error en Validation. Baseline: predecir siempre la media. Cada bloque de información reduce el RMSE y sube el R². El mejor modelo: múltiple con región y sector. En Test (una sola vez, al final): RMSE 0.997 y R² 0.369, error típico de alrededor de 1 punto porcentual.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Resumen para cerrar la jornada.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Todo lo que hicimos a mano lo repetiremos en el notebook. La computadora no hace nada distinto: hace las mismas cuentas, más rápido y con miles de filas. El agente de IA les ayudará a escribir el código; su tarea es verificar que los resultados coincidan con lo que ya saben calcular.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"/>
          <p:cNvSpPr txBox="1">
            <a:spLocks noGrp="1"/>
          </p:cNvSpPr>
          <p:nvPr>
            <p:ph type="ctrTitle"/>
          </p:nvPr>
        </p:nvSpPr>
        <p:spPr>
          <a:xfrm>
            <a:off x="1187624" y="5013176"/>
            <a:ext cx="6768752" cy="864095"/>
          </a:xfrm>
          <a:prstGeom prst="rect">
            <a:avLst/>
          </a:prstGeom>
          <a:solidFill>
            <a:srgbClr val="1B1E3E">
              <a:alpha val="4901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ubTitle" idx="1"/>
          </p:nvPr>
        </p:nvSpPr>
        <p:spPr>
          <a:xfrm>
            <a:off x="0" y="5949280"/>
            <a:ext cx="3707904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240"/>
              </a:spcBef>
              <a:spcAft>
                <a:spcPts val="0"/>
              </a:spcAft>
              <a:buClr>
                <a:srgbClr val="D8D8D8"/>
              </a:buClr>
              <a:buSzPts val="1200"/>
              <a:buNone/>
              <a:defRPr sz="1200">
                <a:solidFill>
                  <a:srgbClr val="D8D8D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body" idx="1"/>
          </p:nvPr>
        </p:nvSpPr>
        <p:spPr>
          <a:xfrm>
            <a:off x="457200" y="2132856"/>
            <a:ext cx="8229600" cy="3993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"/>
          <p:cNvSpPr txBox="1"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body" idx="1"/>
          </p:nvPr>
        </p:nvSpPr>
        <p:spPr>
          <a:xfrm>
            <a:off x="457200" y="2060848"/>
            <a:ext cx="4038600" cy="4065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body" idx="2"/>
          </p:nvPr>
        </p:nvSpPr>
        <p:spPr>
          <a:xfrm>
            <a:off x="4648200" y="2060848"/>
            <a:ext cx="4038600" cy="4065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 txBox="1">
            <a:spLocks noGrp="1"/>
          </p:cNvSpPr>
          <p:nvPr>
            <p:ph type="title"/>
          </p:nvPr>
        </p:nvSpPr>
        <p:spPr>
          <a:xfrm>
            <a:off x="722313" y="4443189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457200" y="2060848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body" idx="2"/>
          </p:nvPr>
        </p:nvSpPr>
        <p:spPr>
          <a:xfrm>
            <a:off x="457200" y="2708919"/>
            <a:ext cx="4040188" cy="3417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3"/>
          </p:nvPr>
        </p:nvSpPr>
        <p:spPr>
          <a:xfrm>
            <a:off x="4645025" y="2060848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body" idx="4"/>
          </p:nvPr>
        </p:nvSpPr>
        <p:spPr>
          <a:xfrm>
            <a:off x="4645025" y="2708919"/>
            <a:ext cx="4041775" cy="3417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457200" y="980728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1"/>
          </p:nvPr>
        </p:nvSpPr>
        <p:spPr>
          <a:xfrm>
            <a:off x="3575050" y="980728"/>
            <a:ext cx="5111750" cy="514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body" idx="2"/>
          </p:nvPr>
        </p:nvSpPr>
        <p:spPr>
          <a:xfrm>
            <a:off x="457200" y="2132856"/>
            <a:ext cx="3008313" cy="3993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>
            <a:spLocks noGrp="1"/>
          </p:cNvSpPr>
          <p:nvPr>
            <p:ph type="title"/>
          </p:nvPr>
        </p:nvSpPr>
        <p:spPr>
          <a:xfrm>
            <a:off x="1792288" y="486916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>
            <a:spLocks noGrp="1"/>
          </p:cNvSpPr>
          <p:nvPr>
            <p:ph type="pic" idx="2"/>
          </p:nvPr>
        </p:nvSpPr>
        <p:spPr>
          <a:xfrm>
            <a:off x="1792288" y="908720"/>
            <a:ext cx="5486400" cy="3888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body" idx="1"/>
          </p:nvPr>
        </p:nvSpPr>
        <p:spPr>
          <a:xfrm>
            <a:off x="1792288" y="5432450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1"/>
          </p:nvPr>
        </p:nvSpPr>
        <p:spPr>
          <a:xfrm rot="5400000">
            <a:off x="2575346" y="14710"/>
            <a:ext cx="3993307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 txBox="1">
            <a:spLocks noGrp="1"/>
          </p:cNvSpPr>
          <p:nvPr>
            <p:ph type="title"/>
          </p:nvPr>
        </p:nvSpPr>
        <p:spPr>
          <a:xfrm rot="5400000">
            <a:off x="5085382" y="2524745"/>
            <a:ext cx="514543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body" idx="1"/>
          </p:nvPr>
        </p:nvSpPr>
        <p:spPr>
          <a:xfrm rot="5400000">
            <a:off x="894383" y="543546"/>
            <a:ext cx="514543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/>
              <a:buNone/>
              <a:defRPr sz="3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457200" y="2132856"/>
            <a:ext cx="8229600" cy="3993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 txBox="1">
            <a:spLocks noGrp="1"/>
          </p:cNvSpPr>
          <p:nvPr>
            <p:ph type="ctrTitle"/>
          </p:nvPr>
        </p:nvSpPr>
        <p:spPr>
          <a:xfrm>
            <a:off x="368850" y="1972369"/>
            <a:ext cx="2957730" cy="2237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lang="es-EC" sz="2600" dirty="0">
                <a:solidFill>
                  <a:srgbClr val="092240"/>
                </a:solidFill>
              </a:rPr>
              <a:t>Día 1 — Regresión Lineal y Limpieza de Datos</a:t>
            </a:r>
            <a:endParaRPr sz="3600" dirty="0">
              <a:solidFill>
                <a:srgbClr val="092240"/>
              </a:solidFill>
            </a:endParaRPr>
          </a:p>
        </p:txBody>
      </p:sp>
      <p:sp>
        <p:nvSpPr>
          <p:cNvPr id="50" name="Google Shape;50;p1"/>
          <p:cNvSpPr txBox="1">
            <a:spLocks noGrp="1"/>
          </p:cNvSpPr>
          <p:nvPr>
            <p:ph type="subTitle" idx="1"/>
          </p:nvPr>
        </p:nvSpPr>
        <p:spPr>
          <a:xfrm>
            <a:off x="1472580" y="5451377"/>
            <a:ext cx="5000000" cy="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200"/>
              <a:buNone/>
            </a:pPr>
            <a:r>
              <a:rPr lang="es-EC" sz="2000" dirty="0">
                <a:solidFill>
                  <a:srgbClr val="595959"/>
                </a:solidFill>
              </a:rPr>
              <a:t>Módulo 3: Machine Learning Aplicado</a:t>
            </a:r>
          </a:p>
          <a:p>
            <a:r>
              <a:rPr sz="1800">
                <a:solidFill>
                  <a:srgbClr val="595959"/>
                </a:solidFill>
              </a:rPr>
              <a:t>13-10-2026 · Jonathan Rosero Soto</a:t>
            </a:r>
          </a:p>
        </p:txBody>
      </p:sp>
      <p:sp>
        <p:nvSpPr>
          <p:cNvPr id="2" name="Google Shape;49;p1">
            <a:extLst>
              <a:ext uri="{FF2B5EF4-FFF2-40B4-BE49-F238E27FC236}">
                <a16:creationId xmlns:a16="http://schemas.microsoft.com/office/drawing/2014/main" id="{A44FCFBF-4A46-52F2-39D4-3FA0ED93B6E0}"/>
              </a:ext>
            </a:extLst>
          </p:cNvPr>
          <p:cNvSpPr txBox="1">
            <a:spLocks/>
          </p:cNvSpPr>
          <p:nvPr/>
        </p:nvSpPr>
        <p:spPr>
          <a:xfrm>
            <a:off x="1402651" y="6219245"/>
            <a:ext cx="7192708" cy="47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 sz="24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300" b="0" dirty="0">
                <a:solidFill>
                  <a:schemeClr val="bg1">
                    <a:lumMod val="50000"/>
                  </a:schemeClr>
                </a:solidFill>
              </a:rPr>
              <a:t>Edificio Aulas y Relación con el Medio Externo, Av. Toledo N23-55 y Madrid </a:t>
            </a:r>
          </a:p>
          <a:p>
            <a:r>
              <a:rPr lang="es-ES" sz="1300" b="0" dirty="0">
                <a:solidFill>
                  <a:schemeClr val="bg1">
                    <a:lumMod val="50000"/>
                  </a:schemeClr>
                </a:solidFill>
              </a:rPr>
              <a:t>Telf.: +593 2 2525766 - </a:t>
            </a:r>
            <a:r>
              <a:rPr lang="en-US" sz="1300" b="0" dirty="0">
                <a:solidFill>
                  <a:schemeClr val="bg1">
                    <a:lumMod val="50000"/>
                  </a:schemeClr>
                </a:solidFill>
              </a:rPr>
              <a:t>Ext: 102 / 125 / 143 / 120 / 127 -</a:t>
            </a:r>
            <a:r>
              <a:rPr lang="es-ES" sz="1300" b="0" dirty="0">
                <a:solidFill>
                  <a:schemeClr val="bg1">
                    <a:lumMod val="50000"/>
                  </a:schemeClr>
                </a:solidFill>
              </a:rPr>
              <a:t> www.cec-epn.edu.ec</a:t>
            </a:r>
            <a:endParaRPr lang="es-EC" sz="13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Ruta de la jornada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7772400" cy="713232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2093976"/>
            <a:ext cx="457200" cy="45720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011679"/>
            <a:ext cx="283464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Regresión lineal simple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011679"/>
            <a:ext cx="411480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Arial"/>
              </a:rPr>
              <a:t>La recta que mejor resume los datos, calculada a mano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7772400" cy="713232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916936"/>
            <a:ext cx="457200" cy="45720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834639"/>
            <a:ext cx="283464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7263D"/>
                </a:solidFill>
                <a:latin typeface="Arial"/>
              </a:rPr>
              <a:t>¿Qué tan buena es la recta?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834639"/>
            <a:ext cx="411480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Arial"/>
              </a:rPr>
              <a:t>Residuos, MAE, MSE, RMSE, Bias, R² y correlación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11880"/>
            <a:ext cx="7772400" cy="713232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739896"/>
            <a:ext cx="457200" cy="45720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657600"/>
            <a:ext cx="283464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Datos nuevos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657600"/>
            <a:ext cx="411480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Arial"/>
              </a:rPr>
              <a:t>Train, Validation y Test: aprender vs memorizar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34840"/>
            <a:ext cx="7772400" cy="713232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4562855"/>
            <a:ext cx="457200" cy="45720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480559"/>
            <a:ext cx="283464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7263D"/>
                </a:solidFill>
                <a:latin typeface="Arial"/>
              </a:rPr>
              <a:t>Limpieza de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480559"/>
            <a:ext cx="411480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Arial"/>
              </a:rPr>
              <a:t>Duplicados, valores imposibles, atípicos y faltantes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57800"/>
            <a:ext cx="7772400" cy="713232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5385816"/>
            <a:ext cx="457200" cy="45720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303520"/>
            <a:ext cx="283464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Más de una variable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5303520"/>
            <a:ext cx="411480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Arial"/>
              </a:rPr>
              <a:t>Regresión múltiple y variables categóricas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6016752"/>
            <a:ext cx="777240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Regla del día: </a:t>
            </a:r>
            <a:r>
              <a:rPr sz="1200" b="0" i="1">
                <a:solidFill>
                  <a:srgbClr val="5F6368"/>
                </a:solidFill>
                <a:latin typeface="Arial"/>
              </a:rPr>
              <a:t>primero entender a mano, luego dejar que la computadora lo repita.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Estadística y ML: mismo problema, otro vocabulario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574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242852"/>
                </a:solidFill>
                <a:latin typeface="Arial"/>
              </a:rPr>
              <a:t>X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variables de entrada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926080" y="2331720"/>
            <a:ext cx="548640" cy="365760"/>
          </a:xfrm>
          <a:prstGeom prst="rightArrow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66160" y="1965960"/>
            <a:ext cx="2103120" cy="109728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Modelo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ŷ = f(X)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760720" y="2331720"/>
            <a:ext cx="548640" cy="365760"/>
          </a:xfrm>
          <a:prstGeom prst="rightArrow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20574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D7263D"/>
                </a:solidFill>
                <a:latin typeface="Arial"/>
              </a:rPr>
              <a:t>ŷ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predicción de 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7589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F6368"/>
                </a:solidFill>
                <a:latin typeface="Arial"/>
              </a:rPr>
              <a:t>Aprendizaje supervisado: </a:t>
            </a:r>
            <a:r>
              <a:rPr sz="1200" b="1" i="0">
                <a:solidFill>
                  <a:srgbClr val="5F6368"/>
                </a:solidFill>
                <a:latin typeface="Arial"/>
              </a:rPr>
              <a:t>aprendemos f con ejemplos donde conocemos X y también la respuesta real 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188720" y="3566160"/>
          <a:ext cx="6766560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En estadística decimos…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En Machine Learning decimos…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Variable dependiente / respuesta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Target, variable objetivo (y)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Variables independientes / regresoras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Features, predictores (X)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Observación / unidad muestral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Fila, ejemplo, instancia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Estimar los parámetros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Entrenar o ajustar el modelo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Valor ajustado / pronóstico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Predicción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Muestra de estimación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Conjunto de entrenamiento (Train)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Validación fuera de muestra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Validation y Test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26280"/>
            <a:ext cx="7589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F6368"/>
                </a:solidFill>
                <a:latin typeface="Arial"/>
              </a:rPr>
              <a:t>En esta sección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El problema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4607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La recta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7774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Residuos y SSE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0941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Cálculo de b₀ y b₁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148840"/>
            <a:ext cx="1463040" cy="146304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828800"/>
            <a:ext cx="5852160" cy="13716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42852"/>
                </a:solidFill>
                <a:latin typeface="Arial"/>
              </a:rPr>
              <a:t>Regresión lineal simple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291840"/>
            <a:ext cx="58521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F6368"/>
                </a:solidFill>
                <a:latin typeface="Arial"/>
              </a:rPr>
              <a:t>Una variable de entrada, una recta, y el criterio para elegir la mejor: todo calculado a mano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El problema: ¿cuánto crecerá la actividad?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2011680"/>
          <a:ext cx="3657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371600"/>
                <a:gridCol w="128016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Obs.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Inversión X (millones)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Crecimiento y (%)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1.2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1.8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2.7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five_poi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978564"/>
            <a:ext cx="3931920" cy="280943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80060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910328"/>
            <a:ext cx="3428999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Lo que observamos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58968"/>
            <a:ext cx="338328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Cuando la inversión sube, el crecimiento también tiende a subir, casi en línea recta.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4937760"/>
            <a:ext cx="3931920" cy="132588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Pregunta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Si X = 150 millones, ¿qué crecimiento predecimos?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Paso 0: graficar antes de calcular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1901952" cy="17373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75688"/>
            <a:ext cx="1673351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¿Sube o baja?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24328"/>
            <a:ext cx="1627632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Arial"/>
              </a:rPr>
              <a:t>Dirección de la relación (positiva o negativa)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965960"/>
            <a:ext cx="1901952" cy="17373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2075688"/>
            <a:ext cx="1673352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¿Recta o curva?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624328"/>
            <a:ext cx="1627632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Arial"/>
              </a:rPr>
              <a:t>Si es curva, una recta no la representa bien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79"/>
            <a:ext cx="1901952" cy="17373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50207"/>
            <a:ext cx="1673351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¿Muy dispersa?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98847"/>
            <a:ext cx="1627632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Arial"/>
              </a:rPr>
              <a:t>Mucha dispersión = predicciones menos precisas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840479"/>
            <a:ext cx="1901952" cy="17373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3950207"/>
            <a:ext cx="1673352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¿Puntos aislados?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4498847"/>
            <a:ext cx="1627632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Arial"/>
              </a:rPr>
              <a:t>Pueden ser errores o casos especiales</a:t>
            </a:r>
          </a:p>
        </p:txBody>
      </p:sp>
      <p:pic>
        <p:nvPicPr>
          <p:cNvPr id="15" name="Picture 14" descr="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121366"/>
            <a:ext cx="3657600" cy="206662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46320" y="4389120"/>
            <a:ext cx="3657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1">
                <a:solidFill>
                  <a:srgbClr val="5F6368"/>
                </a:solidFill>
                <a:latin typeface="Arial"/>
              </a:rPr>
              <a:t>Datos reales del curso: 287 meses-región-sector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4892040"/>
            <a:ext cx="3657600" cy="7772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50" b="0" i="0">
                <a:solidFill>
                  <a:srgbClr val="2B2B2B"/>
                </a:solidFill>
                <a:latin typeface="Arial"/>
              </a:rPr>
              <a:t>La nube real sube suavemente, pero con </a:t>
            </a:r>
            <a:r>
              <a:rPr sz="1150" b="1" i="0">
                <a:solidFill>
                  <a:srgbClr val="D7263D"/>
                </a:solidFill>
                <a:latin typeface="Arial"/>
              </a:rPr>
              <a:t>mucha dispersión</a:t>
            </a:r>
            <a:r>
              <a:rPr sz="1150" b="0" i="0">
                <a:solidFill>
                  <a:srgbClr val="2B2B2B"/>
                </a:solidFill>
                <a:latin typeface="Arial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760720"/>
            <a:ext cx="7772400" cy="530352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Nuestros 5 puntos </a:t>
            </a:r>
            <a:r>
              <a:rPr sz="1200" b="0" i="0">
                <a:solidFill>
                  <a:srgbClr val="2B2B2B"/>
                </a:solidFill>
                <a:latin typeface="Arial"/>
              </a:rPr>
              <a:t>forman casi una recta: por eso son ideales para aprender el cálculo.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La ecuación de una recta</a:t>
            </a:r>
          </a:p>
        </p:txBody>
      </p:sp>
      <p:pic>
        <p:nvPicPr>
          <p:cNvPr id="3" name="Picture 2" descr="s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55409"/>
            <a:ext cx="4206240" cy="322150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120640" y="2011680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ŷ  =  b₀  +  b₁ · 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320040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3172968"/>
            <a:ext cx="265176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valor predicho de y (crecimiento 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3767328"/>
            <a:ext cx="640080" cy="45720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b₀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3739896"/>
            <a:ext cx="265176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intercepto: ŷ cuando X =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4334256"/>
            <a:ext cx="640080" cy="457200"/>
          </a:xfrm>
          <a:prstGeom prst="roundRect">
            <a:avLst>
              <a:gd name="adj" fmla="val 8000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b₁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306824"/>
            <a:ext cx="265176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pendiente: cambio de ŷ por cada unidad de 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4901183"/>
            <a:ext cx="640080" cy="45720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873751"/>
            <a:ext cx="265176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variable de entrada (inversión, millones)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y ≠ ŷ: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y es lo que realmente ocurrió; ŷ es lo que dice la recta. La diferencia entre ambos es el error.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Infinitas rectas posibles: ¿cuál elegimos?</a:t>
            </a:r>
          </a:p>
        </p:txBody>
      </p:sp>
      <p:pic>
        <p:nvPicPr>
          <p:cNvPr id="3" name="Picture 2" descr="candidates_pl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54496"/>
            <a:ext cx="4572000" cy="322332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0" y="2011680"/>
          <a:ext cx="30175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91440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Recta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b₀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b₁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Gris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−2.00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0.0200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Naranja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−1.00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0.0300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Verde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+0.50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0.0100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Azul</a:t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−0.99</a:t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0.0225</a:t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0" y="4206240"/>
            <a:ext cx="3017520" cy="100584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¿Cómo decidimos?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Midiendo la distancia de cada punto a la recta.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486400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Idea clave: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la mejor recta es la que, en conjunto, queda más cerca de todos los puntos.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El residuo: la distancia entre lo real y lo predicho</a:t>
            </a:r>
          </a:p>
        </p:txBody>
      </p:sp>
      <p:pic>
        <p:nvPicPr>
          <p:cNvPr id="3" name="Picture 2" descr="residual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79483"/>
            <a:ext cx="4114800" cy="259047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0" y="2011680"/>
            <a:ext cx="3474720" cy="77724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eᵢ = yᵢ − ŷᵢ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926080"/>
            <a:ext cx="34747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Ejemplo para la observación 1 (X = 100):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337560"/>
            <a:ext cx="3474720" cy="475488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Predicción:  </a:t>
            </a:r>
            <a:r>
              <a:rPr sz="1200" b="0" i="0">
                <a:solidFill>
                  <a:srgbClr val="2B2B2B"/>
                </a:solidFill>
                <a:latin typeface="Arial"/>
              </a:rPr>
              <a:t>ŷ = −0.99 + 0.0225 × 100 = 1.26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3886200"/>
            <a:ext cx="3474720" cy="475488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Real:  </a:t>
            </a:r>
            <a:r>
              <a:rPr sz="1200" b="0" i="0">
                <a:solidFill>
                  <a:srgbClr val="2B2B2B"/>
                </a:solidFill>
                <a:latin typeface="Arial"/>
              </a:rPr>
              <a:t>y = 1.20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4434840"/>
            <a:ext cx="3474720" cy="475488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Residuo:  </a:t>
            </a:r>
            <a:r>
              <a:rPr sz="1200" b="0" i="0">
                <a:solidFill>
                  <a:srgbClr val="2B2B2B"/>
                </a:solidFill>
                <a:latin typeface="Arial"/>
              </a:rPr>
              <a:t>e = 1.20 − 1.26 = −0.06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3794760" cy="10515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e &gt; 0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real mayor que predicho: subestimó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5212080"/>
            <a:ext cx="3794760" cy="10515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D7263D"/>
                </a:solidFill>
                <a:latin typeface="Arial"/>
              </a:rPr>
              <a:t>e &lt; 0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real menor que predicho: sobreestimó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SSE: sumar los errores al cuadrado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SSE = Σ (yᵢ − ŷᵢ)²  =  e₁² + e₂² + … + eₙ²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Si solo sumamos</a:t>
            </a:r>
          </a:p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D7263D"/>
                </a:solidFill>
                <a:latin typeface="Arial"/>
              </a:rPr>
              <a:t>+2 + (−2) = 0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¡parece que no hay error!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92608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Si elevamos al cuadrado</a:t>
            </a:r>
          </a:p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42852"/>
                </a:solidFill>
                <a:latin typeface="Arial"/>
              </a:rPr>
              <a:t>4 + 4 = 8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todo error cuenta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92608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Errores grandes pesan más</a:t>
            </a:r>
          </a:p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42852"/>
                </a:solidFill>
                <a:latin typeface="Arial"/>
              </a:rPr>
              <a:t>1² = 1   ·   3² = 9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triple de error, 9 veces el castigo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4572000"/>
          <a:ext cx="77724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Recta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Gris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Naranja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Verde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Azul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Arial"/>
                        </a:rPr>
                        <a:t>SSE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9.30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5.66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0.99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D7263D"/>
                          </a:solidFill>
                          <a:latin typeface="Arial"/>
                        </a:rPr>
                        <a:t>0.027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623560"/>
            <a:ext cx="7772400" cy="64008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Ganadora: la recta azul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(SSE = 0.027). ¿Pero existe otra recta aún mejor?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Mínimos cuadrados: la fórmula de la mejor recta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3794760" cy="146304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C9D2E8"/>
                </a:solidFill>
                <a:latin typeface="Arial"/>
              </a:rPr>
              <a:t>Pendiente</a:t>
            </a:r>
          </a:p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b₁ = Σ(xᵢ − x̄)(yᵢ − ȳ)  /  Σ(xᵢ − x̄)²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9160" y="1965960"/>
            <a:ext cx="3794760" cy="1463040"/>
          </a:xfrm>
          <a:prstGeom prst="roundRect">
            <a:avLst>
              <a:gd name="adj" fmla="val 8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FBE8EA"/>
                </a:solidFill>
                <a:latin typeface="Arial"/>
              </a:rPr>
              <a:t>Intercepto</a:t>
            </a:r>
          </a:p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b₀ = ȳ − b₁ · x̄</a:t>
            </a:r>
          </a:p>
        </p:txBody>
      </p:sp>
      <p:pic>
        <p:nvPicPr>
          <p:cNvPr id="5" name="Picture 4" descr="quadra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18" y="3566160"/>
            <a:ext cx="3701523" cy="2743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846320" y="361188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83480" y="3721608"/>
            <a:ext cx="342900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¿Qué mide el numerador?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4270248"/>
            <a:ext cx="33832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Arial"/>
              </a:rPr>
              <a:t>Si X e y están </a:t>
            </a:r>
            <a:r>
              <a:rPr sz="1150" b="1" i="0">
                <a:solidFill>
                  <a:srgbClr val="2B2B2B"/>
                </a:solidFill>
                <a:latin typeface="Arial"/>
              </a:rPr>
              <a:t>del mismo lado</a:t>
            </a:r>
            <a:r>
              <a:rPr sz="1150" b="0" i="0">
                <a:solidFill>
                  <a:srgbClr val="2B2B2B"/>
                </a:solidFill>
                <a:latin typeface="Arial"/>
              </a:rPr>
              <a:t> de sus medias, el producto es positivo. Si la mayoría de puntos cae en esos cuadrantes, la pendiente es positiva.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5074920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5184648"/>
            <a:ext cx="342900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Equivalencias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5733288"/>
            <a:ext cx="33832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B2B2B"/>
                </a:solidFill>
                <a:latin typeface="Arial"/>
              </a:rPr>
              <a:t>b₁ = Cov(X, y) / Var(X)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Arial"/>
              </a:rPr>
              <a:t>La recta siempre pasa por el punto (x̄, ȳ).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Cálculo a mano · Paso 1: las medias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7772400" cy="141732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27432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42852"/>
                </a:solidFill>
                <a:latin typeface="Arial"/>
              </a:rPr>
              <a:t>Media de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512064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Arial"/>
              </a:rPr>
              <a:t>x̄ = (100 + 120 + 140 + 160 + 180)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331720"/>
            <a:ext cx="2240280" cy="77724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= 700 / 5 = 140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11880"/>
            <a:ext cx="7772400" cy="141732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27432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7263D"/>
                </a:solidFill>
                <a:latin typeface="Arial"/>
              </a:rPr>
              <a:t>Media de 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512064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Arial"/>
              </a:rPr>
              <a:t>ȳ = (1.2 + 1.8 + 2.1 + 2.7 + 3.0) /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2240280" cy="777240"/>
          </a:xfrm>
          <a:prstGeom prst="roundRect">
            <a:avLst>
              <a:gd name="adj" fmla="val 8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= 10.8 / 5 = 2.16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49240"/>
            <a:ext cx="7772400" cy="91440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Centro de la nube:  (x̄, ȳ) = (140, 2.16)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La mejor recta pasa obligatoriamente por este punto.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Cálculo a mano · Paso 2: desviaciones y productos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965960"/>
          <a:ext cx="7772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188720"/>
                <a:gridCol w="1188720"/>
                <a:gridCol w="1828800"/>
                <a:gridCol w="155448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xᵢ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yᵢ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xᵢ − x̄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yᵢ − ȳ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(xᵢ − x̄)(yᵢ − ȳ)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(xᵢ − x̄)²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1.2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−40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−0.96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38.4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1600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1.8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−20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−0.36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7.2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−0.06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2.7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0.54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10.8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0.84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33.6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1600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2B2B2B"/>
                          </a:solidFill>
                          <a:latin typeface="Arial"/>
                        </a:rPr>
                        <a:t>Suma</a:t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D7263D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D7263D"/>
                          </a:solidFill>
                          <a:latin typeface="Arial"/>
                        </a:rPr>
                        <a:t>4000</a:t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5029200"/>
            <a:ext cx="3794760" cy="12344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Ejemplo fila 1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(100 − 140) = −40   ·   (1.2 − 2.16) = −0.96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(−40) × (−0.96) = 38.4   ·   (−40)² = 1600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5029200"/>
            <a:ext cx="3794760" cy="123444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Todos los productos son ≥ 0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Los puntos están en los cuadrantes “positivos”: la pendiente será positiva.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Cálculo a mano · Paso 3: pendiente e intercepto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794760" cy="210312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Pendiente</a:t>
            </a:r>
          </a:p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2B2B2B"/>
                </a:solidFill>
                <a:latin typeface="Arial"/>
              </a:rPr>
              <a:t>b₁ = 90 / 4000</a:t>
            </a:r>
          </a:p>
          <a:p>
            <a:pPr algn="ctr">
              <a:spcAft>
                <a:spcPts val="300"/>
              </a:spcAft>
            </a:pPr>
            <a:r>
              <a:rPr sz="2600" b="1" i="0">
                <a:solidFill>
                  <a:srgbClr val="242852"/>
                </a:solidFill>
                <a:latin typeface="Arial"/>
              </a:rPr>
              <a:t>b₁ = 0.0225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9160" y="2011680"/>
            <a:ext cx="3794760" cy="210312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D7263D"/>
                </a:solidFill>
                <a:latin typeface="Arial"/>
              </a:rPr>
              <a:t>Intercepto</a:t>
            </a:r>
          </a:p>
          <a:p>
            <a:pPr algn="ctr">
              <a:spcAft>
                <a:spcPts val="300"/>
              </a:spcAft>
            </a:pPr>
            <a:r>
              <a:rPr sz="1600" b="0" i="0">
                <a:solidFill>
                  <a:srgbClr val="2B2B2B"/>
                </a:solidFill>
                <a:latin typeface="Arial"/>
              </a:rPr>
              <a:t>b₀ = 2.16 − 0.0225 × 140</a:t>
            </a:r>
          </a:p>
          <a:p>
            <a:pPr algn="ctr">
              <a:spcAft>
                <a:spcPts val="300"/>
              </a:spcAft>
            </a:pPr>
            <a:r>
              <a:rPr sz="1600" b="0" i="0">
                <a:solidFill>
                  <a:srgbClr val="2B2B2B"/>
                </a:solidFill>
                <a:latin typeface="Arial"/>
              </a:rPr>
              <a:t>b₀ = 2.16 − 3.15</a:t>
            </a:r>
          </a:p>
          <a:p>
            <a:pPr algn="ctr">
              <a:spcAft>
                <a:spcPts val="300"/>
              </a:spcAft>
            </a:pPr>
            <a:r>
              <a:rPr sz="2600" b="1" i="0">
                <a:solidFill>
                  <a:srgbClr val="D7263D"/>
                </a:solidFill>
                <a:latin typeface="Arial"/>
              </a:rPr>
              <a:t>b₀ = −0.99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43400"/>
            <a:ext cx="7772400" cy="100584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La recta de mínimos cuadrados es</a:t>
            </a:r>
          </a:p>
          <a:p>
            <a:pPr algn="ctr"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ŷ = −0.99 + 0.0225 · 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486400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Verificación: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ninguna otra recta tiene un SSE menor que 0.027 para estos 5 puntos. En el notebook comprobaremos que la computadora da exactamente estos números.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Usar la recta para predecir</a:t>
            </a:r>
          </a:p>
        </p:txBody>
      </p:sp>
      <p:pic>
        <p:nvPicPr>
          <p:cNvPr id="3" name="Picture 2" descr="pred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51755"/>
            <a:ext cx="4297680" cy="30459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212080" y="2011680"/>
            <a:ext cx="3291840" cy="182880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Pregunta: X = 150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ŷ = −0.99 + 0.0225 × 150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ŷ = −0.99 + 3.375</a:t>
            </a:r>
          </a:p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ŷ = 2.385 %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212080" y="4023360"/>
          <a:ext cx="329184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737360"/>
                <a:gridCol w="914400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X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Cálculo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ŷ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−0.99 + 2.475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1.485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−0.99 + 3.375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2.385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−0.99 + 3.825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2.835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486400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Así funciona todo modelo: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primero aprende los parámetros (b₀, b₁) con datos conocidos; después los usa para predecir casos nuevos.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Interpretar la pendiente y el intercepto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3794760" cy="19202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75688"/>
            <a:ext cx="35661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Pendiente  b₁ = 0.0225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24328"/>
            <a:ext cx="352044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Por cada </a:t>
            </a:r>
            <a:r>
              <a:rPr sz="1200" b="1" i="0">
                <a:solidFill>
                  <a:srgbClr val="2B2B2B"/>
                </a:solidFill>
                <a:latin typeface="Arial"/>
              </a:rPr>
              <a:t>1 millón más</a:t>
            </a:r>
            <a:r>
              <a:rPr sz="1200" b="0" i="0">
                <a:solidFill>
                  <a:srgbClr val="2B2B2B"/>
                </a:solidFill>
                <a:latin typeface="Arial"/>
              </a:rPr>
              <a:t> de inversión, la predicción de crecimiento sube </a:t>
            </a:r>
            <a:r>
              <a:rPr sz="1200" b="1" i="0">
                <a:solidFill>
                  <a:srgbClr val="242852"/>
                </a:solidFill>
                <a:latin typeface="Arial"/>
              </a:rPr>
              <a:t>0.0225 puntos porcentuales</a:t>
            </a:r>
            <a:r>
              <a:rPr sz="1200" b="0" i="0">
                <a:solidFill>
                  <a:srgbClr val="2B2B2B"/>
                </a:solidFill>
                <a:latin typeface="Arial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F6368"/>
                </a:solidFill>
                <a:latin typeface="Arial"/>
              </a:rPr>
              <a:t>10 millones más → +0.225 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965960"/>
            <a:ext cx="3794760" cy="192024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2075688"/>
            <a:ext cx="35661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7263D"/>
                </a:solidFill>
                <a:latin typeface="Arial"/>
              </a:rPr>
              <a:t>Intercepto  b₀ = −0.99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624328"/>
            <a:ext cx="352044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Valor de ŷ cuando la inversión es </a:t>
            </a:r>
            <a:r>
              <a:rPr sz="1200" b="1" i="0">
                <a:solidFill>
                  <a:srgbClr val="2B2B2B"/>
                </a:solidFill>
                <a:latin typeface="Arial"/>
              </a:rPr>
              <a:t>0</a:t>
            </a:r>
            <a:r>
              <a:rPr sz="1200" b="0" i="0">
                <a:solidFill>
                  <a:srgbClr val="2B2B2B"/>
                </a:solidFill>
                <a:latin typeface="Arial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Nunca observamos inversión 0: aquí no tiene interpretación económica, solo ubica la recta.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7772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Rango de inversión observado en el ejemplo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846320"/>
            <a:ext cx="7589520" cy="54864"/>
          </a:xfrm>
          <a:prstGeom prst="rect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2741" y="4645152"/>
            <a:ext cx="2759825" cy="457200"/>
          </a:xfrm>
          <a:prstGeom prst="rect">
            <a:avLst/>
          </a:prstGeom>
          <a:solidFill>
            <a:srgbClr val="E3F3F1"/>
          </a:solidFill>
          <a:ln w="15875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2A9D8F"/>
                </a:solidFill>
                <a:latin typeface="Arial"/>
              </a:rPr>
              <a:t>zona con datos: 100 – 180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38928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3530" y="5138928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98421" y="5138928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23312" y="5138928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150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8203" y="5138928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200</a:t>
            </a:r>
          </a:p>
        </p:txBody>
      </p:sp>
      <p:sp>
        <p:nvSpPr>
          <p:cNvPr id="17" name="Oval 16"/>
          <p:cNvSpPr/>
          <p:nvPr/>
        </p:nvSpPr>
        <p:spPr>
          <a:xfrm>
            <a:off x="740664" y="4791456"/>
            <a:ext cx="164592" cy="16459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39496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D7263D"/>
                </a:solidFill>
                <a:latin typeface="Arial"/>
              </a:rPr>
              <a:t>X = 0 → extrapolación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806440"/>
            <a:ext cx="7772400" cy="50292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Asociación ≠ causalidad: </a:t>
            </a:r>
            <a:r>
              <a:rPr sz="1200" b="0" i="0">
                <a:solidFill>
                  <a:srgbClr val="2B2B2B"/>
                </a:solidFill>
                <a:latin typeface="Arial"/>
              </a:rPr>
              <a:t>la recta describe cómo se mueven juntas las variables; no prueba que invertir cause el crecimiento.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Supuestos del modelo lineal clásico: 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3794760" cy="1353312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2240279"/>
            <a:ext cx="731520" cy="73152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2039112"/>
            <a:ext cx="26974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Linealidad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404872"/>
            <a:ext cx="26974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La relación media entre X e y es una recta.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880360"/>
            <a:ext cx="26974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F6368"/>
                </a:solidFill>
                <a:latin typeface="Arial"/>
              </a:rPr>
              <a:t>Revisar: </a:t>
            </a:r>
            <a:r>
              <a:rPr sz="1050" b="0" i="1">
                <a:solidFill>
                  <a:srgbClr val="5F6368"/>
                </a:solidFill>
                <a:latin typeface="Arial"/>
              </a:rPr>
              <a:t>Residuos sin forma de curva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965960"/>
            <a:ext cx="3794760" cy="1353312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00600" y="2240279"/>
            <a:ext cx="731520" cy="7315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79" y="2039112"/>
            <a:ext cx="26974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7263D"/>
                </a:solidFill>
                <a:latin typeface="Arial"/>
              </a:rPr>
              <a:t>Independencia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79" y="2404872"/>
            <a:ext cx="26974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El error de una fila no depende de otra.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79" y="2880360"/>
            <a:ext cx="26974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F6368"/>
                </a:solidFill>
                <a:latin typeface="Arial"/>
              </a:rPr>
              <a:t>Revisar: </a:t>
            </a:r>
            <a:r>
              <a:rPr sz="1050" b="0" i="1">
                <a:solidFill>
                  <a:srgbClr val="5F6368"/>
                </a:solidFill>
                <a:latin typeface="Arial"/>
              </a:rPr>
              <a:t>Cuidado con datos en el tiempo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29000"/>
            <a:ext cx="3794760" cy="1353312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3703320"/>
            <a:ext cx="731520" cy="73152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502152"/>
            <a:ext cx="26974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Normalidad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867912"/>
            <a:ext cx="26974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Los errores siguen una distribución normal.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343400"/>
            <a:ext cx="26974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F6368"/>
                </a:solidFill>
                <a:latin typeface="Arial"/>
              </a:rPr>
              <a:t>Revisar: </a:t>
            </a:r>
            <a:r>
              <a:rPr sz="1050" b="0" i="1">
                <a:solidFill>
                  <a:srgbClr val="5F6368"/>
                </a:solidFill>
                <a:latin typeface="Arial"/>
              </a:rPr>
              <a:t>Histograma de residuos en campana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429000"/>
            <a:ext cx="3794760" cy="1353312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00600" y="3703320"/>
            <a:ext cx="731520" cy="7315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79" y="3502152"/>
            <a:ext cx="26974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7263D"/>
                </a:solidFill>
                <a:latin typeface="Arial"/>
              </a:rPr>
              <a:t>Igual varianza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79" y="3867912"/>
            <a:ext cx="26974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La dispersión de los errores es constante.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79" y="4343400"/>
            <a:ext cx="26974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F6368"/>
                </a:solidFill>
                <a:latin typeface="Arial"/>
              </a:rPr>
              <a:t>Revisar: </a:t>
            </a:r>
            <a:r>
              <a:rPr sz="1050" b="0" i="1">
                <a:solidFill>
                  <a:srgbClr val="5F6368"/>
                </a:solidFill>
                <a:latin typeface="Arial"/>
              </a:rPr>
              <a:t>Residuos sin forma de embudo</a:t>
            </a:r>
          </a:p>
        </p:txBody>
      </p:sp>
      <p:pic>
        <p:nvPicPr>
          <p:cNvPr id="23" name="Picture 22" descr="resid_patter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574" y="4937760"/>
            <a:ext cx="5046291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26280"/>
            <a:ext cx="7589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F6368"/>
                </a:solidFill>
                <a:latin typeface="Arial"/>
              </a:rPr>
              <a:t>En esta sección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Cinco métricas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4607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Cálculo a mano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7774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R² y la media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0941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Correlación r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148840"/>
            <a:ext cx="1463040" cy="146304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828800"/>
            <a:ext cx="5852160" cy="13716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42852"/>
                </a:solidFill>
                <a:latin typeface="Arial"/>
              </a:rPr>
              <a:t>¿Qué tan buena es la recta?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291840"/>
            <a:ext cx="58521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F6368"/>
                </a:solidFill>
                <a:latin typeface="Arial"/>
              </a:rPr>
              <a:t>Medir los errores: cada métrica responde una pregunta distinta, y todas se pueden calcular a mano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Cinco métricas, cinco preguntas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057400"/>
            <a:ext cx="1051560" cy="59436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MAE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79"/>
            <a:ext cx="219456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promedio de |e|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011679"/>
            <a:ext cx="283464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¿Cuánto me equivoco normalmente?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2011679"/>
            <a:ext cx="137160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ideal = 0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unidades de 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39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926079"/>
            <a:ext cx="1051560" cy="594360"/>
          </a:xfrm>
          <a:prstGeom prst="roundRect">
            <a:avLst>
              <a:gd name="adj" fmla="val 8000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880359"/>
            <a:ext cx="219456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promedio de e²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880359"/>
            <a:ext cx="283464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Error cuadrático medio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880359"/>
            <a:ext cx="137160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D5A99"/>
                </a:solidFill>
                <a:latin typeface="Arial"/>
              </a:rPr>
              <a:t>ideal = 0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unidades²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794759"/>
            <a:ext cx="1051560" cy="594360"/>
          </a:xfrm>
          <a:prstGeom prst="roundRect">
            <a:avLst>
              <a:gd name="adj" fmla="val 8000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RMSE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749039"/>
            <a:ext cx="219456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√MSE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749039"/>
            <a:ext cx="283464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¿Qué tan grandes son los errores grandes?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749039"/>
            <a:ext cx="137160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D5A99"/>
                </a:solidFill>
                <a:latin typeface="Arial"/>
              </a:rPr>
              <a:t>ideal = 0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unidades de 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663440"/>
            <a:ext cx="1051560" cy="594360"/>
          </a:xfrm>
          <a:prstGeom prst="roundRect">
            <a:avLst>
              <a:gd name="adj" fmla="val 8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Bias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617720"/>
            <a:ext cx="219456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promedio de (ŷ − 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617720"/>
            <a:ext cx="283464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¿Sobreestimo o subestimo sistemáticamente?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617720"/>
            <a:ext cx="137160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ideal = 0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+ sobre / − sub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40679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532119"/>
            <a:ext cx="1051560" cy="59436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R²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486399"/>
            <a:ext cx="219456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1 − SSE / SST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5486399"/>
            <a:ext cx="283464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¿Cuánto mejoro frente a predecir siempre la media?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5486399"/>
            <a:ext cx="137160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9D8F"/>
                </a:solidFill>
                <a:latin typeface="Arial"/>
              </a:rPr>
              <a:t>ideal = 1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sin unidades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Las métricas calculadas a mano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965960"/>
          <a:ext cx="40233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731520"/>
                <a:gridCol w="914400"/>
                <a:gridCol w="731520"/>
                <a:gridCol w="9144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y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ŷ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 = y − ŷ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|e|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e²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−0.06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0.0036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1.8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1.71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+0.09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0.09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0.0081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2.16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−0.06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0.0036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2.7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2.61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+0.09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0.09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0.0081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3.06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−0.06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0.0036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Suma</a:t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0.00</a:t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0.36</a:t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0.027</a:t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983480" y="1965960"/>
            <a:ext cx="914400" cy="50292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MAE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1965960"/>
            <a:ext cx="160020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Arial"/>
              </a:rPr>
              <a:t>0.36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965960"/>
            <a:ext cx="10058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 i="0">
                <a:solidFill>
                  <a:srgbClr val="242852"/>
                </a:solidFill>
                <a:latin typeface="Arial"/>
              </a:rPr>
              <a:t>0.072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2606039"/>
            <a:ext cx="914400" cy="502920"/>
          </a:xfrm>
          <a:prstGeom prst="roundRect">
            <a:avLst>
              <a:gd name="adj" fmla="val 8000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MSE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2606039"/>
            <a:ext cx="160020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Arial"/>
              </a:rPr>
              <a:t>0.027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606039"/>
            <a:ext cx="10058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 i="0">
                <a:solidFill>
                  <a:srgbClr val="3D5A99"/>
                </a:solidFill>
                <a:latin typeface="Arial"/>
              </a:rPr>
              <a:t>0.0054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3246120"/>
            <a:ext cx="914400" cy="502920"/>
          </a:xfrm>
          <a:prstGeom prst="roundRect">
            <a:avLst>
              <a:gd name="adj" fmla="val 8000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RMSE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3246120"/>
            <a:ext cx="160020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Arial"/>
              </a:rPr>
              <a:t>√0.0054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246120"/>
            <a:ext cx="10058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 i="0">
                <a:solidFill>
                  <a:srgbClr val="3D5A99"/>
                </a:solidFill>
                <a:latin typeface="Arial"/>
              </a:rPr>
              <a:t>0.073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3886200"/>
            <a:ext cx="914400" cy="502920"/>
          </a:xfrm>
          <a:prstGeom prst="roundRect">
            <a:avLst>
              <a:gd name="adj" fmla="val 8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Bias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886200"/>
            <a:ext cx="160020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2B2B"/>
                </a:solidFill>
                <a:latin typeface="Arial"/>
              </a:rPr>
              <a:t>0.00 /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886200"/>
            <a:ext cx="10058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 i="0">
                <a:solidFill>
                  <a:srgbClr val="D7263D"/>
                </a:solidFill>
                <a:latin typeface="Arial"/>
              </a:rPr>
              <a:t>0.000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92040"/>
            <a:ext cx="7772400" cy="137160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Interpretación: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en promedio la recta se equivoca 0.07 puntos porcentuales, sin tendencia a pasarse ni a quedarse corta.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Pero…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lo medimos con los mismos datos con los que se calculó la recta. ¿Funcionará con datos nuevos?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R²: ¿cuánto mejora la recta frente a la media?</a:t>
            </a:r>
          </a:p>
        </p:txBody>
      </p:sp>
      <p:pic>
        <p:nvPicPr>
          <p:cNvPr id="3" name="Picture 2" descr="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84495"/>
            <a:ext cx="4846320" cy="188316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720" y="1965960"/>
          <a:ext cx="27432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14400"/>
                <a:gridCol w="10972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y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y − ȳ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(y − ȳ)²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−0.96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0.9216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1.8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−0.36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0.1296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−0.06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0.0036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2.7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0.54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0.2916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0.84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0.7056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SST</a:t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D7263D"/>
                          </a:solidFill>
                          <a:latin typeface="Arial"/>
                        </a:rPr>
                        <a:t>2.052</a:t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251960"/>
            <a:ext cx="4846320" cy="118872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R² = 1 − SSE / SST</a:t>
            </a:r>
          </a:p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= 1 − 0.027 / 2.052 = 0.987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4434840"/>
            <a:ext cx="2743200" cy="100584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R² &lt; 0 es posible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con datos nuevos, si el modelo es peor que la media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7772400" cy="64008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Lectura: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la recta reduce el error cuadrático en 98.7 % respecto a predecir siempre 2.16 %.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Correlación r y su relación con R²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242852"/>
                </a:solidFill>
                <a:latin typeface="Arial"/>
              </a:rPr>
              <a:t>r = </a:t>
            </a:r>
            <a:r>
              <a:rPr sz="1700" b="1" i="0">
                <a:solidFill>
                  <a:srgbClr val="242852"/>
                </a:solidFill>
                <a:latin typeface="Arial"/>
              </a:rPr>
              <a:t>Σ(xᵢ − x̄)(yᵢ − ȳ)</a:t>
            </a:r>
            <a:r>
              <a:rPr sz="1800" b="0" i="0">
                <a:solidFill>
                  <a:srgbClr val="242852"/>
                </a:solidFill>
                <a:latin typeface="Arial"/>
              </a:rPr>
              <a:t>  /  </a:t>
            </a:r>
            <a:r>
              <a:rPr sz="1700" b="1" i="0">
                <a:solidFill>
                  <a:srgbClr val="242852"/>
                </a:solidFill>
                <a:latin typeface="Arial"/>
              </a:rPr>
              <a:t>√[ Σ(xᵢ − x̄)² · Σ(yᵢ − ȳ)² ]</a:t>
            </a:r>
          </a:p>
        </p:txBody>
      </p:sp>
      <p:pic>
        <p:nvPicPr>
          <p:cNvPr id="4" name="Picture 3" descr="corr_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77379"/>
            <a:ext cx="7772400" cy="165188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709160"/>
            <a:ext cx="3794760" cy="155448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C9D2E8"/>
                </a:solidFill>
                <a:latin typeface="Arial"/>
              </a:rPr>
              <a:t>Con nuestros 5 puntos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r = 90 / √(4000 × 2.052)</a:t>
            </a:r>
          </a:p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r = 0.993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4709160"/>
            <a:ext cx="3794760" cy="1554480"/>
          </a:xfrm>
          <a:prstGeom prst="roundRect">
            <a:avLst>
              <a:gd name="adj" fmla="val 8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5F6368"/>
                </a:solidFill>
                <a:latin typeface="Arial"/>
              </a:rPr>
              <a:t>En regresión simple</a:t>
            </a:r>
          </a:p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2A9D8F"/>
                </a:solidFill>
                <a:latin typeface="Arial"/>
              </a:rPr>
              <a:t>R² = r²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0.993² = 0.987 (coincide)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MAE vs RMSE, y la trampa del Bias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3794760" cy="251460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29968"/>
            <a:ext cx="3566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Modelo A: errores parejos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3566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|errores| de 4 predicciones: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291840"/>
            <a:ext cx="365760" cy="365760"/>
          </a:xfrm>
          <a:prstGeom prst="rect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675887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B2B2B"/>
                </a:solidFill>
                <a:latin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3291840"/>
            <a:ext cx="365760" cy="365760"/>
          </a:xfrm>
          <a:prstGeom prst="rect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675887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B2B2B"/>
                </a:solidFill>
                <a:latin typeface="Arial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400" y="3291840"/>
            <a:ext cx="365760" cy="365760"/>
          </a:xfrm>
          <a:prstGeom prst="rect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3675887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B2B2B"/>
                </a:solidFill>
                <a:latin typeface="Arial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3291840"/>
            <a:ext cx="365760" cy="365760"/>
          </a:xfrm>
          <a:prstGeom prst="rect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3675887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B2B2B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697480"/>
            <a:ext cx="132588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F6368"/>
                </a:solidFill>
                <a:latin typeface="Arial"/>
              </a:rPr>
              <a:t>MAE = </a:t>
            </a:r>
            <a:r>
              <a:rPr sz="2000" b="1" i="0">
                <a:solidFill>
                  <a:srgbClr val="242852"/>
                </a:solidFill>
                <a:latin typeface="Arial"/>
              </a:rPr>
              <a:t>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246120"/>
            <a:ext cx="132588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F6368"/>
                </a:solidFill>
                <a:latin typeface="Arial"/>
              </a:rPr>
              <a:t>RMSE = </a:t>
            </a:r>
            <a:r>
              <a:rPr sz="2000" b="1" i="0">
                <a:solidFill>
                  <a:srgbClr val="242852"/>
                </a:solidFill>
                <a:latin typeface="Arial"/>
              </a:rPr>
              <a:t>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23360"/>
            <a:ext cx="35661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2B2B2B"/>
                </a:solidFill>
                <a:latin typeface="Arial"/>
              </a:rPr>
              <a:t>RMSE = √[(1+1+1+1)/4] =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1965960"/>
            <a:ext cx="3794760" cy="251460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029968"/>
            <a:ext cx="3566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7263D"/>
                </a:solidFill>
                <a:latin typeface="Arial"/>
              </a:rPr>
              <a:t>Modelo B: un error grande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423160"/>
            <a:ext cx="3566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|errores| de 4 predicciones: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83479" y="3493008"/>
            <a:ext cx="365760" cy="16459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79" y="3675887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B2B2B"/>
                </a:solidFill>
                <a:latin typeface="Arial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399" y="3493008"/>
            <a:ext cx="365760" cy="16459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399" y="3675887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B2B2B"/>
                </a:solidFill>
                <a:latin typeface="Arial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19" y="3493008"/>
            <a:ext cx="365760" cy="16459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19" y="3675887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B2B2B"/>
                </a:solidFill>
                <a:latin typeface="Arial"/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2688336"/>
            <a:ext cx="365760" cy="969264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675887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B2B2B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2697480"/>
            <a:ext cx="132588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F6368"/>
                </a:solidFill>
                <a:latin typeface="Arial"/>
              </a:rPr>
              <a:t>MAE = </a:t>
            </a:r>
            <a:r>
              <a:rPr sz="2000" b="1" i="0">
                <a:solidFill>
                  <a:srgbClr val="242852"/>
                </a:solidFill>
                <a:latin typeface="Arial"/>
              </a:rPr>
              <a:t>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79" y="3246120"/>
            <a:ext cx="132588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F6368"/>
                </a:solidFill>
                <a:latin typeface="Arial"/>
              </a:rPr>
              <a:t>RMSE = </a:t>
            </a:r>
            <a:r>
              <a:rPr sz="2000" b="1" i="0">
                <a:solidFill>
                  <a:srgbClr val="D7263D"/>
                </a:solidFill>
                <a:latin typeface="Arial"/>
              </a:rPr>
              <a:t>2.0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4023360"/>
            <a:ext cx="35661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2B2B2B"/>
                </a:solidFill>
                <a:latin typeface="Arial"/>
              </a:rPr>
              <a:t>RMSE = √[(0+0+0+16)/4] =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617720"/>
            <a:ext cx="7772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La trampa del Bias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029200"/>
            <a:ext cx="2651760" cy="12344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errores: </a:t>
            </a:r>
            <a:r>
              <a:rPr sz="1400" b="1" i="0">
                <a:solidFill>
                  <a:srgbClr val="D7263D"/>
                </a:solidFill>
                <a:latin typeface="Arial"/>
              </a:rPr>
              <a:t>+3  y  −3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Bias = (+3 − 3)/2 = </a:t>
            </a:r>
            <a:r>
              <a:rPr sz="1600" b="1" i="0">
                <a:solidFill>
                  <a:srgbClr val="D7263D"/>
                </a:solidFill>
                <a:latin typeface="Arial"/>
              </a:rPr>
              <a:t>0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520440" y="5486400"/>
            <a:ext cx="365760" cy="320040"/>
          </a:xfrm>
          <a:prstGeom prst="rightArrow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023360" y="5029200"/>
            <a:ext cx="4480560" cy="123444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Bias ≈ 0 no significa modelo bueno.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Solo dice que no hay tendencia sistemática. Acompáñelo siempre de MAE o RMSE.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26280"/>
            <a:ext cx="7589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F6368"/>
                </a:solidFill>
                <a:latin typeface="Arial"/>
              </a:rPr>
              <a:t>En esta sección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937760"/>
            <a:ext cx="2438400" cy="822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¿Por qué dividir?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89960" y="4937760"/>
            <a:ext cx="2438400" cy="822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Aprender vs memorizar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65520" y="4937760"/>
            <a:ext cx="2438400" cy="822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Datos reales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48840"/>
            <a:ext cx="1463040" cy="146304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828800"/>
            <a:ext cx="5852160" cy="13716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42852"/>
                </a:solidFill>
                <a:latin typeface="Arial"/>
              </a:rPr>
              <a:t>Datos nuevos: Train, Validation y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3291840"/>
            <a:ext cx="58521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F6368"/>
                </a:solidFill>
                <a:latin typeface="Arial"/>
              </a:rPr>
              <a:t>Una recta que se ajusta bien a los datos con los que se calculó no garantiza que prediga bien casos nuevos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¿Por qué separar los datos en tres conjuntos?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5404103" cy="731520"/>
          </a:xfrm>
          <a:prstGeom prst="rect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Train 70 %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200 filas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72199" y="2011680"/>
            <a:ext cx="1129284" cy="731520"/>
          </a:xfrm>
          <a:prstGeom prst="rect">
            <a:avLst/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Validation 15 %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43 filas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38059" y="2011680"/>
            <a:ext cx="1129284" cy="73152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Test 15 %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44 filas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7772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5F6368"/>
                </a:solidFill>
                <a:latin typeface="Arial"/>
              </a:rPr>
              <a:t>Ejemplo con los 287 registros del dataset del curso, repartidos al azar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2487168" cy="233172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22402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42852"/>
                </a:solidFill>
                <a:latin typeface="Arial"/>
              </a:rPr>
              <a:t>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49039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F6368"/>
                </a:solidFill>
                <a:latin typeface="Arial"/>
              </a:rPr>
              <a:t>Los apuntes con los que se estudia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97680"/>
            <a:ext cx="224028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Con estos datos se calculan b₀ y b₁ (lo que hicimos a mano).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3246120"/>
            <a:ext cx="2487168" cy="233172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3337560"/>
            <a:ext cx="22402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D5A99"/>
                </a:solidFill>
                <a:latin typeface="Arial"/>
              </a:rP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3749039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F6368"/>
                </a:solidFill>
                <a:latin typeface="Arial"/>
              </a:rPr>
              <a:t>El examen de práctica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4297680"/>
            <a:ext cx="224028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Comparamos modelos y elegimos. Se puede consultar varias veces.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0176" y="3246120"/>
            <a:ext cx="2487168" cy="233172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17336" y="3337560"/>
            <a:ext cx="22402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D7263D"/>
                </a:solidFill>
                <a:latin typeface="Arial"/>
              </a:rPr>
              <a:t>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17336" y="3749039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F6368"/>
                </a:solidFill>
                <a:latin typeface="Arial"/>
              </a:rPr>
              <a:t>El examen final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7336" y="4297680"/>
            <a:ext cx="224028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Se mira una sola vez, al final, para estimar el error real.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760720"/>
            <a:ext cx="7772400" cy="530352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Regla de oro: </a:t>
            </a:r>
            <a:r>
              <a:rPr sz="1200" b="0" i="0">
                <a:solidFill>
                  <a:srgbClr val="2B2B2B"/>
                </a:solidFill>
                <a:latin typeface="Arial"/>
              </a:rPr>
              <a:t>si usamos Test para decidir, deja de ser un examen final y el error reportado será optimista.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Aprender vs memorizar: subajuste y sobreajuste</a:t>
            </a:r>
          </a:p>
        </p:txBody>
      </p:sp>
      <p:pic>
        <p:nvPicPr>
          <p:cNvPr id="3" name="Picture 2" descr="over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93904"/>
            <a:ext cx="7772400" cy="2230111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4434840"/>
          <a:ext cx="7772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645920"/>
                <a:gridCol w="2011680"/>
                <a:gridCol w="23774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Error en Train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Error en Validation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Diagnóstico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Subajuste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Modelo demasiado simple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Buen ajuste</a:t>
                      </a:r>
                    </a:p>
                  </a:txBody>
                  <a:tcPr marL="64008" marR="64008" marT="27432" marB="27432" anchor="ctr">
                    <a:solidFill>
                      <a:srgbClr val="E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bajo</a:t>
                      </a:r>
                    </a:p>
                  </a:txBody>
                  <a:tcPr marL="64008" marR="64008" marT="27432" marB="27432" anchor="ctr">
                    <a:solidFill>
                      <a:srgbClr val="E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bajo y parecido</a:t>
                      </a:r>
                    </a:p>
                  </a:txBody>
                  <a:tcPr marL="64008" marR="64008" marT="27432" marB="27432" anchor="ctr">
                    <a:solidFill>
                      <a:srgbClr val="E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Generaliza bien</a:t>
                      </a:r>
                    </a:p>
                  </a:txBody>
                  <a:tcPr marL="64008" marR="64008" marT="27432" marB="27432" anchor="ctr">
                    <a:solidFill>
                      <a:srgbClr val="E3F3F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Sobreajuste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muy bajo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Memorizó el ruido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035040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5F6368"/>
                </a:solidFill>
                <a:latin typeface="Arial"/>
              </a:rPr>
              <a:t>La señal de alerta es la brecha entre Train y Validation.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Con datos reales, la historia cambia</a:t>
            </a:r>
          </a:p>
        </p:txBody>
      </p:sp>
      <p:pic>
        <p:nvPicPr>
          <p:cNvPr id="3" name="Picture 2" descr="simple_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27878"/>
            <a:ext cx="4206240" cy="2602243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74920" y="2011680"/>
          <a:ext cx="34290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594360"/>
                <a:gridCol w="594360"/>
                <a:gridCol w="566928"/>
                <a:gridCol w="713232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MAE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RMSE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R²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Bias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Train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0.947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1.220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0.165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Validation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1.115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1.305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0.012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+0.262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74920" y="3429000"/>
            <a:ext cx="3429000" cy="14630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5 puntos del ejemplo</a:t>
            </a:r>
          </a:p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242852"/>
                </a:solidFill>
                <a:latin typeface="Arial"/>
              </a:rPr>
              <a:t>R² = 0.987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287 datos reales (Validation): R² = 0.012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7492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184648"/>
            <a:ext cx="35661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A9D8F"/>
                </a:solidFill>
                <a:latin typeface="Arial"/>
              </a:rPr>
              <a:t>Lo bueno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33288"/>
            <a:ext cx="3520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Train y Validation no son muy distintos: no hay sobreajuste fuerte.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507492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5184648"/>
            <a:ext cx="35661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Lo malo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5733288"/>
            <a:ext cx="3520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La inversión sola casi no predice datos nuevos.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26280"/>
            <a:ext cx="7589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F6368"/>
                </a:solidFill>
                <a:latin typeface="Arial"/>
              </a:rPr>
              <a:t>En esta sección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¿Por qué limpiar?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4607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Duplicados y validez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7774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Atípicos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0941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Faltantes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148840"/>
            <a:ext cx="1463040" cy="146304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828800"/>
            <a:ext cx="5852160" cy="13716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42852"/>
                </a:solidFill>
                <a:latin typeface="Arial"/>
              </a:rPr>
              <a:t>Limpieza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291840"/>
            <a:ext cx="58521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F6368"/>
                </a:solidFill>
                <a:latin typeface="Arial"/>
              </a:rPr>
              <a:t>Los datos reales llegan con errores. Si no los corregimos, la recta los aprende. Lo haremos a mano sobre una tabla pequeña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¿Por qué limpiar? Un solo dato lo cambia todo</a:t>
            </a:r>
          </a:p>
        </p:txBody>
      </p:sp>
      <p:pic>
        <p:nvPicPr>
          <p:cNvPr id="3" name="Picture 2" descr="outlier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51054"/>
            <a:ext cx="4572000" cy="313877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0" y="201168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Pendiente con 5 datos limpios</a:t>
            </a:r>
          </a:p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242852"/>
                </a:solidFill>
                <a:latin typeface="Arial"/>
              </a:rPr>
              <a:t>b₁ = 0.0225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352044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Con 1 dato erróneo añadido</a:t>
            </a:r>
          </a:p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D7263D"/>
                </a:solidFill>
                <a:latin typeface="Arial"/>
              </a:rPr>
              <a:t>b₁ = 0.0482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D7263D"/>
                </a:solidFill>
                <a:latin typeface="Arial"/>
              </a:rPr>
              <a:t>¡más del doble!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49240"/>
            <a:ext cx="7772400" cy="91440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Basura entra, basura sale: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como el SSE eleva al cuadrado, un error de 15 puntos pesa enormemente y “jala” la recta hacia él.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Las dimensiones de la calidad de datos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487168" cy="1965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2167128"/>
            <a:ext cx="502920" cy="50292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167128"/>
            <a:ext cx="16916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Completitud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¿Faltan valores?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37560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Ejemplo: </a:t>
            </a:r>
            <a:r>
              <a:rPr sz="1100" b="1" i="0">
                <a:solidFill>
                  <a:srgbClr val="2B2B2B"/>
                </a:solidFill>
                <a:latin typeface="Arial"/>
              </a:rPr>
              <a:t>celdas vacías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2011680"/>
            <a:ext cx="2487168" cy="1965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93008" y="2167128"/>
            <a:ext cx="502920" cy="5029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2167128"/>
            <a:ext cx="16916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7263D"/>
                </a:solidFill>
                <a:latin typeface="Arial"/>
              </a:rPr>
              <a:t>Unicidad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2788920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¿Hay filas repetidas?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3337560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Ejemplo: </a:t>
            </a:r>
            <a:r>
              <a:rPr sz="1100" b="1" i="0">
                <a:solidFill>
                  <a:srgbClr val="2B2B2B"/>
                </a:solidFill>
                <a:latin typeface="Arial"/>
              </a:rPr>
              <a:t>la misma fila dos veces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2011680"/>
            <a:ext cx="2487168" cy="1965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17336" y="2167128"/>
            <a:ext cx="502920" cy="50292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1696" y="2167128"/>
            <a:ext cx="16916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Validez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7336" y="2788920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¿Los valores son posibles?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17336" y="3337560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Ejemplo: </a:t>
            </a:r>
            <a:r>
              <a:rPr sz="1100" b="1" i="0">
                <a:solidFill>
                  <a:srgbClr val="2B2B2B"/>
                </a:solidFill>
                <a:latin typeface="Arial"/>
              </a:rPr>
              <a:t>desempleo de 150 %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14800"/>
            <a:ext cx="2487168" cy="1965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4270248"/>
            <a:ext cx="502920" cy="5029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270248"/>
            <a:ext cx="16916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7263D"/>
                </a:solidFill>
                <a:latin typeface="Arial"/>
              </a:rPr>
              <a:t>Exactitud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¿El valor es real o un error?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40680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Ejemplo: </a:t>
            </a:r>
            <a:r>
              <a:rPr sz="1100" b="1" i="0">
                <a:solidFill>
                  <a:srgbClr val="2B2B2B"/>
                </a:solidFill>
                <a:latin typeface="Arial"/>
              </a:rPr>
              <a:t>crecimiento de 15 %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55848" y="4114800"/>
            <a:ext cx="2487168" cy="1965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3008" y="4270248"/>
            <a:ext cx="502920" cy="50292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87368" y="4270248"/>
            <a:ext cx="16916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Consistencia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3008" y="4892040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¿Formatos y unidades iguales?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3008" y="5440680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Ejemplo: </a:t>
            </a:r>
            <a:r>
              <a:rPr sz="1100" b="1" i="0">
                <a:solidFill>
                  <a:srgbClr val="2B2B2B"/>
                </a:solidFill>
                <a:latin typeface="Arial"/>
              </a:rPr>
              <a:t>fechas en distinto formato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0176" y="4114800"/>
            <a:ext cx="2487168" cy="1965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117336" y="4270248"/>
            <a:ext cx="502920" cy="5029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11696" y="4270248"/>
            <a:ext cx="16916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7263D"/>
                </a:solidFill>
                <a:latin typeface="Arial"/>
              </a:rPr>
              <a:t>Pertinencia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17336" y="4892040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¿La columna aporta información?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17336" y="5440680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Ejemplo: </a:t>
            </a:r>
            <a:r>
              <a:rPr sz="1100" b="1" i="0">
                <a:solidFill>
                  <a:srgbClr val="2B2B2B"/>
                </a:solidFill>
                <a:latin typeface="Arial"/>
              </a:rPr>
              <a:t>una columna con el mismo valor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Una tabla pequeña con todos los problemas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68680" y="2011680"/>
          <a:ext cx="704088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685800"/>
                <a:gridCol w="1051560"/>
                <a:gridCol w="1005840"/>
                <a:gridCol w="1234440"/>
                <a:gridCol w="1371600"/>
                <a:gridCol w="128016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Mes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Región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Inversión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Desempleo %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Crecimiento %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Fuente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Costa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5.1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SINTÉTICO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feb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Costa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4.8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1.8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SINTÉTICO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mar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Sierra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SINTÉTICO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abr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Sierra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2.7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SINTÉTICO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may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Costa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4.6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SINTÉTICO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may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Costa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4.6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SINTÉTICO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jun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Amazonía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SINTÉTICO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jul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Insular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5.3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15.0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SINTÉTICO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5349240"/>
            <a:ext cx="7772400" cy="91440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Reto: encuentre los 5 problemas antes de seguir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Pista: revise celdas vacías, filas iguales, valores imposibles, valores extremos y columnas que no cambian.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Diagnóstico: los 5 problemas encontrados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68680" y="2011680"/>
          <a:ext cx="704088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685800"/>
                <a:gridCol w="1051560"/>
                <a:gridCol w="1005840"/>
                <a:gridCol w="1234440"/>
                <a:gridCol w="1371600"/>
                <a:gridCol w="128016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Mes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Región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Inversión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Desempleo %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Crecimiento %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Fuente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Costa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5.1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SINTÉTICO</a:t>
                      </a:r>
                    </a:p>
                  </a:txBody>
                  <a:tcPr marL="64008" marR="64008" marT="27432" marB="27432" anchor="ctr">
                    <a:solidFill>
                      <a:srgbClr val="E3E5E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feb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Costa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4.8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1.8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SINTÉTICO</a:t>
                      </a:r>
                    </a:p>
                  </a:txBody>
                  <a:tcPr marL="64008" marR="64008" marT="27432" marB="27432" anchor="ctr">
                    <a:solidFill>
                      <a:srgbClr val="E3E5E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mar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Sierra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D7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SINTÉTICO</a:t>
                      </a:r>
                    </a:p>
                  </a:txBody>
                  <a:tcPr marL="64008" marR="64008" marT="27432" marB="27432" anchor="ctr">
                    <a:solidFill>
                      <a:srgbClr val="E3E5E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abr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Sierra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2.7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SINTÉTICO</a:t>
                      </a:r>
                    </a:p>
                  </a:txBody>
                  <a:tcPr marL="64008" marR="64008" marT="27432" marB="27432" anchor="ctr">
                    <a:solidFill>
                      <a:srgbClr val="E3E5E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D7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may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Costa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4.6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SINTÉTICO</a:t>
                      </a:r>
                    </a:p>
                  </a:txBody>
                  <a:tcPr marL="64008" marR="64008" marT="27432" marB="27432" anchor="ctr">
                    <a:solidFill>
                      <a:srgbClr val="E3E5E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64008" marR="64008" marT="27432" marB="27432" anchor="ctr">
                    <a:solidFill>
                      <a:srgbClr val="D7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may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Costa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4.6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SINTÉTICO</a:t>
                      </a:r>
                    </a:p>
                  </a:txBody>
                  <a:tcPr marL="64008" marR="64008" marT="27432" marB="27432" anchor="ctr">
                    <a:solidFill>
                      <a:srgbClr val="E3E5E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jun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Amazonía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64008" marR="64008" marT="27432" marB="27432" anchor="ctr">
                    <a:solidFill>
                      <a:srgbClr val="D7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SINTÉTICO</a:t>
                      </a:r>
                    </a:p>
                  </a:txBody>
                  <a:tcPr marL="64008" marR="64008" marT="27432" marB="27432" anchor="ctr">
                    <a:solidFill>
                      <a:srgbClr val="E3E5E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jul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Insular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5.3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15.0</a:t>
                      </a:r>
                    </a:p>
                  </a:txBody>
                  <a:tcPr marL="64008" marR="64008" marT="27432" marB="27432" anchor="ctr">
                    <a:solidFill>
                      <a:srgbClr val="D7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SINTÉTICO</a:t>
                      </a:r>
                    </a:p>
                  </a:txBody>
                  <a:tcPr marL="64008" marR="64008" marT="27432" marB="27432" anchor="ctr">
                    <a:solidFill>
                      <a:srgbClr val="E3E5E8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53492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1. Faltante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fila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53492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2. Duplicado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filas 5 y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77056" y="53492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3. Imposible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fila 7: 150 %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9824" y="53492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4. Atípico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fila 8: 15 %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22592" y="53492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5. Sin aporte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col. Fuente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Duplicados y columnas sin información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68680" y="2011680"/>
          <a:ext cx="704088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685800"/>
                <a:gridCol w="1051560"/>
                <a:gridCol w="1005840"/>
                <a:gridCol w="1234440"/>
                <a:gridCol w="1371600"/>
                <a:gridCol w="128016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Mes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Región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Inversión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Desempleo %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Crecimiento %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Fuente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may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Costa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4.6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SINTÉTICO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may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Costa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4.6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SINTÉTICO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315468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Problema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la fila de mayo pesa el doble en el SSE.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315468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Decisión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conservar solo la primera copia (fila 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772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Columna sin aporte: </a:t>
            </a:r>
            <a:r>
              <a:rPr sz="1400" b="0" i="0">
                <a:solidFill>
                  <a:srgbClr val="2B2B2B"/>
                </a:solidFill>
                <a:latin typeface="Arial"/>
              </a:rPr>
              <a:t>“Fuente” vale SINTÉTICO en todas las filas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074920"/>
            <a:ext cx="841248" cy="4114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6D6E71"/>
                </a:solidFill>
                <a:latin typeface="Arial"/>
              </a:rPr>
              <a:t>SINTÉTICO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5074920"/>
            <a:ext cx="841248" cy="4114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6D6E71"/>
                </a:solidFill>
                <a:latin typeface="Arial"/>
              </a:rPr>
              <a:t>SINTÉTICO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5074920"/>
            <a:ext cx="841248" cy="4114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6D6E71"/>
                </a:solidFill>
                <a:latin typeface="Arial"/>
              </a:rPr>
              <a:t>SINTÉTICO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5074920"/>
            <a:ext cx="841248" cy="4114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6D6E71"/>
                </a:solidFill>
                <a:latin typeface="Arial"/>
              </a:rPr>
              <a:t>SINTÉTICO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5074920"/>
            <a:ext cx="841248" cy="4114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6D6E71"/>
                </a:solidFill>
                <a:latin typeface="Arial"/>
              </a:rPr>
              <a:t>SINTÉTICO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4983480"/>
            <a:ext cx="30632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D7263D"/>
                </a:solidFill>
                <a:latin typeface="Arial"/>
              </a:rPr>
              <a:t>Varianza = 0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si nunca cambia, no puede explicar por qué y cambia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806440"/>
            <a:ext cx="7772400" cy="50292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Validez (fila 7): </a:t>
            </a:r>
            <a:r>
              <a:rPr sz="1200" b="0" i="0">
                <a:solidFill>
                  <a:srgbClr val="2B2B2B"/>
                </a:solidFill>
                <a:latin typeface="Arial"/>
              </a:rPr>
              <a:t>un desempleo de 150 % es imposible. No lo inventamos: lo convertimos en faltante y lo tratamos como tal.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Valores atípicos: la media se deja arrastrar</a:t>
            </a:r>
          </a:p>
        </p:txBody>
      </p:sp>
      <p:pic>
        <p:nvPicPr>
          <p:cNvPr id="3" name="Picture 2" descr="mean_medi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75422"/>
            <a:ext cx="7772400" cy="212991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4297680"/>
            <a:ext cx="2514600" cy="132588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Media con el 15</a:t>
            </a:r>
          </a:p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D7263D"/>
                </a:solidFill>
                <a:latin typeface="Arial"/>
              </a:rPr>
              <a:t>27.8 / 7 = 3.97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55848" y="4297680"/>
            <a:ext cx="2514600" cy="132588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Media sin el 15</a:t>
            </a:r>
          </a:p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242852"/>
                </a:solidFill>
                <a:latin typeface="Arial"/>
              </a:rPr>
              <a:t>12.8 / 6 = 2.13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4297680"/>
            <a:ext cx="2514600" cy="1325880"/>
          </a:xfrm>
          <a:prstGeom prst="roundRect">
            <a:avLst>
              <a:gd name="adj" fmla="val 8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Mediana con el 15</a:t>
            </a:r>
          </a:p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2A9D8F"/>
                </a:solidFill>
                <a:latin typeface="Arial"/>
              </a:rPr>
              <a:t>2.1</a:t>
            </a:r>
          </a:p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2B2B2B"/>
                </a:solidFill>
                <a:latin typeface="Arial"/>
              </a:rPr>
              <a:t>ordenar y tomar el centro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60720"/>
            <a:ext cx="7772400" cy="530352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Por eso: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para detectar atípicos y para rellenar faltantes preferimos medidas robustas como la mediana y los cuartiles.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Detectar atípicos a mano: la regla del IQR</a:t>
            </a:r>
          </a:p>
        </p:txBody>
      </p:sp>
      <p:pic>
        <p:nvPicPr>
          <p:cNvPr id="3" name="Picture 2" descr="iq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813" y="1874519"/>
            <a:ext cx="7219812" cy="2286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4297680"/>
            <a:ext cx="1840230" cy="132588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4407408"/>
            <a:ext cx="411480" cy="41148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4389120"/>
            <a:ext cx="115443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Ordenar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864608"/>
            <a:ext cx="1565910" cy="7315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1.2 · 1.8 · 2.0 · 2.1 · 2.7 · 3.0 ·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08910" y="4297680"/>
            <a:ext cx="1840230" cy="132588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18638" y="4407408"/>
            <a:ext cx="411480" cy="41148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3270" y="4389120"/>
            <a:ext cx="115443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Cuartiles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6070" y="4864608"/>
            <a:ext cx="1565910" cy="7315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Q1 = 1.8 · Q3 = 3.0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IQR = 3.0 − 1.8 = 1.2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6300" y="4297680"/>
            <a:ext cx="1840230" cy="132588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96028" y="4407408"/>
            <a:ext cx="411480" cy="41148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0660" y="4389120"/>
            <a:ext cx="115443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Límites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3460" y="4864608"/>
            <a:ext cx="1565910" cy="7315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inf: 1.8 − 1.5×1.2 = 0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sup: 3.0 + 1.5×1.2 = 4.8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3690" y="4297680"/>
            <a:ext cx="1840230" cy="132588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73418" y="4407408"/>
            <a:ext cx="411480" cy="41148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8050" y="4389120"/>
            <a:ext cx="115443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Decidir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0850" y="4864608"/>
            <a:ext cx="1565910" cy="7315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15 &gt; 4.8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→ atípico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7772400" cy="530352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Atípico ≠ error: </a:t>
            </a:r>
            <a:r>
              <a:rPr sz="1200" b="0" i="0">
                <a:solidFill>
                  <a:srgbClr val="2B2B2B"/>
                </a:solidFill>
                <a:latin typeface="Arial"/>
              </a:rPr>
              <a:t>la regla solo señala. Investigamos: si es un error de captura, se corrige o elimina; si es real, se conserva.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Leer atípicos en un boxplot</a:t>
            </a:r>
          </a:p>
        </p:txBody>
      </p:sp>
      <p:pic>
        <p:nvPicPr>
          <p:cNvPr id="3" name="Picture 2" descr="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998" y="1920240"/>
            <a:ext cx="6757442" cy="27432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4617720"/>
          <a:ext cx="7772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356616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Valor (datos reales)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Cómo se lee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Caja (Q1 a Q3)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0.98 a 2.75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El 50 % central de los datos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Línea roja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1.82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Mediana: mitad arriba, mitad abajo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Bigote superior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hasta 5.41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Q3 + 1.5 × IQR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Puntos rojos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5.57 y 15.0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Fuera de los bigotes: investigar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Leer atípicos en un histograma</a:t>
            </a:r>
          </a:p>
        </p:txBody>
      </p:sp>
      <p:pic>
        <p:nvPicPr>
          <p:cNvPr id="3" name="Picture 2" descr="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58666"/>
            <a:ext cx="5212080" cy="267782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126480" y="1920240"/>
            <a:ext cx="2377440" cy="1024128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029968"/>
            <a:ext cx="21488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Centro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578608"/>
            <a:ext cx="2103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Arial"/>
              </a:rPr>
              <a:t>La mayoría entre 0 % y 4 %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017520"/>
            <a:ext cx="2377440" cy="1024128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3127248"/>
            <a:ext cx="21488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Forma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3675887"/>
            <a:ext cx="2103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Arial"/>
              </a:rPr>
              <a:t>Aproximadamente simétrica, en campana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114800"/>
            <a:ext cx="2377440" cy="1024128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4224528"/>
            <a:ext cx="21488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Aislados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773168"/>
            <a:ext cx="2103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Arial"/>
              </a:rPr>
              <a:t>Un valor de 15 %, lejos del resto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49240"/>
            <a:ext cx="7772400" cy="82296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Histograma y boxplot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son las dos herramientas visuales básicas para encontrar valores extremos antes de modelar.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Valores faltantes: ¿por qué falta un dato?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2487168" cy="1783080"/>
          </a:xfrm>
          <a:prstGeom prst="roundRect">
            <a:avLst>
              <a:gd name="adj" fmla="val 8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2084831"/>
            <a:ext cx="1005840" cy="438912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22402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Arial"/>
              </a:rPr>
              <a:t>Completamente al azar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22402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Ej.: </a:t>
            </a:r>
            <a:r>
              <a:rPr sz="1100" b="0" i="1">
                <a:solidFill>
                  <a:srgbClr val="2B2B2B"/>
                </a:solidFill>
                <a:latin typeface="Arial"/>
              </a:rPr>
              <a:t>Se perdió una hoja del registro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1965960"/>
            <a:ext cx="2487168" cy="178308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93008" y="2084831"/>
            <a:ext cx="1005840" cy="438912"/>
          </a:xfrm>
          <a:prstGeom prst="roundRect">
            <a:avLst>
              <a:gd name="adj" fmla="val 8000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3008" y="2606040"/>
            <a:ext cx="22402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D5A99"/>
                </a:solidFill>
                <a:latin typeface="Arial"/>
              </a:rPr>
              <a:t>Depende de otra variable observada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3063240"/>
            <a:ext cx="22402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Ej.: </a:t>
            </a:r>
            <a:r>
              <a:rPr sz="1100" b="0" i="1">
                <a:solidFill>
                  <a:srgbClr val="2B2B2B"/>
                </a:solidFill>
                <a:latin typeface="Arial"/>
              </a:rPr>
              <a:t>Una región reporta menos el desempleo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0176" y="1965960"/>
            <a:ext cx="2487168" cy="178308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17336" y="2084831"/>
            <a:ext cx="1005840" cy="438912"/>
          </a:xfrm>
          <a:prstGeom prst="roundRect">
            <a:avLst>
              <a:gd name="adj" fmla="val 8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7336" y="2606040"/>
            <a:ext cx="22402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Depende del propio valor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3063240"/>
            <a:ext cx="22402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Ej.: </a:t>
            </a:r>
            <a:r>
              <a:rPr sz="1100" b="0" i="1">
                <a:solidFill>
                  <a:srgbClr val="2B2B2B"/>
                </a:solidFill>
                <a:latin typeface="Arial"/>
              </a:rPr>
              <a:t>Las empresas con malos resultados no reportan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3931920"/>
          <a:ext cx="7772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37360"/>
                <a:gridCol w="36576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Estrategia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Ventaja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Riesgo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Eliminar la fila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Simple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Perdemos información y podemos sesgar la muestra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Rellenar con la media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Conserva las filas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Sensible a atípicos; reduce la varianza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Rellenar con la mediana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Robusta a atípicos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También reduce la varianza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Estimar con otras variables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Más preciso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Más complejo; riesgo de fuga de datos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31520" y="5943600"/>
            <a:ext cx="7772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5F6368"/>
                </a:solidFill>
                <a:latin typeface="Arial"/>
              </a:rPr>
              <a:t>Rellenar un faltante se llama imputar.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Imputar a mano con la mediana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1463040" y="2148840"/>
            <a:ext cx="822960" cy="6858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242852"/>
                </a:solidFill>
                <a:latin typeface="Arial"/>
              </a:rPr>
              <a:t>4.6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0" y="2148840"/>
            <a:ext cx="822960" cy="685800"/>
          </a:xfrm>
          <a:prstGeom prst="rect">
            <a:avLst/>
          </a:prstGeom>
          <a:solidFill>
            <a:srgbClr val="E8EDF6"/>
          </a:solidFill>
          <a:ln w="15875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242852"/>
                </a:solidFill>
                <a:latin typeface="Arial"/>
              </a:rPr>
              <a:t>4.8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2148840"/>
            <a:ext cx="822960" cy="685800"/>
          </a:xfrm>
          <a:prstGeom prst="rect">
            <a:avLst/>
          </a:prstGeom>
          <a:solidFill>
            <a:srgbClr val="E8EDF6"/>
          </a:solidFill>
          <a:ln w="15875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242852"/>
                </a:solidFill>
                <a:latin typeface="Arial"/>
              </a:rPr>
              <a:t>5.0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2148840"/>
            <a:ext cx="822960" cy="6858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242852"/>
                </a:solidFill>
                <a:latin typeface="Arial"/>
              </a:rPr>
              <a:t>5.1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7315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F6368"/>
                </a:solidFill>
                <a:latin typeface="Arial"/>
              </a:rPr>
              <a:t>orden: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257800" y="2331720"/>
            <a:ext cx="457200" cy="320040"/>
          </a:xfrm>
          <a:prstGeom prst="rightArrow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0" y="201168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C9D2E8"/>
                </a:solidFill>
                <a:latin typeface="Arial"/>
              </a:rPr>
              <a:t>Mediana</a:t>
            </a:r>
          </a:p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(4.8 + 5.0) / 2 = 4.9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3291840"/>
          <a:ext cx="77724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828800"/>
                <a:gridCol w="2606040"/>
                <a:gridCol w="260604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Región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Desempleo antes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Desempleo después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Sierra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(vacío)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2A9D8F"/>
                          </a:solidFill>
                          <a:latin typeface="Arial"/>
                        </a:rPr>
                        <a:t>4.9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Amazonía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150 (imposible)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2A9D8F"/>
                          </a:solidFill>
                          <a:latin typeface="Arial"/>
                        </a:rPr>
                        <a:t>4.9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4709160"/>
            <a:ext cx="3794760" cy="1554480"/>
          </a:xfrm>
          <a:prstGeom prst="roundRect">
            <a:avLst>
              <a:gd name="adj" fmla="val 8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818888"/>
            <a:ext cx="35661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A9D8F"/>
                </a:solidFill>
                <a:latin typeface="Arial"/>
              </a:rPr>
              <a:t>¿Por qué la mediana?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367528"/>
            <a:ext cx="3520440" cy="8229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Porque no se deja arrastrar por valores extremos, como vimos con el 15 %.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4709160"/>
            <a:ext cx="3794760" cy="155448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4818888"/>
            <a:ext cx="35661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Evitar la fuga de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5367528"/>
            <a:ext cx="3520440" cy="8229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La mediana se calcula </a:t>
            </a:r>
            <a:r>
              <a:rPr sz="1200" b="1" i="0">
                <a:solidFill>
                  <a:srgbClr val="2B2B2B"/>
                </a:solidFill>
                <a:latin typeface="Arial"/>
              </a:rPr>
              <a:t>solo con Train</a:t>
            </a:r>
            <a:r>
              <a:rPr sz="1200" b="0" i="0">
                <a:solidFill>
                  <a:srgbClr val="2B2B2B"/>
                </a:solidFill>
                <a:latin typeface="Arial"/>
              </a:rPr>
              <a:t> y luego se aplica a Validation y Test.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Resultado: la tabla limpia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1115568" cy="91440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8 × 7</a:t>
            </a:r>
          </a:p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original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865376" y="2331720"/>
            <a:ext cx="173736" cy="274320"/>
          </a:xfrm>
          <a:prstGeom prst="rightArrow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57400" y="2011680"/>
            <a:ext cx="1115568" cy="914400"/>
          </a:xfrm>
          <a:prstGeom prst="roundRect">
            <a:avLst>
              <a:gd name="adj" fmla="val 8000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7 × 7</a:t>
            </a:r>
          </a:p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sin duplicado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91256" y="2331720"/>
            <a:ext cx="173736" cy="274320"/>
          </a:xfrm>
          <a:prstGeom prst="rightArrow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0" y="2011680"/>
            <a:ext cx="1115568" cy="914400"/>
          </a:xfrm>
          <a:prstGeom prst="roundRect">
            <a:avLst>
              <a:gd name="adj" fmla="val 8000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7 × 7</a:t>
            </a:r>
          </a:p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150 → vacío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517136" y="2331720"/>
            <a:ext cx="173736" cy="274320"/>
          </a:xfrm>
          <a:prstGeom prst="rightArrow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09159" y="2011680"/>
            <a:ext cx="1115568" cy="914400"/>
          </a:xfrm>
          <a:prstGeom prst="roundRect">
            <a:avLst>
              <a:gd name="adj" fmla="val 8000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6 × 7</a:t>
            </a:r>
          </a:p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sin el 15 %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43016" y="2331720"/>
            <a:ext cx="173736" cy="274320"/>
          </a:xfrm>
          <a:prstGeom prst="rightArrow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0" y="2011680"/>
            <a:ext cx="1115568" cy="914400"/>
          </a:xfrm>
          <a:prstGeom prst="roundRect">
            <a:avLst>
              <a:gd name="adj" fmla="val 8000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6 × 7</a:t>
            </a:r>
          </a:p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imputado 4.9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68896" y="2331720"/>
            <a:ext cx="173736" cy="274320"/>
          </a:xfrm>
          <a:prstGeom prst="rightArrow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60920" y="2011680"/>
            <a:ext cx="1115568" cy="91440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6 × 6</a:t>
            </a:r>
          </a:p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sin “Fuente”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097280" y="3154680"/>
          <a:ext cx="7040880" cy="2368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822960"/>
                <a:gridCol w="1280160"/>
                <a:gridCol w="1280160"/>
                <a:gridCol w="1508760"/>
                <a:gridCol w="1600200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Mes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Región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Inversión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Desempleo %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Crecimiento %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Costa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5.1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feb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Costa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4.8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1.8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mar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Sierra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A9D8F"/>
                          </a:solidFill>
                          <a:latin typeface="Arial"/>
                        </a:rPr>
                        <a:t>4.9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abr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Sierra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2.7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may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Costa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4.6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jun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Amazonía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A9D8F"/>
                          </a:solidFill>
                          <a:latin typeface="Arial"/>
                        </a:rPr>
                        <a:t>4.9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31520" y="5669280"/>
            <a:ext cx="7772400" cy="59436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Ahora sí: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con esta tabla podemos calcular la recta sin que los errores la distorsionen.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El dataset real del curso tiene los mismos problemas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84831"/>
            <a:ext cx="18288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242852"/>
                </a:solidFill>
                <a:latin typeface="Arial"/>
              </a:rPr>
              <a:t>289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24912"/>
            <a:ext cx="18288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B2B2B"/>
                </a:solidFill>
                <a:latin typeface="Arial"/>
              </a:rPr>
              <a:t>filas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F6368"/>
                </a:solidFill>
                <a:latin typeface="Arial"/>
              </a:rPr>
              <a:t>mes · región · sector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2011680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2084831"/>
            <a:ext cx="18288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242852"/>
                </a:solidFill>
                <a:latin typeface="Arial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724912"/>
            <a:ext cx="18288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B2B2B"/>
                </a:solidFill>
                <a:latin typeface="Arial"/>
              </a:rPr>
              <a:t>columnas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F6368"/>
                </a:solidFill>
                <a:latin typeface="Arial"/>
              </a:rPr>
              <a:t>variables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011680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84831"/>
            <a:ext cx="18288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242852"/>
                </a:solidFill>
                <a:latin typeface="Arial"/>
              </a:rPr>
              <a:t>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24912"/>
            <a:ext cx="18288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B2B2B"/>
                </a:solidFill>
                <a:latin typeface="Arial"/>
              </a:rPr>
              <a:t>meses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F6368"/>
                </a:solidFill>
                <a:latin typeface="Arial"/>
              </a:rPr>
              <a:t>2019 a 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399" y="2011680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399" y="2084831"/>
            <a:ext cx="18288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242852"/>
                </a:solidFill>
                <a:latin typeface="Arial"/>
              </a:rPr>
              <a:t>4 ×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399" y="2724912"/>
            <a:ext cx="18288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B2B2B"/>
                </a:solidFill>
                <a:latin typeface="Arial"/>
              </a:rPr>
              <a:t>grupos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F6368"/>
                </a:solidFill>
                <a:latin typeface="Arial"/>
              </a:rPr>
              <a:t>regiones × sectores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3566160"/>
          <a:ext cx="7772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737360"/>
                <a:gridCol w="2468880"/>
                <a:gridCol w="19202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Problema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En la tabla pequeña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En el dataset real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Decisión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Faltantes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 celda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8 celdas (inflación y confianza)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Imputar con mediana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Duplicados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 fila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 fila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Eliminar la copia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Atípico / error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crecimiento 15 %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crecimiento 15 % (fila 33)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Eliminar tras investigar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Sin aporte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columna Fuente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columna tipo_dato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Eliminar la columna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731520" y="5760720"/>
            <a:ext cx="7772400" cy="530352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Para investigar: </a:t>
            </a:r>
            <a:r>
              <a:rPr sz="1200" b="0" i="0">
                <a:solidFill>
                  <a:srgbClr val="2B2B2B"/>
                </a:solidFill>
                <a:latin typeface="Arial"/>
              </a:rPr>
              <a:t>en exportaciones hay un valor de 1300 millones cuando el resto no pasa de 521. ¿Error o dato real?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26280"/>
            <a:ext cx="7589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F6368"/>
                </a:solidFill>
                <a:latin typeface="Arial"/>
              </a:rPr>
              <a:t>En esta sección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De la recta al plano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4607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Manteniendo lo demás constante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7774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Categorías a números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0941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¿Mejoró?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148840"/>
            <a:ext cx="1463040" cy="146304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828800"/>
            <a:ext cx="5852160" cy="13716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42852"/>
                </a:solidFill>
                <a:latin typeface="Arial"/>
              </a:rPr>
              <a:t>Más de una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291840"/>
            <a:ext cx="58521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F6368"/>
                </a:solidFill>
                <a:latin typeface="Arial"/>
              </a:rPr>
              <a:t>Regresión múltiple y variables categóricas: la misma idea, con más columnas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De la recta al plano y al hiperplano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2240280"/>
            <a:ext cx="777240" cy="77724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121408"/>
            <a:ext cx="21945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Recta</a:t>
            </a:r>
            <a:r>
              <a:rPr sz="1000" b="0" i="0">
                <a:solidFill>
                  <a:srgbClr val="5F6368"/>
                </a:solidFill>
                <a:latin typeface="Arial"/>
              </a:rPr>
              <a:t>  (2D)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ŷ = b₀ + b₁x₁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3611880"/>
            <a:ext cx="777240" cy="77724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3493008"/>
            <a:ext cx="21945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7263D"/>
                </a:solidFill>
                <a:latin typeface="Arial"/>
              </a:rPr>
              <a:t>Plano</a:t>
            </a:r>
            <a:r>
              <a:rPr sz="1000" b="0" i="0">
                <a:solidFill>
                  <a:srgbClr val="5F6368"/>
                </a:solidFill>
                <a:latin typeface="Arial"/>
              </a:rPr>
              <a:t>  (3D)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ŷ = b₀ + b₁x₁ + b₂x₂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4983480"/>
            <a:ext cx="777240" cy="7772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p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4864608"/>
            <a:ext cx="21945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Arial"/>
              </a:rPr>
              <a:t>Hiperplano</a:t>
            </a:r>
            <a:r>
              <a:rPr sz="1000" b="0" i="0">
                <a:solidFill>
                  <a:srgbClr val="5F6368"/>
                </a:solidFill>
                <a:latin typeface="Arial"/>
              </a:rPr>
              <a:t>  (p+1 D)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ŷ = b₀ + b₁x₁ + … + bₚxₚ</a:t>
            </a:r>
          </a:p>
        </p:txBody>
      </p:sp>
      <p:pic>
        <p:nvPicPr>
          <p:cNvPr id="12" name="Picture 11" descr="plane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052" y="1920240"/>
            <a:ext cx="4036335" cy="3611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60520" y="5577840"/>
            <a:ext cx="4343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ŷ = −2.24 + 0.0189·inversión + 0.0300·petróleo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F6368"/>
                </a:solidFill>
                <a:latin typeface="Arial"/>
              </a:rPr>
              <a:t>Puntos: datos reales · Plano: predicción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Ceteris paribus: “lo demás constante”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7772400" cy="73152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ŷ = −2.24 + 0.0189 · inversión + 0.0300 · petróleo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880360"/>
          <a:ext cx="77724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2926080"/>
                <a:gridCol w="128016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Escenario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Inversión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Petróleo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Cálculo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ŷ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−2.24 + 2.835 + 1.800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2.395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D7263D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−2.24 + 3.024 + 1.800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2.584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251960"/>
            <a:ext cx="3794760" cy="12801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242852"/>
                </a:solidFill>
                <a:latin typeface="Arial"/>
              </a:rPr>
              <a:t>B − A = 0.189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= 10 millones × 0.0189, con el petróleo fijo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4251960"/>
            <a:ext cx="3794760" cy="12801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D7263D"/>
                </a:solidFill>
                <a:latin typeface="Arial"/>
              </a:rPr>
              <a:t>Ojo con las escalas</a:t>
            </a:r>
          </a:p>
          <a:p>
            <a:pPr algn="ctr">
              <a:spcAft>
                <a:spcPts val="300"/>
              </a:spcAft>
            </a:pPr>
            <a:r>
              <a:rPr sz="1150" b="0" i="0">
                <a:solidFill>
                  <a:srgbClr val="2B2B2B"/>
                </a:solidFill>
                <a:latin typeface="Arial"/>
              </a:rPr>
              <a:t>un coeficiente pequeño no significa variable poco importante si se mide en otra unidad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15000"/>
            <a:ext cx="7772400" cy="566928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Multicolinealidad: </a:t>
            </a:r>
            <a:r>
              <a:rPr sz="1200" b="0" i="0">
                <a:solidFill>
                  <a:srgbClr val="2B2B2B"/>
                </a:solidFill>
                <a:latin typeface="Arial"/>
              </a:rPr>
              <a:t>si dos variables se mueven juntas, el modelo no sabe a cuál atribuir el efecto y los coeficientes se vuelven inestables.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Variables categóricas: el texto no es una magnitud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3749039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7263D"/>
                </a:solidFill>
                <a:latin typeface="Arial"/>
              </a:rPr>
              <a:t>Codificación con números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3566160" cy="45720"/>
          </a:xfrm>
          <a:prstGeom prst="rect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" y="2724912"/>
            <a:ext cx="256032" cy="25603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31720"/>
            <a:ext cx="1005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Costa</a:t>
            </a:r>
          </a:p>
        </p:txBody>
      </p:sp>
      <p:sp>
        <p:nvSpPr>
          <p:cNvPr id="8" name="Oval 7"/>
          <p:cNvSpPr/>
          <p:nvPr/>
        </p:nvSpPr>
        <p:spPr>
          <a:xfrm>
            <a:off x="2148839" y="2724912"/>
            <a:ext cx="256032" cy="25603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1" y="2331720"/>
            <a:ext cx="1005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9071" y="3017520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Sierra</a:t>
            </a:r>
          </a:p>
        </p:txBody>
      </p:sp>
      <p:sp>
        <p:nvSpPr>
          <p:cNvPr id="11" name="Oval 10"/>
          <p:cNvSpPr/>
          <p:nvPr/>
        </p:nvSpPr>
        <p:spPr>
          <a:xfrm>
            <a:off x="3227832" y="2724912"/>
            <a:ext cx="256032" cy="25603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3784" y="2331720"/>
            <a:ext cx="1005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8064" y="3017520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Amazonía</a:t>
            </a:r>
          </a:p>
        </p:txBody>
      </p:sp>
      <p:sp>
        <p:nvSpPr>
          <p:cNvPr id="14" name="Oval 13"/>
          <p:cNvSpPr/>
          <p:nvPr/>
        </p:nvSpPr>
        <p:spPr>
          <a:xfrm>
            <a:off x="4306824" y="2724912"/>
            <a:ext cx="256032" cy="25603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22776" y="2331720"/>
            <a:ext cx="1005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7056" y="3017520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Insular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74720"/>
            <a:ext cx="3749039" cy="10515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Inventa un orden y distancias</a:t>
            </a:r>
          </a:p>
          <a:p>
            <a:pPr algn="ctr">
              <a:spcAft>
                <a:spcPts val="300"/>
              </a:spcAft>
            </a:pPr>
            <a:r>
              <a:rPr sz="1150" b="0" i="0">
                <a:solidFill>
                  <a:srgbClr val="2B2B2B"/>
                </a:solidFill>
                <a:latin typeface="Arial"/>
              </a:rPr>
              <a:t>¿Sierra está “entre” Costa y Amazonía? ¿Insular vale 4 veces Costa?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965960"/>
            <a:ext cx="3749039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Arial"/>
              </a:rPr>
              <a:t>One-Hot Encoding (dummies)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754880" y="2377440"/>
          <a:ext cx="37490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68680"/>
                <a:gridCol w="868680"/>
                <a:gridCol w="86868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Región</a:t>
                      </a:r>
                    </a:p>
                  </a:txBody>
                  <a:tcPr marL="64008" marR="64008" marT="27432" marB="27432" anchor="ctr">
                    <a:solidFill>
                      <a:srgbClr val="2A9D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Costa</a:t>
                      </a:r>
                    </a:p>
                  </a:txBody>
                  <a:tcPr marL="64008" marR="64008" marT="27432" marB="27432" anchor="ctr">
                    <a:solidFill>
                      <a:srgbClr val="2A9D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Insular</a:t>
                      </a:r>
                    </a:p>
                  </a:txBody>
                  <a:tcPr marL="64008" marR="64008" marT="27432" marB="27432" anchor="ctr">
                    <a:solidFill>
                      <a:srgbClr val="2A9D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Sierra</a:t>
                      </a:r>
                    </a:p>
                  </a:txBody>
                  <a:tcPr marL="64008" marR="64008" marT="27432" marB="27432" anchor="ctr">
                    <a:solidFill>
                      <a:srgbClr val="2A9D8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Amazonía</a:t>
                      </a:r>
                    </a:p>
                  </a:txBody>
                  <a:tcPr marL="64008" marR="64008" marT="27432" marB="27432" anchor="ctr">
                    <a:solidFill>
                      <a:srgbClr val="FDF2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DF2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DF2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DF2E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Costa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Insular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Sierra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754880" y="4480560"/>
            <a:ext cx="3749039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F6368"/>
                </a:solidFill>
                <a:latin typeface="Arial"/>
              </a:rPr>
              <a:t>Amazonía = categoría de referencia (todo en 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92040"/>
            <a:ext cx="7772400" cy="137160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¿Por qué dejar una fuera?  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Si incluimos las 4 columnas, en cada fila suman 1 y repiten la información del intercepto (trampa de las dummies). Con k categorías se usan k − 1 columnas.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Leer el coeficiente de una dummy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920240"/>
          <a:ext cx="379476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09160" y="1920240"/>
          <a:ext cx="3794760" cy="31089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166360"/>
            <a:ext cx="7772400" cy="109728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A mano: </a:t>
            </a:r>
            <a:r>
              <a:rPr sz="1250" b="0" i="0">
                <a:solidFill>
                  <a:srgbClr val="2B2B2B"/>
                </a:solidFill>
                <a:latin typeface="Arial"/>
              </a:rPr>
              <a:t>dos filas idénticas salvo la región: si una es Insular y la otra Amazonía, la predicción difiere en 0.74 puntos porcentuales. Si es Amazonía, todas las dummies valen 0 y no se suma nada.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¿Mejoró el modelo al agregar información?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920240"/>
          <a:ext cx="420624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0" y="1920240"/>
          <a:ext cx="3474720" cy="32918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394960"/>
            <a:ext cx="7772400" cy="86868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Resultado final en Test: error típico ≈ 1 punto porcentual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RMSE 0.997 · R² 0.369 · el modelo explica cerca de un tercio de la variación.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Ideas clave del día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794760" cy="12801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2286000"/>
            <a:ext cx="685800" cy="68580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2121408"/>
            <a:ext cx="274320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La recta minimiza el SSE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b₁ = Σ(x−x̄)(y−ȳ) / Σ(x−x̄)² y b₀ = ȳ − b₁x̄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011680"/>
            <a:ext cx="3794760" cy="12801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800600" y="2286000"/>
            <a:ext cx="685800" cy="68580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59" y="2121408"/>
            <a:ext cx="274320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7263D"/>
                </a:solidFill>
                <a:latin typeface="Arial"/>
              </a:rPr>
              <a:t>Una métrica no basta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MAE, RMSE, Bias y R² responden preguntas distintas.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29000"/>
            <a:ext cx="3794760" cy="12801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3703320"/>
            <a:ext cx="685800" cy="68580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538728"/>
            <a:ext cx="274320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7263D"/>
                </a:solidFill>
                <a:latin typeface="Arial"/>
              </a:rPr>
              <a:t>Evaluar con datos nuevos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Train aprende, Validation decide, Test se mira una vez.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429000"/>
            <a:ext cx="3794760" cy="12801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00600" y="3703320"/>
            <a:ext cx="685800" cy="68580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59" y="3538728"/>
            <a:ext cx="274320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Un modelo aprende los errores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Un solo dato erróneo duplicó la pendiente.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46320"/>
            <a:ext cx="3794760" cy="12801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5120640"/>
            <a:ext cx="685800" cy="68580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956048"/>
            <a:ext cx="274320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La mediana es robusta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Úsela para detectar atípicos e imputar faltantes.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4846320"/>
            <a:ext cx="3794760" cy="12801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00600" y="5120640"/>
            <a:ext cx="685800" cy="68580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59" y="4956048"/>
            <a:ext cx="274320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7263D"/>
                </a:solidFill>
                <a:latin typeface="Arial"/>
              </a:rPr>
              <a:t>Asociación ≠ causalidad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Coeficientes y correlaciones describen, no prueban efectos.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Del papel al notebook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965960"/>
          <a:ext cx="7772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28600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Lo que hicimos a mano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Lo que verán en el notebook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Debe dar…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Medias, desviaciones y sumas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La computadora calcula b₀ y b₁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b₀ = −0.99 · b₁ = 0.0225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Residuos, MAE, RMSE, R²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Funciones de métricas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MAE 0.072 · R² 0.987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Encontrar los 5 problemas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Revisar nulos, duplicados y rangos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8 faltantes · 1 duplicado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Cuartiles e IQR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Boxplot y estadísticos descriptivos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límite superior ≈ 5.41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Mediana para imputar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Rellenar faltantes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 faltantes al final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Dummies a mano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Codificación One-Hot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k − 1 columnas por variable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5029200"/>
            <a:ext cx="7772400" cy="123444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Su rol con el agente de IA</a:t>
            </a:r>
          </a:p>
          <a:p>
            <a:pPr algn="ctr"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Pidan que explique cada paso y comprueben que los números coincidan con los calculados a mano. Si no coinciden, algo está mal.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Elemental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</TotalTime>
  <Words>45</Words>
  <Application>Microsoft Office PowerPoint</Application>
  <PresentationFormat>Presentación en pantalla (4:3)</PresentationFormat>
  <Paragraphs>4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Verdana</vt:lpstr>
      <vt:lpstr>Tema de Office</vt:lpstr>
      <vt:lpstr>Nombre del curso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DEL CURSO</dc:title>
  <dc:creator>Cristhian Castillo</dc:creator>
  <cp:lastModifiedBy>CRISTHIAN PATRICIO CASTILLO MARTINEZ</cp:lastModifiedBy>
  <cp:revision>20</cp:revision>
  <dcterms:created xsi:type="dcterms:W3CDTF">2016-01-08T19:37:53Z</dcterms:created>
  <dcterms:modified xsi:type="dcterms:W3CDTF">2025-06-20T21:34:20Z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9D330DD4-BC3D-40FB-B4DD-0656CB3809F6</vt:lpwstr>
  </property>
  <property fmtid="{D5CDD505-2E9C-101B-9397-08002B2CF9AE}" pid="3" name="ArticulatePath">
    <vt:lpwstr>Presentación1</vt:lpwstr>
  </property>
</Properties>
</file>