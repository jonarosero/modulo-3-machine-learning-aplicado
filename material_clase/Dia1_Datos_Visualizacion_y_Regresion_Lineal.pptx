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8"/>
    <p:sldId id="258" r:id="rId7"/>
    <p:sldId id="259" r:id="rId4"/>
    <p:sldId id="260" r:id="rId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3cbRC9Ql1GxZ1vbtqfmyQYJzC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customschemas.google.com/relationships/presentationmetadata" Target="meta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Filas por región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cat>
            <c:strRef>
              <c:f>Sheet1!$A$2:$A$5</c:f>
              <c:strCache>
                <c:ptCount val="4"/>
                <c:pt idx="0">
                  <c:v>Insular</c:v>
                </c:pt>
                <c:pt idx="1">
                  <c:v>Amazonía</c:v>
                </c:pt>
                <c:pt idx="2">
                  <c:v>Sierra</c:v>
                </c:pt>
                <c:pt idx="3">
                  <c:v>Costa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Filas por sector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D7263D"/>
              </a:solidFill>
            </c:spPr>
          </c:dPt>
          <c:dPt>
            <c:idx val="1"/>
            <c:spPr>
              <a:solidFill>
                <a:srgbClr val="3D5A99"/>
              </a:solidFill>
            </c:spPr>
          </c:dPt>
          <c:dPt>
            <c:idx val="2"/>
            <c:spPr>
              <a:solidFill>
                <a:srgbClr val="3D5A99"/>
              </a:solidFill>
            </c:spPr>
          </c:dPt>
          <c:dPt>
            <c:idx val="3"/>
            <c:spPr>
              <a:solidFill>
                <a:srgbClr val="3D5A99"/>
              </a:solidFill>
            </c:spPr>
          </c:dPt>
          <c:cat>
            <c:strRef>
              <c:f>Sheet1!$A$2:$A$5</c:f>
              <c:strCache>
                <c:ptCount val="4"/>
                <c:pt idx="0">
                  <c:v>Agro</c:v>
                </c:pt>
                <c:pt idx="1">
                  <c:v>Industria</c:v>
                </c:pt>
                <c:pt idx="2">
                  <c:v>Comercio</c:v>
                </c:pt>
                <c:pt idx="3">
                  <c:v>Servicios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73</c:v>
                </c:pt>
                <c:pt idx="2">
                  <c:v>83</c:v>
                </c:pt>
                <c:pt idx="3">
                  <c:v>99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D7263D"/>
              </a:solidFill>
            </c:spPr>
          </c:dPt>
          <c:dPt>
            <c:idx val="1"/>
            <c:spPr>
              <a:solidFill>
                <a:srgbClr val="D7263D"/>
              </a:solidFill>
            </c:spPr>
          </c:dPt>
          <c:dPt>
            <c:idx val="2"/>
            <c:spPr>
              <a:solidFill>
                <a:srgbClr val="3D5A99"/>
              </a:solidFill>
            </c:spPr>
          </c:dPt>
          <c:dPt>
            <c:idx val="3"/>
            <c:spPr>
              <a:solidFill>
                <a:srgbClr val="3D5A99"/>
              </a:solidFill>
            </c:spPr>
          </c:dPt>
          <c:dPt>
            <c:idx val="4"/>
            <c:spPr>
              <a:solidFill>
                <a:srgbClr val="3D5A99"/>
              </a:solidFill>
            </c:spPr>
          </c:dPt>
          <c:dPt>
            <c:idx val="5"/>
            <c:spPr>
              <a:solidFill>
                <a:srgbClr val="242852"/>
              </a:solidFill>
            </c:spPr>
          </c:dPt>
          <c:cat>
            <c:strRef>
              <c:f>Sheet1!$A$2:$A$7</c:f>
              <c:strCache>
                <c:ptCount val="6"/>
                <c:pt idx="0">
                  <c:v>desempleo_pct</c:v>
                </c:pt>
                <c:pt idx="1">
                  <c:v>inflacion_pct</c:v>
                </c:pt>
                <c:pt idx="2">
                  <c:v>indice_confianza</c:v>
                </c:pt>
                <c:pt idx="3">
                  <c:v>precio_petroleo_usd</c:v>
                </c:pt>
                <c:pt idx="4">
                  <c:v>exportaciones_mill</c:v>
                </c:pt>
                <c:pt idx="5">
                  <c:v>inversion_mill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-0.288</c:v>
                </c:pt>
                <c:pt idx="1">
                  <c:v>-0.169</c:v>
                </c:pt>
                <c:pt idx="2">
                  <c:v>0.159</c:v>
                </c:pt>
                <c:pt idx="3">
                  <c:v>0.303</c:v>
                </c:pt>
                <c:pt idx="4">
                  <c:v>0.327</c:v>
                </c:pt>
                <c:pt idx="5">
                  <c:v>0.407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-0.6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Región vs Amazonía (pp)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3D5A99"/>
              </a:solidFill>
            </c:spPr>
          </c:dPt>
          <c:dPt>
            <c:idx val="1"/>
            <c:spPr>
              <a:solidFill>
                <a:srgbClr val="3D5A99"/>
              </a:solidFill>
            </c:spPr>
          </c:dPt>
          <c:dPt>
            <c:idx val="2"/>
            <c:spPr>
              <a:solidFill>
                <a:srgbClr val="242852"/>
              </a:solidFill>
            </c:spPr>
          </c:dPt>
          <c:cat>
            <c:strRef>
              <c:f>Sheet1!$A$2:$A$4</c:f>
              <c:strCache>
                <c:ptCount val="3"/>
                <c:pt idx="0">
                  <c:v>Sierra</c:v>
                </c:pt>
                <c:pt idx="1">
                  <c:v>Costa</c:v>
                </c:pt>
                <c:pt idx="2">
                  <c:v>Insular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0.158</c:v>
                </c:pt>
                <c:pt idx="1">
                  <c:v>0.563</c:v>
                </c:pt>
                <c:pt idx="2">
                  <c:v>0.738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Sector vs Agro (pp)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2A9D8F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1F7268"/>
              </a:solidFill>
            </c:spPr>
          </c:dPt>
          <c:cat>
            <c:strRef>
              <c:f>Sheet1!$A$2:$A$4</c:f>
              <c:strCache>
                <c:ptCount val="3"/>
                <c:pt idx="0">
                  <c:v>Servicios</c:v>
                </c:pt>
                <c:pt idx="1">
                  <c:v>Comercio</c:v>
                </c:pt>
                <c:pt idx="2">
                  <c:v>Industria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0.164</c:v>
                </c:pt>
                <c:pt idx="1">
                  <c:v>0.305</c:v>
                </c:pt>
                <c:pt idx="2">
                  <c:v>0.428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RMSE en Validation (menor es mejor)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6D6E71"/>
              </a:solidFill>
            </c:spPr>
          </c:dPt>
          <c:dPt>
            <c:idx val="1"/>
            <c:spPr>
              <a:solidFill>
                <a:srgbClr val="3D5A99"/>
              </a:solidFill>
            </c:spPr>
          </c:dPt>
          <c:dPt>
            <c:idx val="2"/>
            <c:spPr>
              <a:solidFill>
                <a:srgbClr val="3D5A99"/>
              </a:solidFill>
            </c:spPr>
          </c:dPt>
          <c:dPt>
            <c:idx val="3"/>
            <c:spPr>
              <a:solidFill>
                <a:srgbClr val="242852"/>
              </a:solidFill>
            </c:spPr>
          </c:dPt>
          <c:cat>
            <c:strRef>
              <c:f>Sheet1!$A$2:$A$5</c:f>
              <c:strCache>
                <c:ptCount val="4"/>
                <c:pt idx="0">
                  <c:v>Baseline (media)</c:v>
                </c:pt>
                <c:pt idx="1">
                  <c:v>Simple: inversión</c:v>
                </c:pt>
                <c:pt idx="2">
                  <c:v>Múltiple numérica</c:v>
                </c:pt>
                <c:pt idx="3">
                  <c:v>Múltiple + categorías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1.343</c:v>
                </c:pt>
                <c:pt idx="1">
                  <c:v>1.305</c:v>
                </c:pt>
                <c:pt idx="2">
                  <c:v>1.198</c:v>
                </c:pt>
                <c:pt idx="3">
                  <c:v>1.15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42852"/>
                </a:solidFill>
              </a:rPr>
              <a:t>R² en Validation (mayor es mejor)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3D5A99"/>
            </a:solidFill>
          </c:spPr>
          <c:dPt>
            <c:idx val="0"/>
            <c:spPr>
              <a:solidFill>
                <a:srgbClr val="6D6E71"/>
              </a:solidFill>
            </c:spPr>
          </c:dPt>
          <c:dPt>
            <c:idx val="1"/>
            <c:spPr>
              <a:solidFill>
                <a:srgbClr val="2A9D8F"/>
              </a:solidFill>
            </c:spPr>
          </c:dPt>
          <c:dPt>
            <c:idx val="2"/>
            <c:spPr>
              <a:solidFill>
                <a:srgbClr val="2A9D8F"/>
              </a:solidFill>
            </c:spPr>
          </c:dPt>
          <c:dPt>
            <c:idx val="3"/>
            <c:spPr>
              <a:solidFill>
                <a:srgbClr val="1F7268"/>
              </a:solidFill>
            </c:spPr>
          </c:dPt>
          <c:cat>
            <c:strRef>
              <c:f>Sheet1!$A$2:$A$5</c:f>
              <c:strCache>
                <c:ptCount val="4"/>
                <c:pt idx="0">
                  <c:v>Baseline (media)</c:v>
                </c:pt>
                <c:pt idx="1">
                  <c:v>Simple: inversión</c:v>
                </c:pt>
                <c:pt idx="2">
                  <c:v>Múltiple numérica</c:v>
                </c:pt>
                <c:pt idx="3">
                  <c:v>Múltiple + categorías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-0.045</c:v>
                </c:pt>
                <c:pt idx="1">
                  <c:v>0.012</c:v>
                </c:pt>
                <c:pt idx="2">
                  <c:v>0.168</c:v>
                </c:pt>
                <c:pt idx="3">
                  <c:v>0.233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3C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-0.2"/>
        </c:scaling>
        <c:delete val="0"/>
        <c:axPos val="b"/>
        <c:majorGridlines>
          <c:spPr>
            <a:ln>
              <a:solidFill>
                <a:srgbClr val="E3E5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324507C-30A5-4F04-9BA9-BE73D73F19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170012-4F66-4FAC-9ADB-574DFAC324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90910-41EB-476D-8DC1-6DEA0FD5ECF8}" type="datetimeFigureOut">
              <a:rPr lang="es-419" smtClean="0"/>
              <a:t>20/6/2025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02F0BF-DE86-4431-9CB3-63269E04BD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70F7B2-1CA3-4D60-817B-D850DB8F89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EBE30-BF0C-4669-8247-869FC8EEE18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93946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Regla de la jornada: pregunta, datos, exploración, preparación, modelo, métricas, diagnóstico, decisión. Hoy recorremos todo el ciclo con un solo dataset.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Mensaje clave para un público de estadística: la regresión lineal que ya conocen ES un modelo de aprendizaje supervisado. Cambian sobre todo el vocabulario y el énfasis: ML se preocupa más por predecir bien datos nuevos que por la inferencia sobre parámetros.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import no entrena nada: solo pone a disposición código de otras bibliotecas. statsmodels complementa con inferencia (errores estándar, p-valores), que sklearn no reporta.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np.array([105,112,118,109,125]). Vectorización: la operación se aplica a todos los elementos a la vez, sin escribir un for. Detalle estadístico: np.std usa por defecto ddof=0 (desviación poblacional, divide para n) mientras que Pandas .std() usa ddof=1 (muestral, divide para n−1).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regresión es la matriz de diseño. shape=(3,2): 3 filas (observaciones) y 2 columnas (variables). Esta notación aparecerá cuando revisemos X_train.shape.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NumPy sabe operar con números; Pandas añade nombres de columnas, tipos, fechas, categorías e índices. Cada columna puede tener un tipo distinto.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función de Pandas responde una pregunta que un estadístico se haría al recibir una base de datos.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modelar debemos ver los datos. Un gráfico revela tendencias, asimetrías, grupos, atípicos y relaciones no lineales que una tabla esconde.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 X = tiempo u orden; eje Y = valor medido. Aquí: promedio mensual del crecimiento entre todas las regiones y sectores. Todavía no hay Machine Learning, solo aprendemos a mirar.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sola variable. Se divide el rango en intervalos (bins) y se cuenta cuántas observaciones caen en cada uno. Permite ver centro, dispersión, asimetría y valores aislados. Aquí usamos el dataset ORIGINAL para que se vea el valor de 15 %.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punto es una fila: su posición horizontal es la inversión y la vertical el crecimiento. No necesitamos una relación perfecta para usar regresión; buscamos saber si una aproximación lineal tiene sentido como punto de partida.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caja va de Q1 a Q3 (50 % central de los datos), la línea roja es la mediana. Los bigotes llegan hasta el último dato dentro de 1.5·IQR. Lo que queda fuera se marca como posible atípico.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sintético y didáctico: no son cifras oficiales del BCE, INEC u otra institución. Tiene la estructura de un problema económico real para practicar el flujo completo: explorar, limpiar, modelar y medir errores.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modelar siempre preguntamos qué es una fila. Aquí: la combinación de un mes, una región y un sector económico.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Clasificar cada variable por su tipo estadístico define cómo la tratamos: las numéricas entran directamente al modelo, las categóricas deben codificarse y las que no aportan información se descartan.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value_counts() es una tabla de frecuencias. Las regiones están balanceadas (~72 filas), pero los sectores no: Agro tiene solo 34 filas, por lo que lo que el modelo aprenda de Agro será menos estable.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modelo no corrige automáticamente un dato incorrecto: lo aprende. Una sola fila errónea (15 % de crecimiento) entre 289 cambia la pendiente estimada en alrededor de 11 %.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Calidad de datos no es una sola cosa. Cada dimensión se traduce en una verificación concreta con Pandas. Las reglas de validez son reglas de negocio: convierten conocimiento del dominio en comprobaciones explícitas.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de faltantes: cada columna es una fila del gráfico y cada línea roja es una celda vacía. isna().sum() da el conteo; info() muestra los no nulos.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estrategia depende del significado del faltante, no solo de la técnica. MCAR: completamente al azar. MAR: al azar condicionado a otras variables observadas. MNAR: no al azar, depende del propio valor faltante. Elegimos la mediana porque es robusta a valores atípicos.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reglas clásicas: IQR (la del boxplot) y z-score (|z|&gt;3). Un atípico es una señal para investigar, no una orden para borrar. Si es un error de captura se corrige o elimina; si es real se conserva y se considera un modelo más robusto. Ejercicio: exportaciones_mill tiene un valor de 1300 (el resto ≤ 521). ¿Error o dato real?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duplicated() marca filas idénticas en todas sus columnas. Una fila duplicada cuenta dos veces la misma observación y le da el doble de peso en el modelo. Una columna constante tiene varianza cero: no puede explicar diferencias en y.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Orden aplicado en el notebook: eliminar duplicados, eliminar la columna sin aporte, eliminar el atípico identificado e imputar faltantes numéricos con la mediana. Advertencia: en un proyecto real, la mediana para imputar se calcula solo con Train y luego se aplica a Validation y Test, para no filtrar información (fuga de datos).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 mide la intensidad y dirección de la relación LINEAL entre dos variables numéricas. El signo indica la dirección y |r| la intensidad. Escala orientativa de intensidad: 0–0.19 muy débil, 0.20–0.39 débil, 0.40–0.59 moderada, 0.60–0.79 fuerte, 0.80–1 muy fuerte.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 de df_limpio.corr()['crecimiento_actividad_pct']. La inversión tiene la mayor relación lineal individual (moderada). Desempleo e inflación se asocian negativamente. Correlación no implica causalidad.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regresión lineal simple describe y predice una variable numérica y a partir de UNA variable X, mediante la recta que mejor se ajusta a los datos. b₀ intercepto, b₁ pendiente, ŷ valor predicho.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Residuo eᵢ = yᵢ − ŷᵢ. Positivo: el modelo se quedó corto (subestimó). Negativo: el modelo se pasó (sobreestimó). Usamos 5 observaciones didácticas para poder calcular todo a mano.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SSE = suma de errores al cuadrado. Cuanto menor, más cerca están en conjunto las predicciones de los valores reales. Mínimos cuadrados ordinarios (MCO / OLS) elige b₀ y b₁ que hacen el SSE lo más pequeño posible.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Fórmulas de MCO para regresión simple. b1 = Σ(x−x̄)(y−ȳ) / Σ(x−x̄)² = 90 / 4000 = 0.0225. b0 = ȳ − b1·x̄ = 2.16 − 0.0225·140 = −0.99. scikit-learn obtiene exactamente la misma recta.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b1: por cada millón adicional de inversión, la predicción de crecimiento aumenta 0.0225 puntos porcentuales. Es una asociación del modelo, no una prueba causal. b0: predicción matemática con X=0; si X=0 está fuera del rango observado no tiene interpretación económica, es solo la pieza que posiciona la recta. No forzar b0=0 salvo razón teórica fuerte.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inferencia (intervalos, p-valores) estos supuestos son importantes. Para predicción, lo decisivo es el desempeño en datos no vistos (Validation/Test), pero los supuestos ayudan a diagnosticar qué falla. Se revisan principalmente con gráficos de residuos.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MSE queda en unidades al cuadrado, por eso es menos intuitivo para comunicar. RMSE castiga especialmente errores grandes. Bias cercano a 0 no significa modelo bueno: errores positivos y negativos pueden cancelarse. R² no es accuracy y puede ser negativo en datos no vistos si el modelo es peor que predecir la media.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los 5 residuos del ejemplo: |e| suma 0.36 → MAE = 0.072. e² suma 0.027 → MSE = 0.0054 → RMSE = 0.073. Bias = promedio de (ŷ − y) = 0. R² = 1 − 0.027/2.052 = 0.987. Ojo: estas métricas se calcularon con los mismos datos de entrenamiento; no dicen nada sobre datos nuevos.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SST = variación total = errores de un modelo ingenuo que siempre predice la media ȳ. SSE = errores del modelo. R² = 1 − SSE/SST: proporción de la variación total que el modelo logra explicar. En datos nuevos puede ser negativo si el modelo es peor que la media.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Mismo MAE pero distinto RMSE: el RMSE castiga los errores grandes. Si RMSE es bastante mayor que MAE, unos pocos errores grandes pesan mucho. El Bias puede ser 0 aunque los errores sean enormes, porque se cancelan.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Hasta ahora medimos sobre los mismos datos con los que el modelo aprendió: eso no estima la generalización. Train: el modelo aprende sus parámetros (b0, b1). Validation: nosotros tomamos decisiones (variables, transformaciones, hiperparámetros) y se puede consultar varias veces. Test: examen final, se usa una sola vez al terminar.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Subajuste: el modelo es demasiado simple y falla incluso en Train. Sobreajuste: el modelo memoriza el ruido de Train y falla con datos nuevos. Comparar Train vs Validation permite diagnosticarlo. Se profundiza en el Día 2.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Ahora con las 287 filas limpias, respetando la partición. Baseline: predecir siempre la media de Train (1.90). R² baja de 0.165 a 0.012: la inversión sola explica muy poco en datos nuevos. No hay sobreajuste fuerte; el problema es poca capacidad predictiva → necesitamos más información.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 X: predicción; eje Y: residuo = real − predicción. La línea en 0 es una predicción perfecta. Un buen modelo deja residuos aleatorios alrededor de cero, sin curvas ni embudos y con dispersión pequeña. En nuestro modelo simple no hay patrones claros, pero la dispersión es grande (±2 puntos).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dos variables explicativas ya no aprendemos una línea sino un plano en 3D. Con p variables, un hiperplano que no podemos dibujar, pero la lógica es la misma: un coeficiente por cada columna. Modelo de 2 X ajustado: ŷ = −2.24 + 0.0189·inversión + 0.0300·petróleo.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coeficiente es el cambio en la predicción cuando su variable aumenta 1 unidad y las demás X quedan fijas (ceteris paribus). No comparar magnitudes directamente: las variables tienen escalas distintas. Para comparar importancia se estandarizan (z-scores) o se usan otras técnicas (Días siguientes). Si dos X están muy correlacionadas (multicolinealidad), los coeficientes se vuelven inestables.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Codificar Costa=1, Sierra=2, Amazonía=3, Insular=4 inventaría un orden y distancias inexistentes (Insular no es '4 veces' Costa, ni Sierra está 'entre' Costa y Amazonía). La solución es One-Hot Encoding: una columna binaria 0/1 por categoría (variables dummy).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Coeficiente de una dummy = diferencia promedio en la predicción respecto de la categoría de referencia (Amazonía para región, Agro para sector), manteniendo constantes las demás variables. Es una diferencia asociada, no un efecto causal.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pregunta no es si el modelo tiene más variables, sino si mejora Validation de forma útil y estable frente a alternativas más simples. El baseline tiene R² negativo en Validation: predecir la media de Train es peor que la media de Validation. Cada variable añadida reduce el RMSE.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 se usa una sola vez, al final. Explica ~31 % en Train, 23 % en Validation y 37 % en Test. No hay una regla que obligue a Test a ser peor: con particiones aleatorias puede contener casos más fáciles. Lo importante es la consistencia. El Bias positivo en Validation y Test indica una ligera tendencia a sobreestimar el crecimiento.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Escenario: Industria en la Costa con inversión 180, exportaciones 500, petróleo 70, confianza 60, inflación 2.5, desempleo 4.5 → ŷ = 3.57 %. Que el modelo produzca un número no lo hace confiable: revisar si el escenario está dentro del rango observado, si la categoría existe en Train y comparar con casos similares. El índice de confianza 60 supera el máximo observado (57.1): es una extrapolación.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para cerrar la jornada.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Hoy no se califica: es una actividad diagnóstica. Cargar actividad_economica_reto.csv (193 registros, estructura parecida, problemas de calidad propios) y reconstruir el flujo sin copiar ciegamente. Próxima clase (Día 2): sobreajuste, validación cruzada, árboles y Random Forest de regresión.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187624" y="5013176"/>
            <a:ext cx="6768752" cy="864095"/>
          </a:xfrm>
          <a:prstGeom prst="rect">
            <a:avLst/>
          </a:prstGeom>
          <a:solidFill>
            <a:srgbClr val="1B1E3E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0" y="5949280"/>
            <a:ext cx="37079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24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>
                <a:solidFill>
                  <a:srgbClr val="D8D8D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body" idx="1"/>
          </p:nvPr>
        </p:nvSpPr>
        <p:spPr>
          <a:xfrm>
            <a:off x="457200" y="2060848"/>
            <a:ext cx="4038600" cy="40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2"/>
          </p:nvPr>
        </p:nvSpPr>
        <p:spPr>
          <a:xfrm>
            <a:off x="4648200" y="2060848"/>
            <a:ext cx="4038600" cy="40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722313" y="4443189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2060848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457200" y="2708919"/>
            <a:ext cx="4040188" cy="3417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3"/>
          </p:nvPr>
        </p:nvSpPr>
        <p:spPr>
          <a:xfrm>
            <a:off x="4645025" y="2060848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4"/>
          </p:nvPr>
        </p:nvSpPr>
        <p:spPr>
          <a:xfrm>
            <a:off x="4645025" y="2708919"/>
            <a:ext cx="4041775" cy="3417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457200" y="980728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3575050" y="980728"/>
            <a:ext cx="511175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457200" y="2132856"/>
            <a:ext cx="3008313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1792288" y="486916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>
            <a:spLocks noGrp="1"/>
          </p:cNvSpPr>
          <p:nvPr>
            <p:ph type="pic" idx="2"/>
          </p:nvPr>
        </p:nvSpPr>
        <p:spPr>
          <a:xfrm>
            <a:off x="1792288" y="908720"/>
            <a:ext cx="5486400" cy="388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1792288" y="5432450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 rot="5400000">
            <a:off x="2575346" y="14710"/>
            <a:ext cx="399330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 rot="5400000">
            <a:off x="5085382" y="2524745"/>
            <a:ext cx="514543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1"/>
          </p:nvPr>
        </p:nvSpPr>
        <p:spPr>
          <a:xfrm rot="5400000">
            <a:off x="894383" y="543546"/>
            <a:ext cx="514543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  <a:defRPr sz="3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368850" y="1972369"/>
            <a:ext cx="2957730" cy="223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s-EC" sz="2800" dirty="0">
                <a:solidFill>
                  <a:srgbClr val="092240"/>
                </a:solidFill>
              </a:rPr>
              <a:t>Día 1 — Datos, Visualización y Regresión Lineal</a:t>
            </a:r>
            <a:endParaRPr sz="3600" dirty="0">
              <a:solidFill>
                <a:srgbClr val="092240"/>
              </a:solidFill>
            </a:endParaRPr>
          </a:p>
        </p:txBody>
      </p:sp>
      <p:sp>
        <p:nvSpPr>
          <p:cNvPr id="50" name="Google Shape;50;p1"/>
          <p:cNvSpPr txBox="1">
            <a:spLocks noGrp="1"/>
          </p:cNvSpPr>
          <p:nvPr>
            <p:ph type="subTitle" idx="1"/>
          </p:nvPr>
        </p:nvSpPr>
        <p:spPr>
          <a:xfrm>
            <a:off x="1472580" y="5451377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</a:pPr>
            <a:r>
              <a:rPr lang="es-EC" sz="2000" dirty="0">
                <a:solidFill>
                  <a:srgbClr val="595959"/>
                </a:solidFill>
              </a:rPr>
              <a:t>Módulo 3: Machine Learning Aplicado</a:t>
            </a:r>
          </a:p>
          <a:p>
            <a:r>
              <a:rPr sz="1800">
                <a:solidFill>
                  <a:srgbClr val="595959"/>
                </a:solidFill>
              </a:rPr>
              <a:t>13-10-2026 · Jonathan Rosero Soto</a:t>
            </a:r>
          </a:p>
        </p:txBody>
      </p:sp>
      <p:sp>
        <p:nvSpPr>
          <p:cNvPr id="2" name="Google Shape;49;p1">
            <a:extLst>
              <a:ext uri="{FF2B5EF4-FFF2-40B4-BE49-F238E27FC236}">
                <a16:creationId xmlns:a16="http://schemas.microsoft.com/office/drawing/2014/main" id="{A44FCFBF-4A46-52F2-39D4-3FA0ED93B6E0}"/>
              </a:ext>
            </a:extLst>
          </p:cNvPr>
          <p:cNvSpPr txBox="1">
            <a:spLocks/>
          </p:cNvSpPr>
          <p:nvPr/>
        </p:nvSpPr>
        <p:spPr>
          <a:xfrm>
            <a:off x="1402651" y="6219245"/>
            <a:ext cx="7192708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Edificio Aulas y Relación con el Medio Externo, Av. Toledo N23-55 y Madrid </a:t>
            </a:r>
          </a:p>
          <a:p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Telf.: +593 2 2525766 - 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</a:rPr>
              <a:t>Ext: 102 / 125 / 143 / 120 / 127 -</a:t>
            </a:r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 www.cec-epn.edu.ec</a:t>
            </a:r>
            <a:endParaRPr lang="es-EC" sz="13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Ruta de la jornada</a:t>
            </a:r>
          </a:p>
        </p:txBody>
      </p:sp>
      <p:sp>
        <p:nvSpPr>
          <p:cNvPr id="3" name="Pentagon 2"/>
          <p:cNvSpPr/>
          <p:nvPr/>
        </p:nvSpPr>
        <p:spPr>
          <a:xfrm>
            <a:off x="731520" y="1965960"/>
            <a:ext cx="1024128" cy="457200"/>
          </a:xfrm>
          <a:prstGeom prst="homePlat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Pregunta</a:t>
            </a:r>
          </a:p>
        </p:txBody>
      </p:sp>
      <p:sp>
        <p:nvSpPr>
          <p:cNvPr id="5" name="Chevron 4"/>
          <p:cNvSpPr/>
          <p:nvPr/>
        </p:nvSpPr>
        <p:spPr>
          <a:xfrm>
            <a:off x="1700784" y="1965960"/>
            <a:ext cx="1024128" cy="457200"/>
          </a:xfrm>
          <a:prstGeom prst="chevron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5064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Datos</a:t>
            </a:r>
          </a:p>
        </p:txBody>
      </p:sp>
      <p:sp>
        <p:nvSpPr>
          <p:cNvPr id="7" name="Chevron 6"/>
          <p:cNvSpPr/>
          <p:nvPr/>
        </p:nvSpPr>
        <p:spPr>
          <a:xfrm>
            <a:off x="2670048" y="1965960"/>
            <a:ext cx="1024128" cy="457200"/>
          </a:xfrm>
          <a:prstGeom prst="chevron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Explorar</a:t>
            </a:r>
          </a:p>
        </p:txBody>
      </p:sp>
      <p:sp>
        <p:nvSpPr>
          <p:cNvPr id="9" name="Chevron 8"/>
          <p:cNvSpPr/>
          <p:nvPr/>
        </p:nvSpPr>
        <p:spPr>
          <a:xfrm>
            <a:off x="3639312" y="1965960"/>
            <a:ext cx="1024128" cy="457200"/>
          </a:xfrm>
          <a:prstGeom prst="chevron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Preparar</a:t>
            </a:r>
          </a:p>
        </p:txBody>
      </p:sp>
      <p:sp>
        <p:nvSpPr>
          <p:cNvPr id="11" name="Chevron 10"/>
          <p:cNvSpPr/>
          <p:nvPr/>
        </p:nvSpPr>
        <p:spPr>
          <a:xfrm>
            <a:off x="4608576" y="1965960"/>
            <a:ext cx="1024128" cy="457200"/>
          </a:xfrm>
          <a:prstGeom prst="chevron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Modelar</a:t>
            </a:r>
          </a:p>
        </p:txBody>
      </p:sp>
      <p:sp>
        <p:nvSpPr>
          <p:cNvPr id="13" name="Chevron 12"/>
          <p:cNvSpPr/>
          <p:nvPr/>
        </p:nvSpPr>
        <p:spPr>
          <a:xfrm>
            <a:off x="5577840" y="1965960"/>
            <a:ext cx="1024128" cy="457200"/>
          </a:xfrm>
          <a:prstGeom prst="chevron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Medir</a:t>
            </a:r>
          </a:p>
        </p:txBody>
      </p:sp>
      <p:sp>
        <p:nvSpPr>
          <p:cNvPr id="15" name="Chevron 14"/>
          <p:cNvSpPr/>
          <p:nvPr/>
        </p:nvSpPr>
        <p:spPr>
          <a:xfrm>
            <a:off x="6547104" y="1965960"/>
            <a:ext cx="1024128" cy="457200"/>
          </a:xfrm>
          <a:prstGeom prst="chevron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Diagnosticar</a:t>
            </a:r>
          </a:p>
        </p:txBody>
      </p:sp>
      <p:sp>
        <p:nvSpPr>
          <p:cNvPr id="17" name="Chevron 16"/>
          <p:cNvSpPr/>
          <p:nvPr/>
        </p:nvSpPr>
        <p:spPr>
          <a:xfrm>
            <a:off x="7516368" y="1965960"/>
            <a:ext cx="1024128" cy="457200"/>
          </a:xfrm>
          <a:prstGeom prst="chevron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45059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Decidir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24912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El ciclo de trabajo que repetiremos en cada problema de Machine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3282696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200400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Herramientas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NumPy, Pandas y Matplotlib: representar, resumir y ver los datos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154680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73168" y="3282696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7" y="3200400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Dataset y calidad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Qué contiene el archivo, por qué limpiarlo y cómo hacerlo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59352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" y="4087368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005072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Relación entre variables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Correlación de Pearson y lectura de gráficos de dispersión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959352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73168" y="4087368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4005072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Regresión lineal simple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La recta, los residuos y los mínimos cuadrados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64024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892040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4809744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Medir errores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MAE, MSE, RMSE, Bias y R²: qué pregunta responde cada una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764024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73168" y="4892040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7" y="4809744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Train / Validation / Test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Cómo saber si el modelo funciona con datos nuevos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5568696"/>
            <a:ext cx="3794760" cy="713232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807208" y="5696712"/>
            <a:ext cx="457200" cy="4572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5614416"/>
            <a:ext cx="30632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Regresión múltiple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Del plano al hiperplano y variables categóricas (One-Hot)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Estadística y ML: mismo problema, otro vocabulario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242852"/>
                </a:solidFill>
                <a:latin typeface="Arial"/>
              </a:rPr>
              <a:t>X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variables de entrada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26080" y="2331720"/>
            <a:ext cx="548640" cy="36576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96596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Modelo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ŷ = f(X)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0720" y="2331720"/>
            <a:ext cx="548640" cy="36576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D7263D"/>
                </a:solidFill>
                <a:latin typeface="Arial"/>
              </a:rPr>
              <a:t>ŷ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predicción de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F6368"/>
                </a:solidFill>
                <a:latin typeface="Arial"/>
              </a:rPr>
              <a:t>Aprendizaje supervisado: </a:t>
            </a:r>
            <a:r>
              <a:rPr sz="1200" b="1" i="0">
                <a:solidFill>
                  <a:srgbClr val="5F6368"/>
                </a:solidFill>
                <a:latin typeface="Arial"/>
              </a:rPr>
              <a:t>aprendemos f a partir de ejemplos donde conocemos X y también la respuesta real 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3566160"/>
          <a:ext cx="676656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estadística decimos…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Machine Learning decimos…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Variable dependiente / respuesta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Target, etiqueta, variable objetivo (y)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Variables independientes / regresoras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Features, atributos, predictores (X)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Observación / unidad muestral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Fila, ejemplo, instancia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Estimar los parámetros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Entrenar o ajustar el modelo (fit)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Valor ajustado / pronóstico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Predicción (predict)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Muestra de estimación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Conjunto de entrenamiento (Train)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Validación fuera de muestra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Validation y 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NumPy: vectores y matrices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8996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Pandas: tablas y diagnóstico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6552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Matplotlib: 4 gráficos básicos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Herramientas antes del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NumPy, Pandas y Matplotlib: cómo Python representa, resume y muestra los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Cuatro herramientas, cuatro tareas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240280"/>
            <a:ext cx="960120" cy="9601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219456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42852"/>
                </a:solidFill>
                <a:latin typeface="Arial"/>
              </a:rPr>
              <a:t>NumPy</a:t>
            </a:r>
            <a:r>
              <a:rPr sz="1300" b="0" i="0">
                <a:solidFill>
                  <a:srgbClr val="5F6368"/>
                </a:solidFill>
                <a:latin typeface="Arial"/>
              </a:rPr>
              <a:t>  ·  Calcula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606040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Vectores y matrices. Operaciones sobre todos los datos a la vez.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3474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Como una calculadora matricial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01168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2240280"/>
            <a:ext cx="960120" cy="9601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9456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7263D"/>
                </a:solidFill>
                <a:latin typeface="Arial"/>
              </a:rPr>
              <a:t>Pandas</a:t>
            </a:r>
            <a:r>
              <a:rPr sz="1300" b="0" i="0">
                <a:solidFill>
                  <a:srgbClr val="5F6368"/>
                </a:solidFill>
                <a:latin typeface="Arial"/>
              </a:rPr>
              <a:t>  ·  Organiza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606040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Tablas (DataFrame) con nombres, tipos, fechas y herramientas de limpieza.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29000"/>
            <a:ext cx="3474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Como una hoja de datos de SPSS o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343400"/>
            <a:ext cx="960120" cy="9601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9768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A9D8F"/>
                </a:solidFill>
                <a:latin typeface="Arial"/>
              </a:rPr>
              <a:t>Matplotlib</a:t>
            </a:r>
            <a:r>
              <a:rPr sz="1300" b="0" i="0">
                <a:solidFill>
                  <a:srgbClr val="5F6368"/>
                </a:solidFill>
                <a:latin typeface="Arial"/>
              </a:rPr>
              <a:t>  ·  Muestra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709160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Gráficos: línea, histograma, dispersión, boxplot, 3D…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3474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Como el papel milimetrado del analista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11480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4343400"/>
            <a:ext cx="960120" cy="960120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sklearn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29768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D5A99"/>
                </a:solidFill>
                <a:latin typeface="Arial"/>
              </a:rPr>
              <a:t>Scikit-learn</a:t>
            </a:r>
            <a:r>
              <a:rPr sz="1300" b="0" i="0">
                <a:solidFill>
                  <a:srgbClr val="5F6368"/>
                </a:solidFill>
                <a:latin typeface="Arial"/>
              </a:rPr>
              <a:t>  ·  Modela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709160"/>
            <a:ext cx="2377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Algoritmos (LinearRegression…), particiones y métricas.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532120"/>
            <a:ext cx="3474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La caja de herramientas de modelos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+ statsmodels: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inferencia estadística (errores estándar, intervalos, p-valores) para complementar.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NumPy: pensar en vectores, no en bucles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ventas</a:t>
            </a:r>
            <a:r>
              <a:rPr sz="1200" b="0" i="0">
                <a:solidFill>
                  <a:srgbClr val="5F6368"/>
                </a:solidFill>
                <a:latin typeface="Arial"/>
              </a:rPr>
              <a:t>  (vector de 5 elementos)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713232" cy="64008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105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377440"/>
            <a:ext cx="713232" cy="64008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112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377440"/>
            <a:ext cx="713232" cy="64008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118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79" y="2377440"/>
            <a:ext cx="713232" cy="64008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377440"/>
            <a:ext cx="713232" cy="64008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377440"/>
            <a:ext cx="82296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D7263D"/>
                </a:solidFill>
                <a:latin typeface="Arial"/>
              </a:rPr>
              <a:t>+ 10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606040" y="3127248"/>
            <a:ext cx="411480" cy="457200"/>
          </a:xfrm>
          <a:prstGeom prst="down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703320"/>
            <a:ext cx="713232" cy="640080"/>
          </a:xfrm>
          <a:prstGeom prst="rect">
            <a:avLst/>
          </a:prstGeom>
          <a:solidFill>
            <a:srgbClr val="FBE8EA"/>
          </a:solidFill>
          <a:ln w="15875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115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3703320"/>
            <a:ext cx="713232" cy="640080"/>
          </a:xfrm>
          <a:prstGeom prst="rect">
            <a:avLst/>
          </a:prstGeom>
          <a:solidFill>
            <a:srgbClr val="FBE8EA"/>
          </a:solidFill>
          <a:ln w="15875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122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703320"/>
            <a:ext cx="713232" cy="640080"/>
          </a:xfrm>
          <a:prstGeom prst="rect">
            <a:avLst/>
          </a:prstGeom>
          <a:solidFill>
            <a:srgbClr val="FBE8EA"/>
          </a:solidFill>
          <a:ln w="15875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128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79" y="3703320"/>
            <a:ext cx="713232" cy="640080"/>
          </a:xfrm>
          <a:prstGeom prst="rect">
            <a:avLst/>
          </a:prstGeom>
          <a:solidFill>
            <a:srgbClr val="FBE8EA"/>
          </a:solidFill>
          <a:ln w="15875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119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703320"/>
            <a:ext cx="713232" cy="640080"/>
          </a:xfrm>
          <a:prstGeom prst="rect">
            <a:avLst/>
          </a:prstGeom>
          <a:solidFill>
            <a:srgbClr val="FBE8EA"/>
          </a:solidFill>
          <a:ln w="15875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D7263D"/>
                </a:solidFill>
                <a:latin typeface="Arial"/>
              </a:rPr>
              <a:t>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Una sola instrucción, ventas + 10, transforma los 5 valores (vectorización).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011680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5740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42852"/>
                </a:solidFill>
                <a:latin typeface="Arial"/>
              </a:rPr>
              <a:t>113.8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87168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Media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Courier New"/>
              </a:rPr>
              <a:t>ventas.mean()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090672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136391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42852"/>
                </a:solidFill>
                <a:latin typeface="Arial"/>
              </a:rPr>
              <a:t>7.03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6616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Desv. estándar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Courier New"/>
              </a:rPr>
              <a:t>ventas.std()  ·  divide para 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169664"/>
            <a:ext cx="2514600" cy="9601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215384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42852"/>
                </a:solidFill>
                <a:latin typeface="Arial"/>
              </a:rPr>
              <a:t>(5,)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4515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Forma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Courier New"/>
              </a:rPr>
              <a:t>ventas.shape  ·  1 dimensión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66360"/>
            <a:ext cx="7772400" cy="109728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Ojo estadístico: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NumPy calcula la desviación estándar poblacional (divide para n). Pandas usa la muestral (divide para n − 1). Con ddof=1 NumPy da 7.85.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La matriz de datos X: n filas × p columnas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148839"/>
            <a:ext cx="1097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3D5A99"/>
                </a:solidFill>
                <a:latin typeface="Arial"/>
              </a:rPr>
              <a:t>x₁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2148839"/>
            <a:ext cx="1097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3D5A99"/>
                </a:solidFill>
                <a:latin typeface="Arial"/>
              </a:rPr>
              <a:t>x₂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234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observación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651760"/>
            <a:ext cx="109728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2651760"/>
            <a:ext cx="109728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234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observación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3383280"/>
            <a:ext cx="109728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383280"/>
            <a:ext cx="109728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1234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observación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4114800"/>
            <a:ext cx="109728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140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4114800"/>
            <a:ext cx="1097280" cy="685800"/>
          </a:xfrm>
          <a:prstGeom prst="rect">
            <a:avLst/>
          </a:prstGeom>
          <a:solidFill>
            <a:srgbClr val="E8EDF6"/>
          </a:solidFill>
          <a:ln w="15875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242852"/>
                </a:solidFill>
                <a:latin typeface="Arial"/>
              </a:rPr>
              <a:t>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937760"/>
            <a:ext cx="2240280" cy="45720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p = 2 columnas  (variables)</a:t>
            </a:r>
          </a:p>
        </p:txBody>
      </p:sp>
      <p:sp>
        <p:nvSpPr>
          <p:cNvPr id="15" name="Right Brace 14"/>
          <p:cNvSpPr/>
          <p:nvPr/>
        </p:nvSpPr>
        <p:spPr>
          <a:xfrm>
            <a:off x="4480560" y="2651760"/>
            <a:ext cx="365760" cy="2148840"/>
          </a:xfrm>
          <a:prstGeom prst="rightBrace">
            <a:avLst/>
          </a:prstGeom>
          <a:noFill/>
          <a:ln w="15875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429000"/>
            <a:ext cx="12801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n = 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7263D"/>
                </a:solidFill>
                <a:latin typeface="Arial"/>
              </a:rPr>
              <a:t>filas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79" y="553212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X_demo.shape  →  </a:t>
            </a:r>
            <a:r>
              <a:rPr sz="1700" b="1" i="0">
                <a:solidFill>
                  <a:srgbClr val="FFFFFF"/>
                </a:solidFill>
                <a:latin typeface="Courier New"/>
              </a:rPr>
              <a:t>(3, 2)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205740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167128"/>
            <a:ext cx="23774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En estadística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715768"/>
            <a:ext cx="2331720" cy="11429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Es la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matriz de diseño</a:t>
            </a:r>
            <a:r>
              <a:rPr sz="1200" b="0" i="0">
                <a:solidFill>
                  <a:srgbClr val="2B2B2B"/>
                </a:solidFill>
                <a:latin typeface="Arial"/>
              </a:rPr>
              <a:t> X de tamaño n × p.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y es un vector n × 1 con la respuesta.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4069080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4178808"/>
            <a:ext cx="23774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En 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727448"/>
            <a:ext cx="23317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X siempre es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2D</a:t>
            </a:r>
            <a:r>
              <a:rPr sz="1200" b="0" i="0">
                <a:solidFill>
                  <a:srgbClr val="2B2B2B"/>
                </a:solidFill>
                <a:latin typeface="Arial"/>
              </a:rPr>
              <a:t> (aunque tenga una sola variable): 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7263D"/>
                </a:solidFill>
                <a:latin typeface="Courier New"/>
              </a:rPr>
              <a:t>df[['inversion_mill']]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y es 1D: </a:t>
            </a:r>
            <a:r>
              <a:rPr sz="1100" b="0" i="0">
                <a:solidFill>
                  <a:srgbClr val="D7263D"/>
                </a:solidFill>
                <a:latin typeface="Courier New"/>
              </a:rPr>
              <a:t>df['crecimiento']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Pandas: el DataFrame, una tabla con significado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274320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1600200"/>
                <a:gridCol w="16002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inversion_mill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crecimiento_pct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ene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1.6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B2B2B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468880" y="4846320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A9D8F"/>
                </a:solidFill>
                <a:latin typeface="Arial"/>
              </a:rPr>
              <a:t>object (texto)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4846320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A9D8F"/>
                </a:solidFill>
                <a:latin typeface="Arial"/>
              </a:rPr>
              <a:t>int64 (entero)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4846320"/>
            <a:ext cx="1508760" cy="384048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A9D8F"/>
                </a:solidFill>
                <a:latin typeface="Arial"/>
              </a:rPr>
              <a:t>float64 (decimal)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85232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2A9D8F"/>
                </a:solidFill>
                <a:latin typeface="Arial"/>
              </a:rPr>
              <a:t>dtypes: Pandas asigna un tipo a cada columna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Índice</a:t>
            </a:r>
            <a:r>
              <a:rPr sz="1000" b="0" i="0">
                <a:solidFill>
                  <a:srgbClr val="2B2B2B"/>
                </a:solidFill>
                <a:latin typeface="Arial"/>
              </a:rPr>
              <a:t> (etiqueta de fila)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83080" y="2587752"/>
            <a:ext cx="228600" cy="274320"/>
          </a:xfrm>
          <a:prstGeom prst="down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Nombres de columnas</a:t>
            </a:r>
            <a:r>
              <a:rPr sz="1100" b="0" i="0">
                <a:solidFill>
                  <a:srgbClr val="2B2B2B"/>
                </a:solidFill>
                <a:latin typeface="Arial"/>
              </a:rPr>
              <a:t> = variables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526280" y="2523744"/>
            <a:ext cx="228600" cy="237744"/>
          </a:xfrm>
          <a:prstGeom prst="downArrow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96912" y="329184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Una fila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= una observación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6967728" y="3611880"/>
            <a:ext cx="274320" cy="256032"/>
          </a:xfrm>
          <a:prstGeom prst="leftArrow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7772400" cy="566928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NumPy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→ solo números en posiciones.   </a:t>
            </a:r>
            <a:r>
              <a:rPr sz="1200" b="1" i="0">
                <a:solidFill>
                  <a:srgbClr val="D7263D"/>
                </a:solidFill>
                <a:latin typeface="Arial"/>
              </a:rPr>
              <a:t>Pandas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→ números + nombres + tipos + fechas + categorías.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Pandas como herramienta de diagnóstico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2011680"/>
          <a:ext cx="77724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79476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Función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Pregunta que responde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En nuestro dataset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df.shape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¿Cuál es el tamaño de la muestra (n, p)?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(289, 11)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df.dtypes / df.info()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¿Qué tipo de variable es cada columna? ¿Cuántos datos no nulos hay?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fecha llega como texto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df.describe()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Estadísticos descriptivos: media, desviación, mínimo, cuartiles, máximo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máx. crecimiento = 15 %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value_counts()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Tabla de frecuencias de una variable categórica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Agro: solo 34 filas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isna().sum()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¿Cuántos valores faltan por columna?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8 celdas vacías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duplicated()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¿Hay filas repetidas exactamente?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 duplicado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Courier New"/>
                        </a:rPr>
                        <a:t>corr()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Matriz de correlación de Pearson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inversión: r = 0.41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Si max está muy lejos del percentil 75 % → posible atípico: una señal para investigar, no una orden para borrar.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Matplotlib: cada gráfico responde una pregunta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2057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pic>
        <p:nvPicPr>
          <p:cNvPr id="4" name="Picture 3" descr="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07336"/>
            <a:ext cx="2331720" cy="1174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2103120"/>
            <a:ext cx="1298448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Línea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7263D"/>
                </a:solidFill>
                <a:latin typeface="Courier New"/>
              </a:rPr>
              <a:t>plt.plot()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¿Cómo cambia en el tiempo?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65960"/>
            <a:ext cx="3794760" cy="2057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pic>
        <p:nvPicPr>
          <p:cNvPr id="7" name="Picture 6" descr="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2395672"/>
            <a:ext cx="2331720" cy="1197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2103120"/>
            <a:ext cx="1298448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Histograma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7263D"/>
                </a:solidFill>
                <a:latin typeface="Courier New"/>
              </a:rPr>
              <a:t>plt.hist()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¿Cómo se distribuye una variable?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794760" cy="2057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pic>
        <p:nvPicPr>
          <p:cNvPr id="10" name="Picture 9" descr="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30482"/>
            <a:ext cx="2331720" cy="13174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0" y="4297680"/>
            <a:ext cx="1298448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Dispersión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7263D"/>
                </a:solidFill>
                <a:latin typeface="Courier New"/>
              </a:rPr>
              <a:t>plt.scatter()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¿Cómo se relacionan dos variables?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160520"/>
            <a:ext cx="3794760" cy="2057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pic>
        <p:nvPicPr>
          <p:cNvPr id="13" name="Picture 12" descr="boxp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79" y="4715936"/>
            <a:ext cx="2331720" cy="9465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4297680"/>
            <a:ext cx="1298448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Boxplot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7263D"/>
                </a:solidFill>
                <a:latin typeface="Courier New"/>
              </a:rPr>
              <a:t>plt.boxplot()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¿Dónde está el centro, la dispersión y los atípicos?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Gráfico de línea: ¿cómo cambia en el tiempo?</a:t>
            </a:r>
          </a:p>
        </p:txBody>
      </p:sp>
      <p:pic>
        <p:nvPicPr>
          <p:cNvPr id="3" name="Picture 2" descr="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7598"/>
            <a:ext cx="5212080" cy="26256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07492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Promedio mensual del crecimiento de actividad (dataset limpio, 2019–2024)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96596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207568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Tendencia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62432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¿Sube, baja o se mantiene a largo plazo?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21868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Variabilidad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76732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¿Los picos y valles son grandes o pequeños?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5196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36168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Cambios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91032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¿Hay saltos, rupturas o estacionalidad?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7772400" cy="7315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Lectura: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el crecimiento promedio oscila alrededor de 1.8 % sin una tendencia clara; la variación mes a mes es grande.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Histograma: ¿cómo se distribuye una variable?</a:t>
            </a:r>
          </a:p>
        </p:txBody>
      </p:sp>
      <p:pic>
        <p:nvPicPr>
          <p:cNvPr id="3" name="Picture 2" descr="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4386"/>
            <a:ext cx="5212080" cy="2677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120640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Crecimiento de actividad, dataset original (289 filas, 30 intervalos)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96596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207568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62432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La mayoría de valores entre 0 % y 4 %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21868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76732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Aproximadamente simétrica, en campana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51960"/>
            <a:ext cx="2377440" cy="1024128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361688"/>
            <a:ext cx="2148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Aislados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910328"/>
            <a:ext cx="2103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Un valor de 15 %, muy lejos del resto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7772400" cy="7315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Clave: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el número de intervalos (bins) cambia la apariencia; pruebe varios antes de concluir sobre la forma.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Diagrama de dispersión: ¿se relacionan dos variables?</a:t>
            </a:r>
          </a:p>
        </p:txBody>
      </p:sp>
      <p:pic>
        <p:nvPicPr>
          <p:cNvPr id="3" name="Picture 2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5241"/>
            <a:ext cx="5120640" cy="28932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25780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Inversión vs crecimiento de actividad (dataset limpio, 287 puntos)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96596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Preguntas al mirarlo</a:t>
            </a:r>
          </a:p>
        </p:txBody>
      </p:sp>
      <p:sp>
        <p:nvSpPr>
          <p:cNvPr id="6" name="Oval 5"/>
          <p:cNvSpPr/>
          <p:nvPr/>
        </p:nvSpPr>
        <p:spPr>
          <a:xfrm>
            <a:off x="6035040" y="2377440"/>
            <a:ext cx="384048" cy="384048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40864"/>
            <a:ext cx="20116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¿La nube sube, baja o no tiene dirección?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2999232"/>
            <a:ext cx="384048" cy="384048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962656"/>
            <a:ext cx="20116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¿Parece una recta o una curva?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3621024"/>
            <a:ext cx="384048" cy="384048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584448"/>
            <a:ext cx="20116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¿Hay grupos separados?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4242816"/>
            <a:ext cx="384048" cy="384048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20116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¿La dispersión crece con X?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4864608"/>
            <a:ext cx="384048" cy="384048"/>
          </a:xfrm>
          <a:prstGeom prst="ellipse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28032"/>
            <a:ext cx="20116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¿Hay puntos aislados?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Lectura: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la nube sube suavemente: más inversión se asocia con más crecimiento, pero con mucha dispersión.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Boxplot: el resumen de cinco números</a:t>
            </a:r>
          </a:p>
        </p:txBody>
      </p:sp>
      <p:pic>
        <p:nvPicPr>
          <p:cNvPr id="3" name="Picture 2" descr="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998" y="1920240"/>
            <a:ext cx="6757442" cy="2743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617720"/>
          <a:ext cx="777240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457200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Estadístico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Cómo se obtiene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Q1 (percentil 25)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25 % de los datos está por debajo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Mediana (Q2)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1.82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Divide los datos en dos mitades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Q3 (percentil 75)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2.75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75 % de los datos está por debajo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IQR = Q3 − Q1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1.77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Ancho de la caja: dispersión robusta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Límite superior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5.41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Q3 + 1.5 × IQR → 2 valores lo superan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Estructura y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Dimensiones de calidad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Faltantes, atípicos y duplicados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Flujo de limpieza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El dataset y la calidad de los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Qué contiene el archivo, qué representa cada fila y por qué debemos limpiarlo antes de modelar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El dataset conductor: actividad_economica_demo.csv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8288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8288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42852"/>
                </a:solidFill>
                <a:latin typeface="Arial"/>
              </a:rPr>
              <a:t>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filas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observaciones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011680"/>
            <a:ext cx="18288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103120"/>
            <a:ext cx="18288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42852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788920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columnas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18288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18288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42852"/>
                </a:solidFill>
                <a:latin typeface="Arial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meses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ene-2019 a dic-2024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399" y="2011680"/>
            <a:ext cx="18288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2103120"/>
            <a:ext cx="18288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42852"/>
                </a:solidFill>
                <a:latin typeface="Arial"/>
              </a:rPr>
              <a:t>4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2788920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2B2B"/>
                </a:solidFill>
                <a:latin typeface="Arial"/>
              </a:rPr>
              <a:t>grupos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regiones × sectores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794760" cy="18288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304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¿Qué queremos predecir?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61688"/>
            <a:ext cx="3520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variable objetivo </a:t>
            </a:r>
            <a:r>
              <a:rPr sz="1200" b="1" i="0">
                <a:solidFill>
                  <a:srgbClr val="D7263D"/>
                </a:solidFill>
                <a:latin typeface="Arial"/>
              </a:rPr>
              <a:t>y = crecimiento_actividad_pct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a partir de indicadores económicos, la región y el sector.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703320"/>
            <a:ext cx="3794760" cy="18288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81304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¿Para qué lo usamos?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361688"/>
            <a:ext cx="3520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Para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practicar el método</a:t>
            </a:r>
            <a:r>
              <a:rPr sz="1200" b="0" i="0">
                <a:solidFill>
                  <a:srgbClr val="2B2B2B"/>
                </a:solidFill>
                <a:latin typeface="Arial"/>
              </a:rPr>
              <a:t>, no para obtener conclusiones económicas reales sobre Ecuador.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7772400" cy="5486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Sintético: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contiene errores insertados a propósito (faltantes, duplicados, un atípico) para aprender a detectarlos.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Unidad de observación: ¿qué representa una fila?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Mes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enero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148840"/>
            <a:ext cx="457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6D6E71"/>
                </a:solidFill>
                <a:latin typeface="Arial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Región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48840"/>
            <a:ext cx="457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6D6E71"/>
                </a:solidFill>
                <a:latin typeface="Arial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Sector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48840"/>
            <a:ext cx="365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6D6E71"/>
                </a:solidFill>
                <a:latin typeface="Arial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01168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fila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46120"/>
          <a:ext cx="77724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2377440"/>
                <a:gridCol w="19659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Valor (fila 0)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Valor (fila 0)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fecha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2019-01-01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inversion_mill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74.86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precio_petroleo_usd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42.80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Servicios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indice_confianza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42.42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inflacion_pct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2.33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tipo_dato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SINTETICO_DIDACTICO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desempleo_pct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6.75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crecimiento_actividad_pct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exportaciones_mill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231.63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760720"/>
            <a:ext cx="7772400" cy="5029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Se lee así: </a:t>
            </a:r>
            <a:r>
              <a:rPr sz="1200" b="1" i="0">
                <a:solidFill>
                  <a:srgbClr val="242852"/>
                </a:solidFill>
                <a:latin typeface="Arial"/>
              </a:rPr>
              <a:t>“En enero de 2019, el sector Servicios de la Costa creció 0.10 %, con inversión de 74.86 millones…”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Diccionario de variables: tipo y rol de cada columna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2011680"/>
          <a:ext cx="7772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103120"/>
                <a:gridCol w="109728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Tipo estadístico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Rol en el modelo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Unidad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crecimiento_actividad_pct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Cuantitativa continua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Objetivo (y)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inversion_mill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Cuantitativa continua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Predictora (X)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millones USD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exportaciones_mill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Cuantitativa continua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Predictora (X)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millones USD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precio_petroleo_usd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Cuantitativa continua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Predictora (X)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USD / barril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inflacion_pct  ·  desempleo_pct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Cuantitativa continua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Predictora (X)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indice_confianza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Cuantitativa (índice)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Predictora (X)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puntos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region  ·  sector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Cualitativa nominal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Predictora (requiere One-Hot)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fecha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Temporal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Identifica el periodo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mes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tipo_dato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Constante (1 valor)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6D6E71"/>
                          </a:solidFill>
                          <a:latin typeface="Arial"/>
                        </a:rPr>
                        <a:t>Se elimina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texto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¿Cuántas observaciones tiene cada grupo?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965960"/>
          <a:ext cx="379476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09160" y="1965960"/>
          <a:ext cx="379476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4924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5896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Balanceado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07607"/>
            <a:ext cx="352044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Cada región aporta información similar.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534924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545896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Desbalanceado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6007607"/>
            <a:ext cx="352044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Pocas filas → estimaciones más inestables.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¿Por qué limpiar? Basura entra, basura sale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Datos con errores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72384" y="2130552"/>
            <a:ext cx="301752" cy="310896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9000" y="196596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Modelo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9864" y="2130552"/>
            <a:ext cx="301752" cy="310896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965960"/>
            <a:ext cx="2286000" cy="6400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Conclusiones sesgadas</a:t>
            </a:r>
          </a:p>
        </p:txBody>
      </p:sp>
      <p:pic>
        <p:nvPicPr>
          <p:cNvPr id="8" name="Picture 7" descr="outlier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02707"/>
            <a:ext cx="4937760" cy="27899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52160" y="28346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Pendiente sin el atípico</a:t>
            </a:r>
          </a:p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242852"/>
                </a:solidFill>
                <a:latin typeface="Arial"/>
              </a:rPr>
              <a:t>0.0213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43434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Pendiente con el atípico</a:t>
            </a:r>
          </a:p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D7263D"/>
                </a:solidFill>
                <a:latin typeface="Arial"/>
              </a:rPr>
              <a:t>0.0189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5216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1 fila de 289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(0.3 % de los datos) mueve la recta y también infla la media, la varianza y el RMSE.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Las dimensiones de la calidad de datos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167128"/>
            <a:ext cx="502920" cy="5029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6712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Completitud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¿Faltan valores?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Aquí: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8 celdas vacías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01168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93008" y="216712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16712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Unicidad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78892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¿Hay filas repetidas?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33756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Aquí: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1 fila duplicada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201168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17336" y="2167128"/>
            <a:ext cx="502920" cy="5029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16712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Validez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78892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¿Los valores son posibles?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333756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Aquí: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desempleo entre 0 y 100 %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27024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7024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Exactitud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¿El valor es real o un error?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Aquí: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crecimiento de 15 %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411480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3008" y="4270248"/>
            <a:ext cx="502920" cy="5029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427024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Consistencia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89204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¿Tipos y formatos correctos?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44068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Aquí: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fecha llegó como texto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0176" y="411480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17336" y="427024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4270248"/>
            <a:ext cx="16916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Pertinencia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489204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¿La columna aporta información?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5440680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Aquí: </a:t>
            </a:r>
            <a:r>
              <a:rPr sz="1100" b="1" i="0">
                <a:solidFill>
                  <a:srgbClr val="2B2B2B"/>
                </a:solidFill>
                <a:latin typeface="Arial"/>
              </a:rPr>
              <a:t>tipo_dato es constante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Radiografía de los valores faltantes</a:t>
            </a:r>
          </a:p>
        </p:txBody>
      </p:sp>
      <p:pic>
        <p:nvPicPr>
          <p:cNvPr id="3" name="Picture 2" descr="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8100"/>
            <a:ext cx="7772400" cy="278179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029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2487168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D7263D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248716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faltantes en inflacion_pct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5029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5074920"/>
            <a:ext cx="2487168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D7263D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5715000"/>
            <a:ext cx="248716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faltantes en indice_confianza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5029200"/>
            <a:ext cx="2487168" cy="12344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5074920"/>
            <a:ext cx="2487168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242852"/>
                </a:solidFill>
                <a:latin typeface="Arial"/>
              </a:rPr>
              <a:t>0.25 %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5715000"/>
            <a:ext cx="248716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de las 3 179 celdas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¿Por qué falta un dato? Y ¿qué hacemos con él?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08483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2240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Arial"/>
              </a:rPr>
              <a:t>Completamente al azar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240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Ej.: </a:t>
            </a:r>
            <a:r>
              <a:rPr sz="1100" b="0" i="1">
                <a:solidFill>
                  <a:srgbClr val="2B2B2B"/>
                </a:solidFill>
                <a:latin typeface="Arial"/>
              </a:rPr>
              <a:t>Se perdió una hoja del registro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96596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93008" y="208483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2606040"/>
            <a:ext cx="2240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Depende de otra variable observada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3063240"/>
            <a:ext cx="2240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Ej.: </a:t>
            </a:r>
            <a:r>
              <a:rPr sz="1100" b="0" i="1">
                <a:solidFill>
                  <a:srgbClr val="2B2B2B"/>
                </a:solidFill>
                <a:latin typeface="Arial"/>
              </a:rPr>
              <a:t>Una región reporta menos la confianza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0176" y="196596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17336" y="2084831"/>
            <a:ext cx="1005840" cy="438912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606040"/>
            <a:ext cx="22402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Depende del propio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3063240"/>
            <a:ext cx="22402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Ej.: </a:t>
            </a:r>
            <a:r>
              <a:rPr sz="1100" b="0" i="1">
                <a:solidFill>
                  <a:srgbClr val="2B2B2B"/>
                </a:solidFill>
                <a:latin typeface="Arial"/>
              </a:rPr>
              <a:t>Las empresas con malos resultados no reportan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93192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Estrategia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Ventaja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Eliminar filas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Simple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Perdemos información y podemos sesgar la muestra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Imputar con la media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Conserva 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Sensible a atípicos; reduce la varianza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Imputar con la mediana (elegida)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Robusta a atípicos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También reduce la varianza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Imputar con un modelo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Usa otras variables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Más complejo; riesgo de fuga de datos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589788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inflacion_pct: media 1.91 · mediana 1.97      indice_confianza: media 44.54 · mediana 44.92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Valores atípicos: detectar, investigar, decidir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15087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75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Regla del IQR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24328"/>
            <a:ext cx="3520440" cy="7772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Atípico si  x &gt; Q3 + 1.5·IQR  o  x &lt; Q1 − 1.5·IQR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Aquí: límite superior = 2.75 + 1.5·1.77 = </a:t>
            </a:r>
            <a:r>
              <a:rPr sz="1100" b="1" i="0">
                <a:solidFill>
                  <a:srgbClr val="D7263D"/>
                </a:solidFill>
                <a:latin typeface="Arial"/>
              </a:rPr>
              <a:t>5.41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965960"/>
            <a:ext cx="3794760" cy="15087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075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Regla del z-score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624328"/>
            <a:ext cx="3520440" cy="7772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z = (x − media) / desviación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Atípico si |z| &gt; 3. Sensible al propio atípico, que infla la media y la desviación.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  Detectar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boxplot, IQR, describe(), nlargest()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4114800"/>
            <a:ext cx="274320" cy="310896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36576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  Investigar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¿plausible? ¿error de captura? ¿qué fila?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4114800"/>
            <a:ext cx="274320" cy="310896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365760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  Decidir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corregir, eliminar o conservar y documentar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5074920"/>
          <a:ext cx="7772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Caso en el dataset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Decisión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Fila 33: Sierra · Comercio · sep-2019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crecimiento = 15 %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Eliminar (error insertado)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Fila 199: Insular · Comercio · feb-2023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exportaciones = 1300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Investigar (¡queda como ejercicio!)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Duplicados y columnas sin información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Duplicado exacto: </a:t>
            </a:r>
            <a:r>
              <a:rPr sz="1400" b="0" i="0">
                <a:solidFill>
                  <a:srgbClr val="2B2B2B"/>
                </a:solidFill>
                <a:latin typeface="Arial"/>
              </a:rPr>
              <a:t>las filas 20 y 288 son idénticas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377440"/>
          <a:ext cx="7772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25880"/>
                <a:gridCol w="1005840"/>
                <a:gridCol w="1234440"/>
                <a:gridCol w="1097280"/>
                <a:gridCol w="109728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Fila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fecha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sector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inflación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inversión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crecimiento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2019-06-01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Comercio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4.07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71.28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1.56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2019-06-01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Comercio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4.07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71.28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1.56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657600"/>
            <a:ext cx="3794760" cy="10972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Consecuencia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observación pesa el doble y puede aparecer a la vez en Train y en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3657600"/>
            <a:ext cx="3794760" cy="10972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Solución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drop_duplicates() conserva solo la primera aparición.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Columna sin aporte: </a:t>
            </a:r>
            <a:r>
              <a:rPr sz="1400" b="0" i="0">
                <a:solidFill>
                  <a:srgbClr val="2B2B2B"/>
                </a:solidFill>
                <a:latin typeface="Arial"/>
              </a:rPr>
              <a:t>tipo_dato vale “SINTETICO_DIDACTICO” en las 289 filas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9496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539496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539496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539496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5394960"/>
            <a:ext cx="841248" cy="4114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6D6E71"/>
                </a:solidFill>
                <a:latin typeface="Arial"/>
              </a:rPr>
              <a:t>SINTÉTICO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349240"/>
            <a:ext cx="30632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Varianza = 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→ no explica nada; se elimina con drop(columns=…)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El flujo de limpieza aplicado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325880" cy="16002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Original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289 × 11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8 nulos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75688" y="2743200"/>
            <a:ext cx="210312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04288" y="2103120"/>
            <a:ext cx="1325880" cy="1600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Sin duplicados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288 × 11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drop_duplicates()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48456" y="2743200"/>
            <a:ext cx="210312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77056" y="2103120"/>
            <a:ext cx="1325880" cy="1600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Sin tipo_dato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288 × 10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drop(columns=…)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21224" y="2743200"/>
            <a:ext cx="210312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49824" y="2103120"/>
            <a:ext cx="1325880" cy="1600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Sin atípico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287 × 10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drop(index=33)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93992" y="2743200"/>
            <a:ext cx="210312" cy="27432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2592" y="2103120"/>
            <a:ext cx="1325880" cy="16002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Imputado</a:t>
            </a:r>
          </a:p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287 × 10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0 nulos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filas × columnas en cada paso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3794760" cy="201168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61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Arial"/>
              </a:rPr>
              <a:t>Lo que ganamos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10328"/>
            <a:ext cx="352044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• Cada observación cuenta una sola vez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• Sin valores imposibles que distorsionen la recta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• Todas las filas utilizables por el modelo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251960"/>
            <a:ext cx="3794760" cy="201168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361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Evitar la fuga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910328"/>
            <a:ext cx="352044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Calcule la mediana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solo con Train</a:t>
            </a:r>
            <a:r>
              <a:rPr sz="1200" b="0" i="0">
                <a:solidFill>
                  <a:srgbClr val="2B2B2B"/>
                </a:solidFill>
                <a:latin typeface="Arial"/>
              </a:rPr>
              <a:t> y aplíquela después a Validation y Test. Así el modelo no “ve” información de los datos de evaluación.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Fórmula e intensidad de 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8996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Correlaciones del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65520" y="4937760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Correlación ≠ causalidad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Relación entre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Correlación de Pearson: medir la fuerza y la dirección de una relación lineal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Coeficiente de correlación de Pearson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000" b="0" i="0">
                <a:solidFill>
                  <a:srgbClr val="242852"/>
                </a:solidFill>
                <a:latin typeface="Arial"/>
              </a:rPr>
              <a:t>r  =  </a:t>
            </a:r>
            <a:r>
              <a:rPr sz="1800" b="1" i="0">
                <a:solidFill>
                  <a:srgbClr val="242852"/>
                </a:solidFill>
                <a:latin typeface="Arial"/>
              </a:rPr>
              <a:t>Σ (xᵢ − x̄)(yᵢ − ȳ)</a:t>
            </a:r>
            <a:r>
              <a:rPr sz="2000" b="0" i="0">
                <a:solidFill>
                  <a:srgbClr val="242852"/>
                </a:solidFill>
                <a:latin typeface="Arial"/>
              </a:rPr>
              <a:t>   /   </a:t>
            </a:r>
            <a:r>
              <a:rPr sz="1800" b="1" i="0">
                <a:solidFill>
                  <a:srgbClr val="242852"/>
                </a:solidFill>
                <a:latin typeface="Arial"/>
              </a:rPr>
              <a:t>√[ Σ(xᵢ − x̄)² · Σ(yᵢ − ȳ)² ]</a:t>
            </a:r>
            <a:r>
              <a:rPr sz="1600" b="0" i="0">
                <a:solidFill>
                  <a:srgbClr val="D7263D"/>
                </a:solidFill>
                <a:latin typeface="Arial"/>
              </a:rPr>
              <a:t>        −1 ≤ r ≤ 1</a:t>
            </a:r>
          </a:p>
        </p:txBody>
      </p:sp>
      <p:pic>
        <p:nvPicPr>
          <p:cNvPr id="4" name="Picture 3" descr="corr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5959"/>
            <a:ext cx="7772400" cy="16518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663440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relación negativa  ←                    sin relación lineal                    →  relación positiva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120640"/>
            <a:ext cx="1508760" cy="777240"/>
          </a:xfrm>
          <a:prstGeom prst="rect">
            <a:avLst/>
          </a:prstGeom>
          <a:solidFill>
            <a:srgbClr val="E3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|r| 0 – 0.19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42852"/>
                </a:solidFill>
                <a:latin typeface="Arial"/>
              </a:rPr>
              <a:t>muy débil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120640"/>
            <a:ext cx="1508760" cy="777240"/>
          </a:xfrm>
          <a:prstGeom prst="rect">
            <a:avLst/>
          </a:prstGeom>
          <a:solidFill>
            <a:srgbClr val="C5C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|r| 0.20 – 0.39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42852"/>
                </a:solidFill>
                <a:latin typeface="Arial"/>
              </a:rPr>
              <a:t>débil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5120640"/>
            <a:ext cx="1508760" cy="777240"/>
          </a:xfrm>
          <a:prstGeom prst="rect">
            <a:avLst/>
          </a:prstGeom>
          <a:solidFill>
            <a:srgbClr val="8FA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2852"/>
                </a:solidFill>
                <a:latin typeface="Arial"/>
              </a:rPr>
              <a:t>|r| 0.40 – 0.59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42852"/>
                </a:solidFill>
                <a:latin typeface="Arial"/>
              </a:rPr>
              <a:t>moderada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59" y="5120640"/>
            <a:ext cx="1508760" cy="777240"/>
          </a:xfrm>
          <a:prstGeom prst="rect">
            <a:avLst/>
          </a:prstGeom>
          <a:solidFill>
            <a:srgbClr val="567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|r| 0.60 – 0.79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fuerte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5120640"/>
            <a:ext cx="1508760" cy="77724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|r| 0.80 – 1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muy fuerte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r ≈ 0 no significa “sin relación”: puede existir una relación curva que Pearson no detecta.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¿Qué variable se relaciona más con el crecimiento?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920240"/>
          <a:ext cx="512064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Correlación de Pearson con crecimiento_actividad_pct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96596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2075688"/>
            <a:ext cx="22402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Positiva moderada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624328"/>
            <a:ext cx="2194560" cy="5943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inversion_mill  r = 0.41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más inversión, más crecimiento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42900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3538728"/>
            <a:ext cx="22402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Negativa débil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087368"/>
            <a:ext cx="2194560" cy="5943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desempleo_pct  r = −0.29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más desempleo, menos crecimiento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8920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Correlación ≠ causalidad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Indica asociación; no prueba que una variable provoque a la otra.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Ecuación y residuos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Mínimos cuadrados (SSE)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Interpretación de b₀ y b₁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Supuestos LINE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Regresión lineal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Una variable explicativa, una recta y el criterio de mínimos cuadrados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La idea: una recta que resume la nube de puntos</a:t>
            </a:r>
          </a:p>
        </p:txBody>
      </p:sp>
      <p:pic>
        <p:nvPicPr>
          <p:cNvPr id="3" name="Picture 2" descr="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1880"/>
            <a:ext cx="4206240" cy="31685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120640" y="201168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ŷ  =  b₀  +  b₁ ·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320040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3172968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valor predicho de y (crecimiento 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76732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739896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intercepto: ŷ cuando X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334256"/>
            <a:ext cx="640080" cy="457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306824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pendiente: cambio de ŷ por cada unidad de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901183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73751"/>
            <a:ext cx="265176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variable de entrada (inversión, millones)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Diferencia clave: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y es el valor real observado; ŷ (“y sombrero”) es lo que predice el modelo. Nunca coinciden exactamente.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Residuo: la distancia entre lo real y lo predicho</a:t>
            </a:r>
          </a:p>
        </p:txBody>
      </p:sp>
      <p:pic>
        <p:nvPicPr>
          <p:cNvPr id="3" name="Picture 2" descr="residual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79483"/>
            <a:ext cx="4114800" cy="259047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983480" y="1965960"/>
          <a:ext cx="35204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40080"/>
                <a:gridCol w="640080"/>
                <a:gridCol w="868680"/>
                <a:gridCol w="8229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 real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 = y − 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1.71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2.61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Suma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0.0270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212080"/>
            <a:ext cx="3794760" cy="10515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e &gt; 0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real mayor que predicho: el modelo subestimó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5212080"/>
            <a:ext cx="3794760" cy="10515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e &lt; 0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real menor que predicho: el modelo sobreestimó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¿Qué recta es la mejor? Mínimos cuadrados</a:t>
            </a:r>
          </a:p>
        </p:txBody>
      </p:sp>
      <p:pic>
        <p:nvPicPr>
          <p:cNvPr id="3" name="Picture 2" descr="candid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87033"/>
            <a:ext cx="4480560" cy="28668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4960" y="1965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SSE = Σ (yᵢ − ŷᵢ)²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2971800"/>
            <a:ext cx="31089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Mínimos cuadrados elige b₀ y b₁ que hacen el SSE lo más pequeño posible.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361188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¿Por qué al cuadrado?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402336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Sumando errores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2 + (−2) = 0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¡parece perfecto!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02336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Al cuadrado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4 + 4 = 8</a:t>
            </a:r>
          </a:p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todo error suma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Además: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al elevar al cuadrado, los errores grandes pesan mucho más (un error de 3 aporta 9; uno de 1 aporta 1). Por eso un atípico puede “jalar” la recta.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Cálculo de b₁ y b₀ paso a paso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77724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188720"/>
                <a:gridCol w="1188720"/>
                <a:gridCol w="1828800"/>
                <a:gridCol w="15544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xᵢ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yᵢ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xᵢ − x̄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yᵢ − ȳ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(xᵢ − x̄)(yᵢ − ȳ)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(xᵢ − x̄)²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−0.96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38.4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−0.36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7.2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0.54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33.6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x̄ = 140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ȳ = 2.16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7263D"/>
                          </a:solidFill>
                          <a:latin typeface="Arial"/>
                        </a:rPr>
                        <a:t>4000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52628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636008"/>
            <a:ext cx="411480" cy="41148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617720"/>
            <a:ext cx="18288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Medias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2286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x̄ = 700/5 = 140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ȳ = 10.8/5 = 2.16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452628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65576" y="4636008"/>
            <a:ext cx="411480" cy="41148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4617720"/>
            <a:ext cx="18288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Pendiente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5074920"/>
            <a:ext cx="2286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b₁ = 90 / 4000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= 0.0225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452628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89904" y="4636008"/>
            <a:ext cx="411480" cy="41148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4617720"/>
            <a:ext cx="182880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Intercepto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5074920"/>
            <a:ext cx="2286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b₀ = 2.16 − 0.0225·140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= −0.99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7772400" cy="50292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Recta resultante: 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ŷ = −0.99 + 0.0225 · X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     Para X = 160 → ŷ = 2.61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Interpretar la pendiente y el intercepto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75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Pendiente  b₁ = 0.0225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24328"/>
            <a:ext cx="352044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Por cada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1 millón más</a:t>
            </a:r>
            <a:r>
              <a:rPr sz="1200" b="0" i="0">
                <a:solidFill>
                  <a:srgbClr val="2B2B2B"/>
                </a:solidFill>
                <a:latin typeface="Arial"/>
              </a:rPr>
              <a:t> de inversión, la predicción de crecimiento sube </a:t>
            </a:r>
            <a:r>
              <a:rPr sz="1200" b="1" i="0">
                <a:solidFill>
                  <a:srgbClr val="242852"/>
                </a:solidFill>
                <a:latin typeface="Arial"/>
              </a:rPr>
              <a:t>0.0225 puntos porcentuales</a:t>
            </a:r>
            <a:r>
              <a:rPr sz="120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Es asociación, no causalidad.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965960"/>
            <a:ext cx="3794760" cy="19202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07568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Intercepto  b₀ = −0.99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624328"/>
            <a:ext cx="352044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Valor de ŷ cuando la inversión es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0</a:t>
            </a:r>
            <a:r>
              <a:rPr sz="1200" b="0" i="0">
                <a:solidFill>
                  <a:srgbClr val="2B2B2B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Pero nunca observamos inversión 0: aquí es solo una pieza para ubicar la recta.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Rango de inversión observado en el 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7589520" cy="5486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5318" y="4645152"/>
            <a:ext cx="4760698" cy="457200"/>
          </a:xfrm>
          <a:prstGeom prst="rect">
            <a:avLst/>
          </a:prstGeom>
          <a:solidFill>
            <a:srgbClr val="E3F3F1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A9D8F"/>
                </a:solidFill>
                <a:latin typeface="Arial"/>
              </a:rPr>
              <a:t>zona con datos: 65 – 203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530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8421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3312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203" y="513892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200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" y="4791456"/>
            <a:ext cx="164592" cy="16459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D7263D"/>
                </a:solidFill>
                <a:latin typeface="Arial"/>
              </a:rPr>
              <a:t>X = 0 → extrapolación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7772400" cy="5029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Extrapolar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(predecir fuera del rango observado) es arriesgado: no hay evidencia de que la recta siga siendo válida.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Supuestos del modelo lineal clásico: 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10312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Linealidad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26974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relación media entre X e y es una recta.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15468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Cómo revisarlo: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Residuos vs predicción sin curvas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6596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0600" y="214884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210312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Independencia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468880"/>
            <a:ext cx="26974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Los errores de una fila no dependen de otra.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315468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Cómo revisarlo: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Cuidado con series de tiempo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977640"/>
            <a:ext cx="731520" cy="73152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3192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Normalidad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97680"/>
            <a:ext cx="26974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Los errores siguen una distribución normal.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8348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Cómo revisarlo: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Histograma o QQ-plot de residuos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79476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3977640"/>
            <a:ext cx="731520" cy="7315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3931920"/>
            <a:ext cx="2697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Igual varianza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4297680"/>
            <a:ext cx="26974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La dispersión de los errores es constante (homocedasticidad).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498348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Cómo revisarlo: </a:t>
            </a:r>
            <a:r>
              <a:rPr sz="1050" b="0" i="1">
                <a:solidFill>
                  <a:srgbClr val="5F6368"/>
                </a:solidFill>
                <a:latin typeface="Arial"/>
              </a:rPr>
              <a:t>Sin forma de embudo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6928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En ML: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el criterio principal es cuánto se equivoca el modelo con datos que no vio. Los supuestos nos ayudan a entender por qué.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Cinco métricas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Cálculo a 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R² frente a la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MAE vs RMSE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Medir los errores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MAE, MSE, RMSE, Bias y R²: no hay una métrica única; cada una responde una pregunta distinta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Cinco métricas, cinco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7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(1/n) Σ |y − ŷ|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01167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¿Cuánto me equivoco normalmente?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01167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unidades de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926079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8035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(1/n) Σ (y − ŷ)²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8035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Error cuadrático 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88035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unidades²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794759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4903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√MSE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4903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¿Qué tan grandes son los errores grandes?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4903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5A99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unidades de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663440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617720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(1/n) Σ (ŷ − 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617720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¿Sobreestimo o subestimo sistemáticamente?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617720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ideal =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+ sobre / − sub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79"/>
            <a:ext cx="7772400" cy="77724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532119"/>
            <a:ext cx="1051560" cy="59436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486399"/>
            <a:ext cx="219456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1 − SSE / SST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486399"/>
            <a:ext cx="28346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¿Cuánto mejoro frente a predecir siempre la media?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486399"/>
            <a:ext cx="1371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Arial"/>
              </a:rPr>
              <a:t>ideal = 1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368"/>
                </a:solidFill>
                <a:latin typeface="Arial"/>
              </a:rPr>
              <a:t>sin unidades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Las métricas calculadas a mano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4023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914400"/>
                <a:gridCol w="73152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 = y − ŷ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|e|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1.71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2.61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Suma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0.36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0.027</a:t>
                      </a:r>
                    </a:p>
                  </a:txBody>
                  <a:tcPr marL="64008" marR="64008" marT="27432" marB="27432" anchor="ctr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983480" y="196596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965960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0.36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965960"/>
            <a:ext cx="1005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0.072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51460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514600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0.027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514600"/>
            <a:ext cx="1005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3D5A99"/>
                </a:solidFill>
                <a:latin typeface="Arial"/>
              </a:rPr>
              <a:t>0.0054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3063239"/>
            <a:ext cx="914400" cy="457200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063239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√0.0054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063239"/>
            <a:ext cx="1005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3D5A99"/>
                </a:solidFill>
                <a:latin typeface="Arial"/>
              </a:rPr>
              <a:t>0.073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611879"/>
            <a:ext cx="914400" cy="457200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11879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0.00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611879"/>
            <a:ext cx="1005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0.000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16052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160520"/>
            <a:ext cx="1600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1 − 0.027 / 2.052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160520"/>
            <a:ext cx="1005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Arial"/>
              </a:rPr>
              <a:t>0.987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9204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Interpretación: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el modelo se equivoca en promedio 0.07 puntos porcentuales y explica el 98.7 % de la variación respecto a la media.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Pero…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lo medimos con los mismos datos con los que aprendió. ¿Funcionará con datos nuevos?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R²: ¿cuánto mejora el modelo frente a la media?</a:t>
            </a:r>
          </a:p>
        </p:txBody>
      </p:sp>
      <p:pic>
        <p:nvPicPr>
          <p:cNvPr id="3" name="Picture 2" descr="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4631"/>
            <a:ext cx="7772400" cy="302017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166360"/>
            <a:ext cx="3794760" cy="10972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R² = 1 − SSE / SST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= 1 − 0.027 / 2.052 = 0.987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5166360"/>
            <a:ext cx="3794760" cy="10972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R² &lt; 0 es posible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en datos nuevos, si el modelo predice peor que la simple media.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MAE vs RMSE, y la trampa del Bias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29968"/>
            <a:ext cx="3566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Modelo A: errores parejos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|errores| de 4 predicciones: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33756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333756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333756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337560"/>
            <a:ext cx="365760" cy="36576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MAE = </a:t>
            </a:r>
            <a:r>
              <a:rPr sz="2000" b="1" i="0">
                <a:solidFill>
                  <a:srgbClr val="242852"/>
                </a:solidFill>
                <a:latin typeface="Arial"/>
              </a:rP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9184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RMSE = </a:t>
            </a:r>
            <a:r>
              <a:rPr sz="2000" b="1" i="0">
                <a:solidFill>
                  <a:srgbClr val="242852"/>
                </a:solidFill>
                <a:latin typeface="Arial"/>
              </a:rPr>
              <a:t>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965960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029968"/>
            <a:ext cx="35661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Modelo B: un error grande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468880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|errores| de 4 predicciones: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79" y="3538727"/>
            <a:ext cx="365760" cy="16459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399" y="3538727"/>
            <a:ext cx="365760" cy="16459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399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19" y="3538727"/>
            <a:ext cx="365760" cy="16459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19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734056"/>
            <a:ext cx="365760" cy="969264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30752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269748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MAE = </a:t>
            </a:r>
            <a:r>
              <a:rPr sz="2000" b="1" i="0">
                <a:solidFill>
                  <a:srgbClr val="242852"/>
                </a:solidFill>
                <a:latin typeface="Arial"/>
              </a:rP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3291840"/>
            <a:ext cx="132588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368"/>
                </a:solidFill>
                <a:latin typeface="Arial"/>
              </a:rPr>
              <a:t>RMSE = </a:t>
            </a:r>
            <a:r>
              <a:rPr sz="2000" b="1" i="0">
                <a:solidFill>
                  <a:srgbClr val="D7263D"/>
                </a:solidFill>
                <a:latin typeface="Arial"/>
              </a:rPr>
              <a:t>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La trampa del Bias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errores: </a:t>
            </a:r>
            <a:r>
              <a:rPr sz="1400" b="1" i="0">
                <a:solidFill>
                  <a:srgbClr val="D7263D"/>
                </a:solidFill>
                <a:latin typeface="Arial"/>
              </a:rPr>
              <a:t>+3  y  −3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Bias = (+3 − 3)/2 = </a:t>
            </a:r>
            <a:r>
              <a:rPr sz="1600" b="1" i="0">
                <a:solidFill>
                  <a:srgbClr val="D7263D"/>
                </a:solidFill>
                <a:latin typeface="Arial"/>
              </a:rPr>
              <a:t>0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520440" y="5486400"/>
            <a:ext cx="365760" cy="32004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23360" y="5029200"/>
            <a:ext cx="4480560" cy="12344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Bias ≈ 0 no significa modelo bueno.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Solo dice que no hay tendencia sistemática a sobreestimar o subestimar. Siempre acompañarlo de MAE o RMSE.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Para qué sirve cada conjunto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Sub y sobreajuste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Primer modelo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Gráfico de residuos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Train, Validation y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Cómo saber si un modelo funciona con datos que nunca vio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¿Por qué separar los datos en tres conjuntos?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5404103" cy="731520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Train 70 %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200 filas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199" y="2011680"/>
            <a:ext cx="1129284" cy="73152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Validation 15 %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43 filas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38059" y="2011680"/>
            <a:ext cx="1129284" cy="731520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Test 15 %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44 filas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287 filas limpias → train_test_split dos veces (70 / 30, luego 30 → 15 / 15), random_state =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42852"/>
                </a:solidFill>
                <a:latin typeface="Arial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Los apuntes con los que se estudia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22402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El modelo aprende b₀, b₁,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66360"/>
            <a:ext cx="1463040" cy="329184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fit()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324612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3337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D5A99"/>
                </a:solidFill>
                <a:latin typeface="Arial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749039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El examen de práctica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4297680"/>
            <a:ext cx="22402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Nosotros elegimos variables y modelos. Se puede consultar varias veces.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5166360"/>
            <a:ext cx="1463040" cy="329184"/>
          </a:xfrm>
          <a:prstGeom prst="roundRect">
            <a:avLst>
              <a:gd name="adj" fmla="val 8000"/>
            </a:avLst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comparar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324612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3337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7263D"/>
                </a:solidFill>
                <a:latin typeface="Arial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749039"/>
            <a:ext cx="22402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6368"/>
                </a:solidFill>
                <a:latin typeface="Arial"/>
              </a:rPr>
              <a:t>El examen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4297680"/>
            <a:ext cx="22402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Se mira una sola vez, al final, para estimar el error real.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5166360"/>
            <a:ext cx="1463040" cy="329184"/>
          </a:xfrm>
          <a:prstGeom prst="roundRect">
            <a:avLst>
              <a:gd name="adj" fmla="val 8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una sola vez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7772400" cy="50292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Regla de oro: </a:t>
            </a:r>
            <a:r>
              <a:rPr sz="1200" b="0" i="0">
                <a:solidFill>
                  <a:srgbClr val="2B2B2B"/>
                </a:solidFill>
                <a:latin typeface="Arial"/>
              </a:rPr>
              <a:t>si usamos Test para decidir, deja de ser un examen final y el error reportado será optimista.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Subajuste y sobreajuste: el equilibrio</a:t>
            </a:r>
          </a:p>
        </p:txBody>
      </p:sp>
      <p:pic>
        <p:nvPicPr>
          <p:cNvPr id="3" name="Picture 2" descr="over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6864"/>
            <a:ext cx="7772400" cy="224419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434840"/>
          <a:ext cx="7772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45920"/>
                <a:gridCol w="201168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Error en Train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Error en Validation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Diagnóstico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Subajuste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Modelo demasiado simple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Buen ajuste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bajo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bajo y parecido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Generaliza bien</a:t>
                      </a:r>
                    </a:p>
                  </a:txBody>
                  <a:tcPr marL="64008" marR="64008" marT="27432" marB="27432" anchor="ctr">
                    <a:solidFill>
                      <a:srgbClr val="E3F3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Sobreajuste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muy bajo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Memorizó el ruido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La señal de alerta es la brecha entre Train y Validation, no el valor aislado.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Primer modelo real: inversión → crecimiento</a:t>
            </a:r>
          </a:p>
        </p:txBody>
      </p:sp>
      <p:pic>
        <p:nvPicPr>
          <p:cNvPr id="3" name="Picture 2" descr="simple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27878"/>
            <a:ext cx="4206240" cy="260224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74920" y="2011680"/>
          <a:ext cx="3429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594360"/>
                <a:gridCol w="594360"/>
                <a:gridCol w="566928"/>
                <a:gridCol w="71323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Bias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0.947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1.220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1.305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0.012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+0.262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74920" y="342900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F6368"/>
                </a:solidFill>
                <a:latin typeface="Arial"/>
              </a:rPr>
              <a:t>Baseline (media de Train)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2852"/>
                </a:solidFill>
                <a:latin typeface="Arial"/>
              </a:rPr>
              <a:t>ŷ = 1.90 siempre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Validation: RMSE 1.343 · R² −0.045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8464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Arial"/>
              </a:rPr>
              <a:t>Lo bueno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33288"/>
            <a:ext cx="3520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Train y Validation no son muy distintos: no hay sobreajuste fuerte.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507492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18464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Lo malo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733288"/>
            <a:ext cx="3520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En Validation explica solo 1.2 %: la inversión sola no basta.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Leer el gráfico de residuos</a:t>
            </a:r>
          </a:p>
        </p:txBody>
      </p:sp>
      <p:pic>
        <p:nvPicPr>
          <p:cNvPr id="3" name="Picture 2" descr="resid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4097"/>
            <a:ext cx="7772400" cy="2112565"/>
          </a:xfrm>
          <a:prstGeom prst="rect">
            <a:avLst/>
          </a:prstGeom>
        </p:spPr>
      </p:pic>
      <p:pic>
        <p:nvPicPr>
          <p:cNvPr id="4" name="Picture 3" descr="resid_si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39530"/>
            <a:ext cx="3291840" cy="20365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06240" y="4297680"/>
            <a:ext cx="4297680" cy="1965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4407408"/>
            <a:ext cx="406908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Nuestro modelo simple (Validation)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4956048"/>
            <a:ext cx="4023360" cy="1234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• Residuos arriba y abajo de 0: </a:t>
            </a:r>
            <a:r>
              <a:rPr sz="1200" b="1" i="0">
                <a:solidFill>
                  <a:srgbClr val="2B2B2B"/>
                </a:solidFill>
                <a:latin typeface="Arial"/>
              </a:rPr>
              <a:t>sin curva clara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• Pero muchos errores de </a:t>
            </a:r>
            <a:r>
              <a:rPr sz="1200" b="1" i="0">
                <a:solidFill>
                  <a:srgbClr val="D7263D"/>
                </a:solidFill>
                <a:latin typeface="Arial"/>
              </a:rPr>
              <a:t>±2 puntos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• Coincide con R² ≈ 0: predice con poca precisión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262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F6368"/>
                </a:solidFill>
                <a:latin typeface="Arial"/>
              </a:rPr>
              <a:t>En esta sección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Plano e hiperplano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607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Ceteris paribus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7774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One-Hot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9410" y="4937760"/>
            <a:ext cx="1794510" cy="8229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D7263D"/>
                </a:solidFill>
                <a:latin typeface="Arial"/>
              </a:rPr>
              <a:t>Evaluación final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463040" cy="14630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5852160" cy="13716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242852"/>
                </a:solidFill>
                <a:latin typeface="Arial"/>
              </a:rPr>
              <a:t>Regresión múltiple y variables categóricas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58521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F6368"/>
                </a:solidFill>
                <a:latin typeface="Arial"/>
              </a:rPr>
              <a:t>Más de una X: del plano al hiperplano, y cómo incluir región y sector sin inventar un orden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De la recta al plano y al hiperplano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121408"/>
            <a:ext cx="2194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42852"/>
                </a:solidFill>
                <a:latin typeface="Arial"/>
              </a:rPr>
              <a:t>Recta</a:t>
            </a:r>
            <a:r>
              <a:rPr sz="1000" b="0" i="0">
                <a:solidFill>
                  <a:srgbClr val="5F6368"/>
                </a:solidFill>
                <a:latin typeface="Arial"/>
              </a:rPr>
              <a:t>  (2D)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ŷ = b₀ + b₁x₁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3611880"/>
            <a:ext cx="777240" cy="77724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493008"/>
            <a:ext cx="2194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Plano</a:t>
            </a:r>
            <a:r>
              <a:rPr sz="1000" b="0" i="0">
                <a:solidFill>
                  <a:srgbClr val="5F6368"/>
                </a:solidFill>
                <a:latin typeface="Arial"/>
              </a:rPr>
              <a:t>  (3D)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ŷ = b₀ + b₁x₁ + b₂x₂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4983480"/>
            <a:ext cx="777240" cy="7772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864608"/>
            <a:ext cx="21945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Arial"/>
              </a:rPr>
              <a:t>Hiperplano</a:t>
            </a:r>
            <a:r>
              <a:rPr sz="1000" b="0" i="0">
                <a:solidFill>
                  <a:srgbClr val="5F6368"/>
                </a:solidFill>
                <a:latin typeface="Arial"/>
              </a:rPr>
              <a:t>  (p+1 D)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ŷ = b₀ + b₁x₁ + … + bₚxₚ</a:t>
            </a:r>
          </a:p>
        </p:txBody>
      </p:sp>
      <p:pic>
        <p:nvPicPr>
          <p:cNvPr id="12" name="Picture 11" descr="plan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052" y="1920240"/>
            <a:ext cx="4036335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0520" y="5577840"/>
            <a:ext cx="4343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ŷ = −2.24 + 0.0189·inversión + 0.0300·petróleo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Puntos: datos reales · Plano: predicción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Coeficientes: “manteniendo lo demás constante”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Coeficiente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Lectura (manteniendo constante lo demás)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inflacion_pct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−0.163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+1 punto de inflación → −0.16 pp de crecimiento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desempleo_pct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−0.157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+1 punto de desempleo → −0.16 pp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precio_petroleo_usd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+1 USD por barril → +0.024 pp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inversion_mill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+0.015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+1 millón de inversión → +0.015 pp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indice_confianza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+1 punto del índice → +0.004 pp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exportaciones_mill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+0.001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+1 millón exportado → +0.001 pp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663440"/>
            <a:ext cx="3794760" cy="160020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77316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Ojo con las escalas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21807"/>
            <a:ext cx="3520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inflación se mide en unidades pequeñas (0–5); exportaciones en cientos de millones. Un coeficiente pequeño </a:t>
            </a:r>
            <a:r>
              <a:rPr sz="1150" b="1" i="0">
                <a:solidFill>
                  <a:srgbClr val="2B2B2B"/>
                </a:solidFill>
                <a:latin typeface="Arial"/>
              </a:rPr>
              <a:t>no</a:t>
            </a:r>
            <a:r>
              <a:rPr sz="1150" b="0" i="0">
                <a:solidFill>
                  <a:srgbClr val="2B2B2B"/>
                </a:solidFill>
                <a:latin typeface="Arial"/>
              </a:rPr>
              <a:t> implica una variable poco importante.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4663440"/>
            <a:ext cx="3794760" cy="16002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773168"/>
            <a:ext cx="3566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Multicolinealidad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5321807"/>
            <a:ext cx="3520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Si dos X se mueven juntas, el modelo no sabe a cuál atribuir el efecto y los coeficientes se vuelven inestables.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242852"/>
                </a:solidFill>
              </a:rPr>
              <a:t>Variables categóricas: el texto no es una magnitud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3749039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7263D"/>
                </a:solidFill>
                <a:latin typeface="Arial"/>
              </a:rPr>
              <a:t>Codificación con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3566160" cy="45720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Costa</a:t>
            </a:r>
          </a:p>
        </p:txBody>
      </p:sp>
      <p:sp>
        <p:nvSpPr>
          <p:cNvPr id="8" name="Oval 7"/>
          <p:cNvSpPr/>
          <p:nvPr/>
        </p:nvSpPr>
        <p:spPr>
          <a:xfrm>
            <a:off x="2148839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1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1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Sierra</a:t>
            </a:r>
          </a:p>
        </p:txBody>
      </p:sp>
      <p:sp>
        <p:nvSpPr>
          <p:cNvPr id="11" name="Oval 10"/>
          <p:cNvSpPr/>
          <p:nvPr/>
        </p:nvSpPr>
        <p:spPr>
          <a:xfrm>
            <a:off x="3227832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Amazonía</a:t>
            </a:r>
          </a:p>
        </p:txBody>
      </p:sp>
      <p:sp>
        <p:nvSpPr>
          <p:cNvPr id="14" name="Oval 13"/>
          <p:cNvSpPr/>
          <p:nvPr/>
        </p:nvSpPr>
        <p:spPr>
          <a:xfrm>
            <a:off x="4306824" y="2724912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2331720"/>
            <a:ext cx="1005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3017520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Insular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3749039" cy="10515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Inventa un orden y distancias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¿Sierra está “entre” Costa y Amazonía? ¿Insular vale 4 veces Costa?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65960"/>
            <a:ext cx="3749039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Arial"/>
              </a:rPr>
              <a:t>One-Hot Encoding (dummies)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54880" y="2377440"/>
          <a:ext cx="3749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868680"/>
                <a:gridCol w="8686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Insular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2A9D8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Amazonía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DF2E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Costa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Insular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Sierra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54880" y="4480560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6368"/>
                </a:solidFill>
                <a:latin typeface="Arial"/>
              </a:rPr>
              <a:t>Amazonía = categoría de referencia (todo en 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¿Por qué eliminar una columna? (drop_first=True)  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Con 4 dummies, siempre suman 1 y repiten la información del intercepto (colinealidad perfecta: la “trampa de las dummies”). Con k categorías se usan k − 1 columnas.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Leer el coeficiente de una dummy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920240"/>
          <a:ext cx="379476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09160" y="1920240"/>
          <a:ext cx="379476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257800"/>
            <a:ext cx="7772400" cy="100584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42852"/>
                </a:solidFill>
                <a:latin typeface="Arial"/>
              </a:rPr>
              <a:t>Lectura: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con la misma inversión, inflación, desempleo, etc., una fila de la región Insular tiene una predicción 0.74 puntos porcentuales mayor que una de Amazonía.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Comparar modelos en Validation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920240"/>
          <a:ext cx="42062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0" y="1920240"/>
          <a:ext cx="347472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94960"/>
            <a:ext cx="7772400" cy="86868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Ganador: regresión múltiple + región y sector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RMSE 1.150 y R² 0.233: mejora frente al baseline y a los modelos más simples.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Evaluación final: Train, Validation y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4206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731520"/>
                <a:gridCol w="731520"/>
                <a:gridCol w="7315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Conjunto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Bias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0.859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1.107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0.312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0.979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0.233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</a:rPr>
                        <a:t>+0.364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0.830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0.997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0.369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B2B2B"/>
                          </a:solidFill>
                          <a:latin typeface="Arial"/>
                        </a:rPr>
                        <a:t>+0.230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real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938138"/>
            <a:ext cx="3383280" cy="2570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4526280"/>
            <a:ext cx="3383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5F6368"/>
                </a:solidFill>
                <a:latin typeface="Arial"/>
              </a:rPr>
              <a:t>Test: real vs predicho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Arial"/>
              </a:rPr>
              <a:t>Consistente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Errores similares en los tres conjuntos → sin sobreajuste fuerte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17720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D7263D"/>
                </a:solidFill>
                <a:latin typeface="Arial"/>
              </a:rPr>
              <a:t>Ligera sobreestimación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Bias +0.23 a +0.36 en datos nuevos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42852"/>
                </a:solidFill>
                <a:latin typeface="Arial"/>
              </a:rPr>
              <a:t>Margen de mejora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R² ≈ 0.37: queda mucha variación sin explicar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8920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Error típico esperado con datos nuevos</a:t>
            </a:r>
          </a:p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≈ 1 punto porcentual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RMSE en Test = 0.997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Usar el modelo: una predicción nueva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965960"/>
          <a:ext cx="4206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188720"/>
                <a:gridCol w="12344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Entrada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Rango en datos</a:t>
                      </a:r>
                    </a:p>
                  </a:txBody>
                  <a:tcPr marL="64008" marR="64008" marT="27432" marB="27432" anchor="ctr">
                    <a:solidFill>
                      <a:srgbClr val="2428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inversion_mill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65 – 203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exportaciones_mill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187 – 1300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precio_petroleo_usd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29 – 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D7263D"/>
                          </a:solidFill>
                          <a:latin typeface="Arial"/>
                        </a:rPr>
                        <a:t>indice_confianza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D7263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D7263D"/>
                          </a:solidFill>
                          <a:latin typeface="Arial"/>
                        </a:rPr>
                        <a:t>28 – 57</a:t>
                      </a:r>
                    </a:p>
                  </a:txBody>
                  <a:tcPr marL="64008" marR="64008" marT="27432" marB="27432" anchor="ctr">
                    <a:solidFill>
                      <a:srgbClr val="FBE8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inflacion_pct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−0.7 – 4.7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desempleo_pct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2.9 – 8.0</a:t>
                      </a:r>
                    </a:p>
                  </a:txBody>
                  <a:tcPr marL="64008" marR="64008" marT="27432" marB="27432" anchor="ctr">
                    <a:solidFill>
                      <a:srgbClr val="F2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region · sector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Costa · Industria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B2B2B"/>
                          </a:solidFill>
                          <a:latin typeface="Arial"/>
                        </a:rPr>
                        <a:t>20 casos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5029200" y="3017520"/>
            <a:ext cx="411480" cy="411480"/>
          </a:xfrm>
          <a:prstGeom prst="rightArrow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2120" y="201168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Crecimiento estimado</a:t>
            </a:r>
          </a:p>
          <a:p>
            <a:pPr algn="ctr"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3.57 %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modelo múltiple + categorías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4251960"/>
            <a:ext cx="2971800" cy="96012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5F6368"/>
                </a:solidFill>
                <a:latin typeface="Arial"/>
              </a:rPr>
              <a:t>Casos reales Costa · Industria</a:t>
            </a:r>
          </a:p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42852"/>
                </a:solidFill>
                <a:latin typeface="Arial"/>
              </a:rPr>
              <a:t>media 2.07 %  ·  rango −1.2 a 4.5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4206240" cy="109728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7263D"/>
                </a:solidFill>
                <a:latin typeface="Arial"/>
              </a:rPr>
              <a:t>Alerta de extrapolación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índice de confianza = 60 está fuera del rango observado (máx. 57.1).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534924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42852"/>
                </a:solidFill>
                <a:latin typeface="Arial"/>
              </a:rPr>
              <a:t>Categoría nueva </a:t>
            </a:r>
            <a:r>
              <a:rPr sz="1100" b="0" i="0">
                <a:solidFill>
                  <a:srgbClr val="2B2B2B"/>
                </a:solidFill>
                <a:latin typeface="Arial"/>
              </a:rPr>
              <a:t>(no vista en Train) → el modelo no sabe tratarla.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Ideas clave del día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12140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Mirar antes de modelar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Gráficos y describe() revelan atípicos, asimetrías y relaciones.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01168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00600" y="2286000"/>
            <a:ext cx="685800" cy="6858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59" y="212140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Calidad primero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Un modelo no corrige un dato erróneo: lo aprende.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703320"/>
            <a:ext cx="685800" cy="6858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3872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La recta minimiza el SSE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Mínimos cuadrados elige b₀ y b₁ con el menor error cuadrático.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42900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3703320"/>
            <a:ext cx="685800" cy="6858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353872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Una métrica no basta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MAE, RMSE, Bias y R² responden preguntas distintas.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120640"/>
            <a:ext cx="685800" cy="685800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95604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Evaluar fuera de muestra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Train aprende, Validation decide, Test se mira una vez.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846320"/>
            <a:ext cx="3794760" cy="1280160"/>
          </a:xfrm>
          <a:prstGeom prst="roundRect">
            <a:avLst>
              <a:gd name="adj" fmla="val 8000"/>
            </a:avLst>
          </a:prstGeom>
          <a:solidFill>
            <a:srgbClr val="FB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5120640"/>
            <a:ext cx="685800" cy="6858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4956048"/>
            <a:ext cx="27432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7263D"/>
                </a:solidFill>
                <a:latin typeface="Arial"/>
              </a:rPr>
              <a:t>Asociación ≠ causalidad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Coeficientes y correlaciones describen, no prueban efectos.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8992"/>
            <a:ext cx="7589520" cy="731520"/>
          </a:xfrm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242852"/>
                </a:solidFill>
              </a:rPr>
              <a:t>Reto de cierre: nuevo dataset, mismo método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2121408"/>
            <a:ext cx="438912" cy="438912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21408"/>
            <a:ext cx="17830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Explorar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2402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Cargar, convertir fecha, explicar qué es una fila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011680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65576" y="2121408"/>
            <a:ext cx="438912" cy="43891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28" y="2121408"/>
            <a:ext cx="17830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Limpiar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606040"/>
            <a:ext cx="22402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shape, tipos, nulos, duplicados, rangos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0176" y="2011680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89904" y="2121408"/>
            <a:ext cx="438912" cy="438912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121408"/>
            <a:ext cx="17830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Dividir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606040"/>
            <a:ext cx="22402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Train / Validation / Test y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584448"/>
            <a:ext cx="438912" cy="43891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84448"/>
            <a:ext cx="17830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Modelar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2402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Simple → múltiple → + región y sector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5848" y="3474720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65576" y="3584448"/>
            <a:ext cx="438912" cy="438912"/>
          </a:xfrm>
          <a:prstGeom prst="ellipse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3584448"/>
            <a:ext cx="17830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Medir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069080"/>
            <a:ext cx="22402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MAE, RMSE, Bias y R²; 5 mayores errores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3474720"/>
            <a:ext cx="2487168" cy="1325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89904" y="3584448"/>
            <a:ext cx="438912" cy="43891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584448"/>
            <a:ext cx="17830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2852"/>
                </a:solidFill>
                <a:latin typeface="Arial"/>
              </a:rPr>
              <a:t>Concluir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7336" y="4069080"/>
            <a:ext cx="22402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</a:rPr>
              <a:t>¿mejora real o aparente? Una limitación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7772400" cy="123444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Antes de modelar cualquier problema, pregúntese: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¿Qué predigo?  ·  ¿Qué es una fila?  ·  ¿Hay nulos, duplicados o atípicos?  ·  ¿Tengo baseline?  ·  ¿Cómo separo los datos?  ·  ¿Busco predicción o causalidad?</a:t>
            </a:r>
          </a:p>
          <a:p>
            <a:pPr algn="ctr">
              <a:spcAft>
                <a:spcPts val="300"/>
              </a:spcAft>
            </a:pPr>
            <a:r>
              <a:rPr sz="1100" b="0" i="1">
                <a:solidFill>
                  <a:srgbClr val="C9D2E8"/>
                </a:solidFill>
                <a:latin typeface="Arial"/>
              </a:rPr>
              <a:t>Día 2 → sobreajuste, validación cruzada, árboles y Random Forest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45</Words>
  <Application>Microsoft Office PowerPoint</Application>
  <PresentationFormat>Presentación en pantalla (4:3)</PresentationFormat>
  <Paragraphs>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Verdana</vt:lpstr>
      <vt:lpstr>Tema de Office</vt:lpstr>
      <vt:lpstr>Nombre del curso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DEL CURSO</dc:title>
  <dc:creator>Cristhian Castillo</dc:creator>
  <cp:lastModifiedBy>CRISTHIAN PATRICIO CASTILLO MARTINEZ</cp:lastModifiedBy>
  <cp:revision>20</cp:revision>
  <dcterms:created xsi:type="dcterms:W3CDTF">2016-01-08T19:37:53Z</dcterms:created>
  <dcterms:modified xsi:type="dcterms:W3CDTF">2025-06-20T21:34:20Z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9D330DD4-BC3D-40FB-B4DD-0656CB3809F6</vt:lpwstr>
  </property>
  <property fmtid="{D5CDD505-2E9C-101B-9397-08002B2CF9AE}" pid="3" name="ArticulatePath">
    <vt:lpwstr>Presentación1</vt:lpwstr>
  </property>
</Properties>
</file>